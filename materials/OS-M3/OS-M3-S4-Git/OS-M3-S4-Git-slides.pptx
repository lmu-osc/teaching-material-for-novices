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g" ContentType="image/jpe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1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0" Type="http://schemas.openxmlformats.org/officeDocument/2006/relationships/slide" Target="slides/slide59.xml" /><Relationship Id="rId61" Type="http://schemas.openxmlformats.org/officeDocument/2006/relationships/slide" Target="slides/slide60.xml" /><Relationship Id="rId62" Type="http://schemas.openxmlformats.org/officeDocument/2006/relationships/slide" Target="slides/slide61.xml" /><Relationship Id="rId63" Type="http://schemas.openxmlformats.org/officeDocument/2006/relationships/slide" Target="slides/slide62.xml" /><Relationship Id="rId64" Type="http://schemas.openxmlformats.org/officeDocument/2006/relationships/slide" Target="slides/slide63.xml" /><Relationship Id="rId65" Type="http://schemas.openxmlformats.org/officeDocument/2006/relationships/slide" Target="slides/slide64.xml" /><Relationship Id="rId66" Type="http://schemas.openxmlformats.org/officeDocument/2006/relationships/slide" Target="slides/slide65.xml" /><Relationship Id="rId67" Type="http://schemas.openxmlformats.org/officeDocument/2006/relationships/slide" Target="slides/slide66.xml" /><Relationship Id="rId68" Type="http://schemas.openxmlformats.org/officeDocument/2006/relationships/slide" Target="slides/slide67.xml" /><Relationship Id="rId69" Type="http://schemas.openxmlformats.org/officeDocument/2006/relationships/slide" Target="slides/slide68.xml" /><Relationship Id="rId70" Type="http://schemas.openxmlformats.org/officeDocument/2006/relationships/slide" Target="slides/slide69.xml" /><Relationship Id="rId71" Type="http://schemas.openxmlformats.org/officeDocument/2006/relationships/slide" Target="slides/slide70.xml" /><Relationship Id="rId72" Type="http://schemas.openxmlformats.org/officeDocument/2006/relationships/slide" Target="slides/slide71.xml" /><Relationship Id="rId73" Type="http://schemas.openxmlformats.org/officeDocument/2006/relationships/slide" Target="slides/slide72.xml" /><Relationship Id="rId74" Type="http://schemas.openxmlformats.org/officeDocument/2006/relationships/slide" Target="slides/slide73.xml" /><Relationship Id="rId75" Type="http://schemas.openxmlformats.org/officeDocument/2006/relationships/slide" Target="slides/slide74.xml" /><Relationship Id="rId76" Type="http://schemas.openxmlformats.org/officeDocument/2006/relationships/slide" Target="slides/slide75.xml" /><Relationship Id="rId77" Type="http://schemas.openxmlformats.org/officeDocument/2006/relationships/slide" Target="slides/slide76.xml" /><Relationship Id="rId78" Type="http://schemas.openxmlformats.org/officeDocument/2006/relationships/slide" Target="slides/slide77.xml" /><Relationship Id="rId79" Type="http://schemas.openxmlformats.org/officeDocument/2006/relationships/slide" Target="slides/slide78.xml" /><Relationship Id="rId80" Type="http://schemas.openxmlformats.org/officeDocument/2006/relationships/slide" Target="slides/slide79.xml" /><Relationship Id="rId81" Type="http://schemas.openxmlformats.org/officeDocument/2006/relationships/slide" Target="slides/slide80.xml" /><Relationship Id="rId82" Type="http://schemas.openxmlformats.org/officeDocument/2006/relationships/slide" Target="slides/slide81.xml" /><Relationship Id="rId83" Type="http://schemas.openxmlformats.org/officeDocument/2006/relationships/slide" Target="slides/slide82.xml" /><Relationship Id="rId84" Type="http://schemas.openxmlformats.org/officeDocument/2006/relationships/slide" Target="slides/slide83.xml" /><Relationship Id="rId85" Type="http://schemas.openxmlformats.org/officeDocument/2006/relationships/slide" Target="slides/slide84.xml" /><Relationship Id="rId86" Type="http://schemas.openxmlformats.org/officeDocument/2006/relationships/slide" Target="slides/slide85.xml" /><Relationship Id="rId87" Type="http://schemas.openxmlformats.org/officeDocument/2006/relationships/slide" Target="slides/slide86.xml" /><Relationship Id="rId88" Type="http://schemas.openxmlformats.org/officeDocument/2006/relationships/slide" Target="slides/slide87.xml" /><Relationship Id="rId89" Type="http://schemas.openxmlformats.org/officeDocument/2006/relationships/slide" Target="slides/slide88.xml" /><Relationship Id="rId90" Type="http://schemas.openxmlformats.org/officeDocument/2006/relationships/slide" Target="slides/slide89.xml" /><Relationship Id="rId91" Type="http://schemas.openxmlformats.org/officeDocument/2006/relationships/slide" Target="slides/slide90.xml" /><Relationship Id="rId92" Type="http://schemas.openxmlformats.org/officeDocument/2006/relationships/slide" Target="slides/slide91.xml" /><Relationship Id="rId93" Type="http://schemas.openxmlformats.org/officeDocument/2006/relationships/slide" Target="slides/slide92.xml" /><Relationship Id="rId94" Type="http://schemas.openxmlformats.org/officeDocument/2006/relationships/slide" Target="slides/slide93.xml" /><Relationship Id="rId95" Type="http://schemas.openxmlformats.org/officeDocument/2006/relationships/slide" Target="slides/slide94.xml" /><Relationship Id="rId96" Type="http://schemas.openxmlformats.org/officeDocument/2006/relationships/slide" Target="slides/slide95.xml" /><Relationship Id="rId97" Type="http://schemas.openxmlformats.org/officeDocument/2006/relationships/slide" Target="slides/slide96.xml" /><Relationship Id="rId98" Type="http://schemas.openxmlformats.org/officeDocument/2006/relationships/slide" Target="slides/slide97.xml" /><Relationship Id="rId99" Type="http://schemas.openxmlformats.org/officeDocument/2006/relationships/slide" Target="slides/slide98.xml" /><Relationship Id="rId100" Type="http://schemas.openxmlformats.org/officeDocument/2006/relationships/slide" Target="slides/slide99.xml" /><Relationship Id="rId101" Type="http://schemas.openxmlformats.org/officeDocument/2006/relationships/slide" Target="slides/slide100.xml" /><Relationship Id="rId102" Type="http://schemas.openxmlformats.org/officeDocument/2006/relationships/slide" Target="slides/slide101.xml" /><Relationship Id="rId103" Type="http://schemas.openxmlformats.org/officeDocument/2006/relationships/slide" Target="slides/slide102.xml" /><Relationship Id="rId104" Type="http://schemas.openxmlformats.org/officeDocument/2006/relationships/slide" Target="slides/slide103.xml" /><Relationship Id="rId105" Type="http://schemas.openxmlformats.org/officeDocument/2006/relationships/slide" Target="slides/slide104.xml" /><Relationship Id="rId106" Type="http://schemas.openxmlformats.org/officeDocument/2006/relationships/slide" Target="slides/slide105.xml" /><Relationship Id="rId107" Type="http://schemas.openxmlformats.org/officeDocument/2006/relationships/slide" Target="slides/slide106.xml" /><Relationship Id="rId108" Type="http://schemas.openxmlformats.org/officeDocument/2006/relationships/slide" Target="slides/slide107.xml" /><Relationship Id="rId109" Type="http://schemas.openxmlformats.org/officeDocument/2006/relationships/slide" Target="slides/slide108.xml" /><Relationship Id="rId110" Type="http://schemas.openxmlformats.org/officeDocument/2006/relationships/slide" Target="slides/slide109.xml" /><Relationship Id="rId111" Type="http://schemas.openxmlformats.org/officeDocument/2006/relationships/slide" Target="slides/slide110.xml" /><Relationship Id="rId112" Type="http://schemas.openxmlformats.org/officeDocument/2006/relationships/slide" Target="slides/slide111.xml" /><Relationship Id="rId113" Type="http://schemas.openxmlformats.org/officeDocument/2006/relationships/slide" Target="slides/slide112.xml" /><Relationship Id="rId114" Type="http://schemas.openxmlformats.org/officeDocument/2006/relationships/slide" Target="slides/slide113.xml" /><Relationship Id="rId115" Type="http://schemas.openxmlformats.org/officeDocument/2006/relationships/slide" Target="slides/slide114.xml" /><Relationship Id="rId116" Type="http://schemas.openxmlformats.org/officeDocument/2006/relationships/slide" Target="slides/slide115.xml" /><Relationship Id="rId117" Type="http://schemas.openxmlformats.org/officeDocument/2006/relationships/slide" Target="slides/slide116.xml" /><Relationship Id="rId118" Type="http://schemas.openxmlformats.org/officeDocument/2006/relationships/slide" Target="slides/slide117.xml" /><Relationship Id="rId119" Type="http://schemas.openxmlformats.org/officeDocument/2006/relationships/notesMaster" Target="notesMasters/notesMaster1.xml" /><Relationship Id="rId121" Type="http://schemas.openxmlformats.org/officeDocument/2006/relationships/viewProps" Target="viewProps.xml" /><Relationship Id="rId120" Type="http://schemas.openxmlformats.org/officeDocument/2006/relationships/presProps" Target="presProps.xml" /><Relationship Id="rId1" Type="http://schemas.openxmlformats.org/officeDocument/2006/relationships/slideMaster" Target="slideMasters/slideMaster1.xml" /><Relationship Id="rId123" Type="http://schemas.openxmlformats.org/officeDocument/2006/relationships/tableStyles" Target="tableStyles.xml" /><Relationship Id="rId122"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35.xml" /><Relationship Id="rId1" Type="http://schemas.openxmlformats.org/officeDocument/2006/relationships/notesMaster" Target="../notesMasters/notesMaster1.xml" /></Relationships>
</file>

<file path=ppt/notesSlides/_rels/notesSlide28.xml.rels><?xml version="1.0" encoding="UTF-8"?><Relationships xmlns="http://schemas.openxmlformats.org/package/2006/relationships"><Relationship Id="rId2" Type="http://schemas.openxmlformats.org/officeDocument/2006/relationships/slide" Target="../slides/slide36.xml" /><Relationship Id="rId1" Type="http://schemas.openxmlformats.org/officeDocument/2006/relationships/notesMaster" Target="../notesMasters/notesMaster1.xml" /></Relationships>
</file>

<file path=ppt/notesSlides/_rels/notesSlide29.xml.rels><?xml version="1.0" encoding="UTF-8"?><Relationships xmlns="http://schemas.openxmlformats.org/package/2006/relationships"><Relationship Id="rId2" Type="http://schemas.openxmlformats.org/officeDocument/2006/relationships/slide" Target="../slides/slide37.xml" /><Relationship Id="rId1" Type="http://schemas.openxmlformats.org/officeDocument/2006/relationships/notesMaster" Target="../notesMasters/notesMaster1.xml" /></Relationships>
</file>

<file path=ppt/notesSlides/_rels/notesSlide30.xml.rels><?xml version="1.0" encoding="UTF-8"?><Relationships xmlns="http://schemas.openxmlformats.org/package/2006/relationships"><Relationship Id="rId2" Type="http://schemas.openxmlformats.org/officeDocument/2006/relationships/slide" Target="../slides/slide38.xml" /><Relationship Id="rId1" Type="http://schemas.openxmlformats.org/officeDocument/2006/relationships/notesMaster" Target="../notesMasters/notesMaster1.xml" /></Relationships>
</file>

<file path=ppt/notesSlides/_rels/notesSlide31.xml.rels><?xml version="1.0" encoding="UTF-8"?><Relationships xmlns="http://schemas.openxmlformats.org/package/2006/relationships"><Relationship Id="rId2" Type="http://schemas.openxmlformats.org/officeDocument/2006/relationships/slide" Target="../slides/slide39.xml" /><Relationship Id="rId1" Type="http://schemas.openxmlformats.org/officeDocument/2006/relationships/notesMaster" Target="../notesMasters/notesMaster1.xml" /></Relationships>
</file>

<file path=ppt/notesSlides/_rels/notesSlide32.xml.rels><?xml version="1.0" encoding="UTF-8"?><Relationships xmlns="http://schemas.openxmlformats.org/package/2006/relationships"><Relationship Id="rId2" Type="http://schemas.openxmlformats.org/officeDocument/2006/relationships/slide" Target="../slides/slide40.xml" /><Relationship Id="rId1" Type="http://schemas.openxmlformats.org/officeDocument/2006/relationships/notesMaster" Target="../notesMasters/notesMaster1.xml" /></Relationships>
</file>

<file path=ppt/notesSlides/_rels/notesSlide33.xml.rels><?xml version="1.0" encoding="UTF-8"?><Relationships xmlns="http://schemas.openxmlformats.org/package/2006/relationships"><Relationship Id="rId2" Type="http://schemas.openxmlformats.org/officeDocument/2006/relationships/slide" Target="../slides/slide41.xml" /><Relationship Id="rId1" Type="http://schemas.openxmlformats.org/officeDocument/2006/relationships/notesMaster" Target="../notesMasters/notesMaster1.xml" /></Relationships>
</file>

<file path=ppt/notesSlides/_rels/notesSlide34.xml.rels><?xml version="1.0" encoding="UTF-8"?><Relationships xmlns="http://schemas.openxmlformats.org/package/2006/relationships"><Relationship Id="rId2" Type="http://schemas.openxmlformats.org/officeDocument/2006/relationships/slide" Target="../slides/slide42.xml" /><Relationship Id="rId1" Type="http://schemas.openxmlformats.org/officeDocument/2006/relationships/notesMaster" Target="../notesMasters/notesMaster1.xml" /></Relationships>
</file>

<file path=ppt/notesSlides/_rels/notesSlide35.xml.rels><?xml version="1.0" encoding="UTF-8"?><Relationships xmlns="http://schemas.openxmlformats.org/package/2006/relationships"><Relationship Id="rId2" Type="http://schemas.openxmlformats.org/officeDocument/2006/relationships/slide" Target="../slides/slide43.xml" /><Relationship Id="rId1" Type="http://schemas.openxmlformats.org/officeDocument/2006/relationships/notesMaster" Target="../notesMasters/notesMaster1.xml" /></Relationships>
</file>

<file path=ppt/notesSlides/_rels/notesSlide36.xml.rels><?xml version="1.0" encoding="UTF-8"?><Relationships xmlns="http://schemas.openxmlformats.org/package/2006/relationships"><Relationship Id="rId2" Type="http://schemas.openxmlformats.org/officeDocument/2006/relationships/slide" Target="../slides/slide44.xml" /><Relationship Id="rId1" Type="http://schemas.openxmlformats.org/officeDocument/2006/relationships/notesMaster" Target="../notesMasters/notesMaster1.xml" /></Relationships>
</file>

<file path=ppt/notesSlides/_rels/notesSlide37.xml.rels><?xml version="1.0" encoding="UTF-8"?><Relationships xmlns="http://schemas.openxmlformats.org/package/2006/relationships"><Relationship Id="rId2" Type="http://schemas.openxmlformats.org/officeDocument/2006/relationships/slide" Target="../slides/slide45.xml" /><Relationship Id="rId1" Type="http://schemas.openxmlformats.org/officeDocument/2006/relationships/notesMaster" Target="../notesMasters/notesMaster1.xml" /></Relationships>
</file>

<file path=ppt/notesSlides/_rels/notesSlide38.xml.rels><?xml version="1.0" encoding="UTF-8"?><Relationships xmlns="http://schemas.openxmlformats.org/package/2006/relationships"><Relationship Id="rId2" Type="http://schemas.openxmlformats.org/officeDocument/2006/relationships/slide" Target="../slides/slide47.xml" /><Relationship Id="rId1" Type="http://schemas.openxmlformats.org/officeDocument/2006/relationships/notesMaster" Target="../notesMasters/notesMaster1.xml" /></Relationships>
</file>

<file path=ppt/notesSlides/_rels/notesSlide39.xml.rels><?xml version="1.0" encoding="UTF-8"?><Relationships xmlns="http://schemas.openxmlformats.org/package/2006/relationships"><Relationship Id="rId2" Type="http://schemas.openxmlformats.org/officeDocument/2006/relationships/slide" Target="../slides/slide48.xml" /><Relationship Id="rId1" Type="http://schemas.openxmlformats.org/officeDocument/2006/relationships/notesMaster" Target="../notesMasters/notesMaster1.xml" /></Relationships>
</file>

<file path=ppt/notesSlides/_rels/notesSlide40.xml.rels><?xml version="1.0" encoding="UTF-8"?><Relationships xmlns="http://schemas.openxmlformats.org/package/2006/relationships"><Relationship Id="rId2" Type="http://schemas.openxmlformats.org/officeDocument/2006/relationships/slide" Target="../slides/slide50.xml" /><Relationship Id="rId1" Type="http://schemas.openxmlformats.org/officeDocument/2006/relationships/notesMaster" Target="../notesMasters/notesMaster1.xml" /></Relationships>
</file>

<file path=ppt/notesSlides/_rels/notesSlide41.xml.rels><?xml version="1.0" encoding="UTF-8"?><Relationships xmlns="http://schemas.openxmlformats.org/package/2006/relationships"><Relationship Id="rId2" Type="http://schemas.openxmlformats.org/officeDocument/2006/relationships/slide" Target="../slides/slide51.xml" /><Relationship Id="rId1" Type="http://schemas.openxmlformats.org/officeDocument/2006/relationships/notesMaster" Target="../notesMasters/notesMaster1.xml" /></Relationships>
</file>

<file path=ppt/notesSlides/_rels/notesSlide42.xml.rels><?xml version="1.0" encoding="UTF-8"?><Relationships xmlns="http://schemas.openxmlformats.org/package/2006/relationships"><Relationship Id="rId2" Type="http://schemas.openxmlformats.org/officeDocument/2006/relationships/slide" Target="../slides/slide52.xml" /><Relationship Id="rId1" Type="http://schemas.openxmlformats.org/officeDocument/2006/relationships/notesMaster" Target="../notesMasters/notesMaster1.xml" /></Relationships>
</file>

<file path=ppt/notesSlides/_rels/notesSlide43.xml.rels><?xml version="1.0" encoding="UTF-8"?><Relationships xmlns="http://schemas.openxmlformats.org/package/2006/relationships"><Relationship Id="rId2" Type="http://schemas.openxmlformats.org/officeDocument/2006/relationships/slide" Target="../slides/slide53.xml" /><Relationship Id="rId1" Type="http://schemas.openxmlformats.org/officeDocument/2006/relationships/notesMaster" Target="../notesMasters/notesMaster1.xml" /></Relationships>
</file>

<file path=ppt/notesSlides/_rels/notesSlide44.xml.rels><?xml version="1.0" encoding="UTF-8"?><Relationships xmlns="http://schemas.openxmlformats.org/package/2006/relationships"><Relationship Id="rId2" Type="http://schemas.openxmlformats.org/officeDocument/2006/relationships/slide" Target="../slides/slide54.xml" /><Relationship Id="rId1" Type="http://schemas.openxmlformats.org/officeDocument/2006/relationships/notesMaster" Target="../notesMasters/notesMaster1.xml" /></Relationships>
</file>

<file path=ppt/notesSlides/_rels/notesSlide45.xml.rels><?xml version="1.0" encoding="UTF-8"?><Relationships xmlns="http://schemas.openxmlformats.org/package/2006/relationships"><Relationship Id="rId2" Type="http://schemas.openxmlformats.org/officeDocument/2006/relationships/slide" Target="../slides/slide55.xml" /><Relationship Id="rId1" Type="http://schemas.openxmlformats.org/officeDocument/2006/relationships/notesMaster" Target="../notesMasters/notesMaster1.xml" /></Relationships>
</file>

<file path=ppt/notesSlides/_rels/notesSlide46.xml.rels><?xml version="1.0" encoding="UTF-8"?><Relationships xmlns="http://schemas.openxmlformats.org/package/2006/relationships"><Relationship Id="rId2" Type="http://schemas.openxmlformats.org/officeDocument/2006/relationships/slide" Target="../slides/slide56.xml" /><Relationship Id="rId1" Type="http://schemas.openxmlformats.org/officeDocument/2006/relationships/notesMaster" Target="../notesMasters/notesMaster1.xml" /></Relationships>
</file>

<file path=ppt/notesSlides/_rels/notesSlide47.xml.rels><?xml version="1.0" encoding="UTF-8"?><Relationships xmlns="http://schemas.openxmlformats.org/package/2006/relationships"><Relationship Id="rId2" Type="http://schemas.openxmlformats.org/officeDocument/2006/relationships/slide" Target="../slides/slide57.xml" /><Relationship Id="rId1" Type="http://schemas.openxmlformats.org/officeDocument/2006/relationships/notesMaster" Target="../notesMasters/notesMaster1.xml" /></Relationships>
</file>

<file path=ppt/notesSlides/_rels/notesSlide48.xml.rels><?xml version="1.0" encoding="UTF-8"?><Relationships xmlns="http://schemas.openxmlformats.org/package/2006/relationships"><Relationship Id="rId2" Type="http://schemas.openxmlformats.org/officeDocument/2006/relationships/slide" Target="../slides/slide58.xml" /><Relationship Id="rId1" Type="http://schemas.openxmlformats.org/officeDocument/2006/relationships/notesMaster" Target="../notesMasters/notesMaster1.xml" /></Relationships>
</file>

<file path=ppt/notesSlides/_rels/notesSlide49.xml.rels><?xml version="1.0" encoding="UTF-8"?><Relationships xmlns="http://schemas.openxmlformats.org/package/2006/relationships"><Relationship Id="rId2" Type="http://schemas.openxmlformats.org/officeDocument/2006/relationships/slide" Target="../slides/slide59.xml" /><Relationship Id="rId1" Type="http://schemas.openxmlformats.org/officeDocument/2006/relationships/notesMaster" Target="../notesMasters/notesMaster1.xml" /></Relationships>
</file>

<file path=ppt/notesSlides/_rels/notesSlide50.xml.rels><?xml version="1.0" encoding="UTF-8"?><Relationships xmlns="http://schemas.openxmlformats.org/package/2006/relationships"><Relationship Id="rId2" Type="http://schemas.openxmlformats.org/officeDocument/2006/relationships/slide" Target="../slides/slide60.xml" /><Relationship Id="rId1" Type="http://schemas.openxmlformats.org/officeDocument/2006/relationships/notesMaster" Target="../notesMasters/notesMaster1.xml" /></Relationships>
</file>

<file path=ppt/notesSlides/_rels/notesSlide51.xml.rels><?xml version="1.0" encoding="UTF-8"?><Relationships xmlns="http://schemas.openxmlformats.org/package/2006/relationships"><Relationship Id="rId2" Type="http://schemas.openxmlformats.org/officeDocument/2006/relationships/slide" Target="../slides/slide61.xml" /><Relationship Id="rId1" Type="http://schemas.openxmlformats.org/officeDocument/2006/relationships/notesMaster" Target="../notesMasters/notesMaster1.xml" /></Relationships>
</file>

<file path=ppt/notesSlides/_rels/notesSlide52.xml.rels><?xml version="1.0" encoding="UTF-8"?><Relationships xmlns="http://schemas.openxmlformats.org/package/2006/relationships"><Relationship Id="rId2" Type="http://schemas.openxmlformats.org/officeDocument/2006/relationships/slide" Target="../slides/slide62.xml" /><Relationship Id="rId1" Type="http://schemas.openxmlformats.org/officeDocument/2006/relationships/notesMaster" Target="../notesMasters/notesMaster1.xml" /></Relationships>
</file>

<file path=ppt/notesSlides/_rels/notesSlide53.xml.rels><?xml version="1.0" encoding="UTF-8"?><Relationships xmlns="http://schemas.openxmlformats.org/package/2006/relationships"><Relationship Id="rId2" Type="http://schemas.openxmlformats.org/officeDocument/2006/relationships/slide" Target="../slides/slide63.xml" /><Relationship Id="rId1" Type="http://schemas.openxmlformats.org/officeDocument/2006/relationships/notesMaster" Target="../notesMasters/notesMaster1.xml" /></Relationships>
</file>

<file path=ppt/notesSlides/_rels/notesSlide54.xml.rels><?xml version="1.0" encoding="UTF-8"?><Relationships xmlns="http://schemas.openxmlformats.org/package/2006/relationships"><Relationship Id="rId2" Type="http://schemas.openxmlformats.org/officeDocument/2006/relationships/slide" Target="../slides/slide65.xml" /><Relationship Id="rId1" Type="http://schemas.openxmlformats.org/officeDocument/2006/relationships/notesMaster" Target="../notesMasters/notesMaster1.xml" /></Relationships>
</file>

<file path=ppt/notesSlides/_rels/notesSlide55.xml.rels><?xml version="1.0" encoding="UTF-8"?><Relationships xmlns="http://schemas.openxmlformats.org/package/2006/relationships"><Relationship Id="rId2" Type="http://schemas.openxmlformats.org/officeDocument/2006/relationships/slide" Target="../slides/slide66.xml" /><Relationship Id="rId1" Type="http://schemas.openxmlformats.org/officeDocument/2006/relationships/notesMaster" Target="../notesMasters/notesMaster1.xml" /></Relationships>
</file>

<file path=ppt/notesSlides/_rels/notesSlide56.xml.rels><?xml version="1.0" encoding="UTF-8"?><Relationships xmlns="http://schemas.openxmlformats.org/package/2006/relationships"><Relationship Id="rId2" Type="http://schemas.openxmlformats.org/officeDocument/2006/relationships/slide" Target="../slides/slide67.xml" /><Relationship Id="rId1" Type="http://schemas.openxmlformats.org/officeDocument/2006/relationships/notesMaster" Target="../notesMasters/notesMaster1.xml" /></Relationships>
</file>

<file path=ppt/notesSlides/_rels/notesSlide57.xml.rels><?xml version="1.0" encoding="UTF-8"?><Relationships xmlns="http://schemas.openxmlformats.org/package/2006/relationships"><Relationship Id="rId2" Type="http://schemas.openxmlformats.org/officeDocument/2006/relationships/slide" Target="../slides/slide68.xml" /><Relationship Id="rId1" Type="http://schemas.openxmlformats.org/officeDocument/2006/relationships/notesMaster" Target="../notesMasters/notesMaster1.xml" /></Relationships>
</file>

<file path=ppt/notesSlides/_rels/notesSlide58.xml.rels><?xml version="1.0" encoding="UTF-8"?><Relationships xmlns="http://schemas.openxmlformats.org/package/2006/relationships"><Relationship Id="rId2" Type="http://schemas.openxmlformats.org/officeDocument/2006/relationships/slide" Target="../slides/slide69.xml" /><Relationship Id="rId1" Type="http://schemas.openxmlformats.org/officeDocument/2006/relationships/notesMaster" Target="../notesMasters/notesMaster1.xml" /></Relationships>
</file>

<file path=ppt/notesSlides/_rels/notesSlide59.xml.rels><?xml version="1.0" encoding="UTF-8"?><Relationships xmlns="http://schemas.openxmlformats.org/package/2006/relationships"><Relationship Id="rId2" Type="http://schemas.openxmlformats.org/officeDocument/2006/relationships/slide" Target="../slides/slide71.xml" /><Relationship Id="rId1" Type="http://schemas.openxmlformats.org/officeDocument/2006/relationships/notesMaster" Target="../notesMasters/notesMaster1.xml" /></Relationships>
</file>

<file path=ppt/notesSlides/_rels/notesSlide60.xml.rels><?xml version="1.0" encoding="UTF-8"?><Relationships xmlns="http://schemas.openxmlformats.org/package/2006/relationships"><Relationship Id="rId2" Type="http://schemas.openxmlformats.org/officeDocument/2006/relationships/slide" Target="../slides/slide73.xml" /><Relationship Id="rId1" Type="http://schemas.openxmlformats.org/officeDocument/2006/relationships/notesMaster" Target="../notesMasters/notesMaster1.xml" /></Relationships>
</file>

<file path=ppt/notesSlides/_rels/notesSlide61.xml.rels><?xml version="1.0" encoding="UTF-8"?><Relationships xmlns="http://schemas.openxmlformats.org/package/2006/relationships"><Relationship Id="rId2" Type="http://schemas.openxmlformats.org/officeDocument/2006/relationships/slide" Target="../slides/slide75.xml" /><Relationship Id="rId1" Type="http://schemas.openxmlformats.org/officeDocument/2006/relationships/notesMaster" Target="../notesMasters/notesMaster1.xml" /></Relationships>
</file>

<file path=ppt/notesSlides/_rels/notesSlide62.xml.rels><?xml version="1.0" encoding="UTF-8"?><Relationships xmlns="http://schemas.openxmlformats.org/package/2006/relationships"><Relationship Id="rId2" Type="http://schemas.openxmlformats.org/officeDocument/2006/relationships/slide" Target="../slides/slide77.xml" /><Relationship Id="rId1" Type="http://schemas.openxmlformats.org/officeDocument/2006/relationships/notesMaster" Target="../notesMasters/notesMaster1.xml" /></Relationships>
</file>

<file path=ppt/notesSlides/_rels/notesSlide63.xml.rels><?xml version="1.0" encoding="UTF-8"?><Relationships xmlns="http://schemas.openxmlformats.org/package/2006/relationships"><Relationship Id="rId2" Type="http://schemas.openxmlformats.org/officeDocument/2006/relationships/slide" Target="../slides/slide79.xml" /><Relationship Id="rId1" Type="http://schemas.openxmlformats.org/officeDocument/2006/relationships/notesMaster" Target="../notesMasters/notesMaster1.xml" /></Relationships>
</file>

<file path=ppt/notesSlides/_rels/notesSlide64.xml.rels><?xml version="1.0" encoding="UTF-8"?><Relationships xmlns="http://schemas.openxmlformats.org/package/2006/relationships"><Relationship Id="rId2" Type="http://schemas.openxmlformats.org/officeDocument/2006/relationships/slide" Target="../slides/slide80.xml" /><Relationship Id="rId1" Type="http://schemas.openxmlformats.org/officeDocument/2006/relationships/notesMaster" Target="../notesMasters/notesMaster1.xml" /></Relationships>
</file>

<file path=ppt/notesSlides/_rels/notesSlide65.xml.rels><?xml version="1.0" encoding="UTF-8"?><Relationships xmlns="http://schemas.openxmlformats.org/package/2006/relationships"><Relationship Id="rId2" Type="http://schemas.openxmlformats.org/officeDocument/2006/relationships/slide" Target="../slides/slide81.xml" /><Relationship Id="rId1" Type="http://schemas.openxmlformats.org/officeDocument/2006/relationships/notesMaster" Target="../notesMasters/notesMaster1.xml" /></Relationships>
</file>

<file path=ppt/notesSlides/_rels/notesSlide66.xml.rels><?xml version="1.0" encoding="UTF-8"?><Relationships xmlns="http://schemas.openxmlformats.org/package/2006/relationships"><Relationship Id="rId2" Type="http://schemas.openxmlformats.org/officeDocument/2006/relationships/slide" Target="../slides/slide82.xml" /><Relationship Id="rId1" Type="http://schemas.openxmlformats.org/officeDocument/2006/relationships/notesMaster" Target="../notesMasters/notesMaster1.xml" /></Relationships>
</file>

<file path=ppt/notesSlides/_rels/notesSlide67.xml.rels><?xml version="1.0" encoding="UTF-8"?><Relationships xmlns="http://schemas.openxmlformats.org/package/2006/relationships"><Relationship Id="rId2" Type="http://schemas.openxmlformats.org/officeDocument/2006/relationships/slide" Target="../slides/slide84.xml" /><Relationship Id="rId1" Type="http://schemas.openxmlformats.org/officeDocument/2006/relationships/notesMaster" Target="../notesMasters/notesMaster1.xml" /></Relationships>
</file>

<file path=ppt/notesSlides/_rels/notesSlide68.xml.rels><?xml version="1.0" encoding="UTF-8"?><Relationships xmlns="http://schemas.openxmlformats.org/package/2006/relationships"><Relationship Id="rId2" Type="http://schemas.openxmlformats.org/officeDocument/2006/relationships/slide" Target="../slides/slide85.xml" /><Relationship Id="rId1" Type="http://schemas.openxmlformats.org/officeDocument/2006/relationships/notesMaster" Target="../notesMasters/notesMaster1.xml" /></Relationships>
</file>

<file path=ppt/notesSlides/_rels/notesSlide69.xml.rels><?xml version="1.0" encoding="UTF-8"?><Relationships xmlns="http://schemas.openxmlformats.org/package/2006/relationships"><Relationship Id="rId2" Type="http://schemas.openxmlformats.org/officeDocument/2006/relationships/slide" Target="../slides/slide86.xml" /><Relationship Id="rId1" Type="http://schemas.openxmlformats.org/officeDocument/2006/relationships/notesMaster" Target="../notesMasters/notesMaster1.xml" /></Relationships>
</file>

<file path=ppt/notesSlides/_rels/notesSlide70.xml.rels><?xml version="1.0" encoding="UTF-8"?><Relationships xmlns="http://schemas.openxmlformats.org/package/2006/relationships"><Relationship Id="rId2" Type="http://schemas.openxmlformats.org/officeDocument/2006/relationships/slide" Target="../slides/slide87.xml" /><Relationship Id="rId1" Type="http://schemas.openxmlformats.org/officeDocument/2006/relationships/notesMaster" Target="../notesMasters/notesMaster1.xml" /></Relationships>
</file>

<file path=ppt/notesSlides/_rels/notesSlide71.xml.rels><?xml version="1.0" encoding="UTF-8"?><Relationships xmlns="http://schemas.openxmlformats.org/package/2006/relationships"><Relationship Id="rId2" Type="http://schemas.openxmlformats.org/officeDocument/2006/relationships/slide" Target="../slides/slide88.xml" /><Relationship Id="rId1" Type="http://schemas.openxmlformats.org/officeDocument/2006/relationships/notesMaster" Target="../notesMasters/notesMaster1.xml" /></Relationships>
</file>

<file path=ppt/notesSlides/_rels/notesSlide72.xml.rels><?xml version="1.0" encoding="UTF-8"?><Relationships xmlns="http://schemas.openxmlformats.org/package/2006/relationships"><Relationship Id="rId2" Type="http://schemas.openxmlformats.org/officeDocument/2006/relationships/slide" Target="../slides/slide89.xml" /><Relationship Id="rId1" Type="http://schemas.openxmlformats.org/officeDocument/2006/relationships/notesMaster" Target="../notesMasters/notesMaster1.xml" /></Relationships>
</file>

<file path=ppt/notesSlides/_rels/notesSlide73.xml.rels><?xml version="1.0" encoding="UTF-8"?><Relationships xmlns="http://schemas.openxmlformats.org/package/2006/relationships"><Relationship Id="rId2" Type="http://schemas.openxmlformats.org/officeDocument/2006/relationships/slide" Target="../slides/slide90.xml" /><Relationship Id="rId1" Type="http://schemas.openxmlformats.org/officeDocument/2006/relationships/notesMaster" Target="../notesMasters/notesMaster1.xml" /></Relationships>
</file>

<file path=ppt/notesSlides/_rels/notesSlide74.xml.rels><?xml version="1.0" encoding="UTF-8"?><Relationships xmlns="http://schemas.openxmlformats.org/package/2006/relationships"><Relationship Id="rId2" Type="http://schemas.openxmlformats.org/officeDocument/2006/relationships/slide" Target="../slides/slide91.xml" /><Relationship Id="rId1" Type="http://schemas.openxmlformats.org/officeDocument/2006/relationships/notesMaster" Target="../notesMasters/notesMaster1.xml" /></Relationships>
</file>

<file path=ppt/notesSlides/_rels/notesSlide75.xml.rels><?xml version="1.0" encoding="UTF-8"?><Relationships xmlns="http://schemas.openxmlformats.org/package/2006/relationships"><Relationship Id="rId2" Type="http://schemas.openxmlformats.org/officeDocument/2006/relationships/slide" Target="../slides/slide92.xml" /><Relationship Id="rId1" Type="http://schemas.openxmlformats.org/officeDocument/2006/relationships/notesMaster" Target="../notesMasters/notesMaster1.xml" /></Relationships>
</file>

<file path=ppt/notesSlides/_rels/notesSlide76.xml.rels><?xml version="1.0" encoding="UTF-8"?><Relationships xmlns="http://schemas.openxmlformats.org/package/2006/relationships"><Relationship Id="rId2" Type="http://schemas.openxmlformats.org/officeDocument/2006/relationships/slide" Target="../slides/slide94.xml" /><Relationship Id="rId1" Type="http://schemas.openxmlformats.org/officeDocument/2006/relationships/notesMaster" Target="../notesMasters/notesMaster1.xml" /></Relationships>
</file>

<file path=ppt/notesSlides/_rels/notesSlide77.xml.rels><?xml version="1.0" encoding="UTF-8"?><Relationships xmlns="http://schemas.openxmlformats.org/package/2006/relationships"><Relationship Id="rId2" Type="http://schemas.openxmlformats.org/officeDocument/2006/relationships/slide" Target="../slides/slide95.xml" /><Relationship Id="rId1" Type="http://schemas.openxmlformats.org/officeDocument/2006/relationships/notesMaster" Target="../notesMasters/notesMaster1.xml" /></Relationships>
</file>

<file path=ppt/notesSlides/_rels/notesSlide78.xml.rels><?xml version="1.0" encoding="UTF-8"?><Relationships xmlns="http://schemas.openxmlformats.org/package/2006/relationships"><Relationship Id="rId2" Type="http://schemas.openxmlformats.org/officeDocument/2006/relationships/slide" Target="../slides/slide97.xml" /><Relationship Id="rId1" Type="http://schemas.openxmlformats.org/officeDocument/2006/relationships/notesMaster" Target="../notesMasters/notesMaster1.xml" /></Relationships>
</file>

<file path=ppt/notesSlides/_rels/notesSlide79.xml.rels><?xml version="1.0" encoding="UTF-8"?><Relationships xmlns="http://schemas.openxmlformats.org/package/2006/relationships"><Relationship Id="rId2" Type="http://schemas.openxmlformats.org/officeDocument/2006/relationships/slide" Target="../slides/slide98.xml" /><Relationship Id="rId1" Type="http://schemas.openxmlformats.org/officeDocument/2006/relationships/notesMaster" Target="../notesMasters/notesMaster1.xml" /></Relationships>
</file>

<file path=ppt/notesSlides/_rels/notesSlide80.xml.rels><?xml version="1.0" encoding="UTF-8"?><Relationships xmlns="http://schemas.openxmlformats.org/package/2006/relationships"><Relationship Id="rId2" Type="http://schemas.openxmlformats.org/officeDocument/2006/relationships/slide" Target="../slides/slide100.xml" /><Relationship Id="rId1" Type="http://schemas.openxmlformats.org/officeDocument/2006/relationships/notesMaster" Target="../notesMasters/notesMaster1.xml" /></Relationships>
</file>

<file path=ppt/notesSlides/_rels/notesSlide81.xml.rels><?xml version="1.0" encoding="UTF-8"?><Relationships xmlns="http://schemas.openxmlformats.org/package/2006/relationships"><Relationship Id="rId2" Type="http://schemas.openxmlformats.org/officeDocument/2006/relationships/slide" Target="../slides/slide101.xml" /><Relationship Id="rId1" Type="http://schemas.openxmlformats.org/officeDocument/2006/relationships/notesMaster" Target="../notesMasters/notesMaster1.xml" /></Relationships>
</file>

<file path=ppt/notesSlides/_rels/notesSlide82.xml.rels><?xml version="1.0" encoding="UTF-8"?><Relationships xmlns="http://schemas.openxmlformats.org/package/2006/relationships"><Relationship Id="rId2" Type="http://schemas.openxmlformats.org/officeDocument/2006/relationships/slide" Target="../slides/slide102.xml" /><Relationship Id="rId1" Type="http://schemas.openxmlformats.org/officeDocument/2006/relationships/notesMaster" Target="../notesMasters/notesMaster1.xml" /></Relationships>
</file>

<file path=ppt/notesSlides/_rels/notesSlide83.xml.rels><?xml version="1.0" encoding="UTF-8"?><Relationships xmlns="http://schemas.openxmlformats.org/package/2006/relationships"><Relationship Id="rId2" Type="http://schemas.openxmlformats.org/officeDocument/2006/relationships/slide" Target="../slides/slide103.xml" /><Relationship Id="rId1" Type="http://schemas.openxmlformats.org/officeDocument/2006/relationships/notesMaster" Target="../notesMasters/notesMaster1.xml" /></Relationships>
</file>

<file path=ppt/notesSlides/_rels/notesSlide84.xml.rels><?xml version="1.0" encoding="UTF-8"?><Relationships xmlns="http://schemas.openxmlformats.org/package/2006/relationships"><Relationship Id="rId2" Type="http://schemas.openxmlformats.org/officeDocument/2006/relationships/slide" Target="../slides/slide104.xml" /><Relationship Id="rId1" Type="http://schemas.openxmlformats.org/officeDocument/2006/relationships/notesMaster" Target="../notesMasters/notesMaster1.xml" /></Relationships>
</file>

<file path=ppt/notesSlides/_rels/notesSlide85.xml.rels><?xml version="1.0" encoding="UTF-8"?><Relationships xmlns="http://schemas.openxmlformats.org/package/2006/relationships"><Relationship Id="rId2" Type="http://schemas.openxmlformats.org/officeDocument/2006/relationships/slide" Target="../slides/slide105.xml" /><Relationship Id="rId1" Type="http://schemas.openxmlformats.org/officeDocument/2006/relationships/notesMaster" Target="../notesMasters/notesMaster1.xml" /></Relationships>
</file>

<file path=ppt/notesSlides/_rels/notesSlide86.xml.rels><?xml version="1.0" encoding="UTF-8"?><Relationships xmlns="http://schemas.openxmlformats.org/package/2006/relationships"><Relationship Id="rId2" Type="http://schemas.openxmlformats.org/officeDocument/2006/relationships/slide" Target="../slides/slide106.xml" /><Relationship Id="rId1" Type="http://schemas.openxmlformats.org/officeDocument/2006/relationships/notesMaster" Target="../notesMasters/notesMaster1.xml" /></Relationships>
</file>

<file path=ppt/notesSlides/_rels/notesSlide87.xml.rels><?xml version="1.0" encoding="UTF-8"?><Relationships xmlns="http://schemas.openxmlformats.org/package/2006/relationships"><Relationship Id="rId2" Type="http://schemas.openxmlformats.org/officeDocument/2006/relationships/slide" Target="../slides/slide107.xml" /><Relationship Id="rId1" Type="http://schemas.openxmlformats.org/officeDocument/2006/relationships/notesMaster" Target="../notesMasters/notesMaster1.xml" /></Relationships>
</file>

<file path=ppt/notesSlides/_rels/notesSlide88.xml.rels><?xml version="1.0" encoding="UTF-8"?><Relationships xmlns="http://schemas.openxmlformats.org/package/2006/relationships"><Relationship Id="rId2" Type="http://schemas.openxmlformats.org/officeDocument/2006/relationships/slide" Target="../slides/slide108.xml" /><Relationship Id="rId1" Type="http://schemas.openxmlformats.org/officeDocument/2006/relationships/notesMaster" Target="../notesMasters/notesMaster1.xml" /></Relationships>
</file>

<file path=ppt/notesSlides/_rels/notesSlide89.xml.rels><?xml version="1.0" encoding="UTF-8"?><Relationships xmlns="http://schemas.openxmlformats.org/package/2006/relationships"><Relationship Id="rId2" Type="http://schemas.openxmlformats.org/officeDocument/2006/relationships/slide" Target="../slides/slide111.xml" /><Relationship Id="rId1" Type="http://schemas.openxmlformats.org/officeDocument/2006/relationships/notesMaster" Target="../notesMasters/notesMaster1.xml" /></Relationships>
</file>

<file path=ppt/notesSlides/_rels/notesSlide90.xml.rels><?xml version="1.0" encoding="UTF-8"?><Relationships xmlns="http://schemas.openxmlformats.org/package/2006/relationships"><Relationship Id="rId2" Type="http://schemas.openxmlformats.org/officeDocument/2006/relationships/slide" Target="../slides/slide114.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Creative Commons Attribution–ShareAlike 4.0 license, or CC BY-SA 4.0, allows others to copy, share, and adapt a work in any medium, including for commercial purposes. These permissions are broad and cannot be withdrawn as long as the license terms are followed. The main requirement is attribution: users must give appropriate credit to the original creator, provide a link to the license, and clearly indicate whether any changes were made, without implying endorsement by the original author. In addition, the ShareAlike condition means that if someone modifies or builds upon the work, the resulting material must be distributed under the same CC BY-SA 4.0 license, or a compatible one. Finally, users are not allowed to apply legal or technical restrictions, such as DRM, that would prevent others from exercising these same rights. Code snippets are dedicated to the public domain and licenced under a CC0 1.0 licence. With a CC0 licence users can use, modify, distribute, and sell the code snippets for any purpose, without permission or attribution. The code snippets are provided “as is”, without warranty of any kind.</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These are the </a:t>
            </a:r>
            <a:r>
              <a:rPr b="1"/>
              <a:t>presenter notes</a:t>
            </a:r>
            <a:r>
              <a:rPr/>
              <a:t>. You will a script for the presenter for every slide. In presentation mode, your audience will not be able to see these presenter notes, they are only visible to the presenter.</a:t>
            </a:r>
          </a:p>
          <a:p>
            <a:pPr lvl="0" indent="0" marL="0">
              <a:buNone/>
            </a:pPr>
          </a:p>
          <a:p>
            <a:pPr lvl="0" indent="0" marL="0">
              <a:buNone/>
            </a:pPr>
            <a:r>
              <a:rPr b="1"/>
              <a:t>Instructor Notes</a:t>
            </a:r>
            <a:r>
              <a:rPr/>
              <a:t>: There are also </a:t>
            </a:r>
            <a:r>
              <a:rPr b="1"/>
              <a:t>instructor notes</a:t>
            </a:r>
            <a:r>
              <a:rPr/>
              <a:t>. For some slides, there will be pedagogical tips, suggestions for activities and troubleshooting tips for issues your audience might run into. You can find these notes underneath the presenter notes.</a:t>
            </a:r>
          </a:p>
          <a:p>
            <a:pPr lvl="0" indent="0" marL="0">
              <a:buNone/>
            </a:pPr>
          </a:p>
          <a:p>
            <a:pPr lvl="0" indent="0" marL="0">
              <a:buNone/>
            </a:pPr>
            <a:r>
              <a:rPr b="1"/>
              <a:t>Accessibility Tips</a:t>
            </a:r>
            <a:r>
              <a:rPr/>
              <a:t>: Where applicable, this is a space to add any tips you may have to facilitate the accessibility of your slides and activities. An example for an accessibility tip could be: When demonstrating Git commands, speak aloud what you are typing. Do not rely solely on the terminal output or visual cues on the screen.</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basic requirements to follow these slides are a laptop or desktop with admin rights to download and install software, and the latest installations of R and RStudio. Basic knowledge on R and RStudio, ideally as demonstrated through the completion of the two previous submodules R Part I and Part II is also a prerequisite. Specifically, learners are expected to have an intermediate familiarity with R, for example with data wrangling, reshaping, subsetting, plotting and creating basic R functions. Finally, for this submodule, learners will need their own GitHub account, which is free to create on github.com.</a:t>
            </a:r>
          </a:p>
          <a:p>
            <a:pPr lvl="0" indent="0" marL="0">
              <a:buNone/>
            </a:pPr>
          </a:p>
          <a:p>
            <a:pPr lvl="0" indent="0" marL="0">
              <a:buNone/>
            </a:pPr>
            <a:r>
              <a:rPr b="1"/>
              <a:t>Instructor Notes</a:t>
            </a:r>
            <a:r>
              <a:rPr/>
              <a:t>: Before you get started on this submodule with your audience, you need to ensure that the audience fulfills these criteria. </a:t>
            </a:r>
            <a:r>
              <a:rPr b="1"/>
              <a:t>Additional important tip</a:t>
            </a:r>
            <a:r>
              <a:rPr/>
              <a:t>: This submodule is designed for a 3-hour slot. If you are planning to deliver these slides synchronously in a class of 90 minutes, here is a proposed lesson plan for + homework assignment):</a:t>
            </a:r>
          </a:p>
          <a:p>
            <a:pPr lvl="0" indent="0" marL="0">
              <a:buNone/>
            </a:pPr>
          </a:p>
          <a:p>
            <a:pPr lvl="0"/>
            <a:r>
              <a:rPr/>
              <a:t>3 minutes to situate this new class within the overall course, clarify questions from the previous class etc.</a:t>
            </a:r>
          </a:p>
          <a:p>
            <a:pPr lvl="0" indent="0" marL="0">
              <a:buNone/>
            </a:pPr>
          </a:p>
          <a:p>
            <a:pPr lvl="0"/>
            <a:r>
              <a:rPr/>
              <a:t>5 minutes for the WHY of version control</a:t>
            </a:r>
          </a:p>
          <a:p>
            <a:pPr lvl="0" indent="0" marL="0">
              <a:buNone/>
            </a:pPr>
          </a:p>
          <a:p>
            <a:pPr lvl="0"/>
            <a:r>
              <a:rPr/>
              <a:t>Use of interactive tools and group discussions to work out what challenges learners face and to get the curious about version control as a potential solution</a:t>
            </a:r>
          </a:p>
          <a:p>
            <a:pPr lvl="0" indent="0" marL="0">
              <a:buNone/>
            </a:pPr>
          </a:p>
          <a:p>
            <a:pPr lvl="0"/>
            <a:r>
              <a:rPr/>
              <a:t>5 minutes for pre-content survey + survey discussion to explore how familiar learners are already with version control</a:t>
            </a:r>
          </a:p>
          <a:p>
            <a:pPr lvl="0" indent="0" marL="0">
              <a:buNone/>
            </a:pPr>
          </a:p>
          <a:p>
            <a:pPr lvl="0"/>
            <a:r>
              <a:rPr/>
              <a:t>5 minutes introduction to Git and GitHub, exploration of the Git - GitHub workflow</a:t>
            </a:r>
          </a:p>
          <a:p>
            <a:pPr lvl="0" indent="0" marL="0">
              <a:buNone/>
            </a:pPr>
          </a:p>
          <a:p>
            <a:pPr lvl="0"/>
            <a:r>
              <a:rPr/>
              <a:t>Remaining class (approx 60 minutes left): </a:t>
            </a:r>
            <a:r>
              <a:rPr b="1"/>
              <a:t>Setting up Git</a:t>
            </a:r>
            <a:r>
              <a:rPr/>
              <a:t> (= slides until the break)</a:t>
            </a:r>
          </a:p>
          <a:p>
            <a:pPr lvl="0" indent="0" marL="0">
              <a:buNone/>
            </a:pPr>
          </a:p>
          <a:p>
            <a:pPr lvl="0"/>
            <a:r>
              <a:rPr/>
              <a:t>5 minutes before the end: Final survey (currently pre-break survey) to check where people are at</a:t>
            </a:r>
          </a:p>
          <a:p>
            <a:pPr lvl="0" indent="0" marL="0">
              <a:buNone/>
            </a:pPr>
          </a:p>
          <a:p>
            <a:pPr lvl="0"/>
            <a:r>
              <a:rPr/>
              <a:t>2 minutes before the end: Homework assignment discussion - </a:t>
            </a:r>
            <a:r>
              <a:rPr b="1"/>
              <a:t>RStudio Project and Git</a:t>
            </a:r>
            <a:r>
              <a:rPr/>
              <a:t> (aka all content after the break in the slides as they are now):  1. Creating an RStudio Project  2. Setting up practice project  3. Getting your project under version control  4. Making changes to your project  5. Committing changes  6. Connecting the local repository to GitHub</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Are there any questions that were left unanswered from the previous session?</a:t>
            </a:r>
          </a:p>
          <a:p>
            <a:pPr lvl="0" indent="0" marL="0">
              <a:buNone/>
            </a:pPr>
          </a:p>
          <a:p>
            <a:pPr lvl="0" indent="0" marL="0">
              <a:buNone/>
            </a:pPr>
            <a:r>
              <a:rPr b="1"/>
              <a:t>Instructor Notes</a:t>
            </a:r>
            <a:r>
              <a:rPr/>
              <a:t>:  - </a:t>
            </a:r>
            <a:r>
              <a:rPr b="1"/>
              <a:t>Aim</a:t>
            </a:r>
            <a:r>
              <a:rPr/>
              <a:t>: This slide is dedicated to clarifying questions from the previous submodule and/or to discuss assignments. You may need to add slides depending on the homework assignment and if you could already foresee difficulties. This reflection moment is critical for the learning process to ensure that learners are on the same page and have been able to achieve the learning goals of the previous workshop.</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In the previous two sessions, we have familiarized ourselves with R and RStudio. We have learned what we can use R for and we tested some features of R in RStudio, such as data manipulation, reshaping, functions, plotting etc. Next, what we want to use this session is once again use these skills within RStudio, but with a stronger focus on enhancing the reproducibility of our work. We also want to increase our own responsibility for the steps we are taking within the research process. We will start to learn about tools that can help us to facilitate collaboration across different parties and maybe even disciplines, and we will put a special focus on being transparent in every step so that our methods and decision making process is clear to others that come across our work.</a:t>
            </a:r>
          </a:p>
          <a:p>
            <a:pPr lvl="0" indent="0" marL="0">
              <a:buNone/>
            </a:pPr>
          </a:p>
          <a:p>
            <a:pPr lvl="0" indent="0" marL="0">
              <a:buNone/>
            </a:pPr>
            <a:r>
              <a:rPr b="1"/>
              <a:t>Instructor Notes</a:t>
            </a:r>
            <a:r>
              <a:rPr/>
              <a:t>: </a:t>
            </a:r>
          </a:p>
          <a:p>
            <a:pPr lvl="0" indent="0" marL="0">
              <a:buNone/>
            </a:pPr>
          </a:p>
          <a:p>
            <a:pPr lvl="0"/>
            <a:r>
              <a:rPr b="1"/>
              <a:t>Aim</a:t>
            </a:r>
            <a:r>
              <a:rPr/>
              <a:t>: Place the topic of the current submodule within a broader context.</a:t>
            </a:r>
          </a:p>
          <a:p>
            <a:pPr lvl="0" indent="0" marL="0">
              <a:buNone/>
            </a:pPr>
          </a:p>
          <a:p>
            <a:pPr lvl="0"/>
            <a:r>
              <a:rPr/>
              <a:t>Remind learners what you are working towards and what the bigger picture is.</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In this session, we will focus on the following elements. Do not worry if these terms sound unfamiliar to you at this point, we will go through each step one by one. </a:t>
            </a:r>
          </a:p>
          <a:p>
            <a:pPr lvl="0" indent="0" marL="0">
              <a:buNone/>
            </a:pPr>
          </a:p>
          <a:p>
            <a:pPr lvl="0"/>
            <a:r>
              <a:rPr b="1"/>
              <a:t>Understand</a:t>
            </a:r>
            <a:r>
              <a:rPr/>
              <a:t> the problem(s) that can be solved by version control </a:t>
            </a:r>
          </a:p>
          <a:p>
            <a:pPr lvl="0" indent="0" marL="0">
              <a:buNone/>
            </a:pPr>
          </a:p>
          <a:p>
            <a:pPr lvl="0"/>
            <a:r>
              <a:rPr b="1"/>
              <a:t>Install</a:t>
            </a:r>
            <a:r>
              <a:rPr/>
              <a:t> and </a:t>
            </a:r>
            <a:r>
              <a:rPr b="1"/>
              <a:t>configure</a:t>
            </a:r>
            <a:r>
              <a:rPr/>
              <a:t> Git </a:t>
            </a:r>
          </a:p>
          <a:p>
            <a:pPr lvl="0" indent="0" marL="0">
              <a:buNone/>
            </a:pPr>
          </a:p>
          <a:p>
            <a:pPr lvl="0"/>
            <a:r>
              <a:rPr b="1"/>
              <a:t>Set up</a:t>
            </a:r>
            <a:r>
              <a:rPr/>
              <a:t> the connection between your computer and GitHub </a:t>
            </a:r>
          </a:p>
          <a:p>
            <a:pPr lvl="0" indent="0" marL="0">
              <a:buNone/>
            </a:pPr>
          </a:p>
          <a:p>
            <a:pPr lvl="0"/>
            <a:r>
              <a:rPr b="1"/>
              <a:t>Create</a:t>
            </a:r>
            <a:r>
              <a:rPr/>
              <a:t> an RStudio Project under version control for a reproducible workflow </a:t>
            </a:r>
          </a:p>
          <a:p>
            <a:pPr lvl="0" indent="0" marL="0">
              <a:buNone/>
            </a:pPr>
          </a:p>
          <a:p>
            <a:pPr lvl="0"/>
            <a:r>
              <a:rPr b="1"/>
              <a:t>Make</a:t>
            </a:r>
            <a:r>
              <a:rPr/>
              <a:t> changes within RStudio and </a:t>
            </a:r>
            <a:r>
              <a:rPr b="1"/>
              <a:t>commit</a:t>
            </a:r>
            <a:r>
              <a:rPr/>
              <a:t> changes locally </a:t>
            </a:r>
          </a:p>
          <a:p>
            <a:pPr lvl="0" indent="0" marL="0">
              <a:buNone/>
            </a:pPr>
          </a:p>
          <a:p>
            <a:pPr lvl="0"/>
            <a:r>
              <a:rPr b="1"/>
              <a:t>Connect</a:t>
            </a:r>
            <a:r>
              <a:rPr/>
              <a:t> local and remote repositories for your work </a:t>
            </a:r>
          </a:p>
          <a:p>
            <a:pPr lvl="0" indent="0" marL="0">
              <a:buNone/>
            </a:pPr>
          </a:p>
          <a:p>
            <a:pPr lvl="0" indent="0" marL="0">
              <a:buNone/>
            </a:pPr>
            <a:r>
              <a:rPr b="1"/>
              <a:t>Instructor Notes</a:t>
            </a:r>
            <a:r>
              <a:rPr/>
              <a:t>:</a:t>
            </a:r>
          </a:p>
          <a:p>
            <a:pPr lvl="0" indent="0" marL="0">
              <a:buNone/>
            </a:pPr>
          </a:p>
          <a:p>
            <a:pPr lvl="0"/>
            <a:r>
              <a:rPr b="1"/>
              <a:t>Aim</a:t>
            </a:r>
            <a:r>
              <a:rPr/>
              <a:t>: Formulate specific, action-oriented goals learning goals which are measurable and observable in line with Bloom’s taxonomy (Anderson et al., 2001; Bloom et al., 1956)</a:t>
            </a:r>
          </a:p>
          <a:p>
            <a:pPr lvl="0" indent="0" marL="0">
              <a:buNone/>
            </a:pPr>
          </a:p>
          <a:p>
            <a:pPr lvl="0" indent="0" marL="0">
              <a:buNone/>
            </a:pPr>
            <a:r>
              <a:rPr b="1"/>
              <a:t>Accessibility Tips</a:t>
            </a:r>
            <a:r>
              <a:rPr/>
              <a:t>: Place an emphasis on the </a:t>
            </a:r>
            <a:r>
              <a:rPr b="1"/>
              <a:t>verbs</a:t>
            </a:r>
            <a:r>
              <a:rPr/>
              <a:t> of the learning goals and choose verbs that align with the skills you want to develop or assess.</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These will be some key terms we will explore more today. Do not worry if some of them do not sound familiar to you yet. I want you to first write down in the next two minutes for yourselves what each of these concepts means to you. Then, take 3 minutes to discuss with your neighbour what you have collected. Finally, let us discuss as a group. There are no right or wrong answers.</a:t>
            </a:r>
          </a:p>
          <a:p>
            <a:pPr lvl="0" indent="0" marL="0">
              <a:buNone/>
            </a:pPr>
          </a:p>
          <a:p>
            <a:pPr lvl="0" indent="0" marL="0">
              <a:buNone/>
            </a:pPr>
            <a:r>
              <a:rPr b="1"/>
              <a:t>Instructor Notes</a:t>
            </a:r>
            <a:r>
              <a:rPr/>
              <a:t>: Base yourself on conceptual change theory and examine existing concepts in relation to some key terms. Use the think-pair-share paradigm: </a:t>
            </a:r>
            <a:r>
              <a:rPr b="1"/>
              <a:t>1) THINK</a:t>
            </a:r>
            <a:r>
              <a:rPr/>
              <a:t>: learners first write down for themselves what they understand by these concepts. </a:t>
            </a:r>
            <a:r>
              <a:rPr b="1"/>
              <a:t>2) PAIR</a:t>
            </a:r>
            <a:r>
              <a:rPr/>
              <a:t>: form pairs among your learners and have them discuss their current understanding of these concepts. </a:t>
            </a:r>
            <a:r>
              <a:rPr b="1"/>
              <a:t>3) SHARE</a:t>
            </a:r>
            <a:r>
              <a:rPr/>
              <a:t>: Ask for volunteer pairs to share they conclusions and thought process.  Compare the descriptions provided by the learners: Are there any visible divergences or central aspects that they did not mention or mentioned differently? Re-examine the formation of new concepts at the end of the lesson.</a:t>
            </a:r>
          </a:p>
          <a:p>
            <a:pPr lvl="0" indent="0" marL="0">
              <a:buNone/>
            </a:pPr>
          </a:p>
          <a:p>
            <a:pPr lvl="0" indent="0" marL="0">
              <a:buNone/>
            </a:pPr>
            <a:r>
              <a:rPr b="1"/>
              <a:t>Accessibility Tip</a:t>
            </a:r>
            <a:r>
              <a:rPr/>
              <a:t>: Note that this slide only works for a synchronous in-class setting. Skip if appropriate.</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a:t>
            </a:r>
          </a:p>
          <a:p>
            <a:pPr lvl="0" indent="0" marL="0">
              <a:buNone/>
            </a:pPr>
          </a:p>
          <a:p>
            <a:pPr lvl="0"/>
            <a:r>
              <a:rPr b="1"/>
              <a:t>Reproducible Workflows</a:t>
            </a:r>
            <a:r>
              <a:rPr/>
              <a:t>: A reproducible workflow refers to a structured process that ensures methods can be consistently repeated by others. This means that anyone who follows the same steps, using the same data and tools, should be able to achieve the same results. Reproducibility is essential in science and research because it helps verify findings, promotes transparency, and allows others to build on your work. By creating workflows that are transparent, well-documented, and accessible, you ensure that your research is both credible and trustworthy.</a:t>
            </a:r>
          </a:p>
          <a:p>
            <a:pPr lvl="0" indent="0" marL="0">
              <a:buNone/>
            </a:pPr>
          </a:p>
          <a:p>
            <a:pPr lvl="0"/>
            <a:r>
              <a:rPr b="1"/>
              <a:t>RStudio Project</a:t>
            </a:r>
            <a:r>
              <a:rPr/>
              <a:t>: An RStudio Project is a convenient way to organize all the files related to a specific R project in one centralized location. This includes not only your R scripts but also any data, workspace settings, history, and outputs. By creating a project in RStudio and a corresponding .Rproj, you make it easier to maintain a consistent working environment, ensuring that everything you need is in one place. This organization is especially useful when sharing projects with collaborators or when you need to continue working on a project at a later time, as it simplifies managing dependencies and avoids issues related to missing files or incorrect paths.</a:t>
            </a:r>
          </a:p>
          <a:p>
            <a:pPr lvl="0" indent="0" marL="0">
              <a:buNone/>
            </a:pPr>
          </a:p>
          <a:p>
            <a:pPr lvl="0"/>
            <a:r>
              <a:rPr b="1"/>
              <a:t>Git</a:t>
            </a:r>
            <a:r>
              <a:rPr/>
              <a:t>: Git is a popular version control system that helps you track and manage changes to your files and code. With Git, you can create commits, which are snapshots of your project at specific points in time. This makes it easy to monitor your progress, and roll back changes if needed. Git also supports branching, allowing you to work on new features or experiments without affecting the main project. Git’s decentralized nature means that each contributor has a full copy of the project’s history, ensuring robust tracking and flexibility.</a:t>
            </a:r>
          </a:p>
          <a:p>
            <a:pPr lvl="0" indent="0" marL="0">
              <a:buNone/>
            </a:pPr>
          </a:p>
          <a:p>
            <a:pPr lvl="0"/>
            <a:r>
              <a:rPr b="1"/>
              <a:t>GitHub</a:t>
            </a:r>
            <a:r>
              <a:rPr/>
              <a:t>: GitHub is a cloud-based platform built on top of Git that facilitates version control and collaboration. It hosts Git repositories online, making it easy to share your code with others, contribute to open-source projects, and track issues or bugs. GitHub offers additional features like pull requests, which allow collaborators to propose changes to a project and review those changes before they are merged into the main codebase. It also provides tools for project management, documentation, and continuous integration, making it an essential tool for modern software development and collaboration.</a:t>
            </a:r>
          </a:p>
          <a:p>
            <a:pPr lvl="0" indent="0" marL="0">
              <a:buNone/>
            </a:pPr>
          </a:p>
          <a:p>
            <a:pPr lvl="0"/>
            <a:r>
              <a:rPr b="1"/>
              <a:t>Repositories</a:t>
            </a:r>
            <a:r>
              <a:rPr/>
              <a:t>: Git terminology for a folder whose content is tracked by Git</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So here we see our typical student — they’ve got 100 versions of the same file on their laptop. This might look funny, but we have all been there, whether it’s a paper draft, a dataset, or an analysis script. File and data management is hard, and we have to somehow juggle multiple versions of files, so it is easy to lose track of which version is the “right” one.</a:t>
            </a:r>
          </a:p>
          <a:p>
            <a:pPr lvl="0" indent="0" marL="0">
              <a:buNone/>
            </a:pPr>
          </a:p>
          <a:p>
            <a:pPr lvl="0" indent="0" marL="0">
              <a:buNone/>
            </a:pPr>
            <a:r>
              <a:rPr b="1"/>
              <a:t>Instructor Notes</a:t>
            </a:r>
            <a:r>
              <a:rPr/>
              <a:t>: Adjust the example to tailor it to the main file type of your audience. Perhaps even show your own data organisation system from a project from many years ago to make learners relate more. Ask for volunteers to describe their current document management strategies.</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Here is once again our student, who is the victim of one of the most common threats to good science: hardware failure. It could be a coffee spill, a dropped laptop, a lost USB drive, or a hard disk crash, all different flavors of the same disaster and very realistic scenarios in student and researcher life.</a:t>
            </a:r>
          </a:p>
          <a:p>
            <a:pPr lvl="0" indent="0" marL="0">
              <a:buNone/>
            </a:pPr>
          </a:p>
          <a:p>
            <a:pPr lvl="0" indent="0" marL="0">
              <a:buNone/>
            </a:pPr>
            <a:r>
              <a:rPr b="1"/>
              <a:t>Instructor Notes</a:t>
            </a:r>
            <a:r>
              <a:rPr/>
              <a:t>: Describe an example from your own research or student career and describe the impact it had at the time. This is another reason why version control systems like Git, especially when used with remote hosting services such as GitHub, are so powerful. They do not just track your changes; they back up your work in multiple locations, so even if your laptop meets an unfortunate end, your work does not.</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might yet be another problem that could be familiar to some of you: You have a new assignment and it reminds you of an old assignment. You decide to copy that folder over but are now wondering what the last thing you did was and how you solved the assignment last time. Sometimes it takes months or years until you come back to your old project, and it is almost impossible to remember why we made certain changes, what data we used, or how the results were produced, especially if all we have are scattered files in random folder with no context.</a:t>
            </a:r>
          </a:p>
          <a:p>
            <a:pPr lvl="0" indent="0" marL="0">
              <a:buNone/>
            </a:pPr>
          </a:p>
          <a:p>
            <a:pPr lvl="0" indent="0" marL="0">
              <a:buNone/>
            </a:pPr>
            <a:r>
              <a:rPr b="1"/>
              <a:t>Instructor Notes</a:t>
            </a:r>
            <a:r>
              <a:rPr/>
              <a:t>: Additional presenter notes for clarity: We’ve all opened an old project and thought, “What was I even doing here?” Without clear records, it’s impossible to remember how results were produced or why changes were made. This is where Git comes in, because changes are tracked and years later, you see exactly what you did and why.</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is another situation that some of you may recognise: we are working on some code, we make a “small” change to try something new or to add a small new feature and suddenly nothing works anymore.</a:t>
            </a:r>
          </a:p>
          <a:p>
            <a:pPr lvl="0" indent="0" marL="0">
              <a:buNone/>
            </a:pPr>
          </a:p>
          <a:p>
            <a:pPr lvl="0" indent="0" marL="0">
              <a:buNone/>
            </a:pPr>
            <a:r>
              <a:rPr b="1"/>
              <a:t>Instructor Notes</a:t>
            </a:r>
            <a:r>
              <a:rPr/>
              <a:t>: Without version control, it is hard to get back to a working state or see what went wrong. Git makes this safe: you can experiment on a branch, and if it fails, simply return to the last working version.</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Your turn: Who is familiar with these problems?</a:t>
            </a:r>
          </a:p>
          <a:p>
            <a:pPr lvl="0" indent="0" marL="0">
              <a:buNone/>
            </a:pPr>
          </a:p>
          <a:p>
            <a:pPr lvl="0" indent="0" marL="0">
              <a:buNone/>
            </a:pPr>
            <a:r>
              <a:rPr b="1"/>
              <a:t>Instructor Notes</a:t>
            </a:r>
            <a:r>
              <a:rPr/>
              <a:t>: Prepare an interactive survey in advance, e.g., by using Particify, to make this part more interactive. Closely examine the answers given and create a shared understanding that many students in class are experiencing similar issues.</a:t>
            </a:r>
          </a:p>
          <a:p>
            <a:pPr lvl="0" indent="0" marL="0">
              <a:buNone/>
            </a:pPr>
          </a:p>
          <a:p>
            <a:pPr lvl="0" indent="0" marL="0">
              <a:buNone/>
            </a:pPr>
            <a:r>
              <a:rPr b="1"/>
              <a:t>Accessibility Tip</a:t>
            </a:r>
            <a:r>
              <a:rPr/>
              <a:t>: Note that an interactive online survey only works for a synchronous in-class setting. Skip this slide as appropriate.</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Version control is a system that records changes made to files over time. Specifically, it saves the </a:t>
            </a:r>
            <a:r>
              <a:rPr b="1"/>
              <a:t>difference</a:t>
            </a:r>
            <a:r>
              <a:rPr/>
              <a:t> between two files It enables you to track the history of modifications, making it easy to see who changed what, when, and why. This is particularly valuable when working on code or large projects with many files, as it helps you manage different versions, and recover previous versions if something goes wrong. With version control, you can safely experiment with new changes without fear of losing important work, as you can always revert to a stable version of the project.</a:t>
            </a:r>
          </a:p>
          <a:p>
            <a:pPr lvl="0" indent="0" marL="0">
              <a:buNone/>
            </a:pPr>
          </a:p>
          <a:p>
            <a:pPr lvl="0" indent="0" marL="0">
              <a:buNone/>
            </a:pPr>
            <a:r>
              <a:rPr b="1"/>
              <a:t>Instructor Notes</a:t>
            </a:r>
            <a:r>
              <a:rPr/>
              <a:t>: Take your time with this section as it explains the WHY of version control. Learners should recognize their own challenges and be curious about how exactly one could overcome these challenges. More importantly, they should get a first idea how version control could be a tool to overcome their </a:t>
            </a:r>
            <a:r>
              <a:rPr i="1"/>
              <a:t>own</a:t>
            </a:r>
            <a:r>
              <a:rPr/>
              <a:t> challenges and that therefore it could be beneficial for </a:t>
            </a:r>
            <a:r>
              <a:rPr i="1"/>
              <a:t>them personally</a:t>
            </a:r>
            <a:r>
              <a:rPr/>
              <a:t>.</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Instructor Notes</a:t>
            </a:r>
            <a:r>
              <a:rPr/>
              <a:t>: For a more interactive delivery, use free tools such as Particify] to create interactive surveys before you deliver this lesson. The pre-submodule survey serves to examine learners’ prior knowledge about version control and related concepts. Note that this survey cannot be completed in an asynchronous setting because the survey results cannot be displayed.</a:t>
            </a:r>
          </a:p>
          <a:p>
            <a:pPr lvl="0" indent="0" marL="0">
              <a:buNone/>
            </a:pPr>
          </a:p>
          <a:p>
            <a:pPr lvl="0" indent="0" marL="0">
              <a:buNone/>
            </a:pPr>
            <a:r>
              <a:rPr b="1"/>
              <a:t>Accessibility Tip</a:t>
            </a:r>
            <a:r>
              <a:rPr/>
              <a:t>: Note that this slide only works for a synchronous in-class setting. Skip the survey as appropriate.</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have a look at these results.</a:t>
            </a:r>
          </a:p>
          <a:p>
            <a:pPr lvl="0" indent="0" marL="0">
              <a:buNone/>
            </a:pPr>
          </a:p>
          <a:p>
            <a:pPr lvl="0" indent="0" marL="0">
              <a:buNone/>
            </a:pPr>
            <a:r>
              <a:rPr b="1"/>
              <a:t>Instructor Notes</a:t>
            </a:r>
            <a:r>
              <a:rPr/>
              <a:t>:</a:t>
            </a:r>
          </a:p>
          <a:p>
            <a:pPr lvl="0" indent="0" marL="0">
              <a:buNone/>
            </a:pPr>
          </a:p>
          <a:p>
            <a:pPr lvl="0"/>
            <a:r>
              <a:rPr b="1"/>
              <a:t>Aim</a:t>
            </a:r>
            <a:r>
              <a:rPr/>
              <a:t>: Briefly examine the answers given to each question interactively with the group. Use visuals from the survey to highlight specific answers. If </a:t>
            </a:r>
            <a:r>
              <a:rPr i="1"/>
              <a:t>everyone</a:t>
            </a:r>
            <a:r>
              <a:rPr/>
              <a:t> selects Git and GitHub in the question concerned with the familiarity with these concepts, keep your explanations and definitions short: “okay, you have heard about X, so I will only briefly revisit this”. If the majority of learners state that they are currently extremely uncomfortable with using Git, provide reassurance that they are in the right spot. If many people are extremely comfortable with all concepts, ask them if they would prefer going through the slides and tasks by themselves.</a:t>
            </a:r>
          </a:p>
          <a:p>
            <a:pPr lvl="0" indent="0" marL="0">
              <a:buNone/>
            </a:pPr>
          </a:p>
          <a:p>
            <a:pPr lvl="0" indent="0" marL="0">
              <a:buNone/>
            </a:pPr>
            <a:r>
              <a:rPr b="1"/>
              <a:t>Accessibility Tip</a:t>
            </a:r>
            <a:r>
              <a:rPr/>
              <a:t>: Have people work in pairs if someone did not bring their phone/does not have a phone. This survey also cannot be completed in an asynchronous setting.</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Diving into the solution to some of the chalenges with discussed earlier, Git is a popular version control system that helps you track and manage changes to your files and code. With Git, you can create commits, which are snapshots of your project at specific points in time. This makes it easy to monitor your progress, roll back changes if needed, and collaborate effectively with others. Git also supports branching, allowing you to work on new features or experiments without affecting the main project. Git’s decentralized nature means that each contributor has a full copy of the project’s history, ensuring robust tracking and flexibility.</a:t>
            </a:r>
          </a:p>
          <a:p>
            <a:pPr lvl="0" indent="0" marL="0">
              <a:buNone/>
            </a:pPr>
          </a:p>
          <a:p>
            <a:pPr lvl="0" indent="0" marL="0">
              <a:buNone/>
            </a:pPr>
            <a:r>
              <a:rPr b="1"/>
              <a:t>Instructor Notes</a:t>
            </a:r>
            <a:r>
              <a:rPr/>
              <a:t>: Examine the conceptual understanding of this term before proceeding.</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GitHub is a cloud-based platform built on top of Git that facilitates version control and collaboration. It hosts Git repositories online, making it easy to share your code with others, contribute to open-source projects, and track issues or bugs. GitHub offers additional features like pull requests, which allow collaborators to propose changes to a project and review those changes before they are merged into the main codebase. It also provides tools for project management, documentation, and continuous integration, making it an essential tool for modern software development and collaboration.</a:t>
            </a:r>
          </a:p>
          <a:p>
            <a:pPr lvl="0" indent="0" marL="0">
              <a:buNone/>
            </a:pPr>
          </a:p>
          <a:p>
            <a:pPr lvl="0" indent="0" marL="0">
              <a:buNone/>
            </a:pPr>
            <a:r>
              <a:rPr b="1"/>
              <a:t>Instructor Notes</a:t>
            </a:r>
            <a:r>
              <a:rPr/>
              <a:t>: Examine the conceptual understanding of this term before proceeding.</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Let’s break down the basic steps of how Git and GitHub work together:</a:t>
            </a:r>
          </a:p>
          <a:p>
            <a:pPr lvl="0" indent="0" marL="0">
              <a:buNone/>
            </a:pPr>
          </a:p>
          <a:p>
            <a:pPr lvl="0"/>
            <a:r>
              <a:rPr b="1"/>
              <a:t>Local repository (aka your computer)</a:t>
            </a:r>
            <a:r>
              <a:rPr/>
              <a:t>: When you start working on a project, you create a local repository on your computer. This is simply a folder where all your project files are kept. Git helps you track changes to these files over time by taking snapshots of them every time you save or modify something important. For example, imagine you’re writing code or working on a document. Each time you make significant changes, you can use Git to save a snapshot (called a commit) of your work. This allows you to keep track of your progress, go back to previous versions if needed, and see what changes have been made.</a:t>
            </a:r>
          </a:p>
          <a:p>
            <a:pPr lvl="0" indent="0" marL="0">
              <a:buNone/>
            </a:pPr>
          </a:p>
          <a:p>
            <a:pPr lvl="0"/>
            <a:r>
              <a:rPr b="1"/>
              <a:t>Remote repository (GitHub)</a:t>
            </a:r>
            <a:r>
              <a:rPr/>
              <a:t>: While your local repository is on your computer, GitHub is a platform on the internet that hosts your project remotely. Think of GitHub as a cloud-based storage for your project, where you can store the most up-to-date version of your work. Having a remote repository on GitHub is also helpful if you’re collaborating with others. Instead of sending files back and forth, everyone can work on the same project from their own computers and update GitHub with their changes.</a:t>
            </a:r>
          </a:p>
          <a:p>
            <a:pPr lvl="0" indent="0" marL="0">
              <a:buNone/>
            </a:pPr>
          </a:p>
          <a:p>
            <a:pPr lvl="0"/>
            <a:r>
              <a:rPr b="1"/>
              <a:t>Pushing changes to GitHub</a:t>
            </a:r>
            <a:r>
              <a:rPr/>
              <a:t>: Once you have made changes to your files and are happy with them, you can push those changes to the remote repository on GitHub. To “push” means to send your local changes to GitHub, making them available to anyone else who is working on the project. Think of pushing like uploading your updated work to the cloud.</a:t>
            </a:r>
          </a:p>
          <a:p>
            <a:pPr lvl="0" indent="0" marL="0">
              <a:buNone/>
            </a:pPr>
          </a:p>
          <a:p>
            <a:pPr lvl="0"/>
            <a:r>
              <a:rPr b="1"/>
              <a:t>Pulling changes from GitHub</a:t>
            </a:r>
            <a:r>
              <a:rPr/>
              <a:t>:If you are collaborating with others, or if someone else has made changes to the project, you will need to make sure your local project is up-to-date. To do this, you can pull the latest version from GitHub. Pulling means downloading the latest version of the project from GitHub to your computer. This ensures that you have all the recent changes made by others, and it helps avoid conflicts when multiple people are working on the same project at the same time.</a:t>
            </a:r>
          </a:p>
          <a:p>
            <a:pPr lvl="0" indent="0" marL="0">
              <a:buNone/>
            </a:pPr>
          </a:p>
          <a:p>
            <a:pPr lvl="0" indent="0" marL="0">
              <a:buNone/>
            </a:pPr>
            <a:r>
              <a:rPr b="1"/>
              <a:t>Instructor Notes</a:t>
            </a:r>
            <a:r>
              <a:rPr/>
              <a:t>: Take your time when explaining this workflow. If this slide is still too difficult to grasp, here is an even simpler explanation:</a:t>
            </a:r>
          </a:p>
          <a:p>
            <a:pPr lvl="0" indent="0" marL="0">
              <a:buNone/>
            </a:pPr>
          </a:p>
          <a:p>
            <a:pPr lvl="0"/>
            <a:r>
              <a:rPr/>
              <a:t>Starting a project: You create a new project on your computer and initialize a local repository to start tracking your changes with Git.</a:t>
            </a:r>
          </a:p>
          <a:p>
            <a:pPr lvl="0" indent="0" marL="0">
              <a:buNone/>
            </a:pPr>
          </a:p>
          <a:p>
            <a:pPr lvl="0"/>
            <a:r>
              <a:rPr/>
              <a:t>Making changes: You write code or update documents. Every time you reach an important milestone, you save those changes with Git by making a commit.</a:t>
            </a:r>
          </a:p>
          <a:p>
            <a:pPr lvl="0" indent="0" marL="0">
              <a:buNone/>
            </a:pPr>
          </a:p>
          <a:p>
            <a:pPr lvl="0"/>
            <a:r>
              <a:rPr/>
              <a:t>Pushing to GitHub: When you’re ready to share your progress with others (or back it up), you push your changes to GitHub. Now, your work is safely stored online.</a:t>
            </a:r>
          </a:p>
          <a:p>
            <a:pPr lvl="0" indent="0" marL="0">
              <a:buNone/>
            </a:pPr>
          </a:p>
          <a:p>
            <a:pPr lvl="0"/>
            <a:r>
              <a:rPr/>
              <a:t>Pulling updates: If someone else is working on the project or you’ve been away for a while, you can pull the latest changes from GitHub to your computer. This keeps your local copy in sync with everyone else’s work.</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In pairs, I would like for you to explain to each other, in simple terms, what the Git-GitHub “workflow” entails. What role does Git play locally versus GitHub remotely? How does pushing and pulling connect the two? And what is the difference between the two?</a:t>
            </a:r>
          </a:p>
          <a:p>
            <a:pPr lvl="0" indent="0" marL="0">
              <a:buNone/>
            </a:pPr>
          </a:p>
          <a:p>
            <a:pPr lvl="0" indent="0" marL="0">
              <a:buNone/>
            </a:pPr>
            <a:r>
              <a:rPr b="1"/>
              <a:t>Instructor Notes</a:t>
            </a:r>
            <a:r>
              <a:rPr/>
              <a:t>: Use this as an informal assessment moment to gauge if the general concepts of pulling and pushing are clear. Ask for one or two volunteer pairs who would explain the workflow in their own words to the rest of the audience. Then, make a transition into the practical aspect of this class.</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To install Git on Windows, first visit http://git-scm.com/downloads and download the latest version of Git. Once the download is complete, run the .exe installer file. During the installation process, simply accept all the default settings and continue clicking ‘Next’ until the installation is finished. There’s no need to make any changes to the default options unless you have specific preferences. This will set up Git on your Windows machine with minimal effort.</a:t>
            </a:r>
          </a:p>
          <a:p>
            <a:pPr lvl="0" indent="0" marL="0">
              <a:buNone/>
            </a:pPr>
          </a:p>
          <a:p>
            <a:pPr lvl="0" indent="0" marL="0">
              <a:buNone/>
            </a:pPr>
            <a:r>
              <a:rPr b="1"/>
              <a:t>Instructor Notes</a:t>
            </a:r>
            <a:r>
              <a:rPr/>
              <a:t>: Work alongslide your learners from a new laptop that does not have Git installed yet and leave enough time for learners to follow along. Check in regularly to detect issues. Whenever technical issues need to be dealt with, ask around if anyone experienced may jump in so you do not have to solve everything yourself.</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To install Git on macOS, begin by visiting http://git-scm.com/downloads and downloading the latest version of Git. On the download page, select the first option that suggests installing Git via Homebrew, which is a package manager for macOS.</a:t>
            </a:r>
          </a:p>
          <a:p>
            <a:pPr lvl="0" indent="0" marL="0">
              <a:buNone/>
            </a:pPr>
          </a:p>
          <a:p>
            <a:pPr lvl="0" indent="0" marL="0">
              <a:buNone/>
            </a:pPr>
            <a:r>
              <a:rPr b="1"/>
              <a:t>Instructor Notes</a:t>
            </a:r>
            <a:r>
              <a:rPr/>
              <a:t>: Work alongslide your learners from a new laptop that does not have Git installed yet and leave enough time for learners to follow along. Check in regularly to detect issues.</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To install Git on Ubuntu, open your terminal and paste the following command: sudo apt-get install git-core. This command will install Git using Ubuntu’s package manager. You may be prompted to enter your password to authorize the installation. Once the process is complete, Git will be successfully installed on your system.</a:t>
            </a:r>
          </a:p>
          <a:p>
            <a:pPr lvl="0" indent="0" marL="0">
              <a:buNone/>
            </a:pPr>
          </a:p>
          <a:p>
            <a:pPr lvl="0" indent="0" marL="0">
              <a:buNone/>
            </a:pPr>
            <a:r>
              <a:rPr b="1"/>
              <a:t>Instructor Notes</a:t>
            </a:r>
            <a:r>
              <a:rPr/>
              <a:t>: Leave enough time for learners to follow along. Check in regularly to detect issues.</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Git can be configured through the command line interface. Later, we will be able to use Git through RStudio, which we will cover later in this session. To configure Git via the command line, follow these steps depending on your operating system:</a:t>
            </a:r>
          </a:p>
          <a:p>
            <a:pPr lvl="0" indent="0" marL="0">
              <a:buNone/>
            </a:pPr>
          </a:p>
          <a:p>
            <a:pPr lvl="0"/>
            <a:r>
              <a:rPr/>
              <a:t>On Windows, open Git Bash by searching for it in the Start menu (just type “Git Bash” and select it).</a:t>
            </a:r>
          </a:p>
          <a:p>
            <a:pPr lvl="0" indent="0" marL="0">
              <a:buNone/>
            </a:pPr>
          </a:p>
          <a:p>
            <a:pPr lvl="0"/>
            <a:r>
              <a:rPr/>
              <a:t>On macOS, open the Terminal app, which you can find in the Applications &gt; Utilities folder or search for using Spotlight.</a:t>
            </a:r>
          </a:p>
          <a:p>
            <a:pPr lvl="0" indent="0" marL="0">
              <a:buNone/>
            </a:pPr>
          </a:p>
          <a:p>
            <a:pPr lvl="0"/>
            <a:r>
              <a:rPr/>
              <a:t>On Linux, open your distribution’s terminal emulator (for example, GNOME Terminal, Konsole, or another terminal application specific to your Linux distribution).</a:t>
            </a:r>
          </a:p>
          <a:p>
            <a:pPr lvl="0" indent="0" marL="0">
              <a:buNone/>
            </a:pPr>
          </a:p>
          <a:p>
            <a:pPr lvl="0" indent="0" marL="0">
              <a:buNone/>
            </a:pPr>
            <a:r>
              <a:rPr/>
              <a:t>Once you’ve opened the terminal, you’ll be ready to start configuring Git through the command line.</a:t>
            </a:r>
          </a:p>
          <a:p>
            <a:pPr lvl="0" indent="0" marL="0">
              <a:buNone/>
            </a:pPr>
          </a:p>
          <a:p>
            <a:pPr lvl="0" indent="0" marL="0">
              <a:buNone/>
            </a:pPr>
            <a:r>
              <a:rPr b="1"/>
              <a:t>Instructor Notes</a:t>
            </a:r>
            <a:r>
              <a:rPr/>
              <a:t>: Make sure to leave enough time for learners to find the terminal corresponding to their operating system.</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We will continue configuring Git. In the command line, type the following commands, one after the other, and hit enter after each command. Make sure to replace the email in quotes with your own email, and the name in quotes with your own full name. Do not remove the quotes.</a:t>
            </a:r>
          </a:p>
          <a:p>
            <a:pPr lvl="0" indent="0" marL="0">
              <a:buNone/>
            </a:pPr>
          </a:p>
          <a:p>
            <a:pPr lvl="0" indent="0" marL="0">
              <a:buNone/>
            </a:pPr>
            <a:r>
              <a:rPr b="1"/>
              <a:t>Instructor Notes</a:t>
            </a:r>
            <a:r>
              <a:rPr/>
              <a:t>: Upon successful execution, learners should see no output from these commands. Emphasize the importance of using their own email addresses and names in quotes. Also highlight that the commands need to be typed </a:t>
            </a:r>
            <a:r>
              <a:rPr b="1"/>
              <a:t>EXACTLY</a:t>
            </a:r>
            <a:r>
              <a:rPr/>
              <a:t> as is, as the command line is highly sensitive to spelling, capitalization, punctuation and empty spaces.</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Before you can interact with GitHub repositories, GitHub needs to recognize you and your machine. This is important to ensure that only authorized users can access and make changes to repositories. One common way to authenticate yourself and your machine is by using SSH keys.</a:t>
            </a:r>
          </a:p>
          <a:p>
            <a:pPr lvl="0" indent="0" marL="0">
              <a:buNone/>
            </a:pPr>
          </a:p>
          <a:p>
            <a:pPr lvl="0" indent="0" marL="0">
              <a:buNone/>
            </a:pPr>
            <a:r>
              <a:rPr/>
              <a:t>SSH keys work by pairing a public key with a private key. The public key is shared with GitHub and stored on their servers, while the private key stays securely on your computer. When you try to connect to GitHub, it checks if the public and private keys match. If they do, you’re granted access.</a:t>
            </a:r>
          </a:p>
          <a:p>
            <a:pPr lvl="0" indent="0" marL="0">
              <a:buNone/>
            </a:pPr>
          </a:p>
          <a:p>
            <a:pPr lvl="0" indent="0" marL="0">
              <a:buNone/>
            </a:pPr>
            <a:r>
              <a:rPr/>
              <a:t>Note that setting up SSH keys is something you only need to do </a:t>
            </a:r>
            <a:r>
              <a:rPr b="1"/>
              <a:t>once</a:t>
            </a:r>
            <a:r>
              <a:rPr/>
              <a:t> per GitHub account. However, you will need to set up separate keys for each computer you use to connect to GitHub. This ensures that every device you use has its own secure authentication.</a:t>
            </a:r>
          </a:p>
          <a:p>
            <a:pPr lvl="0" indent="0" marL="0">
              <a:buNone/>
            </a:pPr>
          </a:p>
          <a:p>
            <a:pPr lvl="0" indent="0" marL="0">
              <a:buNone/>
            </a:pPr>
            <a:r>
              <a:rPr/>
              <a:t>Remember, once the SSH keys are set up, they streamline your workflow with GitHub, allowing you to securely push, pull, and interact with repositories without needing to repeatedly enter your credentials.</a:t>
            </a:r>
          </a:p>
          <a:p>
            <a:pPr lvl="0" indent="0" marL="0">
              <a:buNone/>
            </a:pPr>
          </a:p>
          <a:p>
            <a:pPr lvl="0" indent="0" marL="0">
              <a:buNone/>
            </a:pPr>
            <a:r>
              <a:rPr b="1"/>
              <a:t>Instructor Notes</a:t>
            </a:r>
            <a:r>
              <a:rPr/>
              <a:t>: Depending on the technical experience of the audience, go into more or less details about SSH keys. Stress that you need SSH keys to secure the connection between a specific computer and a specific GitHub account.</a:t>
            </a:r>
          </a:p>
        </p:txBody>
      </p:sp>
      <p:sp>
        <p:nvSpPr>
          <p:cNvPr id="4" name="Slide Number Placeholder 3"/>
          <p:cNvSpPr>
            <a:spLocks noGrp="1"/>
          </p:cNvSpPr>
          <p:nvPr>
            <p:ph type="sldNum" sz="quarter" idx="10"/>
          </p:nvPr>
        </p:nvSpPr>
        <p:spPr/>
        <p:txBody>
          <a:bodyPr/>
          <a:lstStyle/>
          <a:p>
            <a:fld id="{18BDFEC3-8487-43E8-A154-7C12CBC1FFF2}" type="slidenum">
              <a:rPr lang="en-US"/>
              <a:t>34</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Before creating a new SSH key pair, it is important to check if you already have one. If you already have an SSH key pair, there is no need to generate a new one. You can simply use the existing key, which can save you time and avoid disrupting any current connections you have set up.In this first step we will check for an existing SSH key on different operating systems:</a:t>
            </a:r>
          </a:p>
          <a:p>
            <a:pPr lvl="0" indent="0" marL="0">
              <a:buNone/>
            </a:pPr>
          </a:p>
          <a:p>
            <a:pPr lvl="0"/>
            <a:r>
              <a:rPr b="1"/>
              <a:t>For Windows</a:t>
            </a:r>
            <a:r>
              <a:rPr/>
              <a:t>: Start by opening Git Bash. You can find it by searching for “Git Bash” in the Start menu. Once it’s open, navigate to the .ssh directory to see if a key already exists.</a:t>
            </a:r>
          </a:p>
          <a:p>
            <a:pPr lvl="0" indent="0" marL="0">
              <a:buNone/>
            </a:pPr>
          </a:p>
          <a:p>
            <a:pPr lvl="0"/>
            <a:r>
              <a:rPr b="1"/>
              <a:t>For macOS</a:t>
            </a:r>
            <a:r>
              <a:rPr/>
              <a:t>: On a Mac, open the Terminal app. You can find it by searching for “Terminal” in Spotlight or by navigating to Applications &gt; Utilities. From there, you can check the .ssh folder to look for any existing keys.</a:t>
            </a:r>
          </a:p>
          <a:p>
            <a:pPr lvl="0" indent="0" marL="0">
              <a:buNone/>
            </a:pPr>
          </a:p>
          <a:p>
            <a:pPr lvl="0"/>
            <a:r>
              <a:rPr b="1"/>
              <a:t>For Linux</a:t>
            </a:r>
            <a:r>
              <a:rPr/>
              <a:t>: If you are using Linux, open any terminal emulator you prefer, whether it’s the default terminal for your distribution or a third-party app. Then, check the .ssh directory for any existing SSH keys.</a:t>
            </a:r>
          </a:p>
          <a:p>
            <a:pPr lvl="0" indent="0" marL="0">
              <a:buNone/>
            </a:pPr>
          </a:p>
          <a:p>
            <a:pPr lvl="0" indent="0" marL="0">
              <a:buNone/>
            </a:pPr>
            <a:r>
              <a:rPr b="1"/>
              <a:t>Instructor Notes</a:t>
            </a:r>
            <a:r>
              <a:rPr/>
              <a:t>: Make sure to leave enough time for learners to follow the instructions based on their operating system.</a:t>
            </a:r>
          </a:p>
        </p:txBody>
      </p:sp>
      <p:sp>
        <p:nvSpPr>
          <p:cNvPr id="4" name="Slide Number Placeholder 3"/>
          <p:cNvSpPr>
            <a:spLocks noGrp="1"/>
          </p:cNvSpPr>
          <p:nvPr>
            <p:ph type="sldNum" sz="quarter" idx="10"/>
          </p:nvPr>
        </p:nvSpPr>
        <p:spPr/>
        <p:txBody>
          <a:bodyPr/>
          <a:lstStyle/>
          <a:p>
            <a:fld id="{18BDFEC3-8487-43E8-A154-7C12CBC1FFF2}" type="slidenum">
              <a:rPr lang="en-US"/>
              <a:t>35</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second step is to list the contents of the .ssh directory. This will allow you to see if any SSH keys are already present. To do this, open your terminal (or Git Bash on Windows) and enter the following command: ls ~/.ssh. This command will display a list of files located in the .ssh directory. If you already have SSH keys, you will likely see files such as id_rsa (private key) and id_rsa.pub (public key), or similarly named files like id_ed25519 and id_ed25519.pub.</a:t>
            </a:r>
          </a:p>
          <a:p>
            <a:pPr lvl="0" indent="0" marL="0">
              <a:buNone/>
            </a:pPr>
          </a:p>
          <a:p>
            <a:pPr lvl="0" indent="0" marL="0">
              <a:buNone/>
            </a:pPr>
            <a:r>
              <a:rPr b="1"/>
              <a:t>Instructor Notes</a:t>
            </a:r>
            <a:r>
              <a:rPr/>
              <a:t>: Ask your audience to review the outputs of this command and to compare it to the following slide.</a:t>
            </a:r>
          </a:p>
        </p:txBody>
      </p:sp>
      <p:sp>
        <p:nvSpPr>
          <p:cNvPr id="4" name="Slide Number Placeholder 3"/>
          <p:cNvSpPr>
            <a:spLocks noGrp="1"/>
          </p:cNvSpPr>
          <p:nvPr>
            <p:ph type="sldNum" sz="quarter" idx="10"/>
          </p:nvPr>
        </p:nvSpPr>
        <p:spPr/>
        <p:txBody>
          <a:bodyPr/>
          <a:lstStyle/>
          <a:p>
            <a:fld id="{18BDFEC3-8487-43E8-A154-7C12CBC1FFF2}" type="slidenum">
              <a:rPr lang="en-US"/>
              <a:t>36</a:t>
            </a:fld>
            <a:endParaRPr lang="en-US"/>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If there were already an SSH key pair, the command line output would be one of the ones indicated on this slide. In that case, it means that you already have an SSH key pair. You can therefore skip the section on how to generate a new SSH key pair.</a:t>
            </a:r>
          </a:p>
          <a:p>
            <a:pPr lvl="0" indent="0" marL="0">
              <a:buNone/>
            </a:pPr>
          </a:p>
          <a:p>
            <a:pPr lvl="0" indent="0" marL="0">
              <a:buNone/>
            </a:pPr>
            <a:r>
              <a:rPr/>
              <a:t>However, if you do not have an existing public and private key pair (which is to be expected!), or if you receive an error that ~/.ssh does not exist, that this file location does not exist, or that you cannot access this folder, we will go ahead and generate a new SSH key pair as our next step.</a:t>
            </a:r>
          </a:p>
          <a:p>
            <a:pPr lvl="0" indent="0" marL="0">
              <a:buNone/>
            </a:pPr>
          </a:p>
          <a:p>
            <a:pPr lvl="0" indent="0" marL="0">
              <a:buNone/>
            </a:pPr>
            <a:r>
              <a:rPr b="1"/>
              <a:t>Instructor Notes</a:t>
            </a:r>
            <a:r>
              <a:rPr/>
              <a:t>: If there is an existing SSH key pair, learners can skip the section on how to generate a new SSH key pair. If there is no existing public and private key pair (which is to be expected!), or if there is an error message saying that ~/.ssh doesn’t exist, that this file location doesn’t exist, or that the folder cannot be accessed, learners can proceed with the generation of a new SSH key pair.</a:t>
            </a:r>
          </a:p>
        </p:txBody>
      </p:sp>
      <p:sp>
        <p:nvSpPr>
          <p:cNvPr id="4" name="Slide Number Placeholder 3"/>
          <p:cNvSpPr>
            <a:spLocks noGrp="1"/>
          </p:cNvSpPr>
          <p:nvPr>
            <p:ph type="sldNum" sz="quarter" idx="10"/>
          </p:nvPr>
        </p:nvSpPr>
        <p:spPr/>
        <p:txBody>
          <a:bodyPr/>
          <a:lstStyle/>
          <a:p>
            <a:fld id="{18BDFEC3-8487-43E8-A154-7C12CBC1FFF2}" type="slidenum">
              <a:rPr lang="en-US"/>
              <a:t>37</a:t>
            </a:fld>
            <a:endParaRPr lang="en-US"/>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As the first step to creating a new SSH key pair, type the following into the command line, replacing the email here with your </a:t>
            </a:r>
            <a:r>
              <a:rPr i="1"/>
              <a:t>own</a:t>
            </a:r>
            <a:r>
              <a:rPr/>
              <a:t> email to create a new SSH key pair with your email as a label: ssh-keygen -t ed25519 -C “your_email@email.com. Pay close attention to spelling!</a:t>
            </a:r>
          </a:p>
          <a:p>
            <a:pPr lvl="0" indent="0" marL="0">
              <a:buNone/>
            </a:pPr>
          </a:p>
          <a:p>
            <a:pPr lvl="0" indent="0" marL="0">
              <a:buNone/>
            </a:pPr>
            <a:r>
              <a:rPr b="1"/>
              <a:t>Instructor Notes</a:t>
            </a:r>
            <a:r>
              <a:rPr/>
              <a:t>: Learners need to pay close attention to spacing and capital letters while typing.</a:t>
            </a:r>
          </a:p>
        </p:txBody>
      </p:sp>
      <p:sp>
        <p:nvSpPr>
          <p:cNvPr id="4" name="Slide Number Placeholder 3"/>
          <p:cNvSpPr>
            <a:spLocks noGrp="1"/>
          </p:cNvSpPr>
          <p:nvPr>
            <p:ph type="sldNum" sz="quarter" idx="10"/>
          </p:nvPr>
        </p:nvSpPr>
        <p:spPr/>
        <p:txBody>
          <a:bodyPr/>
          <a:lstStyle/>
          <a:p>
            <a:fld id="{18BDFEC3-8487-43E8-A154-7C12CBC1FFF2}" type="slidenum">
              <a:rPr lang="en-US"/>
              <a:t>38</a:t>
            </a:fld>
            <a:endParaRPr lang="en-US"/>
          </a:p>
        </p:txBody>
      </p:sp>
    </p:spTree>
  </p:cSld>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In the next step, When prompted to </a:t>
            </a:r>
            <a:r>
              <a:rPr i="1"/>
              <a:t>Enter a file in which to save key</a:t>
            </a:r>
            <a:r>
              <a:rPr/>
              <a:t>, press ENTER to accept the default file location. That should give you this prompt you see in these slides: Generating public/private ed25519 key pair.</a:t>
            </a:r>
            <a:br/>
            <a:r>
              <a:rPr/>
              <a:t>Enter file in which to save the key (/Users/username/.ssh/id_ed25519):</a:t>
            </a:r>
          </a:p>
          <a:p>
            <a:pPr lvl="0" indent="0" marL="0">
              <a:buNone/>
            </a:pPr>
          </a:p>
          <a:p>
            <a:pPr lvl="0" indent="0" marL="0">
              <a:buNone/>
            </a:pPr>
            <a:r>
              <a:rPr b="1"/>
              <a:t>Instructor Notes</a:t>
            </a:r>
            <a:r>
              <a:rPr/>
              <a:t>: Remind your audience to check the output of the command.</a:t>
            </a:r>
          </a:p>
        </p:txBody>
      </p:sp>
      <p:sp>
        <p:nvSpPr>
          <p:cNvPr id="4" name="Slide Number Placeholder 3"/>
          <p:cNvSpPr>
            <a:spLocks noGrp="1"/>
          </p:cNvSpPr>
          <p:nvPr>
            <p:ph type="sldNum" sz="quarter" idx="10"/>
          </p:nvPr>
        </p:nvSpPr>
        <p:spPr/>
        <p:txBody>
          <a:bodyPr/>
          <a:lstStyle/>
          <a:p>
            <a:fld id="{18BDFEC3-8487-43E8-A154-7C12CBC1FFF2}" type="slidenum">
              <a:rPr lang="en-US"/>
              <a:t>39</a:t>
            </a:fld>
            <a:endParaRPr lang="en-US"/>
          </a:p>
        </p:txBody>
      </p:sp>
    </p:spTree>
  </p:cSld>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Next, you are asked to provide a passphrase in the terminal. Protecting your keys with a password is optional but highly recommended. Start typing the password next to the first prompt. Note that your input will be </a:t>
            </a:r>
            <a:r>
              <a:rPr b="1"/>
              <a:t>invisible</a:t>
            </a:r>
            <a:r>
              <a:rPr/>
              <a:t> and you will feel like you are not typing. This is </a:t>
            </a:r>
            <a:r>
              <a:rPr b="1"/>
              <a:t>normal</a:t>
            </a:r>
            <a:r>
              <a:rPr/>
              <a:t> behaviour. Just enter your password regardless. Re-confirm the password at the second prompt and press ENTER.</a:t>
            </a:r>
          </a:p>
          <a:p>
            <a:pPr lvl="0" indent="0" marL="0">
              <a:buNone/>
            </a:pPr>
          </a:p>
          <a:p>
            <a:pPr lvl="0" indent="0" marL="0">
              <a:buNone/>
            </a:pPr>
            <a:r>
              <a:rPr b="1"/>
              <a:t>Instructor Notes</a:t>
            </a:r>
            <a:r>
              <a:rPr/>
              <a:t>: Emphasize the normal behaviour of the terminal that your audience is unable to see anything they type and that there is no need for concern.</a:t>
            </a:r>
          </a:p>
        </p:txBody>
      </p:sp>
      <p:sp>
        <p:nvSpPr>
          <p:cNvPr id="4" name="Slide Number Placeholder 3"/>
          <p:cNvSpPr>
            <a:spLocks noGrp="1"/>
          </p:cNvSpPr>
          <p:nvPr>
            <p:ph type="sldNum" sz="quarter" idx="10"/>
          </p:nvPr>
        </p:nvSpPr>
        <p:spPr/>
        <p:txBody>
          <a:bodyPr/>
          <a:lstStyle/>
          <a:p>
            <a:fld id="{18BDFEC3-8487-43E8-A154-7C12CBC1FFF2}" type="slidenum">
              <a:rPr lang="en-US"/>
              <a:t>40</a:t>
            </a:fld>
            <a:endParaRPr lang="en-US"/>
          </a:p>
        </p:txBody>
      </p:sp>
    </p:spTree>
  </p:cSld>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part is very important. If you lose your SSH key passphrase, </a:t>
            </a:r>
            <a:r>
              <a:rPr b="1"/>
              <a:t>there is no way to recover it</a:t>
            </a:r>
            <a:r>
              <a:rPr/>
              <a:t>. You’ll need to generate a brand new SSH keypair. Therefore, when you create your passphrase for your ssh key, </a:t>
            </a:r>
            <a:r>
              <a:rPr b="1"/>
              <a:t>please write it down immediately</a:t>
            </a:r>
            <a:r>
              <a:rPr/>
              <a:t> so that you do not forget, ideally in a </a:t>
            </a:r>
            <a:r>
              <a:rPr b="1"/>
              <a:t>password manager</a:t>
            </a:r>
            <a:r>
              <a:rPr/>
              <a:t>.</a:t>
            </a:r>
          </a:p>
          <a:p>
            <a:pPr lvl="0" indent="0" marL="0">
              <a:buNone/>
            </a:pPr>
          </a:p>
          <a:p>
            <a:pPr lvl="0" indent="0" marL="0">
              <a:buNone/>
            </a:pPr>
            <a:r>
              <a:rPr b="1"/>
              <a:t>Instructor Notes</a:t>
            </a:r>
            <a:r>
              <a:rPr/>
              <a:t>: Emphasize that remembering your SSH key passphrase is crucial, ideally learners should save this in a password manager or save the password in a location where they can easily find it when needed.</a:t>
            </a:r>
          </a:p>
        </p:txBody>
      </p:sp>
      <p:sp>
        <p:nvSpPr>
          <p:cNvPr id="4" name="Slide Number Placeholder 3"/>
          <p:cNvSpPr>
            <a:spLocks noGrp="1"/>
          </p:cNvSpPr>
          <p:nvPr>
            <p:ph type="sldNum" sz="quarter" idx="10"/>
          </p:nvPr>
        </p:nvSpPr>
        <p:spPr/>
        <p:txBody>
          <a:bodyPr/>
          <a:lstStyle/>
          <a:p>
            <a:fld id="{18BDFEC3-8487-43E8-A154-7C12CBC1FFF2}" type="slidenum">
              <a:rPr lang="en-US"/>
              <a:t>41</a:t>
            </a:fld>
            <a:endParaRPr lang="en-US"/>
          </a:p>
        </p:txBody>
      </p:sp>
    </p:spTree>
  </p:cSld>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When the key generation is complete, you should see the confirmation below. This indicates that you have successfully generated your new public SSH key pair.</a:t>
            </a:r>
          </a:p>
          <a:p>
            <a:pPr lvl="0" indent="0" marL="0">
              <a:buNone/>
            </a:pPr>
          </a:p>
          <a:p>
            <a:pPr lvl="0" indent="0" marL="0">
              <a:buNone/>
            </a:pPr>
            <a:r>
              <a:rPr b="1"/>
              <a:t>Instructor Notes</a:t>
            </a:r>
            <a:r>
              <a:rPr/>
              <a:t>: Encourage your learners to compare their output with the output on the slides.</a:t>
            </a:r>
          </a:p>
        </p:txBody>
      </p:sp>
      <p:sp>
        <p:nvSpPr>
          <p:cNvPr id="4" name="Slide Number Placeholder 3"/>
          <p:cNvSpPr>
            <a:spLocks noGrp="1"/>
          </p:cNvSpPr>
          <p:nvPr>
            <p:ph type="sldNum" sz="quarter" idx="10"/>
          </p:nvPr>
        </p:nvSpPr>
        <p:spPr/>
        <p:txBody>
          <a:bodyPr/>
          <a:lstStyle/>
          <a:p>
            <a:fld id="{18BDFEC3-8487-43E8-A154-7C12CBC1FFF2}" type="slidenum">
              <a:rPr lang="en-US"/>
              <a:t>42</a:t>
            </a:fld>
            <a:endParaRPr lang="en-US"/>
          </a:p>
        </p:txBody>
      </p:sp>
    </p:spTree>
  </p:cSld>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Congratulations! You have successfully </a:t>
            </a:r>
            <a:r>
              <a:rPr b="1"/>
              <a:t>generated your public SSH key pair</a:t>
            </a:r>
            <a:r>
              <a:rPr/>
              <a:t>.</a:t>
            </a:r>
          </a:p>
          <a:p>
            <a:pPr lvl="0" indent="0" marL="0">
              <a:buNone/>
            </a:pPr>
          </a:p>
          <a:p>
            <a:pPr lvl="0" indent="0" marL="0">
              <a:buNone/>
            </a:pPr>
            <a:r>
              <a:rPr b="1"/>
              <a:t>Instructor Notes</a:t>
            </a:r>
            <a:r>
              <a:rPr/>
              <a:t>: Take a break here and check-in with your learners if there were any issues or difficulties.</a:t>
            </a:r>
          </a:p>
        </p:txBody>
      </p:sp>
      <p:sp>
        <p:nvSpPr>
          <p:cNvPr id="4" name="Slide Number Placeholder 3"/>
          <p:cNvSpPr>
            <a:spLocks noGrp="1"/>
          </p:cNvSpPr>
          <p:nvPr>
            <p:ph type="sldNum" sz="quarter" idx="10"/>
          </p:nvPr>
        </p:nvSpPr>
        <p:spPr/>
        <p:txBody>
          <a:bodyPr/>
          <a:lstStyle/>
          <a:p>
            <a:fld id="{18BDFEC3-8487-43E8-A154-7C12CBC1FFF2}" type="slidenum">
              <a:rPr lang="en-US"/>
              <a:t>43</a:t>
            </a:fld>
            <a:endParaRPr lang="en-US"/>
          </a:p>
        </p:txBody>
      </p:sp>
    </p:spTree>
  </p:cSld>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Now that you have generated your SSH key pair and confirmed it is there, it is time to tell GitHub about the new public key. This will allow you to securely connect to GitHub. To begin, we need to display the contents of your public key. This is the key that you will share with GitHub. In your terminal, type the following command: cat ~/.ssh/id_ed25519.pub Once you hit Enter, this command will print the contents of your public key to the terminal, which should end in .pub. The public key that you just generated in the previous steps is what you will use to authenticate your machine with GitHub, and it is safe to share it.</a:t>
            </a:r>
          </a:p>
          <a:p>
            <a:pPr lvl="0" indent="0" marL="0">
              <a:buNone/>
            </a:pPr>
          </a:p>
          <a:p>
            <a:pPr lvl="0" indent="0" marL="0">
              <a:buNone/>
            </a:pPr>
            <a:r>
              <a:rPr b="1"/>
              <a:t>Instructor Notes</a:t>
            </a:r>
            <a:r>
              <a:rPr/>
              <a:t>: Emphasize the importance of that learners only copy the content of the public key, which ends with .pub. They should </a:t>
            </a:r>
            <a:r>
              <a:rPr b="1"/>
              <a:t>not copy their private key</a:t>
            </a:r>
            <a:r>
              <a:rPr/>
              <a:t>. The private key should remain private at all times. Sharing the private key could compromise their security, so they should always double-check that they are looking at the correct key.</a:t>
            </a:r>
          </a:p>
        </p:txBody>
      </p:sp>
      <p:sp>
        <p:nvSpPr>
          <p:cNvPr id="4" name="Slide Number Placeholder 3"/>
          <p:cNvSpPr>
            <a:spLocks noGrp="1"/>
          </p:cNvSpPr>
          <p:nvPr>
            <p:ph type="sldNum" sz="quarter" idx="10"/>
          </p:nvPr>
        </p:nvSpPr>
        <p:spPr/>
        <p:txBody>
          <a:bodyPr/>
          <a:lstStyle/>
          <a:p>
            <a:fld id="{18BDFEC3-8487-43E8-A154-7C12CBC1FFF2}" type="slidenum">
              <a:rPr lang="en-US"/>
              <a:t>44</a:t>
            </a:fld>
            <a:endParaRPr lang="en-US"/>
          </a:p>
        </p:txBody>
      </p:sp>
    </p:spTree>
  </p:cSld>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After printing your public key in the terminal, you need to copy the contents of the output to your clipboard.</a:t>
            </a:r>
          </a:p>
          <a:p>
            <a:pPr lvl="0" indent="0" marL="0">
              <a:buNone/>
            </a:pPr>
          </a:p>
          <a:p>
            <a:pPr lvl="0" indent="0" marL="0">
              <a:buNone/>
            </a:pPr>
            <a:r>
              <a:rPr b="1"/>
              <a:t>Instructor Notes</a:t>
            </a:r>
            <a:r>
              <a:rPr/>
              <a:t>: Highlight that the characters after ssh-ed25519 will be different for each learner and the email will match the email the learners have added on an individual basis.</a:t>
            </a:r>
          </a:p>
        </p:txBody>
      </p:sp>
      <p:sp>
        <p:nvSpPr>
          <p:cNvPr id="4" name="Slide Number Placeholder 3"/>
          <p:cNvSpPr>
            <a:spLocks noGrp="1"/>
          </p:cNvSpPr>
          <p:nvPr>
            <p:ph type="sldNum" sz="quarter" idx="10"/>
          </p:nvPr>
        </p:nvSpPr>
        <p:spPr/>
        <p:txBody>
          <a:bodyPr/>
          <a:lstStyle/>
          <a:p>
            <a:fld id="{18BDFEC3-8487-43E8-A154-7C12CBC1FFF2}" type="slidenum">
              <a:rPr lang="en-US"/>
              <a:t>45</a:t>
            </a:fld>
            <a:endParaRPr lang="en-US"/>
          </a:p>
        </p:txBody>
      </p:sp>
    </p:spTree>
  </p:cSld>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Now that you have your public key copied, it is time to add it to your GitHub account. This third step will enable you to authenticate your computer securely when interacting with GitHub. Here is how to do it:</a:t>
            </a:r>
          </a:p>
          <a:p>
            <a:pPr lvl="0" indent="0" marL="0">
              <a:buNone/>
            </a:pPr>
          </a:p>
          <a:p>
            <a:pPr lvl="0"/>
            <a:r>
              <a:rPr/>
              <a:t>Log in to GitHub: Start by logging into your GitHub account at github.com.</a:t>
            </a:r>
          </a:p>
          <a:p>
            <a:pPr lvl="0" indent="0" marL="0">
              <a:buNone/>
            </a:pPr>
          </a:p>
          <a:p>
            <a:pPr lvl="0"/>
            <a:r>
              <a:rPr/>
              <a:t>Go to your account settings: Once you’re logged in, navigate to your account settings. To do this, click on your profile picture in the top right corner of the page. A dropdown menu will appear—select Settings.</a:t>
            </a:r>
          </a:p>
          <a:p>
            <a:pPr lvl="0" indent="0" marL="0">
              <a:buNone/>
            </a:pPr>
          </a:p>
          <a:p>
            <a:pPr lvl="0"/>
            <a:r>
              <a:rPr/>
              <a:t>Access SSH and GPG keys: On the left-hand sidebar of the settings page, you’ll see an option labeled SSH and GPG keys. Click on that to go to the section where you can manage your SSH keys.</a:t>
            </a:r>
          </a:p>
          <a:p>
            <a:pPr lvl="0" indent="0" marL="0">
              <a:buNone/>
            </a:pPr>
          </a:p>
          <a:p>
            <a:pPr lvl="0"/>
            <a:r>
              <a:rPr/>
              <a:t>Add a new SSH key pair: In the SSH and GPG keys section, click the green button that says New SSH key or Add SSH key. This will open a form where you can paste your public key.</a:t>
            </a:r>
          </a:p>
          <a:p>
            <a:pPr lvl="0" indent="0" marL="0">
              <a:buNone/>
            </a:pPr>
          </a:p>
          <a:p>
            <a:pPr lvl="0" indent="0" marL="0">
              <a:buNone/>
            </a:pPr>
            <a:r>
              <a:rPr b="1"/>
              <a:t>Instructor Notes</a:t>
            </a:r>
            <a:r>
              <a:rPr/>
              <a:t>: Switch to GitHub and give learners enough time to follow along. Highlight that they should compare the steps with the images in the following slides.</a:t>
            </a:r>
          </a:p>
        </p:txBody>
      </p:sp>
      <p:sp>
        <p:nvSpPr>
          <p:cNvPr id="4" name="Slide Number Placeholder 3"/>
          <p:cNvSpPr>
            <a:spLocks noGrp="1"/>
          </p:cNvSpPr>
          <p:nvPr>
            <p:ph type="sldNum" sz="quarter" idx="10"/>
          </p:nvPr>
        </p:nvSpPr>
        <p:spPr/>
        <p:txBody>
          <a:bodyPr/>
          <a:lstStyle/>
          <a:p>
            <a:fld id="{18BDFEC3-8487-43E8-A154-7C12CBC1FFF2}" type="slidenum">
              <a:rPr lang="en-US"/>
              <a:t>47</a:t>
            </a:fld>
            <a:endParaRPr lang="en-US"/>
          </a:p>
        </p:txBody>
      </p:sp>
    </p:spTree>
  </p:cSld>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Now that you are on GitHub in the correct section to add a new SSH key, here is what you need to do next:</a:t>
            </a:r>
          </a:p>
          <a:p>
            <a:pPr lvl="0" indent="0" marL="0">
              <a:buNone/>
            </a:pPr>
          </a:p>
          <a:p>
            <a:pPr lvl="0"/>
            <a:r>
              <a:rPr/>
              <a:t>Give a label to the key: In the “Title” field, add a descriptive label for the key. This helps you easily identify which device the key belongs to in the future. For example, if you’re adding a key for your personal laptop, you might label it “Personal MacBook Air” or something similar. This makes it clear which device the SSH key pair is associated with.</a:t>
            </a:r>
          </a:p>
          <a:p>
            <a:pPr lvl="0" indent="0" marL="0">
              <a:buNone/>
            </a:pPr>
          </a:p>
          <a:p>
            <a:pPr lvl="0"/>
            <a:r>
              <a:rPr/>
              <a:t>Paste your public SSH key: Next, paste the contents of your clipboard (the public key you copied earlier) into the Key text box. Make sure the entire key is pasted in—starting from ssh-ed25519 and ending with your email address.</a:t>
            </a:r>
          </a:p>
          <a:p>
            <a:pPr lvl="0" indent="0" marL="0">
              <a:buNone/>
            </a:pPr>
          </a:p>
          <a:p>
            <a:pPr lvl="0"/>
            <a:r>
              <a:rPr/>
              <a:t>Save the key: Once everything looks good, click the green Add key button to save the new key. If GitHub asks you to confirm your identity, enter your GitHub password to complete the process.</a:t>
            </a:r>
          </a:p>
          <a:p>
            <a:pPr lvl="0" indent="0" marL="0">
              <a:buNone/>
            </a:pPr>
          </a:p>
          <a:p>
            <a:pPr lvl="0" indent="0" marL="0">
              <a:buNone/>
            </a:pPr>
            <a:r>
              <a:rPr b="1"/>
              <a:t>Instructor Notes</a:t>
            </a:r>
            <a:r>
              <a:rPr/>
              <a:t>: Go through these steps slowly and demonstrate where learners have to add the title and where they have to paste the SSH key pair they copied earlier. Remind them that if they are prompted for the password, they will </a:t>
            </a:r>
            <a:r>
              <a:rPr b="1"/>
              <a:t>not see</a:t>
            </a:r>
            <a:r>
              <a:rPr/>
              <a:t> the password when they are typing.</a:t>
            </a:r>
          </a:p>
        </p:txBody>
      </p:sp>
      <p:sp>
        <p:nvSpPr>
          <p:cNvPr id="4" name="Slide Number Placeholder 3"/>
          <p:cNvSpPr>
            <a:spLocks noGrp="1"/>
          </p:cNvSpPr>
          <p:nvPr>
            <p:ph type="sldNum" sz="quarter" idx="10"/>
          </p:nvPr>
        </p:nvSpPr>
        <p:spPr/>
        <p:txBody>
          <a:bodyPr/>
          <a:lstStyle/>
          <a:p>
            <a:fld id="{18BDFEC3-8487-43E8-A154-7C12CBC1FFF2}" type="slidenum">
              <a:rPr lang="en-US"/>
              <a:t>48</a:t>
            </a:fld>
            <a:endParaRPr lang="en-US"/>
          </a:p>
        </p:txBody>
      </p:sp>
    </p:spTree>
  </p:cSld>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Now that you’ve added your SSH key to GitHub, the next step is to ensure that your SSH key is being managed securely on your local machine. This is where ssh-agent comes in. It is a software tool running in the background that handles your SSH keys, ensuring they are loaded and available when needed. By adding your key to ssh-agent, you ensure that the key is available for authentication without needing to re-enter the passphrase each time you interact with GitHub or other services that require SSH authentication.</a:t>
            </a:r>
          </a:p>
          <a:p>
            <a:pPr lvl="0" indent="0" marL="0">
              <a:buNone/>
            </a:pPr>
          </a:p>
          <a:p>
            <a:pPr lvl="0" indent="0" marL="0">
              <a:buNone/>
            </a:pPr>
            <a:r>
              <a:rPr b="1"/>
              <a:t>Instructor Notes</a:t>
            </a:r>
            <a:r>
              <a:rPr/>
              <a:t>: Adapt the level of depth of your explanationas a function of the technical skills of your audience.</a:t>
            </a:r>
          </a:p>
        </p:txBody>
      </p:sp>
      <p:sp>
        <p:nvSpPr>
          <p:cNvPr id="4" name="Slide Number Placeholder 3"/>
          <p:cNvSpPr>
            <a:spLocks noGrp="1"/>
          </p:cNvSpPr>
          <p:nvPr>
            <p:ph type="sldNum" sz="quarter" idx="10"/>
          </p:nvPr>
        </p:nvSpPr>
        <p:spPr/>
        <p:txBody>
          <a:bodyPr/>
          <a:lstStyle/>
          <a:p>
            <a:fld id="{18BDFEC3-8487-43E8-A154-7C12CBC1FFF2}" type="slidenum">
              <a:rPr lang="en-US"/>
              <a:t>50</a:t>
            </a:fld>
            <a:endParaRPr lang="en-US"/>
          </a:p>
        </p:txBody>
      </p:sp>
    </p:spTree>
  </p:cSld>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Call up the ssh-agent and add this command. Compare your output to the output above. The command starts the ssh-agent in the background and sets up the necessary environment variables, allowing it to manage your SSH keys, ensuring they are available for authentication without requiring you to enter your passphrase each time you connect to a remote server or GitHub.</a:t>
            </a:r>
          </a:p>
          <a:p>
            <a:pPr lvl="0" indent="0" marL="0">
              <a:buNone/>
            </a:pPr>
          </a:p>
          <a:p>
            <a:pPr lvl="0" indent="0" marL="0">
              <a:buNone/>
            </a:pPr>
            <a:r>
              <a:rPr b="1"/>
              <a:t>Instructor Notes</a:t>
            </a:r>
            <a:r>
              <a:rPr/>
              <a:t>: Follow along with your learners and check in regularly for issues.</a:t>
            </a:r>
          </a:p>
        </p:txBody>
      </p:sp>
      <p:sp>
        <p:nvSpPr>
          <p:cNvPr id="4" name="Slide Number Placeholder 3"/>
          <p:cNvSpPr>
            <a:spLocks noGrp="1"/>
          </p:cNvSpPr>
          <p:nvPr>
            <p:ph type="sldNum" sz="quarter" idx="10"/>
          </p:nvPr>
        </p:nvSpPr>
        <p:spPr/>
        <p:txBody>
          <a:bodyPr/>
          <a:lstStyle/>
          <a:p>
            <a:fld id="{18BDFEC3-8487-43E8-A154-7C12CBC1FFF2}" type="slidenum">
              <a:rPr lang="en-US"/>
              <a:t>51</a:t>
            </a:fld>
            <a:endParaRPr lang="en-US"/>
          </a:p>
        </p:txBody>
      </p:sp>
    </p:spTree>
  </p:cSld>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Now that you called up the ssh-agent and it is running, the next step is to add your SSH key to it. This allows the agent to securely manage your key for authentication. In the terminal, type the following command: ssh-add ~/.ssh/id_ed25519. This command tells the ssh-agent to load your SSH key (id_ed25519) into memory, so it is ready to use when connecting to services like GitHub. After running this, the key will be available for SSH connections without you needing to re-enter your passphrase each time.</a:t>
            </a:r>
          </a:p>
          <a:p>
            <a:pPr lvl="0" indent="0" marL="0">
              <a:buNone/>
            </a:pPr>
          </a:p>
          <a:p>
            <a:pPr lvl="0" indent="0" marL="0">
              <a:buNone/>
            </a:pPr>
            <a:r>
              <a:rPr b="1"/>
              <a:t>Instructor Notes</a:t>
            </a:r>
            <a:r>
              <a:rPr/>
              <a:t>: Check in regularly for any issues.</a:t>
            </a:r>
          </a:p>
        </p:txBody>
      </p:sp>
      <p:sp>
        <p:nvSpPr>
          <p:cNvPr id="4" name="Slide Number Placeholder 3"/>
          <p:cNvSpPr>
            <a:spLocks noGrp="1"/>
          </p:cNvSpPr>
          <p:nvPr>
            <p:ph type="sldNum" sz="quarter" idx="10"/>
          </p:nvPr>
        </p:nvSpPr>
        <p:spPr/>
        <p:txBody>
          <a:bodyPr/>
          <a:lstStyle/>
          <a:p>
            <a:fld id="{18BDFEC3-8487-43E8-A154-7C12CBC1FFF2}" type="slidenum">
              <a:rPr lang="en-US"/>
              <a:t>52</a:t>
            </a:fld>
            <a:endParaRPr lang="en-US"/>
          </a:p>
        </p:txBody>
      </p:sp>
    </p:spTree>
  </p:cSld>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Now that your SSH key is added to both GitHub and the ssh-agent, it is time to test if everything is working correctly. To do this, open your terminal and enter the following command: ssh -T git@github.com. This command sends a test SSH request to GitHub to check if your key is properly set up.</a:t>
            </a:r>
          </a:p>
          <a:p>
            <a:pPr lvl="0" indent="0" marL="0">
              <a:buNone/>
            </a:pPr>
          </a:p>
          <a:p>
            <a:pPr lvl="0" indent="0" marL="0">
              <a:buNone/>
            </a:pPr>
            <a:r>
              <a:rPr b="1"/>
              <a:t>Instructor Notes</a:t>
            </a:r>
            <a:r>
              <a:rPr/>
              <a:t>: Leave enough time to complete this step and check in for any issues.</a:t>
            </a:r>
          </a:p>
        </p:txBody>
      </p:sp>
      <p:sp>
        <p:nvSpPr>
          <p:cNvPr id="4" name="Slide Number Placeholder 3"/>
          <p:cNvSpPr>
            <a:spLocks noGrp="1"/>
          </p:cNvSpPr>
          <p:nvPr>
            <p:ph type="sldNum" sz="quarter" idx="10"/>
          </p:nvPr>
        </p:nvSpPr>
        <p:spPr/>
        <p:txBody>
          <a:bodyPr/>
          <a:lstStyle/>
          <a:p>
            <a:fld id="{18BDFEC3-8487-43E8-A154-7C12CBC1FFF2}" type="slidenum">
              <a:rPr lang="en-US"/>
              <a:t>53</a:t>
            </a:fld>
            <a:endParaRPr lang="en-US"/>
          </a:p>
        </p:txBody>
      </p:sp>
    </p:spTree>
  </p:cSld>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After sending the test SSH request, you will potentially get asked about fingerprinting, to which you type yes and press ENTER. Then, if everything is configured correctly, GitHub will respond with a success message, like “Hi [your username]! You’ve successfully authenticated.”</a:t>
            </a:r>
          </a:p>
          <a:p>
            <a:pPr lvl="0" indent="0" marL="0">
              <a:buNone/>
            </a:pPr>
          </a:p>
          <a:p>
            <a:pPr lvl="0" indent="0" marL="0">
              <a:buNone/>
            </a:pPr>
            <a:r>
              <a:rPr b="1"/>
              <a:t>Instructor Notes</a:t>
            </a:r>
            <a:r>
              <a:rPr/>
              <a:t>: If there is an issue, GitHub will let learners know so that troubleshooting can be done.</a:t>
            </a:r>
          </a:p>
        </p:txBody>
      </p:sp>
      <p:sp>
        <p:nvSpPr>
          <p:cNvPr id="4" name="Slide Number Placeholder 3"/>
          <p:cNvSpPr>
            <a:spLocks noGrp="1"/>
          </p:cNvSpPr>
          <p:nvPr>
            <p:ph type="sldNum" sz="quarter" idx="10"/>
          </p:nvPr>
        </p:nvSpPr>
        <p:spPr/>
        <p:txBody>
          <a:bodyPr/>
          <a:lstStyle/>
          <a:p>
            <a:fld id="{18BDFEC3-8487-43E8-A154-7C12CBC1FFF2}" type="slidenum">
              <a:rPr lang="en-US"/>
              <a:t>54</a:t>
            </a:fld>
            <a:endParaRPr lang="en-US"/>
          </a:p>
        </p:txBody>
      </p:sp>
    </p:spTree>
  </p:cSld>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Looking back, we have successfully completed the following steps:</a:t>
            </a:r>
          </a:p>
          <a:p>
            <a:pPr lvl="0" indent="0" marL="0">
              <a:buNone/>
            </a:pPr>
          </a:p>
          <a:p>
            <a:pPr lvl="0"/>
            <a:r>
              <a:rPr/>
              <a:t>Installed Git: We have made sure Git is installed on your machine, so you can manage your repositories and interact with GitHub.</a:t>
            </a:r>
          </a:p>
          <a:p>
            <a:pPr lvl="0" indent="0" marL="0">
              <a:buNone/>
            </a:pPr>
          </a:p>
          <a:p>
            <a:pPr lvl="0"/>
            <a:r>
              <a:rPr/>
              <a:t>Configured Git: We have set up your user name and email in Git, ensuring that commits are properly attributed to you.</a:t>
            </a:r>
          </a:p>
          <a:p>
            <a:pPr lvl="0" indent="0" marL="0">
              <a:buNone/>
            </a:pPr>
          </a:p>
          <a:p>
            <a:pPr lvl="0"/>
            <a:r>
              <a:rPr/>
              <a:t>Secured a connection between your PC and GitHub via an SSH key pair: We generated a public SSH key pair and established a secure connection, allowing us to authenticate without needing a username and password each time.</a:t>
            </a:r>
          </a:p>
          <a:p>
            <a:pPr lvl="0" indent="0" marL="0">
              <a:buNone/>
            </a:pPr>
          </a:p>
          <a:p>
            <a:pPr lvl="0"/>
            <a:r>
              <a:rPr/>
              <a:t>Added SSH key pair to your GitHub account: We uploaded the public SSH key to GitHub, enabling GitHub to recognize and trust your PC for secure access.</a:t>
            </a:r>
          </a:p>
          <a:p>
            <a:pPr lvl="0" indent="0" marL="0">
              <a:buNone/>
            </a:pPr>
          </a:p>
          <a:p>
            <a:pPr lvl="0"/>
            <a:r>
              <a:rPr/>
              <a:t>Tested the connection: Finally, we ran a test to confirm that the SSH connection between your machine and GitHub works as expected.</a:t>
            </a:r>
          </a:p>
          <a:p>
            <a:pPr lvl="0" indent="0" marL="0">
              <a:buNone/>
            </a:pPr>
          </a:p>
          <a:p>
            <a:pPr lvl="0" indent="0" marL="0">
              <a:buNone/>
            </a:pPr>
            <a:r>
              <a:rPr/>
              <a:t>With these steps complete, </a:t>
            </a:r>
            <a:r>
              <a:rPr b="1"/>
              <a:t>your Git and GitHub setup is now secure and ready to use</a:t>
            </a:r>
            <a:r>
              <a:rPr/>
              <a:t>!</a:t>
            </a:r>
          </a:p>
          <a:p>
            <a:pPr lvl="0" indent="0" marL="0">
              <a:buNone/>
            </a:pPr>
          </a:p>
          <a:p>
            <a:pPr lvl="0" indent="0" marL="0">
              <a:buNone/>
            </a:pPr>
            <a:r>
              <a:rPr b="1"/>
              <a:t>Instructor Notes</a:t>
            </a:r>
            <a:r>
              <a:rPr/>
              <a:t>: Check in with your learners if they have followed along and if they know where they are at.</a:t>
            </a:r>
          </a:p>
        </p:txBody>
      </p:sp>
      <p:sp>
        <p:nvSpPr>
          <p:cNvPr id="4" name="Slide Number Placeholder 3"/>
          <p:cNvSpPr>
            <a:spLocks noGrp="1"/>
          </p:cNvSpPr>
          <p:nvPr>
            <p:ph type="sldNum" sz="quarter" idx="10"/>
          </p:nvPr>
        </p:nvSpPr>
        <p:spPr/>
        <p:txBody>
          <a:bodyPr/>
          <a:lstStyle/>
          <a:p>
            <a:fld id="{18BDFEC3-8487-43E8-A154-7C12CBC1FFF2}" type="slidenum">
              <a:rPr lang="en-US"/>
              <a:t>55</a:t>
            </a:fld>
            <a:endParaRPr lang="en-US"/>
          </a:p>
        </p:txBody>
      </p:sp>
    </p:spTree>
  </p:cSld>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Before we head into the break, let us do a quick check-in to see where we are at. Scan this QR code and select the pre-break survey option. Answer a few questions to check your current understanding of version control and the topics we discussed in this first part of the class.</a:t>
            </a:r>
          </a:p>
          <a:p>
            <a:pPr lvl="0" indent="0" marL="0">
              <a:buNone/>
            </a:pPr>
          </a:p>
          <a:p>
            <a:pPr lvl="0" indent="0" marL="0">
              <a:buNone/>
            </a:pPr>
            <a:r>
              <a:rPr b="1"/>
              <a:t>Instructor Notes</a:t>
            </a:r>
            <a:r>
              <a:rPr/>
              <a:t>: Make use of Particify or another free software for this part. This pre-break survey serves to examine learners’ current understanding of key concepts of the submodule. Guidance on interpreting the results:</a:t>
            </a:r>
          </a:p>
          <a:p>
            <a:pPr lvl="0" indent="0" marL="0">
              <a:buNone/>
            </a:pPr>
          </a:p>
          <a:p>
            <a:pPr lvl="0"/>
            <a:r>
              <a:rPr/>
              <a:t>If more than 80% of the learners select the correct response option, show which one it is and move on.</a:t>
            </a:r>
          </a:p>
          <a:p>
            <a:pPr lvl="0" indent="0" marL="0">
              <a:buNone/>
            </a:pPr>
          </a:p>
          <a:p>
            <a:pPr lvl="0"/>
            <a:r>
              <a:rPr/>
              <a:t>If less than 80% of answers are correct, let them discuss with each other for 1-2 minutes which one they selected, and why, and afterwards let them re-take the question. If they`re above 80% correct the second time, move on, else show the correct response and explain why it is correct (plus maybe why the others are not).</a:t>
            </a:r>
          </a:p>
          <a:p>
            <a:pPr lvl="0" indent="0" marL="0">
              <a:buNone/>
            </a:pPr>
          </a:p>
          <a:p>
            <a:pPr lvl="0"/>
            <a:r>
              <a:rPr/>
              <a:t>If more than 30% select a specific distractor answer, discuss it in class.</a:t>
            </a:r>
          </a:p>
          <a:p>
            <a:pPr lvl="0" indent="0" marL="0">
              <a:buNone/>
            </a:pPr>
          </a:p>
          <a:p>
            <a:pPr lvl="0" indent="0" marL="0">
              <a:buNone/>
            </a:pPr>
            <a:r>
              <a:rPr b="1"/>
              <a:t>Accessibility Tip</a:t>
            </a:r>
            <a:r>
              <a:rPr/>
              <a:t>: This slide only works in a synchronous setting, skip if appropriate. Ensure to prepare the survey in advance.</a:t>
            </a:r>
          </a:p>
        </p:txBody>
      </p:sp>
      <p:sp>
        <p:nvSpPr>
          <p:cNvPr id="4" name="Slide Number Placeholder 3"/>
          <p:cNvSpPr>
            <a:spLocks noGrp="1"/>
          </p:cNvSpPr>
          <p:nvPr>
            <p:ph type="sldNum" sz="quarter" idx="10"/>
          </p:nvPr>
        </p:nvSpPr>
        <p:spPr/>
        <p:txBody>
          <a:bodyPr/>
          <a:lstStyle/>
          <a:p>
            <a:fld id="{18BDFEC3-8487-43E8-A154-7C12CBC1FFF2}" type="slidenum">
              <a:rPr lang="en-US"/>
              <a:t>56</a:t>
            </a:fld>
            <a:endParaRPr lang="en-US"/>
          </a:p>
        </p:txBody>
      </p:sp>
    </p:spTree>
  </p:cSld>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Instructor Notes</a:t>
            </a:r>
            <a:r>
              <a:rPr/>
              <a:t>: C is the correct answer: Git is a version control system that helps you track changes, manage versions, and collaborate with others on the same project safely.</a:t>
            </a:r>
          </a:p>
        </p:txBody>
      </p:sp>
      <p:sp>
        <p:nvSpPr>
          <p:cNvPr id="4" name="Slide Number Placeholder 3"/>
          <p:cNvSpPr>
            <a:spLocks noGrp="1"/>
          </p:cNvSpPr>
          <p:nvPr>
            <p:ph type="sldNum" sz="quarter" idx="10"/>
          </p:nvPr>
        </p:nvSpPr>
        <p:spPr/>
        <p:txBody>
          <a:bodyPr/>
          <a:lstStyle/>
          <a:p>
            <a:fld id="{18BDFEC3-8487-43E8-A154-7C12CBC1FFF2}" type="slidenum">
              <a:rPr lang="en-US"/>
              <a:t>57</a:t>
            </a:fld>
            <a:endParaRPr lang="en-US"/>
          </a:p>
        </p:txBody>
      </p:sp>
    </p:spTree>
  </p:cSld>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Instructor Notes</a:t>
            </a:r>
            <a:r>
              <a:rPr/>
              <a:t>: B is the correct answer: Adding an SSH key lets your computer authenticate with GitHub securely, so you can push and pull code without typing your password every time.</a:t>
            </a:r>
          </a:p>
        </p:txBody>
      </p:sp>
      <p:sp>
        <p:nvSpPr>
          <p:cNvPr id="4" name="Slide Number Placeholder 3"/>
          <p:cNvSpPr>
            <a:spLocks noGrp="1"/>
          </p:cNvSpPr>
          <p:nvPr>
            <p:ph type="sldNum" sz="quarter" idx="10"/>
          </p:nvPr>
        </p:nvSpPr>
        <p:spPr/>
        <p:txBody>
          <a:bodyPr/>
          <a:lstStyle/>
          <a:p>
            <a:fld id="{18BDFEC3-8487-43E8-A154-7C12CBC1FFF2}" type="slidenum">
              <a:rPr lang="en-US"/>
              <a:t>58</a:t>
            </a:fld>
            <a:endParaRPr lang="en-US"/>
          </a:p>
        </p:txBody>
      </p:sp>
    </p:spTree>
  </p:cSld>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Instructor Notes</a:t>
            </a:r>
            <a:r>
              <a:rPr/>
              <a:t>: Adapt the break time as appropriate. If you are following the recommended lesson plan, the remaining slides are intended to be the homework assignment for your learners. Skip to overview slide (slide 96) and wrap up the lesson. Thoroughly explain the homework assignment and leave enough time for any questions.</a:t>
            </a:r>
          </a:p>
        </p:txBody>
      </p:sp>
      <p:sp>
        <p:nvSpPr>
          <p:cNvPr id="4" name="Slide Number Placeholder 3"/>
          <p:cNvSpPr>
            <a:spLocks noGrp="1"/>
          </p:cNvSpPr>
          <p:nvPr>
            <p:ph type="sldNum" sz="quarter" idx="10"/>
          </p:nvPr>
        </p:nvSpPr>
        <p:spPr/>
        <p:txBody>
          <a:bodyPr/>
          <a:lstStyle/>
          <a:p>
            <a:fld id="{18BDFEC3-8487-43E8-A154-7C12CBC1FFF2}" type="slidenum">
              <a:rPr lang="en-US"/>
              <a:t>59</a:t>
            </a:fld>
            <a:endParaRPr lang="en-US"/>
          </a:p>
        </p:txBody>
      </p:sp>
    </p:spTree>
  </p:cSld>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have a look at these results.</a:t>
            </a:r>
          </a:p>
          <a:p>
            <a:pPr lvl="0" indent="0" marL="0">
              <a:buNone/>
            </a:pPr>
          </a:p>
          <a:p>
            <a:pPr lvl="0" indent="0" marL="0">
              <a:buNone/>
            </a:pPr>
            <a:r>
              <a:rPr b="1"/>
              <a:t>Instructor Notes</a:t>
            </a:r>
            <a:r>
              <a:rPr/>
              <a:t>:</a:t>
            </a:r>
          </a:p>
          <a:p>
            <a:pPr lvl="0" indent="0" marL="0">
              <a:buNone/>
            </a:pPr>
          </a:p>
          <a:p>
            <a:pPr lvl="0"/>
            <a:r>
              <a:rPr b="1"/>
              <a:t>Aim</a:t>
            </a:r>
            <a:r>
              <a:rPr/>
              <a:t>: Briefly examine the answers given to each question interactively with the group. Use visuals from the survey to highlight specific answers. Serves to clarify concepts and aspects that are not yet understood. Highlight specific answers given during the survey.</a:t>
            </a:r>
          </a:p>
          <a:p>
            <a:pPr lvl="0" indent="0" marL="0">
              <a:buNone/>
            </a:pPr>
          </a:p>
          <a:p>
            <a:pPr lvl="0" indent="0" marL="0">
              <a:buNone/>
            </a:pPr>
            <a:r>
              <a:rPr b="1"/>
              <a:t>Accessibility Tip</a:t>
            </a:r>
            <a:r>
              <a:rPr/>
              <a:t>: Have people work in pairs if someone did not bring their phone/does not have a phone. This survey also cannot be completed in an asynchronous setting.</a:t>
            </a:r>
          </a:p>
        </p:txBody>
      </p:sp>
      <p:sp>
        <p:nvSpPr>
          <p:cNvPr id="4" name="Slide Number Placeholder 3"/>
          <p:cNvSpPr>
            <a:spLocks noGrp="1"/>
          </p:cNvSpPr>
          <p:nvPr>
            <p:ph type="sldNum" sz="quarter" idx="10"/>
          </p:nvPr>
        </p:nvSpPr>
        <p:spPr/>
        <p:txBody>
          <a:bodyPr/>
          <a:lstStyle/>
          <a:p>
            <a:fld id="{18BDFEC3-8487-43E8-A154-7C12CBC1FFF2}" type="slidenum">
              <a:rPr lang="en-US"/>
              <a:t>60</a:t>
            </a:fld>
            <a:endParaRPr lang="en-US"/>
          </a:p>
        </p:txBody>
      </p:sp>
    </p:spTree>
  </p:cSld>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a:t>
            </a:r>
          </a:p>
          <a:p>
            <a:pPr lvl="0" indent="0" marL="0">
              <a:buNone/>
            </a:pPr>
          </a:p>
          <a:p>
            <a:pPr lvl="0"/>
            <a:r>
              <a:rPr/>
              <a:t>RStudio Projects simplify working with multiple files</a:t>
            </a:r>
          </a:p>
          <a:p>
            <a:pPr lvl="0" indent="0" marL="0">
              <a:buNone/>
            </a:pPr>
          </a:p>
          <a:p>
            <a:pPr lvl="0"/>
            <a:r>
              <a:rPr/>
              <a:t>A project is a folder on your computer that contains all files related to a specific analysis project and a shortcut that allows you to open the project directly in RStudio.</a:t>
            </a:r>
          </a:p>
          <a:p>
            <a:pPr lvl="0" indent="0" marL="0">
              <a:buNone/>
            </a:pPr>
          </a:p>
          <a:p>
            <a:pPr lvl="0" indent="0" marL="0">
              <a:buNone/>
            </a:pPr>
            <a:r>
              <a:rPr b="1"/>
              <a:t>Instructor Notes</a:t>
            </a:r>
            <a:r>
              <a:rPr/>
              <a:t>: Open RStudio in the mean time and ask your learners to do the same.</a:t>
            </a:r>
          </a:p>
        </p:txBody>
      </p:sp>
      <p:sp>
        <p:nvSpPr>
          <p:cNvPr id="4" name="Slide Number Placeholder 3"/>
          <p:cNvSpPr>
            <a:spLocks noGrp="1"/>
          </p:cNvSpPr>
          <p:nvPr>
            <p:ph type="sldNum" sz="quarter" idx="10"/>
          </p:nvPr>
        </p:nvSpPr>
        <p:spPr/>
        <p:txBody>
          <a:bodyPr/>
          <a:lstStyle/>
          <a:p>
            <a:fld id="{18BDFEC3-8487-43E8-A154-7C12CBC1FFF2}" type="slidenum">
              <a:rPr lang="en-US"/>
              <a:t>61</a:t>
            </a:fld>
            <a:endParaRPr lang="en-US"/>
          </a:p>
        </p:txBody>
      </p:sp>
    </p:spTree>
  </p:cSld>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As a first step, we want to create a new project in RStudio as follows: </a:t>
            </a:r>
            <a:r>
              <a:rPr>
                <a:latin typeface="Courier"/>
              </a:rPr>
              <a:t>File</a:t>
            </a:r>
            <a:r>
              <a:rPr/>
              <a:t> &gt; </a:t>
            </a:r>
            <a:r>
              <a:rPr>
                <a:latin typeface="Courier"/>
              </a:rPr>
              <a:t>New Project</a:t>
            </a:r>
            <a:r>
              <a:rPr/>
              <a:t> &gt; </a:t>
            </a:r>
            <a:r>
              <a:rPr>
                <a:latin typeface="Courier"/>
              </a:rPr>
              <a:t>New Directory</a:t>
            </a:r>
            <a:r>
              <a:rPr/>
              <a:t>.</a:t>
            </a:r>
          </a:p>
          <a:p>
            <a:pPr lvl="0" indent="0" marL="0">
              <a:buNone/>
            </a:pPr>
          </a:p>
          <a:p>
            <a:pPr lvl="0" indent="0" marL="0">
              <a:buNone/>
            </a:pPr>
            <a:r>
              <a:rPr b="1"/>
              <a:t>Instructor Notes</a:t>
            </a:r>
            <a:r>
              <a:rPr/>
              <a:t>: Demonstrate in your own RStudio how to generate a new project.</a:t>
            </a:r>
          </a:p>
        </p:txBody>
      </p:sp>
      <p:sp>
        <p:nvSpPr>
          <p:cNvPr id="4" name="Slide Number Placeholder 3"/>
          <p:cNvSpPr>
            <a:spLocks noGrp="1"/>
          </p:cNvSpPr>
          <p:nvPr>
            <p:ph type="sldNum" sz="quarter" idx="10"/>
          </p:nvPr>
        </p:nvSpPr>
        <p:spPr/>
        <p:txBody>
          <a:bodyPr/>
          <a:lstStyle/>
          <a:p>
            <a:fld id="{18BDFEC3-8487-43E8-A154-7C12CBC1FFF2}" type="slidenum">
              <a:rPr lang="en-US"/>
              <a:t>62</a:t>
            </a:fld>
            <a:endParaRPr lang="en-US"/>
          </a:p>
        </p:txBody>
      </p:sp>
    </p:spTree>
  </p:cSld>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As a second step, in the New Project Wizard screen, click on </a:t>
            </a:r>
            <a:r>
              <a:rPr>
                <a:latin typeface="Courier"/>
              </a:rPr>
              <a:t>New project</a:t>
            </a:r>
            <a:r>
              <a:rPr/>
              <a:t>.</a:t>
            </a:r>
          </a:p>
        </p:txBody>
      </p:sp>
      <p:sp>
        <p:nvSpPr>
          <p:cNvPr id="4" name="Slide Number Placeholder 3"/>
          <p:cNvSpPr>
            <a:spLocks noGrp="1"/>
          </p:cNvSpPr>
          <p:nvPr>
            <p:ph type="sldNum" sz="quarter" idx="10"/>
          </p:nvPr>
        </p:nvSpPr>
        <p:spPr/>
        <p:txBody>
          <a:bodyPr/>
          <a:lstStyle/>
          <a:p>
            <a:fld id="{18BDFEC3-8487-43E8-A154-7C12CBC1FFF2}" type="slidenum">
              <a:rPr lang="en-US"/>
              <a:t>63</a:t>
            </a:fld>
            <a:endParaRPr lang="en-US"/>
          </a:p>
        </p:txBody>
      </p:sp>
    </p:spTree>
  </p:cSld>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Give your project a name (e.g.’my_first_test_repo’) and ensure that </a:t>
            </a:r>
            <a:r>
              <a:rPr i="1"/>
              <a:t>Create a git repository</a:t>
            </a:r>
            <a:r>
              <a:rPr/>
              <a:t> is ticked. Next, click on </a:t>
            </a:r>
            <a:r>
              <a:rPr b="1"/>
              <a:t>Create Project</a:t>
            </a:r>
            <a:r>
              <a:rPr/>
              <a:t>.</a:t>
            </a:r>
          </a:p>
        </p:txBody>
      </p:sp>
      <p:sp>
        <p:nvSpPr>
          <p:cNvPr id="4" name="Slide Number Placeholder 3"/>
          <p:cNvSpPr>
            <a:spLocks noGrp="1"/>
          </p:cNvSpPr>
          <p:nvPr>
            <p:ph type="sldNum" sz="quarter" idx="10"/>
          </p:nvPr>
        </p:nvSpPr>
        <p:spPr/>
        <p:txBody>
          <a:bodyPr/>
          <a:lstStyle/>
          <a:p>
            <a:fld id="{18BDFEC3-8487-43E8-A154-7C12CBC1FFF2}" type="slidenum">
              <a:rPr lang="en-US"/>
              <a:t>65</a:t>
            </a:fld>
            <a:endParaRPr lang="en-US"/>
          </a:p>
        </p:txBody>
      </p:sp>
    </p:spTree>
  </p:cSld>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When you create a new project, two important files are automatically created. The first is the .gitignore file, which tells Git to ignore certain files, such as sensitive data or documents that do not need to be tracked by version control. This helps keep your project clean and secure. The second file is my_first_test_repo.Rproj (depending on how you named your porject file), which contains configuration information for your RStudio project. This file helps RStudio remember your project settings and keeps everything organized, making it easier to work on your project.</a:t>
            </a:r>
          </a:p>
        </p:txBody>
      </p:sp>
      <p:sp>
        <p:nvSpPr>
          <p:cNvPr id="4" name="Slide Number Placeholder 3"/>
          <p:cNvSpPr>
            <a:spLocks noGrp="1"/>
          </p:cNvSpPr>
          <p:nvPr>
            <p:ph type="sldNum" sz="quarter" idx="10"/>
          </p:nvPr>
        </p:nvSpPr>
        <p:spPr/>
        <p:txBody>
          <a:bodyPr/>
          <a:lstStyle/>
          <a:p>
            <a:fld id="{18BDFEC3-8487-43E8-A154-7C12CBC1FFF2}" type="slidenum">
              <a:rPr lang="en-US"/>
              <a:t>66</a:t>
            </a:fld>
            <a:endParaRPr lang="en-US"/>
          </a:p>
        </p:txBody>
      </p:sp>
    </p:spTree>
  </p:cSld>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We are now going to create a small project to practice using version control. The first thing we will do is download a dataset that we can use for practicing analysis. This will give us something to work with as we learn how to track changes and manage versions of our project using Git.</a:t>
            </a:r>
          </a:p>
          <a:p>
            <a:pPr lvl="0" indent="0" marL="0">
              <a:buNone/>
            </a:pPr>
          </a:p>
          <a:p>
            <a:pPr lvl="0" indent="0" marL="0">
              <a:buNone/>
            </a:pPr>
            <a:r>
              <a:rPr b="1"/>
              <a:t>Instructor Notes</a:t>
            </a:r>
            <a:r>
              <a:rPr/>
              <a:t>: Make the practise dataset available for participants. Use download button on slides or provide dataset separately.</a:t>
            </a:r>
          </a:p>
        </p:txBody>
      </p:sp>
      <p:sp>
        <p:nvSpPr>
          <p:cNvPr id="4" name="Slide Number Placeholder 3"/>
          <p:cNvSpPr>
            <a:spLocks noGrp="1"/>
          </p:cNvSpPr>
          <p:nvPr>
            <p:ph type="sldNum" sz="quarter" idx="10"/>
          </p:nvPr>
        </p:nvSpPr>
        <p:spPr/>
        <p:txBody>
          <a:bodyPr/>
          <a:lstStyle/>
          <a:p>
            <a:fld id="{18BDFEC3-8487-43E8-A154-7C12CBC1FFF2}" type="slidenum">
              <a:rPr lang="en-US"/>
              <a:t>67</a:t>
            </a:fld>
            <a:endParaRPr lang="en-US"/>
          </a:p>
        </p:txBody>
      </p:sp>
    </p:spTree>
  </p:cSld>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Next, create a new R script by going to </a:t>
            </a:r>
            <a:r>
              <a:rPr>
                <a:latin typeface="Courier"/>
              </a:rPr>
              <a:t>File -&gt; New File -&gt; R script</a:t>
            </a:r>
            <a:r>
              <a:rPr/>
              <a:t> in RStudio. Once the script is open, save it as myscript.R. After saving the file, add the code provided to your R script. This will be the starting point for your practice project.</a:t>
            </a:r>
          </a:p>
          <a:p>
            <a:pPr lvl="0" indent="0" marL="0">
              <a:buNone/>
            </a:pPr>
          </a:p>
          <a:p>
            <a:pPr lvl="0" indent="0" marL="0">
              <a:buNone/>
            </a:pPr>
            <a:r>
              <a:rPr b="1"/>
              <a:t>Instructor Notes</a:t>
            </a:r>
            <a:r>
              <a:rPr/>
              <a:t>: Emphasize that the code needs to be copied as is, and that your audience needs to pay attention to spelling and that the file name of the practise data matches the code.</a:t>
            </a:r>
          </a:p>
        </p:txBody>
      </p:sp>
      <p:sp>
        <p:nvSpPr>
          <p:cNvPr id="4" name="Slide Number Placeholder 3"/>
          <p:cNvSpPr>
            <a:spLocks noGrp="1"/>
          </p:cNvSpPr>
          <p:nvPr>
            <p:ph type="sldNum" sz="quarter" idx="10"/>
          </p:nvPr>
        </p:nvSpPr>
        <p:spPr/>
        <p:txBody>
          <a:bodyPr/>
          <a:lstStyle/>
          <a:p>
            <a:fld id="{18BDFEC3-8487-43E8-A154-7C12CBC1FFF2}" type="slidenum">
              <a:rPr lang="en-US"/>
              <a:t>68</a:t>
            </a:fld>
            <a:endParaRPr lang="en-US"/>
          </a:p>
        </p:txBody>
      </p:sp>
    </p:spTree>
  </p:cSld>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Run the code and check your directory in the bottom right panel. It should now contain four files: the .gitignore fle, the RStudio Project file, the example data .csv file and your R script.</a:t>
            </a:r>
          </a:p>
          <a:p>
            <a:pPr lvl="0" indent="0" marL="0">
              <a:buNone/>
            </a:pPr>
          </a:p>
          <a:p>
            <a:pPr lvl="0" indent="0" marL="0">
              <a:buNone/>
            </a:pPr>
            <a:r>
              <a:rPr b="1"/>
              <a:t>Instructor Notes</a:t>
            </a:r>
            <a:r>
              <a:rPr/>
              <a:t>: Run the code by pressing Ctrl + Enter on a Windows PC, and Command + Enter on a MacOS.</a:t>
            </a:r>
          </a:p>
        </p:txBody>
      </p:sp>
      <p:sp>
        <p:nvSpPr>
          <p:cNvPr id="4" name="Slide Number Placeholder 3"/>
          <p:cNvSpPr>
            <a:spLocks noGrp="1"/>
          </p:cNvSpPr>
          <p:nvPr>
            <p:ph type="sldNum" sz="quarter" idx="10"/>
          </p:nvPr>
        </p:nvSpPr>
        <p:spPr/>
        <p:txBody>
          <a:bodyPr/>
          <a:lstStyle/>
          <a:p>
            <a:fld id="{18BDFEC3-8487-43E8-A154-7C12CBC1FFF2}" type="slidenum">
              <a:rPr lang="en-US"/>
              <a:t>69</a:t>
            </a:fld>
            <a:endParaRPr lang="en-US"/>
          </a:p>
        </p:txBody>
      </p:sp>
    </p:spTree>
  </p:cSld>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Find the git version control pane in the top right corner of RStudio in the </a:t>
            </a:r>
            <a:r>
              <a:rPr>
                <a:latin typeface="Courier"/>
              </a:rPr>
              <a:t>Git</a:t>
            </a:r>
            <a:r>
              <a:rPr/>
              <a:t> tab and click on it.</a:t>
            </a:r>
          </a:p>
          <a:p>
            <a:pPr lvl="0" indent="0" marL="0">
              <a:buNone/>
            </a:pPr>
          </a:p>
          <a:p>
            <a:pPr lvl="0" indent="0" marL="0">
              <a:buNone/>
            </a:pPr>
            <a:r>
              <a:rPr b="1"/>
              <a:t>Instructor Notes</a:t>
            </a:r>
            <a:r>
              <a:rPr/>
              <a:t>: If the Git tab does not appear, try one of the following options:</a:t>
            </a:r>
          </a:p>
          <a:p>
            <a:pPr lvl="0" indent="0" marL="0">
              <a:buNone/>
            </a:pPr>
          </a:p>
          <a:p>
            <a:pPr lvl="0"/>
            <a:r>
              <a:rPr/>
              <a:t>In order to see the Git tab in the upper right pane in RStudio, one must create an RStudio project, as follows. Starting from the RStudio main panel, there is </a:t>
            </a:r>
            <a:r>
              <a:rPr b="1"/>
              <a:t>no git tab</a:t>
            </a:r>
            <a:r>
              <a:rPr/>
              <a:t> prior to loading a project.</a:t>
            </a:r>
          </a:p>
          <a:p>
            <a:pPr lvl="0" indent="0" marL="0">
              <a:buNone/>
            </a:pPr>
          </a:p>
          <a:p>
            <a:pPr lvl="0"/>
            <a:r>
              <a:rPr/>
              <a:t>Click </a:t>
            </a:r>
            <a:r>
              <a:rPr i="1"/>
              <a:t>View-&gt;Panes-&gt;Zoom Git</a:t>
            </a:r>
            <a:r>
              <a:rPr/>
              <a:t>, to make it appear.</a:t>
            </a:r>
          </a:p>
          <a:p>
            <a:pPr lvl="0" indent="0" marL="0">
              <a:buNone/>
            </a:pPr>
          </a:p>
          <a:p>
            <a:pPr lvl="0"/>
            <a:r>
              <a:rPr/>
              <a:t>Check your Git installation.</a:t>
            </a:r>
          </a:p>
        </p:txBody>
      </p:sp>
      <p:sp>
        <p:nvSpPr>
          <p:cNvPr id="4" name="Slide Number Placeholder 3"/>
          <p:cNvSpPr>
            <a:spLocks noGrp="1"/>
          </p:cNvSpPr>
          <p:nvPr>
            <p:ph type="sldNum" sz="quarter" idx="10"/>
          </p:nvPr>
        </p:nvSpPr>
        <p:spPr/>
        <p:txBody>
          <a:bodyPr/>
          <a:lstStyle/>
          <a:p>
            <a:fld id="{18BDFEC3-8487-43E8-A154-7C12CBC1FFF2}" type="slidenum">
              <a:rPr lang="en-US"/>
              <a:t>71</a:t>
            </a:fld>
            <a:endParaRPr lang="en-US"/>
          </a:p>
        </p:txBody>
      </p:sp>
    </p:spTree>
  </p:cSld>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We now what to perform what is called </a:t>
            </a:r>
            <a:r>
              <a:rPr i="1"/>
              <a:t>staging</a:t>
            </a:r>
            <a:r>
              <a:rPr/>
              <a:t> our files. Staging is like preparing your changes before saving them. When you make changes to a file (like adding new code), Git doesn’t automatically track those changes. To tell Git which changes you want to save, you “stage” them. In RStudio, you can do this by selecting the changes you want to keep and clicking “Stage” in the Git tab. In this step, hover the mouse pointer over the yellow </a:t>
            </a:r>
            <a:r>
              <a:rPr i="1"/>
              <a:t>?</a:t>
            </a:r>
            <a:r>
              <a:rPr/>
              <a:t> marks in GitHub, you’ll see a tooltip telling us that the file is </a:t>
            </a:r>
            <a:r>
              <a:rPr b="1"/>
              <a:t>untracked</a:t>
            </a:r>
            <a:r>
              <a:rPr/>
              <a:t>. This means that git is not tracking versions of this file. Tick </a:t>
            </a:r>
            <a:r>
              <a:rPr b="1"/>
              <a:t>staged</a:t>
            </a:r>
            <a:r>
              <a:rPr/>
              <a:t> for each file.</a:t>
            </a:r>
          </a:p>
        </p:txBody>
      </p:sp>
      <p:sp>
        <p:nvSpPr>
          <p:cNvPr id="4" name="Slide Number Placeholder 3"/>
          <p:cNvSpPr>
            <a:spLocks noGrp="1"/>
          </p:cNvSpPr>
          <p:nvPr>
            <p:ph type="sldNum" sz="quarter" idx="10"/>
          </p:nvPr>
        </p:nvSpPr>
        <p:spPr/>
        <p:txBody>
          <a:bodyPr/>
          <a:lstStyle/>
          <a:p>
            <a:fld id="{18BDFEC3-8487-43E8-A154-7C12CBC1FFF2}" type="slidenum">
              <a:rPr lang="en-US"/>
              <a:t>73</a:t>
            </a:fld>
            <a:endParaRPr lang="en-US"/>
          </a:p>
        </p:txBody>
      </p:sp>
    </p:spTree>
  </p:cSld>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In a next step, we want to </a:t>
            </a:r>
            <a:r>
              <a:rPr i="1"/>
              <a:t>commit</a:t>
            </a:r>
            <a:r>
              <a:rPr/>
              <a:t> our changes. Committing is when you actually save the changes to your Git history. After staging your changes, you create a “commit,” which is like taking a snapshot of your project at that moment. When you commit, you also write a short message describing what changes you made (e.g., “added new analysis to script”). This helps you keep track of what’s been done over time and allows you to go back to previous versions if needed. Taken together, staging is selecting the changes you want to keep, and committing is actually saving those changes with a description for future reference.</a:t>
            </a:r>
          </a:p>
          <a:p>
            <a:pPr lvl="0" indent="0" marL="0">
              <a:buNone/>
            </a:pPr>
          </a:p>
          <a:p>
            <a:pPr lvl="0" indent="0" marL="0">
              <a:buNone/>
            </a:pPr>
            <a:r>
              <a:rPr b="1"/>
              <a:t>Instructor Notes</a:t>
            </a:r>
            <a:r>
              <a:rPr/>
              <a:t>: Check if staging and committing have been understood as concepts before continuing.</a:t>
            </a:r>
          </a:p>
        </p:txBody>
      </p:sp>
      <p:sp>
        <p:nvSpPr>
          <p:cNvPr id="4" name="Slide Number Placeholder 3"/>
          <p:cNvSpPr>
            <a:spLocks noGrp="1"/>
          </p:cNvSpPr>
          <p:nvPr>
            <p:ph type="sldNum" sz="quarter" idx="10"/>
          </p:nvPr>
        </p:nvSpPr>
        <p:spPr/>
        <p:txBody>
          <a:bodyPr/>
          <a:lstStyle/>
          <a:p>
            <a:fld id="{18BDFEC3-8487-43E8-A154-7C12CBC1FFF2}" type="slidenum">
              <a:rPr lang="en-US"/>
              <a:t>75</a:t>
            </a:fld>
            <a:endParaRPr lang="en-US"/>
          </a:p>
        </p:txBody>
      </p:sp>
    </p:spTree>
  </p:cSld>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You want to specify what changes exactly you have made. This can be done via a </a:t>
            </a:r>
            <a:r>
              <a:rPr i="1"/>
              <a:t>commit message</a:t>
            </a:r>
            <a:r>
              <a:rPr/>
              <a:t>. Writing a good commit message is essential for keeping track of the changes you make to your project. Clear and concise commit messages help you and others understand the purpose of each change, making it easier to review or roll back changes later.</a:t>
            </a:r>
          </a:p>
          <a:p>
            <a:pPr lvl="0" indent="0" marL="0">
              <a:buNone/>
            </a:pPr>
          </a:p>
          <a:p>
            <a:pPr lvl="0" indent="0" marL="0">
              <a:buNone/>
            </a:pPr>
            <a:r>
              <a:rPr b="1"/>
              <a:t>Instructor Notes</a:t>
            </a:r>
            <a:r>
              <a:rPr/>
              <a:t>: Here are some tips for writing helpful commit messages:</a:t>
            </a:r>
          </a:p>
          <a:p>
            <a:pPr lvl="0" indent="0" marL="0">
              <a:buNone/>
            </a:pPr>
          </a:p>
          <a:p>
            <a:pPr lvl="0"/>
            <a:r>
              <a:rPr/>
              <a:t>Be clear and specific: A commit message should clearly describe what changes you’ve made. Instead of something vague like “updated script,” be specific—like “Add data cleaning steps to the script” or “Fix typo in analysis code.”</a:t>
            </a:r>
          </a:p>
          <a:p>
            <a:pPr lvl="0" indent="0" marL="0">
              <a:buNone/>
            </a:pPr>
          </a:p>
          <a:p>
            <a:pPr lvl="0"/>
            <a:r>
              <a:rPr/>
              <a:t>Use the imperative mood: Commit messages are usually written in the imperative mood, as if giving a command. For example, instead of “I added a new function,” say “Add function to calculate summary statistics.” This keeps messages consistent and to the point.</a:t>
            </a:r>
          </a:p>
          <a:p>
            <a:pPr lvl="0" indent="0" marL="0">
              <a:buNone/>
            </a:pPr>
          </a:p>
          <a:p>
            <a:pPr lvl="0"/>
            <a:r>
              <a:rPr/>
              <a:t>Keep it brief: Your commit message does not need to be long. Aim for a short, clear description. If the change requires more explanation, you can provide additional details in the commit body (though a short, effective title is usually enough).</a:t>
            </a:r>
          </a:p>
          <a:p>
            <a:pPr lvl="0" indent="0" marL="0">
              <a:buNone/>
            </a:pPr>
          </a:p>
          <a:p>
            <a:pPr lvl="0"/>
            <a:r>
              <a:rPr/>
              <a:t>Describe the Why, not just the What: If you are fixing a bug or adding a feature, include why you made the change. For example, “Fix issue where NA values caused the analysis to fail” is more useful than just “Fix bug.”</a:t>
            </a:r>
          </a:p>
        </p:txBody>
      </p:sp>
      <p:sp>
        <p:nvSpPr>
          <p:cNvPr id="4" name="Slide Number Placeholder 3"/>
          <p:cNvSpPr>
            <a:spLocks noGrp="1"/>
          </p:cNvSpPr>
          <p:nvPr>
            <p:ph type="sldNum" sz="quarter" idx="10"/>
          </p:nvPr>
        </p:nvSpPr>
        <p:spPr/>
        <p:txBody>
          <a:bodyPr/>
          <a:lstStyle/>
          <a:p>
            <a:fld id="{18BDFEC3-8487-43E8-A154-7C12CBC1FFF2}" type="slidenum">
              <a:rPr lang="en-US"/>
              <a:t>77</a:t>
            </a:fld>
            <a:endParaRPr lang="en-US"/>
          </a:p>
        </p:txBody>
      </p:sp>
    </p:spTree>
  </p:cSld>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Now that we have set up our RStudio project, it is time to make some actual changes to practice using Git and see how it handles modifications in files. First, open your existing R script (e.g., myscript.R), and add the code to it.</a:t>
            </a:r>
          </a:p>
          <a:p>
            <a:pPr lvl="0" indent="0" marL="0">
              <a:buNone/>
            </a:pPr>
          </a:p>
          <a:p>
            <a:pPr lvl="0" indent="0" marL="0">
              <a:buNone/>
            </a:pPr>
            <a:r>
              <a:rPr b="1"/>
              <a:t>Instructor Notes</a:t>
            </a:r>
            <a:r>
              <a:rPr/>
              <a:t>: Copy- Paste the code from the slides or pay attention that the code is identical if typed by hand.</a:t>
            </a:r>
          </a:p>
        </p:txBody>
      </p:sp>
      <p:sp>
        <p:nvSpPr>
          <p:cNvPr id="4" name="Slide Number Placeholder 3"/>
          <p:cNvSpPr>
            <a:spLocks noGrp="1"/>
          </p:cNvSpPr>
          <p:nvPr>
            <p:ph type="sldNum" sz="quarter" idx="10"/>
          </p:nvPr>
        </p:nvSpPr>
        <p:spPr/>
        <p:txBody>
          <a:bodyPr/>
          <a:lstStyle/>
          <a:p>
            <a:fld id="{18BDFEC3-8487-43E8-A154-7C12CBC1FFF2}" type="slidenum">
              <a:rPr lang="en-US"/>
              <a:t>79</a:t>
            </a:fld>
            <a:endParaRPr lang="en-US"/>
          </a:p>
        </p:txBody>
      </p:sp>
    </p:spTree>
  </p:cSld>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Change the command that plots our data in this file. Speifically, change the line </a:t>
            </a:r>
            <a:r>
              <a:rPr>
                <a:latin typeface="Courier"/>
              </a:rPr>
              <a:t>plot(mydata$xdata,mydata$ydata)</a:t>
            </a:r>
            <a:r>
              <a:rPr/>
              <a:t> to </a:t>
            </a:r>
            <a:r>
              <a:rPr>
                <a:latin typeface="Courier"/>
              </a:rPr>
              <a:t>plot(mydata$xdata,mydata$ydata,col='red')</a:t>
            </a:r>
            <a:r>
              <a:rPr/>
              <a:t> and run this code by pressing Ctrl + Enter.</a:t>
            </a:r>
          </a:p>
          <a:p>
            <a:pPr lvl="0" indent="0" marL="0">
              <a:buNone/>
            </a:pPr>
          </a:p>
          <a:p>
            <a:pPr lvl="0" indent="0" marL="0">
              <a:buNone/>
            </a:pPr>
            <a:r>
              <a:rPr b="1"/>
              <a:t>Instructor Notes</a:t>
            </a:r>
            <a:r>
              <a:rPr/>
              <a:t>: Remind learners to run their code at the end.</a:t>
            </a:r>
          </a:p>
        </p:txBody>
      </p:sp>
      <p:sp>
        <p:nvSpPr>
          <p:cNvPr id="4" name="Slide Number Placeholder 3"/>
          <p:cNvSpPr>
            <a:spLocks noGrp="1"/>
          </p:cNvSpPr>
          <p:nvPr>
            <p:ph type="sldNum" sz="quarter" idx="10"/>
          </p:nvPr>
        </p:nvSpPr>
        <p:spPr/>
        <p:txBody>
          <a:bodyPr/>
          <a:lstStyle/>
          <a:p>
            <a:fld id="{18BDFEC3-8487-43E8-A154-7C12CBC1FFF2}" type="slidenum">
              <a:rPr lang="en-US"/>
              <a:t>80</a:t>
            </a:fld>
            <a:endParaRPr lang="en-US"/>
          </a:p>
        </p:txBody>
      </p:sp>
    </p:spTree>
  </p:cSld>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Instructor Notes</a:t>
            </a:r>
            <a:r>
              <a:rPr/>
              <a:t>: Optional exercise for more advanced learners if they finished before the others.</a:t>
            </a:r>
          </a:p>
        </p:txBody>
      </p:sp>
      <p:sp>
        <p:nvSpPr>
          <p:cNvPr id="4" name="Slide Number Placeholder 3"/>
          <p:cNvSpPr>
            <a:spLocks noGrp="1"/>
          </p:cNvSpPr>
          <p:nvPr>
            <p:ph type="sldNum" sz="quarter" idx="10"/>
          </p:nvPr>
        </p:nvSpPr>
        <p:spPr/>
        <p:txBody>
          <a:bodyPr/>
          <a:lstStyle/>
          <a:p>
            <a:fld id="{18BDFEC3-8487-43E8-A154-7C12CBC1FFF2}" type="slidenum">
              <a:rPr lang="en-US"/>
              <a:t>81</a:t>
            </a:fld>
            <a:endParaRPr lang="en-US"/>
          </a:p>
        </p:txBody>
      </p:sp>
    </p:spTree>
  </p:cSld>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Now that you have clicked on the Git tab in the top right corner of RStudio, you should see two files listed: the script you just modified (e.g., myscript.R) and any new scripts that were added if you completed the optional exercise. For the script you modified first, click on the staged box next to it. This marks your changes as ready for the next step, which is committing the changes to your Git history. Do not stage the second script for now. Once you have staged your changes, you’re all set to commit them and save a snapshot of your progress.</a:t>
            </a:r>
          </a:p>
          <a:p>
            <a:pPr lvl="0" indent="0" marL="0">
              <a:buNone/>
            </a:pPr>
          </a:p>
          <a:p>
            <a:pPr lvl="0" indent="0" marL="0">
              <a:buNone/>
            </a:pPr>
            <a:r>
              <a:rPr b="1"/>
              <a:t>Instructor Notes</a:t>
            </a:r>
            <a:r>
              <a:rPr/>
              <a:t>: Ask a learner to explain the concept of staging to check for comprehension of the concept behind it.</a:t>
            </a:r>
          </a:p>
        </p:txBody>
      </p:sp>
      <p:sp>
        <p:nvSpPr>
          <p:cNvPr id="4" name="Slide Number Placeholder 3"/>
          <p:cNvSpPr>
            <a:spLocks noGrp="1"/>
          </p:cNvSpPr>
          <p:nvPr>
            <p:ph type="sldNum" sz="quarter" idx="10"/>
          </p:nvPr>
        </p:nvSpPr>
        <p:spPr/>
        <p:txBody>
          <a:bodyPr/>
          <a:lstStyle/>
          <a:p>
            <a:fld id="{18BDFEC3-8487-43E8-A154-7C12CBC1FFF2}" type="slidenum">
              <a:rPr lang="en-US"/>
              <a:t>82</a:t>
            </a:fld>
            <a:endParaRPr lang="en-US"/>
          </a:p>
        </p:txBody>
      </p:sp>
    </p:spTree>
  </p:cSld>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Now that your changes are staged, it is time to commit them. First, click on </a:t>
            </a:r>
            <a:r>
              <a:rPr>
                <a:latin typeface="Courier"/>
              </a:rPr>
              <a:t>Diff</a:t>
            </a:r>
            <a:r>
              <a:rPr/>
              <a:t> to view a summary of what exactly has changed in your script. This gives you a quick reminder of the edits you made. Once you have reviewed the changes, add a brief and concise commit message that describes what you have done, like “Add plot to visualise XX” Finally, click commit to save these changes to your Git history. With that, your changes are now securely recorded in your Git project!</a:t>
            </a:r>
          </a:p>
          <a:p>
            <a:pPr lvl="0" indent="0" marL="0">
              <a:buNone/>
            </a:pPr>
          </a:p>
          <a:p>
            <a:pPr lvl="0" indent="0" marL="0">
              <a:buNone/>
            </a:pPr>
            <a:r>
              <a:rPr b="1"/>
              <a:t>Instructor Notes</a:t>
            </a:r>
            <a:r>
              <a:rPr/>
              <a:t>: Leave enough time for learners to review the Diff tab and the changes they made. This is a critical step in the process of understanding version control in RStudio.</a:t>
            </a:r>
          </a:p>
        </p:txBody>
      </p:sp>
      <p:sp>
        <p:nvSpPr>
          <p:cNvPr id="4" name="Slide Number Placeholder 3"/>
          <p:cNvSpPr>
            <a:spLocks noGrp="1"/>
          </p:cNvSpPr>
          <p:nvPr>
            <p:ph type="sldNum" sz="quarter" idx="10"/>
          </p:nvPr>
        </p:nvSpPr>
        <p:spPr/>
        <p:txBody>
          <a:bodyPr/>
          <a:lstStyle/>
          <a:p>
            <a:fld id="{18BDFEC3-8487-43E8-A154-7C12CBC1FFF2}" type="slidenum">
              <a:rPr lang="en-US"/>
              <a:t>84</a:t>
            </a:fld>
            <a:endParaRPr lang="en-US"/>
          </a:p>
        </p:txBody>
      </p:sp>
    </p:spTree>
  </p:cSld>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If you have not already done so, create a second R script and save it in your RStudio project folder. Stage the second script and write a new commit message. In the git tab, press the </a:t>
            </a:r>
            <a:r>
              <a:rPr b="1"/>
              <a:t>History</a:t>
            </a:r>
            <a:r>
              <a:rPr/>
              <a:t> button to review the change and commit history of your files.</a:t>
            </a:r>
          </a:p>
          <a:p>
            <a:pPr lvl="0" indent="0" marL="0">
              <a:buNone/>
            </a:pPr>
          </a:p>
          <a:p>
            <a:pPr lvl="0" indent="0" marL="0">
              <a:buNone/>
            </a:pPr>
            <a:r>
              <a:rPr b="1"/>
              <a:t>Instructor Notes</a:t>
            </a:r>
            <a:r>
              <a:rPr/>
              <a:t>: Ensure that learners save the second script in the same RStudio project folder as the first script.</a:t>
            </a:r>
          </a:p>
        </p:txBody>
      </p:sp>
      <p:sp>
        <p:nvSpPr>
          <p:cNvPr id="4" name="Slide Number Placeholder 3"/>
          <p:cNvSpPr>
            <a:spLocks noGrp="1"/>
          </p:cNvSpPr>
          <p:nvPr>
            <p:ph type="sldNum" sz="quarter" idx="10"/>
          </p:nvPr>
        </p:nvSpPr>
        <p:spPr/>
        <p:txBody>
          <a:bodyPr/>
          <a:lstStyle/>
          <a:p>
            <a:fld id="{18BDFEC3-8487-43E8-A154-7C12CBC1FFF2}" type="slidenum">
              <a:rPr lang="en-US"/>
              <a:t>85</a:t>
            </a:fld>
            <a:endParaRPr lang="en-US"/>
          </a:p>
        </p:txBody>
      </p:sp>
    </p:spTree>
  </p:cSld>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Now that your project is under version control in RStudio, the next step is to connect it to your GitHub account so that you can upload your project and access it online. First, log into your GitHub account and go to your profile page. Once you are there, click on the </a:t>
            </a:r>
            <a:r>
              <a:rPr>
                <a:latin typeface="Courier"/>
              </a:rPr>
              <a:t>Repositories</a:t>
            </a:r>
            <a:r>
              <a:rPr/>
              <a:t> tab. From this page, click the </a:t>
            </a:r>
            <a:r>
              <a:rPr>
                <a:latin typeface="Courier"/>
              </a:rPr>
              <a:t>New</a:t>
            </a:r>
            <a:r>
              <a:rPr/>
              <a:t> button to create a new GitHub repository. Creating this new repository on GitHub will allow you to upload your local project to GitHub, making it accessible from anywhere and easier to share or collaborate on. After the repository is created, you can connect it to your local RStudio project in the next steps.</a:t>
            </a:r>
          </a:p>
          <a:p>
            <a:pPr lvl="0" indent="0" marL="0">
              <a:buNone/>
            </a:pPr>
          </a:p>
          <a:p>
            <a:pPr lvl="0" indent="0" marL="0">
              <a:buNone/>
            </a:pPr>
            <a:r>
              <a:rPr b="1"/>
              <a:t>Instructor Notes</a:t>
            </a:r>
            <a:r>
              <a:rPr/>
              <a:t>: Learners should be logged into their GiutHub accounts at this point.</a:t>
            </a:r>
          </a:p>
        </p:txBody>
      </p:sp>
      <p:sp>
        <p:nvSpPr>
          <p:cNvPr id="4" name="Slide Number Placeholder 3"/>
          <p:cNvSpPr>
            <a:spLocks noGrp="1"/>
          </p:cNvSpPr>
          <p:nvPr>
            <p:ph type="sldNum" sz="quarter" idx="10"/>
          </p:nvPr>
        </p:nvSpPr>
        <p:spPr/>
        <p:txBody>
          <a:bodyPr/>
          <a:lstStyle/>
          <a:p>
            <a:fld id="{18BDFEC3-8487-43E8-A154-7C12CBC1FFF2}" type="slidenum">
              <a:rPr lang="en-US"/>
              <a:t>86</a:t>
            </a:fld>
            <a:endParaRPr lang="en-US"/>
          </a:p>
        </p:txBody>
      </p:sp>
    </p:spTree>
  </p:cSld>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Give the repository a name and click </a:t>
            </a:r>
            <a:r>
              <a:rPr>
                <a:latin typeface="Courier"/>
              </a:rPr>
              <a:t>Create Repository</a:t>
            </a:r>
            <a:r>
              <a:rPr/>
              <a:t>.</a:t>
            </a:r>
          </a:p>
        </p:txBody>
      </p:sp>
      <p:sp>
        <p:nvSpPr>
          <p:cNvPr id="4" name="Slide Number Placeholder 3"/>
          <p:cNvSpPr>
            <a:spLocks noGrp="1"/>
          </p:cNvSpPr>
          <p:nvPr>
            <p:ph type="sldNum" sz="quarter" idx="10"/>
          </p:nvPr>
        </p:nvSpPr>
        <p:spPr/>
        <p:txBody>
          <a:bodyPr/>
          <a:lstStyle/>
          <a:p>
            <a:fld id="{18BDFEC3-8487-43E8-A154-7C12CBC1FFF2}" type="slidenum">
              <a:rPr lang="en-US"/>
              <a:t>87</a:t>
            </a:fld>
            <a:endParaRPr lang="en-US"/>
          </a:p>
        </p:txBody>
      </p:sp>
    </p:spTree>
  </p:cSld>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After creating the new repository, you will be directed to the Quick Setup screen. Here, you need to configure the repository for SSH access. Select the SSH tab, and make sure the URL shown in the blue box starts with git@github.com. This ensures that your project will be connected securely to GitHub using SSH, allowing you to push and pull changes without needing to enter your username and password every time. Once you have confirmed this, you are ready to link your local repository to the new GitHub repository.</a:t>
            </a:r>
          </a:p>
          <a:p>
            <a:pPr lvl="0" indent="0" marL="0">
              <a:buNone/>
            </a:pPr>
          </a:p>
          <a:p>
            <a:pPr lvl="0" indent="0" marL="0">
              <a:buNone/>
            </a:pPr>
            <a:r>
              <a:rPr b="1"/>
              <a:t>Instructor Notes</a:t>
            </a:r>
            <a:r>
              <a:rPr/>
              <a:t>: In version control, pushing and pulling refer to how you sync your local project with a remote repository, like GitHub.</a:t>
            </a:r>
          </a:p>
          <a:p>
            <a:pPr lvl="0" indent="0" marL="0">
              <a:buNone/>
            </a:pPr>
          </a:p>
          <a:p>
            <a:pPr lvl="0"/>
            <a:r>
              <a:rPr b="1"/>
              <a:t>Pushing</a:t>
            </a:r>
            <a:r>
              <a:rPr/>
              <a:t> means uploading your changes from your local project to the remote repository. When you push, you are sending your latest commits (the saved changes) to GitHub, making them available for others or for backup.</a:t>
            </a:r>
          </a:p>
          <a:p>
            <a:pPr lvl="0" indent="0" marL="0">
              <a:buNone/>
            </a:pPr>
          </a:p>
          <a:p>
            <a:pPr lvl="0"/>
            <a:r>
              <a:rPr b="1"/>
              <a:t>Pulling</a:t>
            </a:r>
            <a:r>
              <a:rPr/>
              <a:t> means downloading the latest changes from the remote repository to your local project. If someone else has made changes to the project or you’ve worked on it from another computer, pulling updates your local version with those new changes.</a:t>
            </a:r>
          </a:p>
          <a:p>
            <a:pPr lvl="0" indent="0" marL="0">
              <a:buNone/>
            </a:pPr>
          </a:p>
          <a:p>
            <a:pPr lvl="0"/>
            <a:r>
              <a:rPr/>
              <a:t>In short, pushing uploads your work, and pulling brings in updates from others.</a:t>
            </a:r>
            <a:br/>
          </a:p>
        </p:txBody>
      </p:sp>
      <p:sp>
        <p:nvSpPr>
          <p:cNvPr id="4" name="Slide Number Placeholder 3"/>
          <p:cNvSpPr>
            <a:spLocks noGrp="1"/>
          </p:cNvSpPr>
          <p:nvPr>
            <p:ph type="sldNum" sz="quarter" idx="10"/>
          </p:nvPr>
        </p:nvSpPr>
        <p:spPr/>
        <p:txBody>
          <a:bodyPr/>
          <a:lstStyle/>
          <a:p>
            <a:fld id="{18BDFEC3-8487-43E8-A154-7C12CBC1FFF2}" type="slidenum">
              <a:rPr lang="en-US"/>
              <a:t>88</a:t>
            </a:fld>
            <a:endParaRPr lang="en-US"/>
          </a:p>
        </p:txBody>
      </p:sp>
    </p:spTree>
  </p:cSld>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After selecting the SSH tab and confirming the URL, you’ll see a section titled </a:t>
            </a:r>
            <a:r>
              <a:rPr>
                <a:latin typeface="Courier"/>
              </a:rPr>
              <a:t>... or push an existing repository from the command line</a:t>
            </a:r>
            <a:r>
              <a:rPr/>
              <a:t>. This section provides the commands you need to connect your local project to the newly created GitHub repository. Click the </a:t>
            </a:r>
            <a:r>
              <a:rPr>
                <a:latin typeface="Courier"/>
              </a:rPr>
              <a:t>copy</a:t>
            </a:r>
            <a:r>
              <a:rPr/>
              <a:t>button next to the commands to copy them to your clipboard. These commands will be used in your terminal to link your local repository to GitHub and push your changes.</a:t>
            </a:r>
          </a:p>
          <a:p>
            <a:pPr lvl="0" indent="0" marL="0">
              <a:buNone/>
            </a:pPr>
          </a:p>
          <a:p>
            <a:pPr lvl="0" indent="0" marL="0">
              <a:buNone/>
            </a:pPr>
            <a:r>
              <a:rPr/>
              <a:t>Once you have copied the commands, you can paste them into your terminal to complete the connection between your local project and the GitHub repository.</a:t>
            </a:r>
          </a:p>
          <a:p>
            <a:pPr lvl="0" indent="0" marL="0">
              <a:buNone/>
            </a:pPr>
          </a:p>
          <a:p>
            <a:pPr lvl="0" indent="0" marL="0">
              <a:buNone/>
            </a:pPr>
            <a:r>
              <a:rPr b="1"/>
              <a:t>Instructor Notes</a:t>
            </a:r>
            <a:r>
              <a:rPr/>
              <a:t>: Make sure that learners are clear the email address will be tailored to each individual user.</a:t>
            </a:r>
          </a:p>
        </p:txBody>
      </p:sp>
      <p:sp>
        <p:nvSpPr>
          <p:cNvPr id="4" name="Slide Number Placeholder 3"/>
          <p:cNvSpPr>
            <a:spLocks noGrp="1"/>
          </p:cNvSpPr>
          <p:nvPr>
            <p:ph type="sldNum" sz="quarter" idx="10"/>
          </p:nvPr>
        </p:nvSpPr>
        <p:spPr/>
        <p:txBody>
          <a:bodyPr/>
          <a:lstStyle/>
          <a:p>
            <a:fld id="{18BDFEC3-8487-43E8-A154-7C12CBC1FFF2}" type="slidenum">
              <a:rPr lang="en-US"/>
              <a:t>89</a:t>
            </a:fld>
            <a:endParaRPr lang="en-US"/>
          </a:p>
        </p:txBody>
      </p:sp>
    </p:spTree>
  </p:cSld>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Now, go to RStudio. In the Git tab, click on </a:t>
            </a:r>
            <a:r>
              <a:rPr>
                <a:latin typeface="Courier"/>
              </a:rPr>
              <a:t>More</a:t>
            </a:r>
            <a:r>
              <a:rPr/>
              <a:t> &gt; </a:t>
            </a:r>
            <a:r>
              <a:rPr>
                <a:latin typeface="Courier"/>
              </a:rPr>
              <a:t>New Terminal</a:t>
            </a:r>
            <a:r>
              <a:rPr/>
              <a:t>. This will open a new terminal window within RStudio, where you can paste the commands you copied from GitHub.</a:t>
            </a:r>
          </a:p>
          <a:p>
            <a:pPr lvl="0" indent="0" marL="0">
              <a:buNone/>
            </a:pPr>
          </a:p>
          <a:p>
            <a:pPr lvl="0" indent="0" marL="0">
              <a:buNone/>
            </a:pPr>
            <a:r>
              <a:rPr b="1"/>
              <a:t>Instructor Notes</a:t>
            </a:r>
            <a:r>
              <a:rPr/>
              <a:t>: Help learners paste the commands pasted from GitHub.</a:t>
            </a:r>
          </a:p>
        </p:txBody>
      </p:sp>
      <p:sp>
        <p:nvSpPr>
          <p:cNvPr id="4" name="Slide Number Placeholder 3"/>
          <p:cNvSpPr>
            <a:spLocks noGrp="1"/>
          </p:cNvSpPr>
          <p:nvPr>
            <p:ph type="sldNum" sz="quarter" idx="10"/>
          </p:nvPr>
        </p:nvSpPr>
        <p:spPr/>
        <p:txBody>
          <a:bodyPr/>
          <a:lstStyle/>
          <a:p>
            <a:fld id="{18BDFEC3-8487-43E8-A154-7C12CBC1FFF2}" type="slidenum">
              <a:rPr lang="en-US"/>
              <a:t>90</a:t>
            </a:fld>
            <a:endParaRPr lang="en-US"/>
          </a:p>
        </p:txBody>
      </p:sp>
    </p:spTree>
  </p:cSld>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terminal is where you will paste and then run the Git commands to link your local repository to GitHub and push your changes. Paste the git commands from your clipboard into the terminal and press enter to execute them. Insert your SSH passphrase if prompted or type yes when a sentence about continuing appears.</a:t>
            </a:r>
          </a:p>
        </p:txBody>
      </p:sp>
      <p:sp>
        <p:nvSpPr>
          <p:cNvPr id="4" name="Slide Number Placeholder 3"/>
          <p:cNvSpPr>
            <a:spLocks noGrp="1"/>
          </p:cNvSpPr>
          <p:nvPr>
            <p:ph type="sldNum" sz="quarter" idx="10"/>
          </p:nvPr>
        </p:nvSpPr>
        <p:spPr/>
        <p:txBody>
          <a:bodyPr/>
          <a:lstStyle/>
          <a:p>
            <a:fld id="{18BDFEC3-8487-43E8-A154-7C12CBC1FFF2}" type="slidenum">
              <a:rPr lang="en-US"/>
              <a:t>91</a:t>
            </a:fld>
            <a:endParaRPr lang="en-US"/>
          </a:p>
        </p:txBody>
      </p:sp>
    </p:spTree>
  </p:cSld>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Check that your local repository with your RStudio Project appears on your GitHub profile. For this, you will need to refresh the GitHub page. Important: You only need to upload your local repository </a:t>
            </a:r>
            <a:r>
              <a:rPr b="1"/>
              <a:t>once</a:t>
            </a:r>
            <a:r>
              <a:rPr/>
              <a:t> to GitHub. In the subsequent section, we explain how to sync (or </a:t>
            </a:r>
            <a:r>
              <a:rPr b="1"/>
              <a:t>push</a:t>
            </a:r>
            <a:r>
              <a:rPr/>
              <a:t>) your local changes in your RStudio project with the remote repository you just created on GitHub.</a:t>
            </a:r>
          </a:p>
          <a:p>
            <a:pPr lvl="0" indent="0" marL="0">
              <a:buNone/>
            </a:pPr>
          </a:p>
          <a:p>
            <a:pPr lvl="0" indent="0" marL="0">
              <a:buNone/>
            </a:pPr>
            <a:r>
              <a:rPr b="1"/>
              <a:t>Instructor Notes</a:t>
            </a:r>
            <a:r>
              <a:rPr/>
              <a:t>: Ensure that learners do not leave out the refreshing of the GitHub page. Check that your learners have followed the steps so far and check in with them about any issues.</a:t>
            </a:r>
          </a:p>
        </p:txBody>
      </p:sp>
      <p:sp>
        <p:nvSpPr>
          <p:cNvPr id="4" name="Slide Number Placeholder 3"/>
          <p:cNvSpPr>
            <a:spLocks noGrp="1"/>
          </p:cNvSpPr>
          <p:nvPr>
            <p:ph type="sldNum" sz="quarter" idx="10"/>
          </p:nvPr>
        </p:nvSpPr>
        <p:spPr/>
        <p:txBody>
          <a:bodyPr/>
          <a:lstStyle/>
          <a:p>
            <a:fld id="{18BDFEC3-8487-43E8-A154-7C12CBC1FFF2}" type="slidenum">
              <a:rPr lang="en-US"/>
              <a:t>92</a:t>
            </a:fld>
            <a:endParaRPr lang="en-US"/>
          </a:p>
        </p:txBody>
      </p:sp>
    </p:spTree>
  </p:cSld>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As a next step, we want to add a README file. In RStudio, go to </a:t>
            </a:r>
            <a:r>
              <a:rPr i="1"/>
              <a:t>File &gt; New File &gt; Text File</a:t>
            </a:r>
            <a:r>
              <a:rPr/>
              <a:t>. This will open a blank text file. Next, add the given text to the file and save the file as README (in capital letters by default).</a:t>
            </a:r>
          </a:p>
          <a:p>
            <a:pPr lvl="0" indent="0" marL="0">
              <a:buNone/>
            </a:pPr>
          </a:p>
          <a:p>
            <a:pPr lvl="0" indent="0" marL="0">
              <a:buNone/>
            </a:pPr>
            <a:r>
              <a:rPr b="1"/>
              <a:t>Instructor Notes</a:t>
            </a:r>
            <a:r>
              <a:rPr/>
              <a:t>: Highlight that learners need to </a:t>
            </a:r>
            <a:r>
              <a:rPr b="1"/>
              <a:t>save</a:t>
            </a:r>
            <a:r>
              <a:rPr/>
              <a:t> the file.</a:t>
            </a:r>
          </a:p>
        </p:txBody>
      </p:sp>
      <p:sp>
        <p:nvSpPr>
          <p:cNvPr id="4" name="Slide Number Placeholder 3"/>
          <p:cNvSpPr>
            <a:spLocks noGrp="1"/>
          </p:cNvSpPr>
          <p:nvPr>
            <p:ph type="sldNum" sz="quarter" idx="10"/>
          </p:nvPr>
        </p:nvSpPr>
        <p:spPr/>
        <p:txBody>
          <a:bodyPr/>
          <a:lstStyle/>
          <a:p>
            <a:fld id="{18BDFEC3-8487-43E8-A154-7C12CBC1FFF2}" type="slidenum">
              <a:rPr lang="en-US"/>
              <a:t>94</a:t>
            </a:fld>
            <a:endParaRPr lang="en-US"/>
          </a:p>
        </p:txBody>
      </p:sp>
    </p:spTree>
  </p:cSld>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In the </a:t>
            </a:r>
            <a:r>
              <a:rPr b="1"/>
              <a:t>git</a:t>
            </a:r>
            <a:r>
              <a:rPr/>
              <a:t> tab, you should see the new </a:t>
            </a:r>
            <a:r>
              <a:rPr b="1"/>
              <a:t>Readme.md</a:t>
            </a:r>
            <a:r>
              <a:rPr/>
              <a:t> file (and only that one!). Stage the file and press </a:t>
            </a:r>
            <a:r>
              <a:rPr b="1"/>
              <a:t>commit</a:t>
            </a:r>
            <a:r>
              <a:rPr/>
              <a:t>.</a:t>
            </a:r>
          </a:p>
          <a:p>
            <a:pPr lvl="0" indent="0" marL="0">
              <a:buNone/>
            </a:pPr>
          </a:p>
          <a:p>
            <a:pPr lvl="0" indent="0" marL="0">
              <a:buNone/>
            </a:pPr>
            <a:r>
              <a:rPr b="1"/>
              <a:t>Instructor Notes</a:t>
            </a:r>
            <a:r>
              <a:rPr/>
              <a:t>: Encourages your learners to revise the process of staging and committing again.</a:t>
            </a:r>
          </a:p>
        </p:txBody>
      </p:sp>
      <p:sp>
        <p:nvSpPr>
          <p:cNvPr id="4" name="Slide Number Placeholder 3"/>
          <p:cNvSpPr>
            <a:spLocks noGrp="1"/>
          </p:cNvSpPr>
          <p:nvPr>
            <p:ph type="sldNum" sz="quarter" idx="10"/>
          </p:nvPr>
        </p:nvSpPr>
        <p:spPr/>
        <p:txBody>
          <a:bodyPr/>
          <a:lstStyle/>
          <a:p>
            <a:fld id="{18BDFEC3-8487-43E8-A154-7C12CBC1FFF2}" type="slidenum">
              <a:rPr lang="en-US"/>
              <a:t>95</a:t>
            </a:fld>
            <a:endParaRPr lang="en-US"/>
          </a:p>
        </p:txBody>
      </p:sp>
    </p:spTree>
  </p:cSld>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Add a new commit message and press </a:t>
            </a:r>
            <a:r>
              <a:rPr b="1"/>
              <a:t>Commit</a:t>
            </a:r>
            <a:r>
              <a:rPr/>
              <a:t> in the bottom right corner.</a:t>
            </a:r>
          </a:p>
          <a:p>
            <a:pPr lvl="0" indent="0" marL="0">
              <a:buNone/>
            </a:pPr>
          </a:p>
          <a:p>
            <a:pPr lvl="0" indent="0" marL="0">
              <a:buNone/>
            </a:pPr>
            <a:r>
              <a:rPr b="1"/>
              <a:t>Instructor Notes</a:t>
            </a:r>
            <a:r>
              <a:rPr/>
              <a:t>: Regularly check for questions or issues.</a:t>
            </a:r>
          </a:p>
        </p:txBody>
      </p:sp>
      <p:sp>
        <p:nvSpPr>
          <p:cNvPr id="4" name="Slide Number Placeholder 3"/>
          <p:cNvSpPr>
            <a:spLocks noGrp="1"/>
          </p:cNvSpPr>
          <p:nvPr>
            <p:ph type="sldNum" sz="quarter" idx="10"/>
          </p:nvPr>
        </p:nvSpPr>
        <p:spPr/>
        <p:txBody>
          <a:bodyPr/>
          <a:lstStyle/>
          <a:p>
            <a:fld id="{18BDFEC3-8487-43E8-A154-7C12CBC1FFF2}" type="slidenum">
              <a:rPr lang="en-US"/>
              <a:t>97</a:t>
            </a:fld>
            <a:endParaRPr lang="en-US"/>
          </a:p>
        </p:txBody>
      </p:sp>
    </p:spTree>
  </p:cSld>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t>
            </a:r>
            <a:r>
              <a:rPr b="1"/>
              <a:t>Push</a:t>
            </a:r>
            <a:r>
              <a:rPr/>
              <a:t> the changes to upload to GitHub by pressing the button in the top right corner with the green arrow pointing upwards.</a:t>
            </a:r>
          </a:p>
          <a:p>
            <a:pPr lvl="0" indent="0" marL="0">
              <a:buNone/>
            </a:pPr>
          </a:p>
          <a:p>
            <a:pPr lvl="0" indent="0" marL="0">
              <a:buNone/>
            </a:pPr>
            <a:r>
              <a:rPr b="1"/>
              <a:t>Instructor Notes</a:t>
            </a:r>
            <a:r>
              <a:rPr/>
              <a:t>: Demonstrate the location of the green upward arrow in RStudio.</a:t>
            </a:r>
          </a:p>
        </p:txBody>
      </p:sp>
      <p:sp>
        <p:nvSpPr>
          <p:cNvPr id="4" name="Slide Number Placeholder 3"/>
          <p:cNvSpPr>
            <a:spLocks noGrp="1"/>
          </p:cNvSpPr>
          <p:nvPr>
            <p:ph type="sldNum" sz="quarter" idx="10"/>
          </p:nvPr>
        </p:nvSpPr>
        <p:spPr/>
        <p:txBody>
          <a:bodyPr/>
          <a:lstStyle/>
          <a:p>
            <a:fld id="{18BDFEC3-8487-43E8-A154-7C12CBC1FFF2}" type="slidenum">
              <a:rPr lang="en-US"/>
              <a:t>98</a:t>
            </a:fld>
            <a:endParaRPr lang="en-US"/>
          </a:p>
        </p:txBody>
      </p:sp>
    </p:spTree>
  </p:cSld>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Congratulations! We have successfully completed the following steps to set up and manage our project with Git:</a:t>
            </a:r>
          </a:p>
          <a:p>
            <a:pPr lvl="0" indent="0" marL="0">
              <a:buNone/>
            </a:pPr>
          </a:p>
          <a:p>
            <a:pPr lvl="0"/>
            <a:r>
              <a:rPr/>
              <a:t>First, we created an RStudio Project in a local repository, where we’ll store all the files related to our project.</a:t>
            </a:r>
          </a:p>
          <a:p>
            <a:pPr lvl="0" indent="0" marL="0">
              <a:buNone/>
            </a:pPr>
          </a:p>
          <a:p>
            <a:pPr lvl="0"/>
            <a:r>
              <a:rPr/>
              <a:t>Then, we added the necessary files for the project, such as the R script and any downloaded data.</a:t>
            </a:r>
          </a:p>
          <a:p>
            <a:pPr lvl="0" indent="0" marL="0">
              <a:buNone/>
            </a:pPr>
          </a:p>
          <a:p>
            <a:pPr lvl="0"/>
            <a:r>
              <a:rPr/>
              <a:t>After that, we enabled version control for our project by adding Git to the local repository, allowing us to track changes.</a:t>
            </a:r>
          </a:p>
          <a:p>
            <a:pPr lvl="0" indent="0" marL="0">
              <a:buNone/>
            </a:pPr>
          </a:p>
          <a:p>
            <a:pPr lvl="0"/>
            <a:r>
              <a:rPr/>
              <a:t>We made some changes to our files and committed those changes locally, saving snapshots of our progress.</a:t>
            </a:r>
          </a:p>
          <a:p>
            <a:pPr lvl="0" indent="0" marL="0">
              <a:buNone/>
            </a:pPr>
          </a:p>
          <a:p>
            <a:pPr lvl="0"/>
            <a:r>
              <a:rPr/>
              <a:t>Next, we connected our local repository to a remote GitHub repository, making it possible to store and share the project online.</a:t>
            </a:r>
          </a:p>
          <a:p>
            <a:pPr lvl="0" indent="0" marL="0">
              <a:buNone/>
            </a:pPr>
          </a:p>
          <a:p>
            <a:pPr lvl="0"/>
            <a:r>
              <a:rPr/>
              <a:t>Finally, we synchronized our local changes with the remote repository by pushing them to GitHub, ensuring our work is safely stored and accessible.</a:t>
            </a:r>
          </a:p>
          <a:p>
            <a:pPr lvl="0" indent="0" marL="0">
              <a:buNone/>
            </a:pPr>
          </a:p>
          <a:p>
            <a:pPr lvl="0" indent="0" marL="0">
              <a:buNone/>
            </a:pPr>
            <a:r>
              <a:rPr b="1"/>
              <a:t>With these steps, we have set up a complete version control workflow for our project, both locally and on GitHub.</a:t>
            </a:r>
          </a:p>
          <a:p>
            <a:pPr lvl="0" indent="0" marL="0">
              <a:buNone/>
            </a:pPr>
          </a:p>
          <a:p>
            <a:pPr lvl="0" indent="0" marL="0">
              <a:buNone/>
            </a:pPr>
            <a:r>
              <a:rPr b="1"/>
              <a:t>Instructor Notes</a:t>
            </a:r>
            <a:r>
              <a:rPr/>
              <a:t>: Check in with your learners about questions.</a:t>
            </a:r>
          </a:p>
        </p:txBody>
      </p:sp>
      <p:sp>
        <p:nvSpPr>
          <p:cNvPr id="4" name="Slide Number Placeholder 3"/>
          <p:cNvSpPr>
            <a:spLocks noGrp="1"/>
          </p:cNvSpPr>
          <p:nvPr>
            <p:ph type="sldNum" sz="quarter" idx="10"/>
          </p:nvPr>
        </p:nvSpPr>
        <p:spPr/>
        <p:txBody>
          <a:bodyPr/>
          <a:lstStyle/>
          <a:p>
            <a:fld id="{18BDFEC3-8487-43E8-A154-7C12CBC1FFF2}" type="slidenum">
              <a:rPr lang="en-US"/>
              <a:t>100</a:t>
            </a:fld>
            <a:endParaRPr lang="en-US"/>
          </a:p>
        </p:txBody>
      </p:sp>
    </p:spTree>
  </p:cSld>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Once your local repository is under version control and connected to a remote repository on GitHub, you will follow a repeated workflow to keep everything updated. By following this workflow, you ensure that your project remains organized, and all changes are properly tracked both locally and on GitHub. Here is the process:</a:t>
            </a:r>
          </a:p>
          <a:p>
            <a:pPr lvl="0" indent="0" marL="0">
              <a:buNone/>
            </a:pPr>
          </a:p>
          <a:p>
            <a:pPr lvl="0"/>
            <a:r>
              <a:rPr b="1"/>
              <a:t>Make changes locally</a:t>
            </a:r>
            <a:r>
              <a:rPr/>
              <a:t>: Start by editing your files, whether it is updating code, adding new content, or modifying existing data.</a:t>
            </a:r>
          </a:p>
          <a:p>
            <a:pPr lvl="0" indent="0" marL="0">
              <a:buNone/>
            </a:pPr>
          </a:p>
          <a:p>
            <a:pPr lvl="0"/>
            <a:r>
              <a:rPr b="1"/>
              <a:t>Stage changes locally</a:t>
            </a:r>
            <a:r>
              <a:rPr/>
              <a:t>: After making changes, you’ll select which changes you want to keep by staging them. This prepares them for committing.</a:t>
            </a:r>
          </a:p>
          <a:p>
            <a:pPr lvl="0" indent="0" marL="0">
              <a:buNone/>
            </a:pPr>
          </a:p>
          <a:p>
            <a:pPr lvl="0"/>
            <a:r>
              <a:rPr b="1"/>
              <a:t>Commit changes locally</a:t>
            </a:r>
            <a:r>
              <a:rPr/>
              <a:t> with a commit message: Once your changes are staged, you commit them with a message that explains what was changed. This helps keep track of your project’s history.</a:t>
            </a:r>
          </a:p>
          <a:p>
            <a:pPr lvl="0" indent="0" marL="0">
              <a:buNone/>
            </a:pPr>
          </a:p>
          <a:p>
            <a:pPr lvl="0"/>
            <a:r>
              <a:rPr b="1"/>
              <a:t>Push local changes to the remote repository</a:t>
            </a:r>
            <a:r>
              <a:rPr/>
              <a:t> on GitHub: Finally, after committing, you push your changes to GitHub, syncing your local work with the remote repository and making it available online.</a:t>
            </a:r>
          </a:p>
        </p:txBody>
      </p:sp>
      <p:sp>
        <p:nvSpPr>
          <p:cNvPr id="4" name="Slide Number Placeholder 3"/>
          <p:cNvSpPr>
            <a:spLocks noGrp="1"/>
          </p:cNvSpPr>
          <p:nvPr>
            <p:ph type="sldNum" sz="quarter" idx="10"/>
          </p:nvPr>
        </p:nvSpPr>
        <p:spPr/>
        <p:txBody>
          <a:bodyPr/>
          <a:lstStyle/>
          <a:p>
            <a:fld id="{18BDFEC3-8487-43E8-A154-7C12CBC1FFF2}" type="slidenum">
              <a:rPr lang="en-US"/>
              <a:t>101</a:t>
            </a:fld>
            <a:endParaRPr lang="en-US"/>
          </a:p>
        </p:txBody>
      </p:sp>
    </p:spTree>
  </p:cSld>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To conclude this class, a question for you: Why is version control important and useful? Think for yourselves for a few moments, then write down your thoughts. You have one minute for this.</a:t>
            </a:r>
          </a:p>
          <a:p>
            <a:pPr lvl="0" indent="0" marL="0">
              <a:buNone/>
            </a:pPr>
          </a:p>
          <a:p>
            <a:pPr lvl="0" indent="0" marL="0">
              <a:buNone/>
            </a:pPr>
            <a:r>
              <a:rPr b="1"/>
              <a:t>Instructor Notes</a:t>
            </a:r>
            <a:r>
              <a:rPr/>
              <a:t>: Use the one-minute paper activity for this task. You will get immediate insight into whether learners understood the broad lines of the usefulness of Git and GitHub.</a:t>
            </a:r>
          </a:p>
        </p:txBody>
      </p:sp>
      <p:sp>
        <p:nvSpPr>
          <p:cNvPr id="4" name="Slide Number Placeholder 3"/>
          <p:cNvSpPr>
            <a:spLocks noGrp="1"/>
          </p:cNvSpPr>
          <p:nvPr>
            <p:ph type="sldNum" sz="quarter" idx="10"/>
          </p:nvPr>
        </p:nvSpPr>
        <p:spPr/>
        <p:txBody>
          <a:bodyPr/>
          <a:lstStyle/>
          <a:p>
            <a:fld id="{18BDFEC3-8487-43E8-A154-7C12CBC1FFF2}" type="slidenum">
              <a:rPr lang="en-US"/>
              <a:t>102</a:t>
            </a:fld>
            <a:endParaRPr lang="en-US"/>
          </a:p>
        </p:txBody>
      </p:sp>
    </p:spTree>
  </p:cSld>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Using Git with your R project offers several key benefits:</a:t>
            </a:r>
          </a:p>
          <a:p>
            <a:pPr lvl="0" indent="0" marL="0">
              <a:buNone/>
            </a:pPr>
          </a:p>
          <a:p>
            <a:pPr lvl="0"/>
            <a:r>
              <a:rPr/>
              <a:t>Tracks every change: Git keeps a record of every modification you make to your project, acting like a “time machine” for your code and files. This allows you to see how your project evolves over time.</a:t>
            </a:r>
          </a:p>
          <a:p>
            <a:pPr lvl="0" indent="0" marL="0">
              <a:buNone/>
            </a:pPr>
          </a:p>
          <a:p>
            <a:pPr lvl="0"/>
            <a:r>
              <a:rPr/>
              <a:t>Makes mistakes easy to fix: If something goes wrong, you can easily revert to an earlier version of your project, making mistakes much easier to fix without losing progress.</a:t>
            </a:r>
          </a:p>
          <a:p>
            <a:pPr lvl="0" indent="0" marL="0">
              <a:buNone/>
            </a:pPr>
          </a:p>
          <a:p>
            <a:pPr lvl="0"/>
            <a:r>
              <a:rPr/>
              <a:t>Improves reproducibility: With Git, you can track what changes were made, when they were made, and why. This helps you maintain a clear record of your work, which is especially useful for reproducing results or sharing your process with others.</a:t>
            </a:r>
          </a:p>
          <a:p>
            <a:pPr lvl="0" indent="0" marL="0">
              <a:buNone/>
            </a:pPr>
          </a:p>
          <a:p>
            <a:pPr lvl="0"/>
            <a:r>
              <a:rPr/>
              <a:t>Provides a backup via GitHub: By pushing your project to GitHub, you create a secure backup of your work. Plus, you can easily share your project and access it from anywhere.</a:t>
            </a:r>
          </a:p>
          <a:p>
            <a:pPr lvl="0" indent="0" marL="0">
              <a:buNone/>
            </a:pPr>
          </a:p>
          <a:p>
            <a:pPr lvl="0"/>
            <a:r>
              <a:rPr b="1"/>
              <a:t>In short, Git not only helps manage changes and mistakes but also enhances the reproducibility and accessibility of your work.</a:t>
            </a:r>
          </a:p>
          <a:p>
            <a:pPr lvl="0" indent="0" marL="0">
              <a:buNone/>
            </a:pPr>
          </a:p>
          <a:p>
            <a:pPr lvl="0" indent="0" marL="0">
              <a:buNone/>
            </a:pPr>
            <a:r>
              <a:rPr b="1"/>
              <a:t>Instructor Notes</a:t>
            </a:r>
            <a:r>
              <a:rPr/>
              <a:t>:  - </a:t>
            </a:r>
            <a:r>
              <a:rPr b="1"/>
              <a:t>Aim</a:t>
            </a:r>
            <a:r>
              <a:rPr/>
              <a:t>: To work out the relevance of the topic to your learners. - In an interactive setting, discuss how the new skills could be applied in practice with specific examples. - Examine downfalls and practical obstacles.</a:t>
            </a:r>
          </a:p>
        </p:txBody>
      </p:sp>
      <p:sp>
        <p:nvSpPr>
          <p:cNvPr id="4" name="Slide Number Placeholder 3"/>
          <p:cNvSpPr>
            <a:spLocks noGrp="1"/>
          </p:cNvSpPr>
          <p:nvPr>
            <p:ph type="sldNum" sz="quarter" idx="10"/>
          </p:nvPr>
        </p:nvSpPr>
        <p:spPr/>
        <p:txBody>
          <a:bodyPr/>
          <a:lstStyle/>
          <a:p>
            <a:fld id="{18BDFEC3-8487-43E8-A154-7C12CBC1FFF2}" type="slidenum">
              <a:rPr lang="en-US"/>
              <a:t>103</a:t>
            </a:fld>
            <a:endParaRPr lang="en-US"/>
          </a:p>
        </p:txBody>
      </p:sp>
    </p:spTree>
  </p:cSld>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Let’s do a brief reflection question to conclude this session. Take 10 minutes now to reflect upon where in your </a:t>
            </a:r>
            <a:r>
              <a:rPr b="1"/>
              <a:t>own current or future research</a:t>
            </a:r>
            <a:r>
              <a:rPr/>
              <a:t> you could use Git. Write then the steps you will need to implement what you have learned here in that project and which barriers you may face” (e.g., technical, project partners/supervisors, etc.).</a:t>
            </a:r>
          </a:p>
          <a:p>
            <a:pPr lvl="0" indent="0" marL="0">
              <a:buNone/>
            </a:pPr>
          </a:p>
          <a:p>
            <a:pPr lvl="0" indent="0" marL="0">
              <a:buNone/>
            </a:pPr>
            <a:r>
              <a:rPr b="1"/>
              <a:t>Instructor Notes</a:t>
            </a:r>
            <a:r>
              <a:rPr/>
              <a:t>: By this point, we touched upon long term sustainability, and this reflection task may help a bit preparing for that. This task gets learners thinking about applying it to their own research projects, even if they are only hypothetical at this point.</a:t>
            </a:r>
          </a:p>
        </p:txBody>
      </p:sp>
      <p:sp>
        <p:nvSpPr>
          <p:cNvPr id="4" name="Slide Number Placeholder 3"/>
          <p:cNvSpPr>
            <a:spLocks noGrp="1"/>
          </p:cNvSpPr>
          <p:nvPr>
            <p:ph type="sldNum" sz="quarter" idx="10"/>
          </p:nvPr>
        </p:nvSpPr>
        <p:spPr/>
        <p:txBody>
          <a:bodyPr/>
          <a:lstStyle/>
          <a:p>
            <a:fld id="{18BDFEC3-8487-43E8-A154-7C12CBC1FFF2}" type="slidenum">
              <a:rPr lang="en-US"/>
              <a:t>104</a:t>
            </a:fld>
            <a:endParaRPr lang="en-US"/>
          </a:p>
        </p:txBody>
      </p:sp>
    </p:spTree>
  </p:cSld>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To consolidate what we have discussed and explored today, here is the homework assignment. In a new local folder, create a new RStudio Project named </a:t>
            </a:r>
            <a:r>
              <a:rPr b="1"/>
              <a:t>git_practice</a:t>
            </a:r>
            <a:r>
              <a:rPr/>
              <a:t>. Download the practise_data.csv file and save it in your project folder. This is a dataset containing the number of athletes that participated in the Summer Olympics over the years. Next, create a new R script and write code to read in data, inspect the data and plot the number of athletes over time. Stage and commit changes. Create a new repository on GitHub and connect it with your new local repository. Push your changes to GitHub and check your work.</a:t>
            </a:r>
          </a:p>
          <a:p>
            <a:pPr lvl="0" indent="0" marL="0">
              <a:buNone/>
            </a:pPr>
          </a:p>
          <a:p>
            <a:pPr lvl="0" indent="0" marL="0">
              <a:buNone/>
            </a:pPr>
            <a:r>
              <a:rPr b="1"/>
              <a:t>Instructor Notes</a:t>
            </a:r>
            <a:r>
              <a:rPr/>
              <a:t>:</a:t>
            </a:r>
          </a:p>
          <a:p>
            <a:pPr lvl="0" indent="0" marL="0">
              <a:buNone/>
            </a:pPr>
          </a:p>
          <a:p>
            <a:pPr lvl="0"/>
            <a:r>
              <a:rPr b="1"/>
              <a:t>Aim</a:t>
            </a:r>
            <a:r>
              <a:rPr/>
              <a:t>: Explain the homework assignment and the rationale behind the homework. Provide the dataset as separate file or via slides.</a:t>
            </a:r>
          </a:p>
          <a:p>
            <a:pPr lvl="0" indent="0" marL="0">
              <a:buNone/>
            </a:pPr>
          </a:p>
          <a:p>
            <a:pPr lvl="0"/>
            <a:r>
              <a:rPr/>
              <a:t>Examine whether/how it will be assessed</a:t>
            </a:r>
          </a:p>
          <a:p>
            <a:pPr lvl="0" indent="0" marL="0">
              <a:buNone/>
            </a:pPr>
          </a:p>
          <a:p>
            <a:pPr lvl="0"/>
            <a:r>
              <a:rPr/>
              <a:t>Mention scoring rubrics, if applicable</a:t>
            </a:r>
          </a:p>
          <a:p>
            <a:pPr lvl="0" indent="0" marL="0">
              <a:buNone/>
            </a:pPr>
          </a:p>
          <a:p>
            <a:pPr lvl="0"/>
            <a:r>
              <a:rPr/>
              <a:t>Design a peer-review system for assignments to place learners in the role of reviewer and author</a:t>
            </a:r>
          </a:p>
        </p:txBody>
      </p:sp>
      <p:sp>
        <p:nvSpPr>
          <p:cNvPr id="4" name="Slide Number Placeholder 3"/>
          <p:cNvSpPr>
            <a:spLocks noGrp="1"/>
          </p:cNvSpPr>
          <p:nvPr>
            <p:ph type="sldNum" sz="quarter" idx="10"/>
          </p:nvPr>
        </p:nvSpPr>
        <p:spPr/>
        <p:txBody>
          <a:bodyPr/>
          <a:lstStyle/>
          <a:p>
            <a:fld id="{18BDFEC3-8487-43E8-A154-7C12CBC1FFF2}" type="slidenum">
              <a:rPr lang="en-US"/>
              <a:t>105</a:t>
            </a:fld>
            <a:endParaRPr lang="en-US"/>
          </a:p>
        </p:txBody>
      </p:sp>
    </p:spTree>
  </p:cSld>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Instructor Notes</a:t>
            </a:r>
            <a:r>
              <a:rPr/>
              <a:t>: Learners should demonstrate: - A working Git-enabled RStudio project</a:t>
            </a:r>
          </a:p>
          <a:p>
            <a:pPr lvl="0" indent="0" marL="0">
              <a:buNone/>
            </a:pPr>
          </a:p>
          <a:p>
            <a:pPr lvl="0"/>
            <a:r>
              <a:rPr/>
              <a:t>A clear commit history showing each logical step</a:t>
            </a:r>
          </a:p>
          <a:p>
            <a:pPr lvl="0" indent="0" marL="0">
              <a:buNone/>
            </a:pPr>
          </a:p>
          <a:p>
            <a:pPr lvl="0"/>
            <a:r>
              <a:rPr/>
              <a:t>The final project pushed to GitHub (if possible)</a:t>
            </a:r>
          </a:p>
          <a:p>
            <a:pPr lvl="0" indent="0" marL="0">
              <a:buNone/>
            </a:pPr>
          </a:p>
          <a:p>
            <a:pPr lvl="0"/>
            <a:r>
              <a:rPr/>
              <a:t>Example code: ggplot(athletes, aes(x = Year, y = Athletes)) + geom_line(color = “blue”, size = 1) + geom_point(color = “red”, size = 2) + labs( title = “Number of Athletes in the Summer Olympics”, x = “Year”, y = “Athletes” ) + theme_minimal()</a:t>
            </a:r>
          </a:p>
          <a:p>
            <a:pPr lvl="0" indent="0" marL="0">
              <a:buNone/>
            </a:pPr>
          </a:p>
          <a:p>
            <a:pPr lvl="0" indent="0" marL="0">
              <a:buNone/>
            </a:pPr>
            <a:r>
              <a:rPr/>
              <a:t>Example code:</a:t>
            </a:r>
          </a:p>
          <a:p>
            <a:pPr lvl="0" indent="0" marL="0">
              <a:buNone/>
            </a:pPr>
          </a:p>
          <a:p>
            <a:pPr lvl="0" indent="0">
              <a:buNone/>
            </a:pPr>
            <a:r>
              <a:rPr>
                <a:solidFill>
                  <a:srgbClr val="003B4F"/>
                </a:solidFill>
                <a:latin typeface="Courier"/>
              </a:rPr>
              <a:t>data &lt;- </a:t>
            </a:r>
            <a:r>
              <a:rPr>
                <a:solidFill>
                  <a:srgbClr val="4758AB"/>
                </a:solidFill>
                <a:latin typeface="Courier"/>
              </a:rPr>
              <a:t>read.csv</a:t>
            </a:r>
            <a:r>
              <a:rPr>
                <a:solidFill>
                  <a:srgbClr val="003B4F"/>
                </a:solidFill>
                <a:latin typeface="Courier"/>
              </a:rPr>
              <a:t>(</a:t>
            </a:r>
            <a:r>
              <a:rPr>
                <a:solidFill>
                  <a:srgbClr val="20794D"/>
                </a:solidFill>
                <a:latin typeface="Courier"/>
              </a:rPr>
              <a:t>"data.csv"</a:t>
            </a:r>
            <a:r>
              <a:rPr>
                <a:solidFill>
                  <a:srgbClr val="003B4F"/>
                </a:solidFill>
                <a:latin typeface="Courier"/>
              </a:rPr>
              <a:t>)</a:t>
            </a:r>
            <a:br/>
            <a:r>
              <a:rPr>
                <a:solidFill>
                  <a:srgbClr val="4758AB"/>
                </a:solidFill>
                <a:latin typeface="Courier"/>
              </a:rPr>
              <a:t>head</a:t>
            </a:r>
            <a:r>
              <a:rPr>
                <a:solidFill>
                  <a:srgbClr val="003B4F"/>
                </a:solidFill>
                <a:latin typeface="Courier"/>
              </a:rPr>
              <a:t>(data)</a:t>
            </a:r>
            <a:br/>
            <a:r>
              <a:rPr>
                <a:solidFill>
                  <a:srgbClr val="4758AB"/>
                </a:solidFill>
                <a:latin typeface="Courier"/>
              </a:rPr>
              <a:t>summary</a:t>
            </a:r>
            <a:r>
              <a:rPr>
                <a:solidFill>
                  <a:srgbClr val="003B4F"/>
                </a:solidFill>
                <a:latin typeface="Courier"/>
              </a:rPr>
              <a:t>(data)</a:t>
            </a:r>
            <a:br/>
            <a:r>
              <a:rPr>
                <a:solidFill>
                  <a:srgbClr val="4758AB"/>
                </a:solidFill>
                <a:latin typeface="Courier"/>
              </a:rPr>
              <a:t>plot</a:t>
            </a:r>
            <a:r>
              <a:rPr>
                <a:solidFill>
                  <a:srgbClr val="003B4F"/>
                </a:solidFill>
                <a:latin typeface="Courier"/>
              </a:rPr>
              <a:t>(data</a:t>
            </a:r>
            <a:r>
              <a:rPr>
                <a:solidFill>
                  <a:srgbClr val="5E5E5E"/>
                </a:solidFill>
                <a:latin typeface="Courier"/>
              </a:rPr>
              <a:t>$</a:t>
            </a:r>
            <a:r>
              <a:rPr>
                <a:solidFill>
                  <a:srgbClr val="003B4F"/>
                </a:solidFill>
                <a:latin typeface="Courier"/>
              </a:rPr>
              <a:t>xdata, data</a:t>
            </a:r>
            <a:r>
              <a:rPr>
                <a:solidFill>
                  <a:srgbClr val="5E5E5E"/>
                </a:solidFill>
                <a:latin typeface="Courier"/>
              </a:rPr>
              <a:t>$</a:t>
            </a:r>
            <a:r>
              <a:rPr>
                <a:solidFill>
                  <a:srgbClr val="003B4F"/>
                </a:solidFill>
                <a:latin typeface="Courier"/>
              </a:rPr>
              <a:t>ydata, </a:t>
            </a:r>
            <a:br/>
            <a:r>
              <a:rPr>
                <a:solidFill>
                  <a:srgbClr val="003B4F"/>
                </a:solidFill>
                <a:latin typeface="Courier"/>
              </a:rPr>
              <a:t>     </a:t>
            </a:r>
            <a:r>
              <a:rPr>
                <a:solidFill>
                  <a:srgbClr val="657422"/>
                </a:solidFill>
                <a:latin typeface="Courier"/>
              </a:rPr>
              <a:t>main =</a:t>
            </a:r>
            <a:r>
              <a:rPr>
                <a:solidFill>
                  <a:srgbClr val="003B4F"/>
                </a:solidFill>
                <a:latin typeface="Courier"/>
              </a:rPr>
              <a:t> </a:t>
            </a:r>
            <a:r>
              <a:rPr>
                <a:solidFill>
                  <a:srgbClr val="20794D"/>
                </a:solidFill>
                <a:latin typeface="Courier"/>
              </a:rPr>
              <a:t>"Simple Scatterplot"</a:t>
            </a:r>
            <a:r>
              <a:rPr>
                <a:solidFill>
                  <a:srgbClr val="003B4F"/>
                </a:solidFill>
                <a:latin typeface="Courier"/>
              </a:rPr>
              <a:t>, </a:t>
            </a:r>
            <a:br/>
            <a:r>
              <a:rPr>
                <a:solidFill>
                  <a:srgbClr val="003B4F"/>
                </a:solidFill>
                <a:latin typeface="Courier"/>
              </a:rPr>
              <a:t>     </a:t>
            </a:r>
            <a:r>
              <a:rPr>
                <a:solidFill>
                  <a:srgbClr val="657422"/>
                </a:solidFill>
                <a:latin typeface="Courier"/>
              </a:rPr>
              <a:t>xlab =</a:t>
            </a:r>
            <a:r>
              <a:rPr>
                <a:solidFill>
                  <a:srgbClr val="003B4F"/>
                </a:solidFill>
                <a:latin typeface="Courier"/>
              </a:rPr>
              <a:t> </a:t>
            </a:r>
            <a:r>
              <a:rPr>
                <a:solidFill>
                  <a:srgbClr val="20794D"/>
                </a:solidFill>
                <a:latin typeface="Courier"/>
              </a:rPr>
              <a:t>"xdata"</a:t>
            </a:r>
            <a:r>
              <a:rPr>
                <a:solidFill>
                  <a:srgbClr val="003B4F"/>
                </a:solidFill>
                <a:latin typeface="Courier"/>
              </a:rPr>
              <a:t>, </a:t>
            </a:r>
            <a:br/>
            <a:r>
              <a:rPr>
                <a:solidFill>
                  <a:srgbClr val="003B4F"/>
                </a:solidFill>
                <a:latin typeface="Courier"/>
              </a:rPr>
              <a:t>     </a:t>
            </a:r>
            <a:r>
              <a:rPr>
                <a:solidFill>
                  <a:srgbClr val="657422"/>
                </a:solidFill>
                <a:latin typeface="Courier"/>
              </a:rPr>
              <a:t>ylab =</a:t>
            </a:r>
            <a:r>
              <a:rPr>
                <a:solidFill>
                  <a:srgbClr val="003B4F"/>
                </a:solidFill>
                <a:latin typeface="Courier"/>
              </a:rPr>
              <a:t> </a:t>
            </a:r>
            <a:r>
              <a:rPr>
                <a:solidFill>
                  <a:srgbClr val="20794D"/>
                </a:solidFill>
                <a:latin typeface="Courier"/>
              </a:rPr>
              <a:t>"ydata"</a:t>
            </a:r>
            <a:r>
              <a:rPr>
                <a:solidFill>
                  <a:srgbClr val="003B4F"/>
                </a:solidFill>
                <a:latin typeface="Courier"/>
              </a:rPr>
              <a:t>)</a:t>
            </a:r>
          </a:p>
        </p:txBody>
      </p:sp>
      <p:sp>
        <p:nvSpPr>
          <p:cNvPr id="4" name="Slide Number Placeholder 3"/>
          <p:cNvSpPr>
            <a:spLocks noGrp="1"/>
          </p:cNvSpPr>
          <p:nvPr>
            <p:ph type="sldNum" sz="quarter" idx="10"/>
          </p:nvPr>
        </p:nvSpPr>
        <p:spPr/>
        <p:txBody>
          <a:bodyPr/>
          <a:lstStyle/>
          <a:p>
            <a:fld id="{18BDFEC3-8487-43E8-A154-7C12CBC1FFF2}" type="slidenum">
              <a:rPr lang="en-US"/>
              <a:t>106</a:t>
            </a:fld>
            <a:endParaRPr lang="en-US"/>
          </a:p>
        </p:txBody>
      </p:sp>
    </p:spTree>
  </p:cSld>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Let’s collect as a group. What are you taking away from today?</a:t>
            </a:r>
          </a:p>
          <a:p>
            <a:pPr lvl="0" indent="0" marL="0">
              <a:buNone/>
            </a:pPr>
          </a:p>
          <a:p>
            <a:pPr lvl="0" indent="0" marL="0">
              <a:buNone/>
            </a:pPr>
            <a:r>
              <a:rPr b="1"/>
              <a:t>Instructor Notes</a:t>
            </a:r>
            <a:r>
              <a:rPr/>
              <a:t>:</a:t>
            </a:r>
          </a:p>
          <a:p>
            <a:pPr lvl="0" indent="0" marL="0">
              <a:buNone/>
            </a:pPr>
          </a:p>
          <a:p>
            <a:pPr lvl="0"/>
            <a:r>
              <a:rPr b="1"/>
              <a:t>Aim</a:t>
            </a:r>
            <a:r>
              <a:rPr/>
              <a:t>: End lesson on clear take-home message that are interactively compiled by learners.</a:t>
            </a:r>
          </a:p>
        </p:txBody>
      </p:sp>
      <p:sp>
        <p:nvSpPr>
          <p:cNvPr id="4" name="Slide Number Placeholder 3"/>
          <p:cNvSpPr>
            <a:spLocks noGrp="1"/>
          </p:cNvSpPr>
          <p:nvPr>
            <p:ph type="sldNum" sz="quarter" idx="10"/>
          </p:nvPr>
        </p:nvSpPr>
        <p:spPr/>
        <p:txBody>
          <a:bodyPr/>
          <a:lstStyle/>
          <a:p>
            <a:fld id="{18BDFEC3-8487-43E8-A154-7C12CBC1FFF2}" type="slidenum">
              <a:rPr lang="en-US"/>
              <a:t>107</a:t>
            </a:fld>
            <a:endParaRPr lang="en-US"/>
          </a:p>
        </p:txBody>
      </p:sp>
    </p:spTree>
  </p:cSld>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Before we end for today, let us do a quick check-in to see where we are at now at the end of class. Scan this QR code and select the finishing survey option. Answer a few questions to check your current understanding of version control and the topics we discussed today.</a:t>
            </a:r>
          </a:p>
          <a:p>
            <a:pPr lvl="0" indent="0" marL="0">
              <a:buNone/>
            </a:pPr>
          </a:p>
          <a:p>
            <a:pPr lvl="0" indent="0" marL="0">
              <a:buNone/>
            </a:pPr>
            <a:r>
              <a:rPr b="1"/>
              <a:t>Instructor Notes</a:t>
            </a:r>
            <a:r>
              <a:rPr/>
              <a:t>: Prepare this survey in advance in Particify or the software of your choice.</a:t>
            </a:r>
          </a:p>
          <a:p>
            <a:pPr lvl="0" indent="0" marL="0">
              <a:buNone/>
            </a:pPr>
          </a:p>
          <a:p>
            <a:pPr lvl="0"/>
            <a:r>
              <a:rPr b="1"/>
              <a:t>Aim</a:t>
            </a:r>
            <a:r>
              <a:rPr/>
              <a:t>: This post-submodule survey serves to examine learners’ current knowledge about the sumodule’s topic.</a:t>
            </a:r>
          </a:p>
          <a:p>
            <a:pPr lvl="0" indent="0" marL="0">
              <a:buNone/>
            </a:pPr>
          </a:p>
          <a:p>
            <a:pPr lvl="0"/>
            <a:r>
              <a:rPr/>
              <a:t>Use identical questions as in the pre-submodule survey to be able to directly compare</a:t>
            </a:r>
          </a:p>
          <a:p>
            <a:pPr lvl="0" indent="0" marL="0">
              <a:buNone/>
            </a:pPr>
          </a:p>
          <a:p>
            <a:pPr lvl="0"/>
            <a:r>
              <a:rPr/>
              <a:t>Exchange the QR-code to match your own survey and test beforehand.</a:t>
            </a:r>
          </a:p>
          <a:p>
            <a:pPr lvl="0" indent="0" marL="0">
              <a:buNone/>
            </a:pPr>
          </a:p>
          <a:p>
            <a:pPr lvl="0" indent="0" marL="0">
              <a:buNone/>
            </a:pPr>
            <a:r>
              <a:rPr b="1"/>
              <a:t>Accessibility Tip</a:t>
            </a:r>
            <a:r>
              <a:rPr/>
              <a:t>: This slide is only applicable to a synchronous classroom setting. Skip if not applicable.</a:t>
            </a:r>
          </a:p>
        </p:txBody>
      </p:sp>
      <p:sp>
        <p:nvSpPr>
          <p:cNvPr id="4" name="Slide Number Placeholder 3"/>
          <p:cNvSpPr>
            <a:spLocks noGrp="1"/>
          </p:cNvSpPr>
          <p:nvPr>
            <p:ph type="sldNum" sz="quarter" idx="10"/>
          </p:nvPr>
        </p:nvSpPr>
        <p:spPr/>
        <p:txBody>
          <a:bodyPr/>
          <a:lstStyle/>
          <a:p>
            <a:fld id="{18BDFEC3-8487-43E8-A154-7C12CBC1FFF2}" type="slidenum">
              <a:rPr lang="en-US"/>
              <a:t>108</a:t>
            </a:fld>
            <a:endParaRPr lang="en-US"/>
          </a:p>
        </p:txBody>
      </p:sp>
    </p:spTree>
  </p:cSld>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Discussion of the survey results, particularly the second question for comparison.</a:t>
            </a:r>
          </a:p>
          <a:p>
            <a:pPr lvl="0" indent="0" marL="0">
              <a:buNone/>
            </a:pPr>
          </a:p>
          <a:p>
            <a:pPr lvl="0" indent="0" marL="0">
              <a:buNone/>
            </a:pPr>
            <a:r>
              <a:rPr b="1"/>
              <a:t>Instructor Notes</a:t>
            </a:r>
            <a:r>
              <a:rPr/>
              <a:t>:</a:t>
            </a:r>
          </a:p>
          <a:p>
            <a:pPr lvl="0" indent="0" marL="0">
              <a:buNone/>
            </a:pPr>
          </a:p>
          <a:p>
            <a:pPr lvl="0"/>
            <a:r>
              <a:rPr b="1"/>
              <a:t>Aim”</a:t>
            </a:r>
            <a:r>
              <a:rPr/>
              <a:t>: Briefly examine the answers given to each question interactively with the group.</a:t>
            </a:r>
          </a:p>
          <a:p>
            <a:pPr lvl="0" indent="0" marL="0">
              <a:buNone/>
            </a:pPr>
          </a:p>
          <a:p>
            <a:pPr lvl="0"/>
            <a:r>
              <a:rPr/>
              <a:t>Use visuals from the survey to highlight specific answers.</a:t>
            </a:r>
          </a:p>
        </p:txBody>
      </p:sp>
      <p:sp>
        <p:nvSpPr>
          <p:cNvPr id="4" name="Slide Number Placeholder 3"/>
          <p:cNvSpPr>
            <a:spLocks noGrp="1"/>
          </p:cNvSpPr>
          <p:nvPr>
            <p:ph type="sldNum" sz="quarter" idx="10"/>
          </p:nvPr>
        </p:nvSpPr>
        <p:spPr/>
        <p:txBody>
          <a:bodyPr/>
          <a:lstStyle/>
          <a:p>
            <a:fld id="{18BDFEC3-8487-43E8-A154-7C12CBC1FFF2}" type="slidenum">
              <a:rPr lang="en-US"/>
              <a:t>111</a:t>
            </a:fld>
            <a:endParaRPr lang="en-US"/>
          </a:p>
        </p:txBody>
      </p:sp>
    </p:spTree>
  </p:cSld>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There is always help out there! Here are some resources where you can get and find help.</a:t>
            </a:r>
          </a:p>
          <a:p>
            <a:pPr lvl="0" indent="0" marL="0">
              <a:buNone/>
            </a:pPr>
          </a:p>
          <a:p>
            <a:pPr lvl="0" indent="0" marL="0">
              <a:buNone/>
            </a:pPr>
            <a:r>
              <a:rPr b="1"/>
              <a:t>Instructor Notes</a:t>
            </a:r>
            <a:r>
              <a:rPr/>
              <a:t>: Highlight particularly relevant resources for your learners.</a:t>
            </a:r>
          </a:p>
        </p:txBody>
      </p:sp>
      <p:sp>
        <p:nvSpPr>
          <p:cNvPr id="4" name="Slide Number Placeholder 3"/>
          <p:cNvSpPr>
            <a:spLocks noGrp="1"/>
          </p:cNvSpPr>
          <p:nvPr>
            <p:ph type="sldNum" sz="quarter" idx="10"/>
          </p:nvPr>
        </p:nvSpPr>
        <p:spPr/>
        <p:txBody>
          <a:bodyPr/>
          <a:lstStyle/>
          <a:p>
            <a:fld id="{18BDFEC3-8487-43E8-A154-7C12CBC1FFF2}" type="slidenum">
              <a:rPr lang="en-US"/>
              <a:t>114</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 Id="rId3" Type="http://schemas.openxmlformats.org/officeDocument/2006/relationships/hyperlink" Target="https://github.com/mikecroucher" TargetMode="External" /><Relationship Id="rId4" Type="http://schemas.openxmlformats.org/officeDocument/2006/relationships/hyperlink" Target="https://creativecommons.org/licenses/by-sa/4.0/deed.en" TargetMode="External" /><Relationship Id="rId5" Type="http://schemas.openxmlformats.org/officeDocument/2006/relationships/hyperlink" Target="https://www.osc.uni-muenchen.de/about_us/coordinator/index.html" TargetMode="External" /><Relationship Id="rId6" Type="http://schemas.openxmlformats.org/officeDocument/2006/relationships/hyperlink" Target="https://creativecommons.org/licenses/by-sa/4.0/deed.en" TargetMode="External" /><Relationship Id="rId7" Type="http://schemas.openxmlformats.org/officeDocument/2006/relationships/hyperlink" Target="https://creativecommons.org/publicdomain/zero/1.0/" TargetMode="Externa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 Id="rId3" Type="http://schemas.openxmlformats.org/officeDocument/2006/relationships/hyperlink" Target="https://orcid.org/0000-0002-6413-3895" TargetMode="External" /><Relationship Id="rId4" Type="http://schemas.openxmlformats.org/officeDocument/2006/relationships/hyperlink" Target="https://orcid.org/0000-0002-8282-3910" TargetMode="External" /><Relationship Id="rId5" Type="http://schemas.openxmlformats.org/officeDocument/2006/relationships/hyperlink" Target="https://orcid.org/0000-0001-9102-1090" TargetMode="External" /><Relationship Id="rId6" Type="http://schemas.openxmlformats.org/officeDocument/2006/relationships/hyperlink" Target="https://orcid.org/0000-0002-3242-5981" TargetMode="Externa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png"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png"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png"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7.xml" /><Relationship Id="rId3" Type="http://schemas.openxmlformats.org/officeDocument/2006/relationships/image" Target="../media/image4.png"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8.xml" /><Relationship Id="rId3" Type="http://schemas.openxmlformats.org/officeDocument/2006/relationships/image" Target="../media/image5.png" /></Relationships>
</file>

<file path=ppt/slides/_rels/slide2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9.xml" /><Relationship Id="rId3" Type="http://schemas.openxmlformats.org/officeDocument/2006/relationships/image" Target="../media/image6.jpg"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 Id="rId3" Type="http://schemas.openxmlformats.org/officeDocument/2006/relationships/hyperlink" Target="http://git-scm.com/downloads" TargetMode="Externa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 Id="rId3" Type="http://schemas.openxmlformats.org/officeDocument/2006/relationships/hyperlink" Target="https://brew.sh" TargetMode="Externa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5.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6.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7.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8.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9.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0.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1.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2.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3.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4.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5.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6.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7.xml"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38.xml" /><Relationship Id="rId3" Type="http://schemas.openxmlformats.org/officeDocument/2006/relationships/hyperlink" Target="github.com" TargetMode="External" /><Relationship Id="rId4" Type="http://schemas.openxmlformats.org/officeDocument/2006/relationships/image" Target="../media/image7.png" /></Relationships>
</file>

<file path=ppt/slides/_rels/slide4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9.xml" /></Relationships>
</file>

<file path=ppt/slides/_rels/slide4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8.png" /></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0.xml" /><Relationship Id="rId3" Type="http://schemas.openxmlformats.org/officeDocument/2006/relationships/hyperlink" Target="https://smallstep.com/blog/ssh-agent-explained/" TargetMode="External" /><Relationship Id="rId4" Type="http://schemas.openxmlformats.org/officeDocument/2006/relationships/slide" Target="slide53.xml" /></Relationships>
</file>

<file path=ppt/slides/_rels/slide5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1.xml" /></Relationships>
</file>

<file path=ppt/slides/_rels/slide5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2.xml" /></Relationships>
</file>

<file path=ppt/slides/_rels/slide5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3.xml" /></Relationships>
</file>

<file path=ppt/slides/_rels/slide5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4.xml" /></Relationships>
</file>

<file path=ppt/slides/_rels/slide5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5.xml" /></Relationships>
</file>

<file path=ppt/slides/_rels/slide5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6.xml" /></Relationships>
</file>

<file path=ppt/slides/_rels/slide5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7.xml" /></Relationships>
</file>

<file path=ppt/slides/_rels/slide5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8.xml" /></Relationships>
</file>

<file path=ppt/slides/_rels/slide5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9.xml" /></Relationships>
</file>

<file path=ppt/slides/_rels/slide6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0.xml" /></Relationships>
</file>

<file path=ppt/slides/_rels/slide6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1.xml" /></Relationships>
</file>

<file path=ppt/slides/_rels/slide6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52.xml" /><Relationship Id="rId3" Type="http://schemas.openxmlformats.org/officeDocument/2006/relationships/image" Target="../media/image9.png" /></Relationships>
</file>

<file path=ppt/slides/_rels/slide6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53.xml" /><Relationship Id="rId3" Type="http://schemas.openxmlformats.org/officeDocument/2006/relationships/image" Target="../media/image10.png" /></Relationships>
</file>

<file path=ppt/slides/_rels/slide6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1.png" /></Relationships>
</file>

<file path=ppt/slides/_rels/slide6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4.xml" /></Relationships>
</file>

<file path=ppt/slides/_rels/slide6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55.xml" /><Relationship Id="rId3" Type="http://schemas.openxmlformats.org/officeDocument/2006/relationships/image" Target="../media/image12.png" /></Relationships>
</file>

<file path=ppt/slides/_rels/slide6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6.xml" /></Relationships>
</file>

<file path=ppt/slides/_rels/slide6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7.xml" /></Relationships>
</file>

<file path=ppt/slides/_rels/slide6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58.xml" /><Relationship Id="rId3" Type="http://schemas.openxmlformats.org/officeDocument/2006/relationships/image" Target="../media/image13.png" /></Relationships>
</file>

<file path=ppt/slides/_rels/slide7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59.xml" /><Relationship Id="rId3" Type="http://schemas.openxmlformats.org/officeDocument/2006/relationships/image" Target="../media/image14.png" /></Relationships>
</file>

<file path=ppt/slides/_rels/slide7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60.xml" /><Relationship Id="rId3" Type="http://schemas.openxmlformats.org/officeDocument/2006/relationships/image" Target="../media/image15.png" /></Relationships>
</file>

<file path=ppt/slides/_rels/slide7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61.xml" /><Relationship Id="rId3" Type="http://schemas.openxmlformats.org/officeDocument/2006/relationships/image" Target="../media/image16.png" /></Relationships>
</file>

<file path=ppt/slides/_rels/slide7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62.xml" /><Relationship Id="rId3" Type="http://schemas.openxmlformats.org/officeDocument/2006/relationships/image" Target="../media/image17.png" /></Relationships>
</file>

<file path=ppt/slides/_rels/slide7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8.png" /></Relationships>
</file>

<file path=ppt/slides/_rels/slide7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3.xml" /></Relationships>
</file>

<file path=ppt/slides/_rels/slide8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4.xml" /></Relationships>
</file>

<file path=ppt/slides/_rels/slide8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65.xml" /><Relationship Id="rId3" Type="http://schemas.openxmlformats.org/officeDocument/2006/relationships/image" Target="../media/image19.png" /></Relationships>
</file>

<file path=ppt/slides/_rels/slide8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66.xml" /><Relationship Id="rId3" Type="http://schemas.openxmlformats.org/officeDocument/2006/relationships/image" Target="../media/image20.png" /></Relationships>
</file>

<file path=ppt/slides/_rels/slide8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1.png" /></Relationships>
</file>

<file path=ppt/slides/_rels/slide8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7.xml" /></Relationships>
</file>

<file path=ppt/slides/_rels/slide8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8.xml" /></Relationships>
</file>

<file path=ppt/slides/_rels/slide8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69.xml" /><Relationship Id="rId3" Type="http://schemas.openxmlformats.org/officeDocument/2006/relationships/image" Target="../media/image22.png" /></Relationships>
</file>

<file path=ppt/slides/_rels/slide8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70.xml" /><Relationship Id="rId3" Type="http://schemas.openxmlformats.org/officeDocument/2006/relationships/image" Target="../media/image23.png" /></Relationships>
</file>

<file path=ppt/slides/_rels/slide8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1.xml" /></Relationships>
</file>

<file path=ppt/slides/_rels/slide8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72.xml" /><Relationship Id="rId3" Type="http://schemas.openxmlformats.org/officeDocument/2006/relationships/image" Target="../media/image24.png" /></Relationships>
</file>

<file path=ppt/slides/_rels/slide9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73.xml" /><Relationship Id="rId3" Type="http://schemas.openxmlformats.org/officeDocument/2006/relationships/image" Target="../media/image25.png" /></Relationships>
</file>

<file path=ppt/slides/_rels/slide9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74.xml" /><Relationship Id="rId3" Type="http://schemas.openxmlformats.org/officeDocument/2006/relationships/image" Target="../media/image26.png" /></Relationships>
</file>

<file path=ppt/slides/_rels/slide9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5.xml" /></Relationships>
</file>

<file path=ppt/slides/_rels/slide9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6.xml" /></Relationships>
</file>

<file path=ppt/slides/_rels/slide9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77.xml" /><Relationship Id="rId3" Type="http://schemas.openxmlformats.org/officeDocument/2006/relationships/image" Target="../media/image27.png" /></Relationships>
</file>

<file path=ppt/slides/_rels/slide9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8.png" /></Relationships>
</file>

<file path=ppt/slides/_rels/slide9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8.xml" /></Relationships>
</file>

<file path=ppt/slides/_rels/slide9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79.xml" /><Relationship Id="rId3" Type="http://schemas.openxmlformats.org/officeDocument/2006/relationships/image" Target="../media/image29.png" /></Relationships>
</file>

<file path=ppt/slides/_rels/slide9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0.xml" /></Relationships>
</file>

<file path=ppt/slides/_rels/slide10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1.xml" /></Relationships>
</file>

<file path=ppt/slides/_rels/slide10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2.xml" /></Relationships>
</file>

<file path=ppt/slides/_rels/slide10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3.xml" /></Relationships>
</file>

<file path=ppt/slides/_rels/slide10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4.xml" /></Relationships>
</file>

<file path=ppt/slides/_rels/slide10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5.xml" /></Relationships>
</file>

<file path=ppt/slides/_rels/slide10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6.xml" /></Relationships>
</file>

<file path=ppt/slides/_rels/slide10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7.xml" /></Relationships>
</file>

<file path=ppt/slides/_rels/slide10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8.xml" /></Relationships>
</file>

<file path=ppt/slides/_rels/slide10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9.xml" /></Relationships>
</file>

<file path=ppt/slides/_rels/slide11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0.png" /></Relationships>
</file>

<file path=ppt/slides/_rels/slide1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0.xml" /><Relationship Id="rId3" Type="http://schemas.openxmlformats.org/officeDocument/2006/relationships/hyperlink" Target="https://jennybc.github.io/2014-05-12-ubc/ubc-r/session03_git.html" TargetMode="External" /><Relationship Id="rId4" Type="http://schemas.openxmlformats.org/officeDocument/2006/relationships/hyperlink" Target="https://github.com/git-guides/git-commit" TargetMode="External" /><Relationship Id="rId5" Type="http://schemas.openxmlformats.org/officeDocument/2006/relationships/hyperlink" Target="https://docs.github.com/en/get-started/start-your-journey/git-and-github-learning-resources" TargetMode="External" /><Relationship Id="rId6" Type="http://schemas.openxmlformats.org/officeDocument/2006/relationships/hyperlink" Target="https://education.github.com/git-cheat-sheet-education.pdf" TargetMode="External" /><Relationship Id="rId7" Type="http://schemas.openxmlformats.org/officeDocument/2006/relationships/hyperlink" Target="https://lmu-osc.github.io/Introduction-RStudio-Git-GitHub/updates.html" TargetMode="External" /></Relationships>
</file>

<file path=ppt/slides/_rels/slide1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simplethread.com/what-makes-a-good-git-commit/"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Introduction to version control with Git in RStudio</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Sarah von Grebmer</a:t>
            </a:r>
          </a:p>
        </p:txBody>
      </p:sp>
      <p:sp>
        <p:nvSpPr>
          <p:cNvPr id="4" name="Date Placeholder 3"/>
          <p:cNvSpPr>
            <a:spLocks noGrp="1"/>
          </p:cNvSpPr>
          <p:nvPr>
            <p:ph idx="10" sz="half" type="dt"/>
          </p:nvPr>
        </p:nvSpPr>
        <p:spPr/>
        <p:txBody>
          <a:bodyPr/>
          <a:lstStyle/>
          <a:p>
            <a:pPr lvl="0" indent="0" marL="0">
              <a:buNone/>
            </a:pPr>
            <a:r>
              <a:rPr/>
              <a:t>28/09/2026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Licence</a:t>
            </a:r>
          </a:p>
          <a:p>
            <a:pPr lvl="0" indent="0" marL="0">
              <a:buNone/>
            </a:pPr>
          </a:p>
          <a:p>
            <a:pPr lvl="0" indent="0" marL="0">
              <a:buNone/>
            </a:pPr>
          </a:p>
          <a:p>
            <a:pPr lvl="0" indent="0" marL="0">
              <a:buNone/>
            </a:pPr>
            <a:r>
              <a:rPr/>
              <a:t>This work was originally created by </a:t>
            </a:r>
            <a:r>
              <a:rPr>
                <a:hlinkClick r:id="rId3"/>
              </a:rPr>
              <a:t>Mike Croucher</a:t>
            </a:r>
            <a:r>
              <a:rPr/>
              <a:t> under a CC-BY-SA 4.0 </a:t>
            </a:r>
            <a:r>
              <a:rPr>
                <a:hlinkClick r:id="rId4"/>
              </a:rPr>
              <a:t>Creative Commons Attribution 4.0 International License</a:t>
            </a:r>
            <a:r>
              <a:rPr/>
              <a:t>. It was subsequently adapted by </a:t>
            </a:r>
            <a:r>
              <a:rPr>
                <a:hlinkClick r:id="rId5"/>
              </a:rPr>
              <a:t>Malika Ihle</a:t>
            </a:r>
            <a:r>
              <a:rPr/>
              <a:t> during her time at Reproducible Research Oxford. This current work by Sarah von Grebmer zu Wolfsthurn, Peter Edelsbrunner, Felix Schönbrodt and Malika Ihle is licensed under a CC-BY-SA 4.0 </a:t>
            </a:r>
            <a:r>
              <a:rPr>
                <a:hlinkClick r:id="rId6"/>
              </a:rPr>
              <a:t>Creative Commons Attribution 4.0 International SA License</a:t>
            </a:r>
            <a:r>
              <a:rPr/>
              <a:t>. It permits unrestricted re-use, distribution, and reproduction in any medium, provided the original work is properly cited. If you remix, transform, or build upon the material, you must distribute your contributions under the same license as the original.</a:t>
            </a:r>
          </a:p>
          <a:p>
            <a:pPr lvl="0" indent="0" marL="0">
              <a:buNone/>
            </a:pPr>
            <a:r>
              <a:rPr/>
              <a:t>Code snippets are dedicated to the public domain and licenced under a CC0 1.0 </a:t>
            </a:r>
            <a:r>
              <a:rPr>
                <a:hlinkClick r:id="rId7"/>
              </a:rPr>
              <a:t>Creative Commons Universal Licence</a:t>
            </a:r>
            <a:r>
              <a:rPr/>
              <a:t>. You may use, modify, distribute, and sell the code snippets for any purpose, without permission or attribution. The code snippets are provided “as is”, without warranty of any kind.</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Contribution statement</a:t>
            </a:r>
          </a:p>
          <a:p>
            <a:pPr lvl="0" indent="0" marL="0">
              <a:buNone/>
            </a:pPr>
          </a:p>
          <a:p>
            <a:pPr lvl="0" indent="0" marL="0">
              <a:buNone/>
            </a:pPr>
            <a:r>
              <a:rPr b="1"/>
              <a:t>Creator</a:t>
            </a:r>
            <a:r>
              <a:rPr/>
              <a:t>: Von Grebmer zu Wolfsthurn, Sarah (</a:t>
            </a:r>
            <a:r>
              <a:rPr>
                <a:hlinkClick r:id="rId3"/>
              </a:rPr>
              <a:t>0000-0002-6413-3895</a:t>
            </a:r>
            <a:r>
              <a:rPr/>
              <a:t>)</a:t>
            </a:r>
          </a:p>
          <a:p>
            <a:pPr lvl="0" indent="0" marL="0">
              <a:buNone/>
            </a:pPr>
            <a:r>
              <a:rPr b="1"/>
              <a:t>Reviewer</a:t>
            </a:r>
            <a:r>
              <a:rPr/>
              <a:t>: Schönbrodt, Felix (</a:t>
            </a:r>
            <a:r>
              <a:rPr>
                <a:hlinkClick r:id="rId4"/>
              </a:rPr>
              <a:t>0000-0002-8282-3910</a:t>
            </a:r>
            <a:r>
              <a:rPr/>
              <a:t>)</a:t>
            </a:r>
          </a:p>
          <a:p>
            <a:pPr lvl="0" indent="0" marL="0">
              <a:buNone/>
            </a:pPr>
            <a:r>
              <a:rPr b="1"/>
              <a:t>Consultant</a:t>
            </a:r>
            <a:r>
              <a:rPr/>
              <a:t>: Edelsbrunner, Peter (</a:t>
            </a:r>
            <a:r>
              <a:rPr>
                <a:hlinkClick r:id="rId5"/>
              </a:rPr>
              <a:t>0000-0001-9102-1090</a:t>
            </a:r>
            <a:r>
              <a:rPr/>
              <a:t>)</a:t>
            </a:r>
          </a:p>
          <a:p>
            <a:pPr lvl="0" indent="0" marL="0">
              <a:buNone/>
            </a:pPr>
            <a:r>
              <a:rPr b="1"/>
              <a:t>Consultant</a:t>
            </a:r>
            <a:r>
              <a:rPr/>
              <a:t>: Ihle, Malika ( </a:t>
            </a:r>
            <a:r>
              <a:rPr>
                <a:hlinkClick r:id="rId6"/>
              </a:rPr>
              <a:t>0000-0002-3242-5981</a:t>
            </a:r>
            <a:r>
              <a:rPr/>
              <a:t>)</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Prerequisites</a:t>
            </a:r>
          </a:p>
          <a:p>
            <a:pPr lvl="0" indent="0" marL="1270000">
              <a:buNone/>
            </a:pPr>
            <a:r>
              <a:rPr sz="2000" b="1"/>
              <a:t>Important</a:t>
            </a:r>
          </a:p>
          <a:p>
            <a:pPr lvl="0" indent="0" marL="1270000">
              <a:buNone/>
            </a:pPr>
            <a:r>
              <a:rPr sz="2000"/>
              <a:t>Before completing this submodule, please carefully read about the prerequisites.</a:t>
            </a:r>
          </a:p>
          <a:p>
            <a:pPr lvl="0" indent="0" marL="0">
              <a:buNone/>
            </a:pP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Questions from the previous submodule</a:t>
            </a:r>
          </a:p>
          <a:p>
            <a:pPr lvl="0" indent="0" marL="0">
              <a:buNone/>
            </a:pPr>
            <a:r>
              <a:rPr/>
              <a:t> </a:t>
            </a:r>
          </a:p>
          <a:p>
            <a:pPr lvl="0" indent="0" marL="0">
              <a:buNone/>
            </a:pPr>
            <a:r>
              <a:rPr/>
              <a:t>Any remaining questions about the most recent content and/or practical exercises?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Where are we at?</a:t>
            </a:r>
          </a:p>
          <a:p>
            <a:pPr lvl="0" indent="0" marL="0">
              <a:buNone/>
            </a:pPr>
            <a:r>
              <a:rPr b="1"/>
              <a:t>Previously</a:t>
            </a:r>
            <a:r>
              <a:rPr/>
              <a:t>:</a:t>
            </a:r>
          </a:p>
          <a:p>
            <a:pPr lvl="0"/>
            <a:r>
              <a:rPr/>
              <a:t>Familiarization with the basics of R</a:t>
            </a:r>
          </a:p>
          <a:p>
            <a:pPr lvl="0"/>
            <a:r>
              <a:rPr/>
              <a:t>More advanced R skills: data manipulation, reshaping, functions, plotting</a:t>
            </a:r>
          </a:p>
          <a:p>
            <a:pPr lvl="0"/>
            <a:r>
              <a:rPr/>
              <a:t>Using R for your own scientific work</a:t>
            </a:r>
          </a:p>
          <a:p>
            <a:pPr lvl="0" indent="0" marL="0">
              <a:buNone/>
            </a:pPr>
            <a:r>
              <a:rPr b="1"/>
              <a:t>Up next</a:t>
            </a:r>
            <a:r>
              <a:rPr/>
              <a:t>:</a:t>
            </a:r>
          </a:p>
          <a:p>
            <a:pPr lvl="0"/>
            <a:r>
              <a:rPr/>
              <a:t>Facing challenges in our workflow and how to solve them</a:t>
            </a:r>
          </a:p>
          <a:p>
            <a:pPr lvl="0"/>
            <a:r>
              <a:rPr/>
              <a:t>Enhancing reproducibility and our own accountability</a:t>
            </a:r>
          </a:p>
          <a:p>
            <a:pPr lvl="0"/>
            <a:r>
              <a:rPr/>
              <a:t>Facilitating collaboration</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Learning goals</a:t>
            </a:r>
          </a:p>
          <a:p>
            <a:pPr lvl="0"/>
            <a:r>
              <a:rPr b="1"/>
              <a:t>Understand</a:t>
            </a:r>
            <a:r>
              <a:rPr/>
              <a:t> the problem(s) that can be solved by version control</a:t>
            </a:r>
          </a:p>
          <a:p>
            <a:pPr lvl="0"/>
            <a:r>
              <a:rPr b="1"/>
              <a:t>Install</a:t>
            </a:r>
            <a:r>
              <a:rPr/>
              <a:t> and </a:t>
            </a:r>
            <a:r>
              <a:rPr b="1"/>
              <a:t>configure</a:t>
            </a:r>
            <a:r>
              <a:rPr/>
              <a:t> Git</a:t>
            </a:r>
          </a:p>
          <a:p>
            <a:pPr lvl="0"/>
            <a:r>
              <a:rPr b="1"/>
              <a:t>Set up</a:t>
            </a:r>
            <a:r>
              <a:rPr/>
              <a:t> the connection between your computer and GitHub</a:t>
            </a:r>
          </a:p>
          <a:p>
            <a:pPr lvl="0"/>
            <a:r>
              <a:rPr b="1"/>
              <a:t>Create</a:t>
            </a:r>
            <a:r>
              <a:rPr/>
              <a:t> an RStudio Project under version control for a reproducible workflow</a:t>
            </a:r>
          </a:p>
          <a:p>
            <a:pPr lvl="0"/>
            <a:r>
              <a:rPr b="1"/>
              <a:t>Make</a:t>
            </a:r>
            <a:r>
              <a:rPr/>
              <a:t> changes within RStudio and </a:t>
            </a:r>
            <a:r>
              <a:rPr b="1"/>
              <a:t>commit</a:t>
            </a:r>
            <a:r>
              <a:rPr/>
              <a:t> changes locally</a:t>
            </a:r>
          </a:p>
          <a:p>
            <a:pPr lvl="0"/>
            <a:r>
              <a:rPr b="1"/>
              <a:t>Connect</a:t>
            </a:r>
            <a:r>
              <a:rPr/>
              <a:t> local and remote repositories for your work</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Key terms and definitions</a:t>
            </a:r>
          </a:p>
          <a:p>
            <a:pPr lvl="0"/>
            <a:r>
              <a:rPr b="1"/>
              <a:t>Reproducible workflows</a:t>
            </a:r>
            <a:r>
              <a:rPr/>
              <a:t>:</a:t>
            </a:r>
          </a:p>
          <a:p>
            <a:pPr lvl="0"/>
            <a:r>
              <a:rPr b="1"/>
              <a:t>RStudio Project</a:t>
            </a:r>
            <a:r>
              <a:rPr/>
              <a:t>:</a:t>
            </a:r>
            <a:br/>
          </a:p>
          <a:p>
            <a:pPr lvl="0"/>
            <a:r>
              <a:rPr b="1"/>
              <a:t>Git</a:t>
            </a:r>
            <a:r>
              <a:rPr/>
              <a:t>:</a:t>
            </a:r>
          </a:p>
          <a:p>
            <a:pPr lvl="0"/>
            <a:r>
              <a:rPr b="1"/>
              <a:t>GitHub</a:t>
            </a:r>
            <a:r>
              <a:rPr/>
              <a:t>:</a:t>
            </a:r>
          </a:p>
          <a:p>
            <a:pPr lvl="0"/>
            <a:r>
              <a:rPr b="1"/>
              <a:t>Repositories</a:t>
            </a:r>
            <a:r>
              <a:rPr/>
              <a: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Key terms and definitions</a:t>
            </a:r>
          </a:p>
          <a:p>
            <a:pPr lvl="0"/>
            <a:r>
              <a:rPr b="1"/>
              <a:t>Reproducible workflows</a:t>
            </a:r>
            <a:r>
              <a:rPr/>
              <a:t>: Structured process ensuring that the methods can be consistently repeated by others using the same approach, data and tools</a:t>
            </a:r>
          </a:p>
          <a:p>
            <a:pPr lvl="0"/>
            <a:r>
              <a:rPr b="1"/>
              <a:t>RStudio Project</a:t>
            </a:r>
            <a:r>
              <a:rPr/>
              <a:t>: A way to store all files related to one R project in one place (R scripts, files, workspace, history, …) via a so-called .Rproj file</a:t>
            </a:r>
          </a:p>
          <a:p>
            <a:pPr lvl="0"/>
            <a:r>
              <a:rPr b="1"/>
              <a:t>Git</a:t>
            </a:r>
            <a:r>
              <a:rPr/>
              <a:t>: Version control system that tracks and manages changes to files and code (an open source tool)</a:t>
            </a:r>
          </a:p>
          <a:p>
            <a:pPr lvl="0"/>
            <a:r>
              <a:rPr b="1"/>
              <a:t>GitHub</a:t>
            </a:r>
            <a:r>
              <a:rPr/>
              <a:t>: Cloud-based version control platform for hosting Git repositories which includes collaboration features (a free but commercial platform owned by Microsoft)</a:t>
            </a:r>
          </a:p>
          <a:p>
            <a:pPr lvl="0"/>
            <a:r>
              <a:rPr b="1"/>
              <a:t>Repositories</a:t>
            </a:r>
            <a:r>
              <a:rPr/>
              <a:t>: Git terminology for a folder where the contents of the folder are being tracked by Git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Some realistic challenges in our (study and work)lives …</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Challenge 1: Document and project management</a:t>
            </a:r>
          </a:p>
          <a:p>
            <a:pPr lvl="0" indent="0" marL="0">
              <a:buNone/>
            </a:pPr>
          </a:p>
          <a:p>
            <a:pPr lvl="0" indent="0" marL="0">
              <a:buNone/>
            </a:pPr>
            <a:r>
              <a:rPr/>
              <a:t> </a:t>
            </a:r>
          </a:p>
          <a:p>
            <a:pPr lvl="0" indent="0" marL="0">
              <a:buNone/>
            </a:pPr>
            <a:r>
              <a:rPr b="1"/>
              <a:t>Multiple versions</a:t>
            </a:r>
            <a:r>
              <a:rPr/>
              <a:t> of the same project/document “floating” around on your PC.</a:t>
            </a:r>
          </a:p>
          <a:p>
            <a:pPr lvl="0" indent="0" marL="0">
              <a:buNone/>
            </a:pPr>
          </a:p>
          <a:p>
            <a:pPr lvl="0" indent="0" marL="1270000">
              <a:buNone/>
            </a:pPr>
            <a:r>
              <a:rPr sz="2000" b="1"/>
              <a:t>Sound familiar?</a:t>
            </a:r>
          </a:p>
          <a:p>
            <a:pPr lvl="0" indent="0" marL="1270000">
              <a:buNone/>
            </a:pPr>
            <a:r>
              <a:rPr sz="2000"/>
              <a:t>What is your current </a:t>
            </a:r>
            <a:r>
              <a:rPr sz="2000" b="1"/>
              <a:t>document naming and management</a:t>
            </a:r>
            <a:r>
              <a:rPr sz="2000"/>
              <a:t> strategy?</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Challenge 2: When hardware fails</a:t>
            </a:r>
          </a:p>
          <a:p>
            <a:pPr lvl="0" indent="0" marL="0">
              <a:buNone/>
            </a:pPr>
            <a:r>
              <a:rPr/>
              <a:t>Laptop dies, files are accidentally deleted.</a:t>
            </a:r>
          </a:p>
        </p:txBody>
      </p:sp>
      <p:pic>
        <p:nvPicPr>
          <p:cNvPr descr="images/10_Coffee_Spill_gender_neutral.png" id="0" name="Picture 1"/>
          <p:cNvPicPr>
            <a:picLocks noGrp="1" noChangeAspect="1"/>
          </p:cNvPicPr>
          <p:nvPr/>
        </p:nvPicPr>
        <p:blipFill>
          <a:blip r:embed="rId2"/>
          <a:stretch>
            <a:fillRect/>
          </a:stretch>
        </p:blipFill>
        <p:spPr bwMode="auto">
          <a:xfrm>
            <a:off x="3568700" y="482600"/>
            <a:ext cx="5105400" cy="3835400"/>
          </a:xfrm>
          <a:prstGeom prst="rect">
            <a:avLst/>
          </a:prstGeom>
          <a:noFill/>
          <a:ln w="9525">
            <a:noFill/>
            <a:headEnd/>
            <a:tailEnd/>
          </a:ln>
        </p:spPr>
      </p:pic>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b="1"/>
              <a:t>Note</a:t>
            </a:r>
          </a:p>
          <a:p>
            <a:pPr lvl="0" indent="0" marL="1270000">
              <a:buNone/>
            </a:pPr>
            <a:r>
              <a:rPr sz="2000"/>
              <a:t>Mentally raise your hand if this happened to you before.</a:t>
            </a:r>
          </a:p>
          <a:p>
            <a:pPr lvl="0" indent="0" marL="0">
              <a:buNone/>
            </a:pPr>
            <a:r>
              <a:rPr/>
              <a:t>Image created with generative AI.</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Challenge 3: “What on earth did I do again..?”</a:t>
            </a:r>
          </a:p>
          <a:p>
            <a:pPr lvl="0" indent="0" marL="0">
              <a:buNone/>
            </a:pPr>
            <a:r>
              <a:rPr/>
              <a:t>Projects evolve, it is easy to </a:t>
            </a:r>
            <a:r>
              <a:rPr b="1"/>
              <a:t>forget</a:t>
            </a:r>
            <a:r>
              <a:rPr/>
              <a:t> what we last changed or did on the project.</a:t>
            </a:r>
          </a:p>
        </p:txBody>
      </p:sp>
      <p:pic>
        <p:nvPicPr>
          <p:cNvPr descr="images/11_Confused.png" id="0" name="Picture 1"/>
          <p:cNvPicPr>
            <a:picLocks noGrp="1" noChangeAspect="1"/>
          </p:cNvPicPr>
          <p:nvPr/>
        </p:nvPicPr>
        <p:blipFill>
          <a:blip r:embed="rId2"/>
          <a:stretch>
            <a:fillRect/>
          </a:stretch>
        </p:blipFill>
        <p:spPr bwMode="auto">
          <a:xfrm>
            <a:off x="3937000" y="203200"/>
            <a:ext cx="4381500" cy="4381500"/>
          </a:xfrm>
          <a:prstGeom prst="rect">
            <a:avLst/>
          </a:prstGeom>
          <a:noFill/>
          <a:ln w="9525">
            <a:noFill/>
            <a:headEnd/>
            <a:tailEnd/>
          </a:ln>
        </p:spPr>
      </p:pic>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Image created with generative AI.</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Challenge 4: “But I just wanted to try to …”</a:t>
            </a:r>
          </a:p>
          <a:p>
            <a:pPr lvl="0" indent="0" marL="0">
              <a:buNone/>
            </a:pPr>
            <a:r>
              <a:rPr/>
              <a:t>Especially with coding, trying new ideas can </a:t>
            </a:r>
            <a:r>
              <a:rPr b="1"/>
              <a:t>break</a:t>
            </a:r>
            <a:r>
              <a:rPr/>
              <a:t> your code.</a:t>
            </a:r>
          </a:p>
        </p:txBody>
      </p:sp>
      <p:pic>
        <p:nvPicPr>
          <p:cNvPr descr="images/12_crashed_PC.png" id="0" name="Picture 1"/>
          <p:cNvPicPr>
            <a:picLocks noGrp="1" noChangeAspect="1"/>
          </p:cNvPicPr>
          <p:nvPr/>
        </p:nvPicPr>
        <p:blipFill>
          <a:blip r:embed="rId2"/>
          <a:stretch>
            <a:fillRect/>
          </a:stretch>
        </p:blipFill>
        <p:spPr bwMode="auto">
          <a:xfrm>
            <a:off x="4660900" y="203200"/>
            <a:ext cx="2921000" cy="4381500"/>
          </a:xfrm>
          <a:prstGeom prst="rect">
            <a:avLst/>
          </a:prstGeom>
          <a:noFill/>
          <a:ln w="9525">
            <a:noFill/>
            <a:headEnd/>
            <a:tailEnd/>
          </a:ln>
        </p:spPr>
      </p:pic>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Image created with generative AI.</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 Who is familiar with these problems?</a:t>
            </a:r>
          </a:p>
          <a:p>
            <a:pPr lvl="0" indent="-342900" marL="342900">
              <a:buAutoNum type="alphaLcPeriod"/>
            </a:pPr>
            <a:r>
              <a:rPr/>
              <a:t>Inconsistent data and file management aka </a:t>
            </a:r>
            <a:r>
              <a:rPr b="1"/>
              <a:t>I cannot find my files</a:t>
            </a:r>
          </a:p>
          <a:p>
            <a:pPr lvl="0" indent="-342900" marL="342900">
              <a:buAutoNum type="alphaLcPeriod"/>
            </a:pPr>
            <a:r>
              <a:rPr/>
              <a:t>Hardware failures (coffee spill, laptop dropped, lost laptop, broken USB) aka </a:t>
            </a:r>
            <a:r>
              <a:rPr b="1"/>
              <a:t>my work is lost</a:t>
            </a:r>
          </a:p>
          <a:p>
            <a:pPr lvl="0" indent="-342900" marL="342900">
              <a:buAutoNum type="alphaLcPeriod"/>
            </a:pPr>
            <a:r>
              <a:rPr/>
              <a:t>Extended periods of time between project actions aka </a:t>
            </a:r>
            <a:r>
              <a:rPr b="1"/>
              <a:t>I forgot what I was working on</a:t>
            </a:r>
          </a:p>
          <a:p>
            <a:pPr lvl="0" indent="-342900" marL="342900">
              <a:buAutoNum type="alphaLcPeriod"/>
            </a:pPr>
            <a:r>
              <a:rPr/>
              <a:t>Experimentation with new features aka </a:t>
            </a:r>
            <a:r>
              <a:rPr b="1"/>
              <a:t>I tried something and my laptop is now smoking</a:t>
            </a:r>
          </a:p>
          <a:p>
            <a:pPr lvl="0" indent="-342900" marL="342900">
              <a:buAutoNum type="alphaLcPeriod"/>
            </a:pPr>
            <a:r>
              <a:rPr/>
              <a:t>All of the above</a:t>
            </a:r>
          </a:p>
          <a:p>
            <a:pPr lvl="0" indent="-342900" marL="342900">
              <a:buAutoNum type="alphaLcPeriod"/>
            </a:pPr>
            <a:r>
              <a:rPr/>
              <a:t>None of the above (are you </a:t>
            </a:r>
            <a:r>
              <a:rPr i="1"/>
              <a:t>sure</a:t>
            </a:r>
            <a:r>
              <a:rPr/>
              <a: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 realistic solution to these challenges?</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Version control</a:t>
            </a:r>
          </a:p>
          <a:p>
            <a:pPr lvl="0" indent="0" marL="0">
              <a:buNone/>
            </a:pPr>
            <a:r>
              <a:rPr/>
              <a:t>“Version … </a:t>
            </a:r>
            <a:r>
              <a:rPr i="1"/>
              <a:t>what?</a:t>
            </a:r>
            <a:r>
              <a:rPr/>
              <a:t>”</a:t>
            </a:r>
          </a:p>
          <a:p>
            <a:pPr lvl="0"/>
            <a:r>
              <a:rPr b="1"/>
              <a:t>Version control</a:t>
            </a:r>
            <a:r>
              <a:rPr/>
              <a:t> = system that </a:t>
            </a:r>
            <a:r>
              <a:rPr b="1"/>
              <a:t>records changes</a:t>
            </a:r>
            <a:r>
              <a:rPr/>
              <a:t> to files </a:t>
            </a:r>
            <a:r>
              <a:rPr b="1"/>
              <a:t>over time</a:t>
            </a:r>
            <a:r>
              <a:rPr/>
              <a:t> by recording the difference between two files</a:t>
            </a:r>
          </a:p>
          <a:p>
            <a:pPr lvl="0"/>
            <a:r>
              <a:rPr b="1"/>
              <a:t>Tracks modifications</a:t>
            </a:r>
            <a:r>
              <a:rPr/>
              <a:t> and edits</a:t>
            </a:r>
          </a:p>
          <a:p>
            <a:pPr lvl="0"/>
            <a:r>
              <a:rPr/>
              <a:t>Helps you </a:t>
            </a:r>
            <a:r>
              <a:rPr b="1"/>
              <a:t>manage different versions</a:t>
            </a:r>
          </a:p>
          <a:p>
            <a:pPr lvl="0"/>
            <a:r>
              <a:rPr/>
              <a:t>Allows you to </a:t>
            </a:r>
            <a:r>
              <a:rPr b="1"/>
              <a:t>recover previous versions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Before we start: Survey time!</a:t>
            </a:r>
          </a:p>
          <a:p>
            <a:pPr lvl="0" indent="0" marL="0">
              <a:spcBef>
                <a:spcPts val="3000"/>
              </a:spcBef>
              <a:buNone/>
            </a:pPr>
          </a:p>
          <a:p>
            <a:pPr lvl="0" indent="0" marL="0">
              <a:buNone/>
            </a:pPr>
            <a:r>
              <a:rPr b="1"/>
              <a:t>What is your level of familiarity with version control?</a:t>
            </a:r>
          </a:p>
          <a:p>
            <a:pPr lvl="0" indent="-342900" marL="342900">
              <a:buAutoNum type="alphaLcPeriod"/>
            </a:pPr>
            <a:r>
              <a:rPr/>
              <a:t>I have never heard of it before.</a:t>
            </a:r>
          </a:p>
          <a:p>
            <a:pPr lvl="0" indent="-342900" marL="342900">
              <a:buAutoNum type="alphaLcPeriod"/>
            </a:pPr>
            <a:r>
              <a:rPr/>
              <a:t>I have heard of it but have never worked with it.</a:t>
            </a:r>
          </a:p>
          <a:p>
            <a:pPr lvl="0" indent="-342900" marL="342900">
              <a:buAutoNum type="alphaLcPeriod"/>
            </a:pPr>
            <a:r>
              <a:rPr/>
              <a:t>I have a basic understanding and some experience with it.</a:t>
            </a:r>
          </a:p>
          <a:p>
            <a:pPr lvl="0" indent="-342900" marL="342900">
              <a:buAutoNum type="alphaLcPeriod"/>
            </a:pPr>
            <a:r>
              <a:rPr/>
              <a:t>I am very familiar and have worked with it extensively.</a:t>
            </a:r>
          </a:p>
          <a:p>
            <a:pPr lvl="0" indent="0" marL="0">
              <a:spcBef>
                <a:spcPts val="3000"/>
              </a:spcBef>
              <a:buNone/>
            </a:pPr>
          </a:p>
          <a:p>
            <a:pPr lvl="0" indent="0" marL="0">
              <a:buNone/>
            </a:pPr>
            <a:r>
              <a:rPr b="1"/>
              <a:t>Which of the following concepts or skills do you feel confident in? (Select all that apply.)</a:t>
            </a:r>
          </a:p>
          <a:p>
            <a:pPr lvl="0" indent="-342900" marL="342900">
              <a:buAutoNum type="alphaLcPeriod"/>
            </a:pPr>
            <a:r>
              <a:rPr/>
              <a:t>Git</a:t>
            </a:r>
          </a:p>
          <a:p>
            <a:pPr lvl="0" indent="-342900" marL="342900">
              <a:buAutoNum type="alphaLcPeriod"/>
            </a:pPr>
            <a:r>
              <a:rPr/>
              <a:t>GitHub</a:t>
            </a:r>
          </a:p>
          <a:p>
            <a:pPr lvl="0" indent="-342900" marL="342900">
              <a:buAutoNum type="alphaLcPeriod"/>
            </a:pPr>
            <a:r>
              <a:rPr/>
              <a:t>Repositories</a:t>
            </a:r>
          </a:p>
          <a:p>
            <a:pPr lvl="0" indent="-342900" marL="342900">
              <a:buAutoNum type="alphaLcPeriod"/>
            </a:pPr>
            <a:r>
              <a:rPr/>
              <a:t>RStudio Project</a:t>
            </a:r>
          </a:p>
          <a:p>
            <a:pPr lvl="0" indent="-342900" marL="342900">
              <a:buAutoNum type="alphaLcPeriod"/>
            </a:pPr>
            <a:r>
              <a:rPr/>
              <a:t>I am not sure about any of these concepts.</a:t>
            </a:r>
          </a:p>
          <a:p>
            <a:pPr lvl="0" indent="0" marL="0">
              <a:spcBef>
                <a:spcPts val="3000"/>
              </a:spcBef>
              <a:buNone/>
            </a:pPr>
          </a:p>
          <a:p>
            <a:pPr lvl="0" indent="0" marL="0">
              <a:buNone/>
            </a:pPr>
            <a:r>
              <a:rPr b="1"/>
              <a:t>How comfortable are you with using Git for version control?</a:t>
            </a:r>
          </a:p>
          <a:p>
            <a:pPr lvl="0" indent="-342900" marL="342900">
              <a:buAutoNum type="alphaLcPeriod"/>
            </a:pPr>
            <a:r>
              <a:rPr/>
              <a:t>1 = Not comfortable at all</a:t>
            </a:r>
          </a:p>
          <a:p>
            <a:pPr lvl="0" indent="-342900" marL="342900">
              <a:buAutoNum type="alphaLcPeriod"/>
            </a:pPr>
            <a:r>
              <a:rPr/>
              <a:t>2</a:t>
            </a:r>
          </a:p>
          <a:p>
            <a:pPr lvl="0" indent="-342900" marL="342900">
              <a:buAutoNum type="alphaLcPeriod"/>
            </a:pPr>
            <a:r>
              <a:rPr/>
              <a:t>3</a:t>
            </a:r>
          </a:p>
          <a:p>
            <a:pPr lvl="0" indent="-342900" marL="342900">
              <a:buAutoNum type="alphaLcPeriod"/>
            </a:pPr>
            <a:r>
              <a:rPr/>
              <a:t>4</a:t>
            </a:r>
          </a:p>
          <a:p>
            <a:pPr lvl="0" indent="-342900" marL="342900">
              <a:buAutoNum type="alphaLcPeriod"/>
            </a:pPr>
            <a:r>
              <a:rPr/>
              <a:t>5 = Very comfortable</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8" end="18"/>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
                                            <p:txEl>
                                              <p:pRg st="19" end="19"/>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
                                            <p:txEl>
                                              <p:pRg st="20" end="2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Discussion of survey results</a:t>
            </a:r>
          </a:p>
          <a:p>
            <a:pPr lvl="0" indent="0" marL="0">
              <a:buNone/>
            </a:pPr>
          </a:p>
          <a:p>
            <a:pPr lvl="0" indent="0" marL="0">
              <a:buNone/>
            </a:pPr>
            <a:r>
              <a:rPr/>
              <a:t>What do we see in the results?</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Git: What is it?</a:t>
            </a:r>
          </a:p>
          <a:p>
            <a:pPr lvl="0" indent="0" marL="0">
              <a:buNone/>
            </a:pPr>
            <a:r>
              <a:rPr b="1"/>
              <a:t>Git</a:t>
            </a:r>
            <a:r>
              <a:rPr/>
              <a:t> is a free and </a:t>
            </a:r>
            <a:r>
              <a:rPr b="1"/>
              <a:t>open source software</a:t>
            </a:r>
            <a:r>
              <a:rPr/>
              <a:t>. With Git, you can:</a:t>
            </a:r>
          </a:p>
          <a:p>
            <a:pPr lvl="0"/>
            <a:r>
              <a:rPr b="1"/>
              <a:t>Track changes</a:t>
            </a:r>
            <a:r>
              <a:rPr/>
              <a:t> to files across folders over time, seeing what was changed, when and by whom</a:t>
            </a:r>
          </a:p>
          <a:p>
            <a:pPr lvl="0"/>
            <a:r>
              <a:rPr b="1"/>
              <a:t>Collaborate</a:t>
            </a:r>
            <a:r>
              <a:rPr/>
              <a:t> efficiently within a team as multiple people can work on the same folders and files</a:t>
            </a:r>
          </a:p>
        </p:txBody>
      </p:sp>
      <p:pic>
        <p:nvPicPr>
          <p:cNvPr descr="images/06_Git_logo.png" id="0" name="Picture 1"/>
          <p:cNvPicPr>
            <a:picLocks noGrp="1" noChangeAspect="1"/>
          </p:cNvPicPr>
          <p:nvPr/>
        </p:nvPicPr>
        <p:blipFill>
          <a:blip r:embed="rId3"/>
          <a:stretch>
            <a:fillRect/>
          </a:stretch>
        </p:blipFill>
        <p:spPr bwMode="auto">
          <a:xfrm>
            <a:off x="3568700" y="1524000"/>
            <a:ext cx="5105400" cy="1739900"/>
          </a:xfrm>
          <a:prstGeom prst="rect">
            <a:avLst/>
          </a:prstGeom>
          <a:noFill/>
          <a:ln w="9525">
            <a:noFill/>
            <a:headEnd/>
            <a:tailEnd/>
          </a:ln>
        </p:spPr>
      </p:pic>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GitHub: What is it?</a:t>
            </a:r>
          </a:p>
          <a:p>
            <a:pPr lvl="0" indent="0" marL="0">
              <a:buNone/>
            </a:pPr>
            <a:r>
              <a:rPr b="1"/>
              <a:t>GitHub</a:t>
            </a:r>
            <a:r>
              <a:rPr/>
              <a:t> is a </a:t>
            </a:r>
            <a:r>
              <a:rPr b="1"/>
              <a:t>cloud-based version control platform</a:t>
            </a:r>
            <a:r>
              <a:rPr/>
              <a:t> that uses Git to track changes and hosts Git repositories.</a:t>
            </a:r>
          </a:p>
          <a:p>
            <a:pPr lvl="0"/>
            <a:r>
              <a:rPr/>
              <a:t>Allows multiple people to </a:t>
            </a:r>
            <a:r>
              <a:rPr b="1"/>
              <a:t>collaborate</a:t>
            </a:r>
            <a:r>
              <a:rPr/>
              <a:t> on the same project</a:t>
            </a:r>
          </a:p>
          <a:p>
            <a:pPr lvl="0"/>
            <a:r>
              <a:rPr/>
              <a:t>Collaborators can </a:t>
            </a:r>
            <a:r>
              <a:rPr b="1"/>
              <a:t>share</a:t>
            </a:r>
            <a:r>
              <a:rPr/>
              <a:t> repositories, code etc. and ask for </a:t>
            </a:r>
            <a:r>
              <a:rPr b="1"/>
              <a:t>feedback</a:t>
            </a:r>
            <a:r>
              <a:rPr/>
              <a:t>, initiate discussions and point out bugs and issues</a:t>
            </a:r>
          </a:p>
          <a:p>
            <a:pPr lvl="0"/>
            <a:r>
              <a:rPr/>
              <a:t>GitHub </a:t>
            </a:r>
            <a:r>
              <a:rPr b="1"/>
              <a:t>stores</a:t>
            </a:r>
            <a:r>
              <a:rPr/>
              <a:t> all files remotely, making it accessible from anywhere</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05_GitHub_logo.png" id="0" name="Picture 1"/>
          <p:cNvPicPr>
            <a:picLocks noGrp="1" noChangeAspect="1"/>
          </p:cNvPicPr>
          <p:nvPr/>
        </p:nvPicPr>
        <p:blipFill>
          <a:blip r:embed="rId3"/>
          <a:stretch>
            <a:fillRect/>
          </a:stretch>
        </p:blipFill>
        <p:spPr bwMode="auto">
          <a:xfrm>
            <a:off x="787400" y="1193800"/>
            <a:ext cx="3390900" cy="3390900"/>
          </a:xfrm>
          <a:prstGeom prst="rect">
            <a:avLst/>
          </a:prstGeom>
          <a:noFill/>
          <a:ln w="9525">
            <a:noFill/>
            <a:headEnd/>
            <a:tailEnd/>
          </a:ln>
        </p:spPr>
      </p:pic>
      <p:sp>
        <p:nvSpPr>
          <p:cNvPr id="4" name="Content Placeholder 3"/>
          <p:cNvSpPr>
            <a:spLocks noGrp="1"/>
          </p:cNvSpPr>
          <p:nvPr>
            <p:ph idx="2" sz="half"/>
          </p:nvPr>
        </p:nvSpPr>
        <p:spPr/>
        <p:txBody>
          <a:bodyPr/>
          <a:lstStyle/>
          <a:p>
            <a:pPr lvl="0" indent="0" marL="1270000">
              <a:buNone/>
            </a:pPr>
            <a:r>
              <a:rPr sz="2000" b="1"/>
              <a:t>Note</a:t>
            </a:r>
          </a:p>
          <a:p>
            <a:pPr lvl="0" indent="0" marL="1270000">
              <a:buNone/>
            </a:pPr>
            <a:r>
              <a:rPr sz="2000"/>
              <a:t>GitHub is a free but commercial platform owned by Microsoft. A similar functionality is provided by GitLab, Codeberg, and other providers; some of them open source and non-commercial.</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The Git - GitHub workflow</a:t>
            </a:r>
          </a:p>
        </p:txBody>
      </p:sp>
      <p:pic>
        <p:nvPicPr>
          <p:cNvPr descr="images/07_Git_GitHub_workflow.jpg" id="0" name="Picture 1"/>
          <p:cNvPicPr>
            <a:picLocks noGrp="1" noChangeAspect="1"/>
          </p:cNvPicPr>
          <p:nvPr/>
        </p:nvPicPr>
        <p:blipFill>
          <a:blip r:embed="rId3"/>
          <a:stretch>
            <a:fillRect/>
          </a:stretch>
        </p:blipFill>
        <p:spPr bwMode="auto">
          <a:xfrm>
            <a:off x="3568700" y="1079500"/>
            <a:ext cx="5105400" cy="2628900"/>
          </a:xfrm>
          <a:prstGeom prst="rect">
            <a:avLst/>
          </a:prstGeom>
          <a:noFill/>
          <a:ln w="9525">
            <a:noFill/>
            <a:headEnd/>
            <a:tailEnd/>
          </a:ln>
        </p:spPr>
      </p:pic>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#explainlikeIamfive</a:t>
            </a:r>
          </a:p>
          <a:p>
            <a:pPr lvl="0" indent="0" marL="0">
              <a:buNone/>
            </a:pPr>
            <a:r>
              <a:rPr/>
              <a:t> </a:t>
            </a:r>
          </a:p>
          <a:p>
            <a:pPr lvl="0" indent="0" marL="0">
              <a:buNone/>
            </a:pPr>
            <a:r>
              <a:rPr/>
              <a:t>In pairs, explain the Git - GitHub workflow to your partner. What is the difference between </a:t>
            </a:r>
            <a:r>
              <a:rPr b="1"/>
              <a:t>pushing</a:t>
            </a:r>
            <a:r>
              <a:rPr/>
              <a:t> and </a:t>
            </a:r>
            <a:r>
              <a:rPr b="1"/>
              <a:t>pulling</a:t>
            </a:r>
            <a:r>
              <a:rPr/>
              <a:t>?</a:t>
            </a:r>
          </a:p>
          <a:p>
            <a:pPr lvl="0" indent="0" marL="0">
              <a:spcBef>
                <a:spcPts val="3000"/>
              </a:spcBef>
              <a:buNone/>
            </a:pPr>
            <a:r>
              <a:rPr b="1"/>
              <a:t>What is a “Git Forge”?</a:t>
            </a:r>
          </a:p>
          <a:p>
            <a:pPr lvl="0"/>
            <a:r>
              <a:rPr/>
              <a:t>Git handles </a:t>
            </a:r>
            <a:r>
              <a:rPr i="1"/>
              <a:t>version tracking</a:t>
            </a:r>
            <a:r>
              <a:rPr/>
              <a:t> locally and across repositories.</a:t>
            </a:r>
          </a:p>
          <a:p>
            <a:pPr lvl="0"/>
            <a:r>
              <a:rPr/>
              <a:t>A git forge adds a web-based layer and </a:t>
            </a:r>
            <a:r>
              <a:rPr i="1"/>
              <a:t>collaboration features</a:t>
            </a:r>
            <a:r>
              <a:rPr/>
              <a:t> on top of Git, such as:</a:t>
            </a:r>
          </a:p>
          <a:p>
            <a:pPr lvl="1"/>
            <a:r>
              <a:rPr/>
              <a:t>Access control (permissions, teams)</a:t>
            </a:r>
          </a:p>
          <a:p>
            <a:pPr lvl="1"/>
            <a:r>
              <a:rPr/>
              <a:t>Pull/Merge requests (propose and review changes)</a:t>
            </a:r>
          </a:p>
          <a:p>
            <a:pPr lvl="1"/>
            <a:r>
              <a:rPr/>
              <a:t>Issue tracking (bug reports, tasks)</a:t>
            </a:r>
          </a:p>
          <a:p>
            <a:pPr lvl="1"/>
            <a:r>
              <a:rPr/>
              <a:t>Code review tools (comments, approvals)</a:t>
            </a:r>
          </a:p>
          <a:p>
            <a:pPr lvl="1"/>
            <a:r>
              <a:rPr/>
              <a:t>CI/CD integration (automated testing and deployment)</a:t>
            </a:r>
          </a:p>
          <a:p>
            <a:pPr lvl="1"/>
            <a:r>
              <a:rPr/>
              <a:t>Web interface (browse code, history, diffs)</a:t>
            </a:r>
          </a:p>
          <a:p>
            <a:pPr lvl="0" indent="0" marL="1270000">
              <a:buNone/>
            </a:pPr>
            <a:r>
              <a:rPr sz="2000" b="1"/>
              <a:t>Note</a:t>
            </a:r>
          </a:p>
          <a:p>
            <a:pPr lvl="0" indent="0" marL="1270000">
              <a:buNone/>
            </a:pPr>
            <a:r>
              <a:rPr sz="2000"/>
              <a:t>Git = the engine that tracks changes Git forge = the full collaboration platform built around that engine (GitHub, GitLab, Codeberg, …)</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use Git: Let’s git started!</a:t>
            </a:r>
          </a:p>
          <a:p>
            <a:pPr lvl="0" indent="0" marL="1270000">
              <a:buNone/>
            </a:pPr>
            <a:r>
              <a:rPr sz="2000" b="1"/>
              <a:t>Some key terms</a:t>
            </a:r>
          </a:p>
          <a:p>
            <a:pPr lvl="0" indent="0" marL="1270000">
              <a:buNone/>
            </a:pPr>
            <a:r>
              <a:rPr sz="2000" b="1"/>
              <a:t>Terminal</a:t>
            </a:r>
            <a:r>
              <a:rPr sz="2000"/>
              <a:t> = an interfaced used to interact with the operating system, from which we can run programs, execute commands and “tasks” for the operating sytem and manage files (e.g., rename or remove them)</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Installing Git: Windows</a:t>
            </a:r>
          </a:p>
          <a:p>
            <a:pPr lvl="0" indent="0" marL="0">
              <a:buNone/>
            </a:pPr>
            <a:r>
              <a:rPr/>
              <a:t>To install Git on Windows:</a:t>
            </a:r>
          </a:p>
          <a:p>
            <a:pPr lvl="0"/>
            <a:r>
              <a:rPr/>
              <a:t>Download Git from </a:t>
            </a:r>
            <a:r>
              <a:rPr>
                <a:hlinkClick r:id="rId3"/>
              </a:rPr>
              <a:t>http://git-scm.com/downloads</a:t>
            </a:r>
          </a:p>
          <a:p>
            <a:pPr lvl="0"/>
            <a:r>
              <a:rPr/>
              <a:t>Download and run .exe file</a:t>
            </a:r>
          </a:p>
          <a:p>
            <a:pPr lvl="0"/>
            <a:r>
              <a:rPr/>
              <a:t>Accept all the default settings and keep clicking </a:t>
            </a:r>
            <a:r>
              <a:rPr>
                <a:latin typeface="Courier"/>
              </a:rPr>
              <a:t>Next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Installing Git: MacOS</a:t>
            </a:r>
          </a:p>
          <a:p>
            <a:pPr lvl="0" indent="0" marL="0">
              <a:buNone/>
            </a:pPr>
            <a:r>
              <a:rPr/>
              <a:t>To install Git on MacOS:</a:t>
            </a:r>
          </a:p>
          <a:p>
            <a:pPr lvl="0"/>
            <a:r>
              <a:rPr/>
              <a:t>Install the </a:t>
            </a:r>
            <a:r>
              <a:rPr>
                <a:latin typeface="Courier"/>
              </a:rPr>
              <a:t>homebrew</a:t>
            </a:r>
            <a:r>
              <a:rPr/>
              <a:t> command line tool from </a:t>
            </a:r>
            <a:r>
              <a:rPr>
                <a:hlinkClick r:id="rId3"/>
              </a:rPr>
              <a:t>https://brew.sh</a:t>
            </a:r>
            <a:r>
              <a:rPr/>
              <a:t>. This is a tool to install other software.</a:t>
            </a:r>
          </a:p>
          <a:p>
            <a:pPr lvl="0"/>
            <a:r>
              <a:rPr/>
              <a:t>In the terminal, run </a:t>
            </a:r>
            <a:r>
              <a:rPr>
                <a:latin typeface="Courier"/>
              </a:rPr>
              <a:t>brew install git</a:t>
            </a:r>
          </a:p>
          <a:p>
            <a:pPr lvl="0"/>
            <a:r>
              <a:rPr/>
              <a:t>Accept the prompts appearing the terminal</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Installing Git: Ubuntu</a:t>
            </a:r>
          </a:p>
          <a:p>
            <a:pPr lvl="0" indent="0" marL="0">
              <a:buNone/>
            </a:pPr>
            <a:r>
              <a:rPr/>
              <a:t>To install Git on Ubuntu:</a:t>
            </a:r>
          </a:p>
          <a:p>
            <a:pPr lvl="0"/>
            <a:r>
              <a:rPr/>
              <a:t>Paste the following line into your terminal:</a:t>
            </a:r>
          </a:p>
          <a:p>
            <a:pPr lvl="0" indent="0">
              <a:buNone/>
            </a:pPr>
            <a:r>
              <a:rPr>
                <a:solidFill>
                  <a:srgbClr val="4758AB"/>
                </a:solidFill>
                <a:latin typeface="Courier"/>
              </a:rPr>
              <a:t>sudo</a:t>
            </a:r>
            <a:r>
              <a:rPr>
                <a:solidFill>
                  <a:srgbClr val="003B4F"/>
                </a:solidFill>
                <a:latin typeface="Courier"/>
              </a:rPr>
              <a:t> apt-get install git-core</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Configuring Git</a:t>
            </a:r>
          </a:p>
          <a:p>
            <a:pPr lvl="0" indent="0" marL="0">
              <a:buNone/>
            </a:pPr>
            <a:r>
              <a:rPr b="1"/>
              <a:t>Step 1</a:t>
            </a:r>
            <a:r>
              <a:rPr/>
              <a:t>: By default, Git is used through the </a:t>
            </a:r>
            <a:r>
              <a:rPr b="1"/>
              <a:t>command line</a:t>
            </a:r>
            <a:r>
              <a:rPr/>
              <a:t> interface, but can be used through RStudio (later in this session).</a:t>
            </a:r>
          </a:p>
          <a:p>
            <a:pPr lvl="0"/>
            <a:r>
              <a:rPr b="1"/>
              <a:t>Windows</a:t>
            </a:r>
            <a:r>
              <a:rPr/>
              <a:t>: Open Git Bash (start menu &gt; </a:t>
            </a:r>
            <a:r>
              <a:rPr i="1"/>
              <a:t>Git Bash</a:t>
            </a:r>
            <a:r>
              <a:rPr/>
              <a:t>)</a:t>
            </a:r>
          </a:p>
          <a:p>
            <a:pPr lvl="0"/>
            <a:r>
              <a:rPr b="1"/>
              <a:t>MacOS</a:t>
            </a:r>
            <a:r>
              <a:rPr/>
              <a:t>: Open the </a:t>
            </a:r>
            <a:r>
              <a:rPr i="1"/>
              <a:t>Terminal app</a:t>
            </a:r>
          </a:p>
          <a:p>
            <a:pPr lvl="0"/>
            <a:r>
              <a:rPr b="1"/>
              <a:t>Linux</a:t>
            </a:r>
            <a:r>
              <a:rPr/>
              <a:t>: Open your distribution’s </a:t>
            </a:r>
            <a:r>
              <a:rPr i="1"/>
              <a:t>terminal emulator</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Configuring Git</a:t>
            </a:r>
          </a:p>
          <a:p>
            <a:pPr lvl="0" indent="0" marL="0">
              <a:buNone/>
            </a:pPr>
            <a:r>
              <a:rPr b="1"/>
              <a:t>Step 2</a:t>
            </a:r>
            <a:r>
              <a:rPr/>
              <a:t>: Next, enter the following commands with your email one after the other (hitting ENTER after each command):</a:t>
            </a:r>
          </a:p>
          <a:p>
            <a:pPr lvl="0" indent="0">
              <a:buNone/>
            </a:pPr>
            <a:r>
              <a:rPr>
                <a:solidFill>
                  <a:srgbClr val="4758AB"/>
                </a:solidFill>
                <a:latin typeface="Courier"/>
              </a:rPr>
              <a:t>git</a:t>
            </a:r>
            <a:r>
              <a:rPr>
                <a:solidFill>
                  <a:srgbClr val="003B4F"/>
                </a:solidFill>
                <a:latin typeface="Courier"/>
              </a:rPr>
              <a:t> config </a:t>
            </a:r>
            <a:r>
              <a:rPr>
                <a:solidFill>
                  <a:srgbClr val="657422"/>
                </a:solidFill>
                <a:latin typeface="Courier"/>
              </a:rPr>
              <a:t>--global</a:t>
            </a:r>
            <a:r>
              <a:rPr>
                <a:solidFill>
                  <a:srgbClr val="003B4F"/>
                </a:solidFill>
                <a:latin typeface="Courier"/>
              </a:rPr>
              <a:t> user.email </a:t>
            </a:r>
            <a:r>
              <a:rPr>
                <a:solidFill>
                  <a:srgbClr val="20794D"/>
                </a:solidFill>
                <a:latin typeface="Courier"/>
              </a:rPr>
              <a:t>"you@youremail.com"</a:t>
            </a:r>
            <a:br/>
            <a:r>
              <a:rPr>
                <a:solidFill>
                  <a:srgbClr val="4758AB"/>
                </a:solidFill>
                <a:latin typeface="Courier"/>
              </a:rPr>
              <a:t>git</a:t>
            </a:r>
            <a:r>
              <a:rPr>
                <a:solidFill>
                  <a:srgbClr val="003B4F"/>
                </a:solidFill>
                <a:latin typeface="Courier"/>
              </a:rPr>
              <a:t> config </a:t>
            </a:r>
            <a:r>
              <a:rPr>
                <a:solidFill>
                  <a:srgbClr val="657422"/>
                </a:solidFill>
                <a:latin typeface="Courier"/>
              </a:rPr>
              <a:t>--global</a:t>
            </a:r>
            <a:r>
              <a:rPr>
                <a:solidFill>
                  <a:srgbClr val="003B4F"/>
                </a:solidFill>
                <a:latin typeface="Courier"/>
              </a:rPr>
              <a:t> user.name </a:t>
            </a:r>
            <a:r>
              <a:rPr>
                <a:solidFill>
                  <a:srgbClr val="20794D"/>
                </a:solidFill>
                <a:latin typeface="Courier"/>
              </a:rPr>
              <a:t>"Your Name"</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Securing the connection between your computer and GitHub</a:t>
            </a:r>
          </a:p>
          <a:p>
            <a:pPr lvl="0" indent="0" marL="0">
              <a:buNone/>
            </a:pPr>
            <a:r>
              <a:rPr/>
              <a:t>You need to identify yourself and your machine to GitHub before interacting with GitHub repositories.</a:t>
            </a:r>
          </a:p>
          <a:p>
            <a:pPr lvl="0"/>
            <a:r>
              <a:rPr b="1"/>
              <a:t>SSH keys</a:t>
            </a:r>
            <a:r>
              <a:rPr/>
              <a:t> are a common way to manifest your identification to GitHub</a:t>
            </a:r>
          </a:p>
          <a:p>
            <a:pPr lvl="0" indent="0" marL="1270000">
              <a:buNone/>
            </a:pPr>
            <a:r>
              <a:rPr sz="2000" b="1"/>
              <a:t>Important</a:t>
            </a:r>
          </a:p>
          <a:p>
            <a:pPr lvl="0" indent="0" marL="1270000">
              <a:buNone/>
            </a:pPr>
            <a:r>
              <a:rPr sz="2000" b="1"/>
              <a:t>SSH keys</a:t>
            </a:r>
            <a:r>
              <a:rPr sz="2000"/>
              <a:t> come in pairs, a public key that gets shared with services like GitHub, and a private key that is stored only on your computer. </a:t>
            </a:r>
            <a:r>
              <a:rPr sz="2000" i="1"/>
              <a:t>Never share your private key!</a:t>
            </a:r>
          </a:p>
          <a:p>
            <a:pPr lvl="0" indent="0" marL="1270000">
              <a:buNone/>
            </a:pPr>
            <a:r>
              <a:rPr sz="2000"/>
              <a:t>If the keys match, you’re granted access. Setting up the SSH key has to be executed once per GitHub account and for </a:t>
            </a:r>
            <a:r>
              <a:rPr sz="2000" b="1"/>
              <a:t>each</a:t>
            </a:r>
            <a:r>
              <a:rPr sz="2000"/>
              <a:t> computer you will use to connect to GitHub.</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Checking for existing SSH key pair</a:t>
            </a:r>
          </a:p>
          <a:p>
            <a:pPr lvl="0" indent="0" marL="0">
              <a:buNone/>
            </a:pPr>
            <a:r>
              <a:rPr b="1"/>
              <a:t>Step 1</a:t>
            </a:r>
            <a:r>
              <a:rPr/>
              <a:t>: Before generating a new SSH key pair, check for existing keys in your .ssh directory.</a:t>
            </a:r>
          </a:p>
          <a:p>
            <a:pPr lvl="0"/>
            <a:r>
              <a:rPr b="1"/>
              <a:t>Windows</a:t>
            </a:r>
            <a:r>
              <a:rPr/>
              <a:t>: Open Git Bash (</a:t>
            </a:r>
            <a:r>
              <a:rPr>
                <a:latin typeface="Courier"/>
              </a:rPr>
              <a:t>Windows start menu</a:t>
            </a:r>
            <a:r>
              <a:rPr/>
              <a:t> &gt; type </a:t>
            </a:r>
            <a:r>
              <a:rPr>
                <a:latin typeface="Courier"/>
              </a:rPr>
              <a:t>Git Bash</a:t>
            </a:r>
            <a:r>
              <a:rPr/>
              <a:t> into search bar)</a:t>
            </a:r>
          </a:p>
          <a:p>
            <a:pPr lvl="0"/>
            <a:r>
              <a:rPr b="1"/>
              <a:t>MacOS</a:t>
            </a:r>
            <a:r>
              <a:rPr/>
              <a:t>: Open Terminal App</a:t>
            </a:r>
          </a:p>
          <a:p>
            <a:pPr lvl="0"/>
            <a:r>
              <a:rPr b="1"/>
              <a:t>Linux</a:t>
            </a:r>
            <a:r>
              <a:rPr/>
              <a:t>: Open your distribution’s (or any other) terminal emulator</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Checking for existing SSH key pair</a:t>
            </a:r>
          </a:p>
          <a:p>
            <a:pPr lvl="0" indent="0" marL="0">
              <a:buNone/>
            </a:pPr>
            <a:r>
              <a:rPr b="1"/>
              <a:t>Step 2</a:t>
            </a:r>
            <a:r>
              <a:rPr/>
              <a:t>: Enter the following command to list the content of the ssh directory:</a:t>
            </a:r>
          </a:p>
          <a:p>
            <a:pPr lvl="0" indent="0">
              <a:buNone/>
            </a:pPr>
            <a:r>
              <a:rPr>
                <a:solidFill>
                  <a:srgbClr val="4758AB"/>
                </a:solidFill>
                <a:latin typeface="Courier"/>
              </a:rPr>
              <a:t>ls</a:t>
            </a:r>
            <a:r>
              <a:rPr>
                <a:solidFill>
                  <a:srgbClr val="003B4F"/>
                </a:solidFill>
                <a:latin typeface="Courier"/>
              </a:rPr>
              <a:t> ~/.ssh</a:t>
            </a:r>
          </a:p>
          <a:p>
            <a:pPr lvl="0" indent="0" marL="1270000">
              <a:buNone/>
            </a:pPr>
            <a:r>
              <a:rPr sz="2000" b="1"/>
              <a:t>A Note for Nerds</a:t>
            </a:r>
          </a:p>
          <a:p>
            <a:pPr lvl="0"/>
            <a:r>
              <a:rPr sz="2000">
                <a:latin typeface="Courier"/>
              </a:rPr>
              <a:t>ls</a:t>
            </a:r>
            <a:r>
              <a:rPr sz="2000"/>
              <a:t> = “list” files in a directory</a:t>
            </a:r>
          </a:p>
          <a:p>
            <a:pPr lvl="0"/>
            <a:r>
              <a:rPr sz="2000">
                <a:latin typeface="Courier"/>
              </a:rPr>
              <a:t>~</a:t>
            </a:r>
            <a:r>
              <a:rPr sz="2000"/>
              <a:t> = home directory of the current user</a:t>
            </a:r>
          </a:p>
          <a:p>
            <a:pPr lvl="0"/>
            <a:r>
              <a:rPr sz="2000">
                <a:latin typeface="Courier"/>
              </a:rPr>
              <a:t>.ssh</a:t>
            </a:r>
            <a:r>
              <a:rPr sz="2000"/>
              <a:t> = folder where SSH keys are stored</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Checking for existing SSH key pair</a:t>
            </a:r>
          </a:p>
          <a:p>
            <a:pPr lvl="0" indent="0" marL="0">
              <a:buNone/>
            </a:pPr>
            <a:r>
              <a:rPr b="1"/>
              <a:t>Step 3</a:t>
            </a:r>
            <a:r>
              <a:rPr/>
              <a:t>: If there are existing ssh keys, they are named like this (you can have multiple keys):</a:t>
            </a:r>
          </a:p>
          <a:p>
            <a:pPr lvl="0" indent="0">
              <a:buNone/>
            </a:pPr>
            <a:r>
              <a:rPr>
                <a:latin typeface="Courier"/>
              </a:rPr>
              <a:t>id_rsa.pub
id_ecdsa.pub
id_ed25519.pub</a:t>
            </a:r>
          </a:p>
          <a:p>
            <a:pPr lvl="0" indent="0" marL="1270000">
              <a:buNone/>
            </a:pPr>
            <a:r>
              <a:rPr sz="2000" b="1"/>
              <a:t>Important</a:t>
            </a:r>
          </a:p>
          <a:p>
            <a:pPr lvl="0" indent="0" marL="1270000">
              <a:buNone/>
            </a:pPr>
            <a:r>
              <a:rPr sz="2000"/>
              <a:t>If you already have an SSH key pair, you can skip the section on how to generate a new SSH key pair. If you don’t have an existing public and private key pair (which is to be expected!), or if you receive an error that ~/.ssh doesn’t exist, that this file location doesn’t exist, or that you can’t access this folder, go ahead and generate a new SSH key pair.</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Generating a new SSH key pair</a:t>
            </a:r>
          </a:p>
          <a:p>
            <a:pPr lvl="0" indent="0" marL="0">
              <a:buNone/>
            </a:pPr>
            <a:r>
              <a:rPr b="1"/>
              <a:t>Step 1</a:t>
            </a:r>
            <a:r>
              <a:rPr/>
              <a:t>: In the command line, type the following (replacing the email here with your </a:t>
            </a:r>
            <a:r>
              <a:rPr i="1"/>
              <a:t>own</a:t>
            </a:r>
            <a:r>
              <a:rPr/>
              <a:t> email) to create a new SSH key pair with your email as a label:</a:t>
            </a:r>
          </a:p>
          <a:p>
            <a:pPr lvl="0" indent="0" marL="0">
              <a:buNone/>
            </a:pPr>
          </a:p>
          <a:p>
            <a:pPr lvl="0" indent="0">
              <a:buNone/>
            </a:pPr>
            <a:r>
              <a:rPr>
                <a:solidFill>
                  <a:srgbClr val="4758AB"/>
                </a:solidFill>
                <a:latin typeface="Courier"/>
              </a:rPr>
              <a:t>ssh-keygen</a:t>
            </a:r>
            <a:r>
              <a:rPr>
                <a:solidFill>
                  <a:srgbClr val="003B4F"/>
                </a:solidFill>
                <a:latin typeface="Courier"/>
              </a:rPr>
              <a:t> </a:t>
            </a:r>
            <a:r>
              <a:rPr>
                <a:solidFill>
                  <a:srgbClr val="657422"/>
                </a:solidFill>
                <a:latin typeface="Courier"/>
              </a:rPr>
              <a:t>-t</a:t>
            </a:r>
            <a:r>
              <a:rPr>
                <a:solidFill>
                  <a:srgbClr val="003B4F"/>
                </a:solidFill>
                <a:latin typeface="Courier"/>
              </a:rPr>
              <a:t> ed25519 </a:t>
            </a:r>
            <a:r>
              <a:rPr>
                <a:solidFill>
                  <a:srgbClr val="657422"/>
                </a:solidFill>
                <a:latin typeface="Courier"/>
              </a:rPr>
              <a:t>-C</a:t>
            </a:r>
            <a:r>
              <a:rPr>
                <a:solidFill>
                  <a:srgbClr val="003B4F"/>
                </a:solidFill>
                <a:latin typeface="Courier"/>
              </a:rPr>
              <a:t> </a:t>
            </a:r>
            <a:r>
              <a:rPr>
                <a:solidFill>
                  <a:srgbClr val="20794D"/>
                </a:solidFill>
                <a:latin typeface="Courier"/>
              </a:rPr>
              <a:t>"your_email@email.com"</a:t>
            </a:r>
          </a:p>
          <a:p>
            <a:pPr lvl="0" indent="0" marL="0">
              <a:buNone/>
            </a:pPr>
          </a:p>
          <a:p>
            <a:pPr lvl="0" indent="0" marL="1270000">
              <a:buNone/>
            </a:pPr>
            <a:r>
              <a:rPr sz="2000" b="1"/>
              <a:t>Tip</a:t>
            </a:r>
          </a:p>
          <a:p>
            <a:pPr lvl="0" indent="0" marL="1270000">
              <a:buNone/>
            </a:pPr>
            <a:r>
              <a:rPr sz="2000"/>
              <a:t>Pay close attention to spacing and capital letters while typing.</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Generating a new SSH key pair</a:t>
            </a:r>
          </a:p>
          <a:p>
            <a:pPr lvl="0" indent="0" marL="0">
              <a:buNone/>
            </a:pPr>
            <a:r>
              <a:rPr b="1"/>
              <a:t>Step 2</a:t>
            </a:r>
            <a:r>
              <a:rPr/>
              <a:t>: When prompted to </a:t>
            </a:r>
            <a:r>
              <a:rPr i="1"/>
              <a:t>Enter a file in which to save key</a:t>
            </a:r>
            <a:r>
              <a:rPr/>
              <a:t>, press ENTER to accept the default file location. That should give you this prompt:</a:t>
            </a:r>
          </a:p>
          <a:p>
            <a:pPr lvl="0" indent="0" marL="0">
              <a:buNone/>
            </a:pPr>
          </a:p>
          <a:p>
            <a:pPr lvl="0" indent="0">
              <a:buNone/>
            </a:pPr>
            <a:r>
              <a:rPr>
                <a:solidFill>
                  <a:srgbClr val="003B4F"/>
                </a:solidFill>
                <a:latin typeface="Courier"/>
              </a:rPr>
              <a:t>Generating public/private ed25519 key pair.  </a:t>
            </a:r>
            <a:br/>
            <a:r>
              <a:rPr>
                <a:solidFill>
                  <a:srgbClr val="003B4F"/>
                </a:solidFill>
                <a:latin typeface="Courier"/>
              </a:rPr>
              <a:t>Enter file in which to save the key </a:t>
            </a:r>
            <a:r>
              <a:rPr>
                <a:solidFill>
                  <a:srgbClr val="AD0000"/>
                </a:solidFill>
                <a:latin typeface="Courier"/>
              </a:rPr>
              <a:t>(</a:t>
            </a:r>
            <a:r>
              <a:rPr>
                <a:solidFill>
                  <a:srgbClr val="003B4F"/>
                </a:solidFill>
                <a:latin typeface="Courier"/>
              </a:rPr>
              <a:t>/Users/username/.ssh/id_ed25519</a:t>
            </a:r>
            <a:r>
              <a:rPr b="1">
                <a:solidFill>
                  <a:srgbClr val="003B4F"/>
                </a:solidFill>
                <a:latin typeface="Courier"/>
              </a:rPr>
              <a:t>)</a:t>
            </a:r>
            <a:r>
              <a:rPr>
                <a:solidFill>
                  <a:srgbClr val="003B4F"/>
                </a:solidFill>
                <a:latin typeface="Courier"/>
              </a:rPr>
              <a:t>:</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Generating a new SSH key pair</a:t>
            </a:r>
          </a:p>
          <a:p>
            <a:pPr lvl="0" indent="0" marL="0">
              <a:buNone/>
            </a:pPr>
            <a:r>
              <a:rPr b="1"/>
              <a:t>Step 3</a:t>
            </a:r>
            <a:r>
              <a:rPr/>
              <a:t>: Next, you are asked to provide a passphrase in the terminal (see the next slide for more information!).</a:t>
            </a:r>
          </a:p>
          <a:p>
            <a:pPr lvl="0" indent="0">
              <a:buNone/>
            </a:pPr>
            <a:r>
              <a:rPr>
                <a:latin typeface="Courier"/>
              </a:rPr>
              <a:t>Enter passphrase (empty for no passphrase):  
Enter same passphrase again:</a:t>
            </a:r>
          </a:p>
          <a:p>
            <a:pPr lvl="0" indent="0" marL="0">
              <a:buNone/>
            </a:pPr>
          </a:p>
          <a:p>
            <a:pPr lvl="0" indent="0" marL="1270000">
              <a:buNone/>
            </a:pPr>
            <a:r>
              <a:rPr sz="2000" b="1"/>
              <a:t>Warning</a:t>
            </a:r>
          </a:p>
          <a:p>
            <a:pPr lvl="0" indent="0" marL="1270000">
              <a:buNone/>
            </a:pPr>
            <a:r>
              <a:rPr sz="2000"/>
              <a:t>When you type passwords in the command line, </a:t>
            </a:r>
            <a:r>
              <a:rPr sz="2000" b="1"/>
              <a:t>nothing</a:t>
            </a:r>
            <a:r>
              <a:rPr sz="2000"/>
              <a:t> is displayed, you are however still typing in the background. This is </a:t>
            </a:r>
            <a:r>
              <a:rPr sz="2000" b="1"/>
              <a:t>normal behaviour</a:t>
            </a:r>
            <a:r>
              <a:rPr sz="2000"/>
              <a:t> by the command line.</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Some notes on passphrases …</a:t>
            </a:r>
          </a:p>
          <a:p>
            <a:pPr lvl="0" indent="0" marL="1270000">
              <a:buNone/>
            </a:pPr>
            <a:r>
              <a:rPr sz="2000" b="1"/>
              <a:t>Note</a:t>
            </a:r>
          </a:p>
          <a:p>
            <a:pPr lvl="0" indent="0" marL="1270000">
              <a:buNone/>
            </a:pPr>
            <a:r>
              <a:rPr sz="2000"/>
              <a:t>Creating a passphrase is an </a:t>
            </a:r>
            <a:r>
              <a:rPr sz="2000" b="1"/>
              <a:t>optional extra-layer of protection</a:t>
            </a:r>
            <a:r>
              <a:rPr sz="2000"/>
              <a:t>, as it protects your keys with a password. However, you will need to type that password everytime you use your SSH key, which can get annoying. In a high-security environment, add a passphrase. For typical research use cases, you can skip that step (simply press ENTER without adding a passphrase).</a:t>
            </a:r>
          </a:p>
          <a:p>
            <a:pPr lvl="0" indent="0" marL="1270000">
              <a:buNone/>
            </a:pPr>
            <a:r>
              <a:rPr sz="2000" b="1"/>
              <a:t>Important</a:t>
            </a:r>
          </a:p>
          <a:p>
            <a:pPr lvl="0" indent="0" marL="1270000">
              <a:buNone/>
            </a:pPr>
            <a:r>
              <a:rPr sz="2000"/>
              <a:t>If you lose your SSH key passphrase, </a:t>
            </a:r>
            <a:r>
              <a:rPr sz="2000" b="1"/>
              <a:t>there is no way to recover it</a:t>
            </a:r>
            <a:r>
              <a:rPr sz="2000"/>
              <a:t>. You’ll need to generate a brand new SSH keypair. Therefore, when you create your passphrase for your ssh key, </a:t>
            </a:r>
            <a:r>
              <a:rPr sz="2000" b="1"/>
              <a:t>please write it down immediately</a:t>
            </a:r>
            <a:r>
              <a:rPr sz="2000"/>
              <a:t> so that you do not forget, ideally in a </a:t>
            </a:r>
            <a:r>
              <a:rPr sz="2000" b="1"/>
              <a:t>password manager</a:t>
            </a:r>
            <a:r>
              <a:rPr sz="2000"/>
              <a:t>.</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Generating a new SSH key pair</a:t>
            </a:r>
          </a:p>
          <a:p>
            <a:pPr lvl="0" indent="0" marL="0">
              <a:buNone/>
            </a:pPr>
            <a:r>
              <a:rPr b="1"/>
              <a:t>Step 4</a:t>
            </a:r>
            <a:r>
              <a:rPr/>
              <a:t>: When the key generation is complete, you should see the confirmation below.</a:t>
            </a:r>
          </a:p>
          <a:p>
            <a:pPr lvl="0" indent="0">
              <a:buNone/>
            </a:pPr>
            <a:r>
              <a:rPr>
                <a:latin typeface="Courier"/>
              </a:rPr>
              <a:t>Your identification has been saved in /Users/username/.ssh/id_ed25519.
Your public key has been saved in /Users/username/.ssh/id_ed25519.pub.
The key fingerprint is:
SHA256:6nr/zo0g7Bz7WMRwy34maBhQy1UZyX47gT+egRdlIhs your_email@email.com
The key's randomart image is:
+--[ED25519 256]--+
|    .o++         |
|   o oF . o      |
|  . o+ =.+.      |
|   .  + += .     |
|    .  +S++      |
|   . ..oB=       |
|    . ++*=.      |
|     o.==* o     |
|    .o.o+** .    |
+----[SHA256]-----+</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Generating a new SSH key pair</a:t>
            </a:r>
          </a:p>
          <a:p>
            <a:pPr lvl="0" indent="0" marL="1270000">
              <a:buNone/>
            </a:pPr>
            <a:r>
              <a:rPr sz="2000" b="1"/>
              <a:t>Note</a:t>
            </a:r>
          </a:p>
          <a:p>
            <a:pPr lvl="0" indent="0" marL="1270000">
              <a:buNone/>
            </a:pPr>
            <a:r>
              <a:rPr sz="2000" b="1"/>
              <a:t>Done!</a:t>
            </a:r>
            <a:r>
              <a:rPr sz="2000"/>
              <a:t> You have successfully </a:t>
            </a:r>
            <a:r>
              <a:rPr sz="2000" b="1"/>
              <a:t>generated your public SSH key pair</a:t>
            </a:r>
            <a:r>
              <a:rPr sz="2000"/>
              <a:t>.</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Adding the SSH key to GitHub account</a:t>
            </a:r>
          </a:p>
          <a:p>
            <a:pPr lvl="0" indent="0" marL="0">
              <a:buNone/>
            </a:pPr>
            <a:r>
              <a:rPr b="1"/>
              <a:t>Step 1</a:t>
            </a:r>
            <a:r>
              <a:rPr/>
              <a:t>: Tell GitHub about your new public key. In the terminal, please hit ENTER after typing:</a:t>
            </a:r>
          </a:p>
          <a:p>
            <a:pPr lvl="0" indent="0">
              <a:buNone/>
            </a:pPr>
            <a:r>
              <a:rPr>
                <a:solidFill>
                  <a:srgbClr val="4758AB"/>
                </a:solidFill>
                <a:latin typeface="Courier"/>
              </a:rPr>
              <a:t>cat</a:t>
            </a:r>
            <a:r>
              <a:rPr>
                <a:solidFill>
                  <a:srgbClr val="003B4F"/>
                </a:solidFill>
                <a:latin typeface="Courier"/>
              </a:rPr>
              <a:t> ~/.ssh/id_ed25519.pub</a:t>
            </a:r>
          </a:p>
          <a:p>
            <a:pPr lvl="0" indent="0" marL="0">
              <a:buNone/>
            </a:pPr>
          </a:p>
          <a:p>
            <a:pPr lvl="0" indent="0" marL="1270000">
              <a:buNone/>
            </a:pPr>
            <a:r>
              <a:rPr sz="2000" b="1"/>
              <a:t>Important</a:t>
            </a:r>
          </a:p>
          <a:p>
            <a:pPr lvl="0" indent="0" marL="1270000">
              <a:buNone/>
            </a:pPr>
            <a:r>
              <a:rPr sz="2000"/>
              <a:t>Be careful: do not copy the content of your </a:t>
            </a:r>
            <a:r>
              <a:rPr sz="2000" i="1"/>
              <a:t>private</a:t>
            </a:r>
            <a:r>
              <a:rPr sz="2000"/>
              <a:t> key, but your </a:t>
            </a:r>
            <a:r>
              <a:rPr sz="2000" b="1"/>
              <a:t>public</a:t>
            </a:r>
            <a:r>
              <a:rPr sz="2000"/>
              <a:t> key. Your public key ends with .pub.</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Adding the SSH key to GitHub account</a:t>
            </a:r>
          </a:p>
          <a:p>
            <a:pPr lvl="0" indent="0" marL="0">
              <a:buNone/>
            </a:pPr>
            <a:r>
              <a:rPr b="1"/>
              <a:t>Step 2</a:t>
            </a:r>
            <a:r>
              <a:rPr/>
              <a:t>: The output should be something like below. This is the output that needs to be copied in its </a:t>
            </a:r>
            <a:r>
              <a:rPr b="1"/>
              <a:t>entirety</a:t>
            </a:r>
            <a:r>
              <a:rPr/>
              <a:t>.</a:t>
            </a:r>
          </a:p>
          <a:p>
            <a:pPr lvl="0" indent="0">
              <a:buNone/>
            </a:pPr>
            <a:r>
              <a:rPr>
                <a:latin typeface="Courier"/>
              </a:rPr>
              <a:t># The output looks like this. The characters after ssh-ed25519 will be different for you, however.
ssh-ed25519 AAAAC3NzaC1lZDI1NTE5AAAAIFEKiimOpcayfHhlbjmnIBAUX74FY/o20k9yFA16XOLm your_email@email.com</a:t>
            </a:r>
          </a:p>
          <a:p>
            <a:pPr lvl="0" indent="0" marL="0">
              <a:buNone/>
            </a:pPr>
          </a:p>
          <a:p>
            <a:pPr lvl="0" indent="0" marL="1270000">
              <a:buNone/>
            </a:pPr>
            <a:r>
              <a:rPr sz="2000" b="1"/>
              <a:t>Important</a:t>
            </a:r>
          </a:p>
          <a:p>
            <a:pPr lvl="0" indent="0" marL="1270000">
              <a:buNone/>
            </a:pPr>
            <a:r>
              <a:rPr sz="2000" b="1"/>
              <a:t>Copy the contents</a:t>
            </a:r>
            <a:r>
              <a:rPr sz="2000"/>
              <a:t> of the output to your clipboard.</a:t>
            </a:r>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Adding the SSH key to GitHub account</a:t>
            </a:r>
          </a:p>
          <a:p>
            <a:pPr lvl="0" indent="0" marL="0">
              <a:buNone/>
            </a:pPr>
            <a:r>
              <a:rPr b="1"/>
              <a:t>Step 3</a:t>
            </a:r>
            <a:r>
              <a:rPr/>
              <a:t>:</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a:r>
              <a:rPr/>
              <a:t>Login to </a:t>
            </a:r>
            <a:r>
              <a:rPr>
                <a:hlinkClick r:id="rId3"/>
              </a:rPr>
              <a:t>github.com</a:t>
            </a:r>
          </a:p>
          <a:p>
            <a:pPr lvl="0"/>
            <a:r>
              <a:rPr/>
              <a:t>Navigate to your account settings by clicking on your profile photo (top right) and selecting </a:t>
            </a:r>
            <a:r>
              <a:rPr>
                <a:latin typeface="Courier"/>
              </a:rPr>
              <a:t>Settings</a:t>
            </a:r>
          </a:p>
          <a:p>
            <a:pPr lvl="0"/>
            <a:r>
              <a:rPr/>
              <a:t>Click on </a:t>
            </a:r>
            <a:r>
              <a:rPr>
                <a:latin typeface="Courier"/>
              </a:rPr>
              <a:t>SSH and GPG keys</a:t>
            </a:r>
            <a:r>
              <a:rPr/>
              <a:t> (left sidebar)</a:t>
            </a:r>
          </a:p>
          <a:p>
            <a:pPr lvl="0"/>
            <a:r>
              <a:rPr/>
              <a:t>Click on the green button </a:t>
            </a:r>
            <a:r>
              <a:rPr>
                <a:latin typeface="Courier"/>
              </a:rPr>
              <a:t>New SSH key</a:t>
            </a:r>
            <a:r>
              <a:rPr/>
              <a:t> or </a:t>
            </a:r>
            <a:r>
              <a:rPr>
                <a:latin typeface="Courier"/>
              </a:rPr>
              <a:t>Add SSH key</a:t>
            </a:r>
            <a:r>
              <a:rPr/>
              <a:t>.</a:t>
            </a:r>
          </a:p>
        </p:txBody>
      </p:sp>
      <p:pic>
        <p:nvPicPr>
          <p:cNvPr descr="images/ssh-key.png" id="0" name="Picture 1"/>
          <p:cNvPicPr>
            <a:picLocks noGrp="1" noChangeAspect="1"/>
          </p:cNvPicPr>
          <p:nvPr/>
        </p:nvPicPr>
        <p:blipFill>
          <a:blip r:embed="rId4"/>
          <a:stretch>
            <a:fillRect/>
          </a:stretch>
        </p:blipFill>
        <p:spPr bwMode="auto">
          <a:xfrm>
            <a:off x="4648200" y="1473200"/>
            <a:ext cx="4038600" cy="2819400"/>
          </a:xfrm>
          <a:prstGeom prst="rect">
            <a:avLst/>
          </a:prstGeom>
          <a:noFill/>
          <a:ln w="9525">
            <a:noFill/>
            <a:headEnd/>
            <a:tailEnd/>
          </a:ln>
        </p:spPr>
      </p:pic>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Adding the SSH key to GitHub account</a:t>
            </a:r>
          </a:p>
          <a:p>
            <a:pPr lvl="0" indent="0" marL="0">
              <a:buNone/>
            </a:pPr>
            <a:r>
              <a:rPr b="1"/>
              <a:t>Step 4</a:t>
            </a:r>
            <a:r>
              <a:rPr/>
              <a:t>:</a:t>
            </a:r>
          </a:p>
          <a:p>
            <a:pPr lvl="0"/>
            <a:r>
              <a:rPr/>
              <a:t>In the </a:t>
            </a:r>
            <a:r>
              <a:rPr>
                <a:latin typeface="Courier"/>
              </a:rPr>
              <a:t>Title</a:t>
            </a:r>
            <a:r>
              <a:rPr/>
              <a:t> field, add a descriptive label for the new key, e.g. something that would identify the device you just connected</a:t>
            </a:r>
          </a:p>
          <a:p>
            <a:pPr lvl="1"/>
            <a:r>
              <a:rPr/>
              <a:t>For example, if you’re using a personal laptop, you might call this key “Personal MacBook Air”.</a:t>
            </a:r>
          </a:p>
          <a:p>
            <a:pPr lvl="0"/>
            <a:r>
              <a:rPr/>
              <a:t>Paste the contents of your clipboard into the Key text box</a:t>
            </a:r>
          </a:p>
          <a:p>
            <a:pPr lvl="0"/>
            <a:r>
              <a:rPr/>
              <a:t>Hit the green </a:t>
            </a:r>
            <a:r>
              <a:rPr>
                <a:latin typeface="Courier"/>
              </a:rPr>
              <a:t>Add key</a:t>
            </a:r>
            <a:r>
              <a:rPr/>
              <a:t> button to save. Enter your GitHub password if prompted.</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Adding the SSH key to GitHub account</a:t>
            </a:r>
          </a:p>
          <a:p>
            <a:pPr lvl="0" indent="0" marL="0">
              <a:buNone/>
            </a:pPr>
            <a:r>
              <a:rPr b="1"/>
              <a:t>Step 4</a:t>
            </a:r>
            <a:r>
              <a:rPr/>
              <a:t>: continued</a:t>
            </a:r>
          </a:p>
        </p:txBody>
      </p:sp>
      <p:pic>
        <p:nvPicPr>
          <p:cNvPr descr="images/add-ssh-key.png" id="0" name="Picture 1"/>
          <p:cNvPicPr>
            <a:picLocks noGrp="1" noChangeAspect="1"/>
          </p:cNvPicPr>
          <p:nvPr/>
        </p:nvPicPr>
        <p:blipFill>
          <a:blip r:embed="rId2"/>
          <a:stretch>
            <a:fillRect/>
          </a:stretch>
        </p:blipFill>
        <p:spPr bwMode="auto">
          <a:xfrm>
            <a:off x="3568700" y="977900"/>
            <a:ext cx="5105400" cy="2832100"/>
          </a:xfrm>
          <a:prstGeom prst="rect">
            <a:avLst/>
          </a:prstGeom>
          <a:noFill/>
          <a:ln w="9525">
            <a:noFill/>
            <a:headEnd/>
            <a:tailEnd/>
          </a:ln>
        </p:spPr>
      </p:pic>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Adding the SSH key to </a:t>
            </a:r>
            <a:r>
              <a:rPr b="1" i="1"/>
              <a:t>ssh-agent</a:t>
            </a:r>
          </a:p>
          <a:p>
            <a:pPr lvl="0" indent="0" marL="0">
              <a:spcBef>
                <a:spcPts val="3000"/>
              </a:spcBef>
              <a:buNone/>
            </a:pPr>
            <a:r>
              <a:rPr b="1"/>
              <a:t>(optional step, only necessary if you keep getting asked for your key)</a:t>
            </a:r>
          </a:p>
          <a:p>
            <a:pPr lvl="0" indent="0" marL="0">
              <a:buNone/>
            </a:pPr>
            <a:r>
              <a:rPr/>
              <a:t>Managing your ssh keys is done via the </a:t>
            </a:r>
            <a:r>
              <a:rPr>
                <a:hlinkClick r:id="rId3"/>
              </a:rPr>
              <a:t>ssh-agent</a:t>
            </a:r>
            <a:r>
              <a:rPr/>
              <a:t> software.</a:t>
            </a:r>
          </a:p>
          <a:p>
            <a:pPr lvl="0" indent="0" marL="1270000">
              <a:buNone/>
            </a:pPr>
            <a:r>
              <a:rPr sz="2000" b="1"/>
              <a:t>Note</a:t>
            </a:r>
          </a:p>
          <a:p>
            <a:pPr lvl="0" indent="0" marL="1270000">
              <a:buNone/>
            </a:pPr>
            <a:r>
              <a:rPr sz="2000"/>
              <a:t>Depending on your system, the following might not be necessary. On most GNU/Linux distributions and MacOS, your key will be automatically added to the ssh-agent after the first time you enter it.</a:t>
            </a:r>
          </a:p>
          <a:p>
            <a:pPr lvl="0" indent="0" marL="1270000">
              <a:buNone/>
            </a:pPr>
            <a:r>
              <a:rPr sz="2000"/>
              <a:t>Only if you keep getting asked for your key each time you want to clone or push to a GitHub repository, you can follow the instructions on the next slides.</a:t>
            </a:r>
          </a:p>
          <a:p>
            <a:pPr lvl="0" indent="0" marL="1270000">
              <a:buNone/>
            </a:pPr>
            <a:r>
              <a:rPr sz="2000"/>
              <a:t>Otherwise fast-forward to </a:t>
            </a:r>
            <a:r>
              <a:rPr sz="2000">
                <a:hlinkClick r:id="rId4" action="ppaction://hlinksldjump"/>
              </a:rPr>
              <a:t>Testing the GitHub connection</a:t>
            </a:r>
          </a:p>
        </p:txBody>
      </p:sp>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Adding the SSH key to ssh-agent</a:t>
            </a:r>
          </a:p>
          <a:p>
            <a:pPr lvl="0" indent="0" marL="0">
              <a:buNone/>
            </a:pPr>
            <a:r>
              <a:rPr b="1"/>
              <a:t>Step 1</a:t>
            </a:r>
            <a:r>
              <a:rPr/>
              <a:t>: In the command line, start the ssh-agent with this command:</a:t>
            </a:r>
          </a:p>
          <a:p>
            <a:pPr lvl="0" indent="0">
              <a:buNone/>
            </a:pPr>
            <a:r>
              <a:rPr>
                <a:solidFill>
                  <a:srgbClr val="003B4F"/>
                </a:solidFill>
                <a:latin typeface="Courier"/>
              </a:rPr>
              <a:t>eval </a:t>
            </a:r>
            <a:r>
              <a:rPr>
                <a:solidFill>
                  <a:srgbClr val="20794D"/>
                </a:solidFill>
                <a:latin typeface="Courier"/>
              </a:rPr>
              <a:t>"</a:t>
            </a:r>
            <a:r>
              <a:rPr>
                <a:solidFill>
                  <a:srgbClr val="111111"/>
                </a:solidFill>
                <a:latin typeface="Courier"/>
              </a:rPr>
              <a:t>$(</a:t>
            </a:r>
            <a:r>
              <a:rPr>
                <a:solidFill>
                  <a:srgbClr val="4758AB"/>
                </a:solidFill>
                <a:latin typeface="Courier"/>
              </a:rPr>
              <a:t>ssh-agent</a:t>
            </a:r>
            <a:r>
              <a:rPr>
                <a:solidFill>
                  <a:srgbClr val="003B4F"/>
                </a:solidFill>
                <a:latin typeface="Courier"/>
              </a:rPr>
              <a:t> </a:t>
            </a:r>
            <a:r>
              <a:rPr>
                <a:solidFill>
                  <a:srgbClr val="657422"/>
                </a:solidFill>
                <a:latin typeface="Courier"/>
              </a:rPr>
              <a:t>-s</a:t>
            </a:r>
            <a:r>
              <a:rPr>
                <a:solidFill>
                  <a:srgbClr val="111111"/>
                </a:solidFill>
                <a:latin typeface="Courier"/>
              </a:rPr>
              <a:t>)</a:t>
            </a:r>
            <a:r>
              <a:rPr>
                <a:solidFill>
                  <a:srgbClr val="20794D"/>
                </a:solidFill>
                <a:latin typeface="Courier"/>
              </a:rPr>
              <a:t>"</a:t>
            </a:r>
          </a:p>
          <a:p>
            <a:pPr lvl="0" indent="0" marL="0">
              <a:buNone/>
            </a:pPr>
            <a:r>
              <a:rPr/>
              <a:t>This should give you this:</a:t>
            </a:r>
          </a:p>
          <a:p>
            <a:pPr lvl="0" indent="0">
              <a:buNone/>
            </a:pPr>
            <a:r>
              <a:rPr>
                <a:latin typeface="Courier"/>
              </a:rPr>
              <a:t>Agent pid 59566</a:t>
            </a:r>
          </a:p>
        </p:txBody>
      </p:sp>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Adding the SSH key to ssh-agent</a:t>
            </a:r>
          </a:p>
          <a:p>
            <a:pPr lvl="0" indent="0" marL="0">
              <a:buNone/>
            </a:pPr>
            <a:r>
              <a:rPr b="1"/>
              <a:t>Step 2</a:t>
            </a:r>
            <a:r>
              <a:rPr/>
              <a:t>: Add your SSH key to the ssh-agent by typing the entirety of this command:</a:t>
            </a:r>
          </a:p>
          <a:p>
            <a:pPr lvl="0" indent="0">
              <a:buNone/>
            </a:pPr>
            <a:r>
              <a:rPr>
                <a:solidFill>
                  <a:srgbClr val="4758AB"/>
                </a:solidFill>
                <a:latin typeface="Courier"/>
              </a:rPr>
              <a:t>ssh-add</a:t>
            </a:r>
            <a:r>
              <a:rPr>
                <a:solidFill>
                  <a:srgbClr val="003B4F"/>
                </a:solidFill>
                <a:latin typeface="Courier"/>
              </a:rPr>
              <a:t> ~/.ssh/id_ed25519</a:t>
            </a:r>
          </a:p>
        </p:txBody>
      </p:sp>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Testing the GitHub connection</a:t>
            </a:r>
          </a:p>
          <a:p>
            <a:pPr lvl="0" indent="0" marL="0">
              <a:buNone/>
            </a:pPr>
            <a:r>
              <a:rPr b="1"/>
              <a:t>Step 1</a:t>
            </a:r>
            <a:r>
              <a:rPr/>
              <a:t>: “Ask” GitHub at the command line if our connection is accepted with the following code:</a:t>
            </a:r>
          </a:p>
          <a:p>
            <a:pPr lvl="0" indent="0">
              <a:buNone/>
            </a:pPr>
            <a:r>
              <a:rPr>
                <a:solidFill>
                  <a:srgbClr val="4758AB"/>
                </a:solidFill>
                <a:latin typeface="Courier"/>
              </a:rPr>
              <a:t>ssh</a:t>
            </a:r>
            <a:r>
              <a:rPr>
                <a:solidFill>
                  <a:srgbClr val="003B4F"/>
                </a:solidFill>
                <a:latin typeface="Courier"/>
              </a:rPr>
              <a:t> </a:t>
            </a:r>
            <a:r>
              <a:rPr>
                <a:solidFill>
                  <a:srgbClr val="657422"/>
                </a:solidFill>
                <a:latin typeface="Courier"/>
              </a:rPr>
              <a:t>-T</a:t>
            </a:r>
            <a:r>
              <a:rPr>
                <a:solidFill>
                  <a:srgbClr val="003B4F"/>
                </a:solidFill>
                <a:latin typeface="Courier"/>
              </a:rPr>
              <a:t> git@github.com</a:t>
            </a:r>
          </a:p>
        </p:txBody>
      </p:sp>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Testing the GitHub connection</a:t>
            </a:r>
          </a:p>
          <a:p>
            <a:pPr lvl="0" indent="0" marL="0">
              <a:buNone/>
            </a:pPr>
            <a:r>
              <a:rPr b="1"/>
              <a:t>Step 2</a:t>
            </a:r>
            <a:r>
              <a:rPr/>
              <a:t>: When asked about </a:t>
            </a:r>
            <a:r>
              <a:rPr i="1"/>
              <a:t>fingerprinting</a:t>
            </a:r>
            <a:r>
              <a:rPr/>
              <a:t>, type </a:t>
            </a:r>
            <a:r>
              <a:rPr i="1"/>
              <a:t>yes</a:t>
            </a:r>
            <a:r>
              <a:rPr/>
              <a:t>, then press ENTER to receive this output:</a:t>
            </a:r>
          </a:p>
          <a:p>
            <a:pPr lvl="0" indent="0">
              <a:buNone/>
            </a:pPr>
            <a:r>
              <a:rPr>
                <a:solidFill>
                  <a:srgbClr val="5E5E5E"/>
                </a:solidFill>
                <a:latin typeface="Courier"/>
              </a:rPr>
              <a:t>&gt;</a:t>
            </a:r>
            <a:r>
              <a:rPr>
                <a:solidFill>
                  <a:srgbClr val="003B4F"/>
                </a:solidFill>
                <a:latin typeface="Courier"/>
              </a:rPr>
              <a:t> Hi USERNAME! You</a:t>
            </a:r>
            <a:r>
              <a:rPr>
                <a:solidFill>
                  <a:srgbClr val="20794D"/>
                </a:solidFill>
                <a:latin typeface="Courier"/>
              </a:rPr>
              <a:t>'ve successfully authenticated, but GitHub does not</a:t>
            </a:r>
            <a:br/>
            <a:r>
              <a:rPr>
                <a:solidFill>
                  <a:srgbClr val="20794D"/>
                </a:solidFill>
                <a:latin typeface="Courier"/>
              </a:rPr>
              <a:t>&gt; provide shell access.</a:t>
            </a:r>
          </a:p>
          <a:p>
            <a:pPr lvl="0" indent="0" marL="0">
              <a:buNone/>
            </a:pPr>
            <a:r>
              <a:rPr/>
              <a:t> </a:t>
            </a:r>
          </a:p>
          <a:p>
            <a:pPr lvl="0" indent="0" marL="1270000">
              <a:buNone/>
            </a:pPr>
            <a:r>
              <a:rPr sz="2000" b="1"/>
              <a:t>This is it!</a:t>
            </a:r>
          </a:p>
          <a:p>
            <a:pPr lvl="0" indent="0" marL="1270000">
              <a:buNone/>
            </a:pPr>
            <a:r>
              <a:rPr sz="2000"/>
              <a:t>You have set up a new SSH key pair and successfully let GitHub know your identity to connect your computer to your GitHub account. These steps will only have to be repeated when you change computers. Let the fun begin!</a:t>
            </a:r>
          </a:p>
        </p:txBody>
      </p:sp>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RECAP: Setting up Git</a:t>
            </a:r>
          </a:p>
          <a:p>
            <a:pPr lvl="0" indent="0" marL="0">
              <a:buNone/>
            </a:pPr>
            <a:r>
              <a:rPr b="1"/>
              <a:t>What have we done so far?</a:t>
            </a:r>
          </a:p>
          <a:p>
            <a:pPr lvl="0"/>
            <a:r>
              <a:rPr/>
              <a:t>Installed Git ✅</a:t>
            </a:r>
          </a:p>
          <a:p>
            <a:pPr lvl="0"/>
            <a:r>
              <a:rPr/>
              <a:t>Configured Git ✅</a:t>
            </a:r>
          </a:p>
          <a:p>
            <a:pPr lvl="0"/>
            <a:r>
              <a:rPr/>
              <a:t>Secured a connection between PC and GitHub via SSH key pair ✅</a:t>
            </a:r>
          </a:p>
          <a:p>
            <a:pPr lvl="0"/>
            <a:r>
              <a:rPr/>
              <a:t>Added SSH key pair to GitHub account ✅</a:t>
            </a:r>
          </a:p>
          <a:p>
            <a:pPr lvl="0"/>
            <a:r>
              <a:rPr/>
              <a:t>Tested the connection between your machine and GitHub ✅</a:t>
            </a:r>
          </a:p>
          <a:p>
            <a:pPr lvl="0" indent="0" marL="1270000">
              <a:buNone/>
            </a:pPr>
            <a:r>
              <a:rPr sz="2000" b="1"/>
              <a:t>Ready!</a:t>
            </a:r>
          </a:p>
          <a:p>
            <a:pPr lvl="0" indent="0" marL="1270000">
              <a:buNone/>
            </a:pPr>
            <a:r>
              <a:rPr sz="2000"/>
              <a:t>Your Git and GitHub setup is now secure and ready to use!</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Pre-break survey</a:t>
            </a:r>
          </a:p>
          <a:p>
            <a:pPr lvl="0" indent="0" marL="0">
              <a:buNone/>
            </a:pPr>
            <a:r>
              <a:rPr/>
              <a:t>Brief check-in: </a:t>
            </a:r>
            <a:r>
              <a:rPr b="1"/>
              <a:t>Your Turn!</a:t>
            </a:r>
          </a:p>
        </p:txBody>
      </p:sp>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What is the main purpose of using Git in a project?</a:t>
            </a:r>
          </a:p>
          <a:p>
            <a:pPr lvl="0" indent="-342900" marL="342900">
              <a:buAutoNum type="alphaLcPeriod"/>
            </a:pPr>
            <a:r>
              <a:rPr/>
              <a:t>To edit code directly on GitHub</a:t>
            </a:r>
          </a:p>
          <a:p>
            <a:pPr lvl="0" indent="-342900" marL="342900">
              <a:buAutoNum type="alphaLcPeriod"/>
            </a:pPr>
            <a:r>
              <a:rPr/>
              <a:t>To automatically test and debug programs</a:t>
            </a:r>
          </a:p>
          <a:p>
            <a:pPr lvl="0" indent="-342900" marL="342900">
              <a:buAutoNum type="alphaLcPeriod"/>
            </a:pPr>
            <a:r>
              <a:rPr/>
              <a:t>To track changes and collaborate on code with version control</a:t>
            </a:r>
          </a:p>
          <a:p>
            <a:pPr lvl="0" indent="-342900" marL="342900">
              <a:buAutoNum type="alphaLcPeriod"/>
            </a:pPr>
            <a:r>
              <a:rPr/>
              <a:t>To back up files to the cloud without version history</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Why do we add an SSH key to our GitHub account when setting up Git?</a:t>
            </a:r>
          </a:p>
          <a:p>
            <a:pPr lvl="0" indent="-342900" marL="342900">
              <a:buAutoNum type="alphaLcPeriod"/>
            </a:pPr>
            <a:r>
              <a:rPr/>
              <a:t>To store our Git username and password on the computer</a:t>
            </a:r>
          </a:p>
          <a:p>
            <a:pPr lvl="0" indent="-342900" marL="342900">
              <a:buAutoNum type="alphaLcPeriod"/>
            </a:pPr>
            <a:r>
              <a:rPr/>
              <a:t>To allow our computer to connect securely to GitHub without entering a password each time</a:t>
            </a:r>
          </a:p>
          <a:p>
            <a:pPr lvl="0" indent="-342900" marL="342900">
              <a:buAutoNum type="alphaLcPeriod"/>
            </a:pPr>
            <a:r>
              <a:rPr/>
              <a:t>To make Git automatically commit our changes</a:t>
            </a:r>
          </a:p>
          <a:p>
            <a:pPr lvl="0" indent="-342900" marL="342900">
              <a:buAutoNum type="alphaLcPeriod"/>
            </a:pPr>
            <a:r>
              <a:rPr/>
              <a:t>To enable GitHub to edit our files directly on our computer</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Break! 15 minutes</a:t>
            </a:r>
          </a:p>
        </p:txBody>
      </p:sp>
    </p:spTree>
  </p:cSl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Post-break survey discussion</a:t>
            </a:r>
          </a:p>
          <a:p>
            <a:pPr lvl="0" indent="0" marL="0">
              <a:buNone/>
            </a:pPr>
          </a:p>
          <a:p>
            <a:pPr lvl="0" indent="0" marL="0">
              <a:buNone/>
            </a:pPr>
            <a:r>
              <a:rPr/>
              <a:t>What do we see in the results?</a:t>
            </a:r>
          </a:p>
        </p:txBody>
      </p:sp>
    </p:spTree>
  </p:cSl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RStudio Project: What is it?</a:t>
            </a:r>
          </a:p>
          <a:p>
            <a:pPr lvl="0" indent="0" marL="0">
              <a:buNone/>
            </a:pPr>
            <a:r>
              <a:rPr b="1"/>
              <a:t>Local folder</a:t>
            </a:r>
            <a:r>
              <a:rPr/>
              <a:t> used to organize your work within a self-contained R storage.</a:t>
            </a:r>
          </a:p>
          <a:p>
            <a:pPr lvl="0"/>
            <a:r>
              <a:rPr/>
              <a:t>Contains all files related to project: R scripts, source files, location of the R working directory, RStudio workspace …</a:t>
            </a:r>
          </a:p>
          <a:p>
            <a:pPr lvl="0"/>
            <a:r>
              <a:rPr/>
              <a:t>Includes shortcut to open the project directly in RStudio</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Creating an RStudio Project</a:t>
            </a:r>
          </a:p>
          <a:p>
            <a:pPr lvl="0" indent="0" marL="0">
              <a:buNone/>
            </a:pPr>
            <a:r>
              <a:rPr b="1"/>
              <a:t>Step 1</a:t>
            </a:r>
            <a:r>
              <a:rPr/>
              <a:t>: Create a new project in RStudio as follows: </a:t>
            </a:r>
            <a:r>
              <a:rPr>
                <a:latin typeface="Courier"/>
              </a:rPr>
              <a:t>File</a:t>
            </a:r>
            <a:r>
              <a:rPr/>
              <a:t>&gt; </a:t>
            </a:r>
            <a:r>
              <a:rPr>
                <a:latin typeface="Courier"/>
              </a:rPr>
              <a:t>New Project</a:t>
            </a:r>
            <a:r>
              <a:rPr/>
              <a:t> &gt; </a:t>
            </a:r>
            <a:r>
              <a:rPr>
                <a:latin typeface="Courier"/>
              </a:rPr>
              <a:t>New Directory</a:t>
            </a:r>
          </a:p>
        </p:txBody>
      </p:sp>
      <p:pic>
        <p:nvPicPr>
          <p:cNvPr descr="images/project_screen1.png" id="0" name="Picture 1"/>
          <p:cNvPicPr>
            <a:picLocks noGrp="1" noChangeAspect="1"/>
          </p:cNvPicPr>
          <p:nvPr/>
        </p:nvPicPr>
        <p:blipFill>
          <a:blip r:embed="rId3"/>
          <a:stretch>
            <a:fillRect/>
          </a:stretch>
        </p:blipFill>
        <p:spPr bwMode="auto">
          <a:xfrm>
            <a:off x="3568700" y="596900"/>
            <a:ext cx="5105400" cy="3581400"/>
          </a:xfrm>
          <a:prstGeom prst="rect">
            <a:avLst/>
          </a:prstGeom>
          <a:noFill/>
          <a:ln w="9525">
            <a:noFill/>
            <a:headEnd/>
            <a:tailEnd/>
          </a:ln>
        </p:spPr>
      </p:pic>
    </p:spTree>
  </p:cSl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Creating an RStudio Project</a:t>
            </a:r>
          </a:p>
          <a:p>
            <a:pPr lvl="0" indent="0" marL="0">
              <a:buNone/>
            </a:pPr>
            <a:r>
              <a:rPr b="1"/>
              <a:t>Step 2</a:t>
            </a:r>
            <a:r>
              <a:rPr/>
              <a:t>: In the New Project Wizard screen, click on </a:t>
            </a:r>
            <a:r>
              <a:rPr>
                <a:latin typeface="Courier"/>
              </a:rPr>
              <a:t>New project</a:t>
            </a:r>
            <a:r>
              <a:rPr/>
              <a:t>:</a:t>
            </a:r>
          </a:p>
        </p:txBody>
      </p:sp>
      <p:pic>
        <p:nvPicPr>
          <p:cNvPr descr="images/04_create_new_Rproject.png" id="0" name="Picture 1"/>
          <p:cNvPicPr>
            <a:picLocks noGrp="1" noChangeAspect="1"/>
          </p:cNvPicPr>
          <p:nvPr/>
        </p:nvPicPr>
        <p:blipFill>
          <a:blip r:embed="rId3"/>
          <a:stretch>
            <a:fillRect/>
          </a:stretch>
        </p:blipFill>
        <p:spPr bwMode="auto">
          <a:xfrm>
            <a:off x="3568700" y="838200"/>
            <a:ext cx="5105400" cy="3124200"/>
          </a:xfrm>
          <a:prstGeom prst="rect">
            <a:avLst/>
          </a:prstGeom>
          <a:noFill/>
          <a:ln w="9525">
            <a:noFill/>
            <a:headEnd/>
            <a:tailEnd/>
          </a:ln>
        </p:spPr>
      </p:pic>
    </p:spTree>
  </p:cSl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Creating an RStudio Project</a:t>
            </a:r>
          </a:p>
          <a:p>
            <a:pPr lvl="0" indent="0" marL="0">
              <a:buNone/>
            </a:pPr>
            <a:r>
              <a:rPr b="1"/>
              <a:t>Step 3</a:t>
            </a:r>
            <a:r>
              <a:rPr/>
              <a:t>: Give your project a name (e.g.’my_first_test_repo’) and ensure that </a:t>
            </a:r>
            <a:r>
              <a:rPr>
                <a:latin typeface="Courier"/>
              </a:rPr>
              <a:t>Create a git repository</a:t>
            </a:r>
            <a:r>
              <a:rPr/>
              <a:t> is ticked. Next, click on </a:t>
            </a:r>
            <a:r>
              <a:rPr>
                <a:latin typeface="Courier"/>
              </a:rPr>
              <a:t>Create Project</a:t>
            </a:r>
            <a:r>
              <a:rPr/>
              <a:t>.</a:t>
            </a:r>
          </a:p>
        </p:txBody>
      </p:sp>
      <p:pic>
        <p:nvPicPr>
          <p:cNvPr descr="images/project_screen3.png" id="0" name="Picture 1"/>
          <p:cNvPicPr>
            <a:picLocks noGrp="1" noChangeAspect="1"/>
          </p:cNvPicPr>
          <p:nvPr/>
        </p:nvPicPr>
        <p:blipFill>
          <a:blip r:embed="rId2"/>
          <a:stretch>
            <a:fillRect/>
          </a:stretch>
        </p:blipFill>
        <p:spPr bwMode="auto">
          <a:xfrm>
            <a:off x="3568700" y="558800"/>
            <a:ext cx="5105400" cy="3670300"/>
          </a:xfrm>
          <a:prstGeom prst="rect">
            <a:avLst/>
          </a:prstGeom>
          <a:noFill/>
          <a:ln w="9525">
            <a:noFill/>
            <a:headEnd/>
            <a:tailEnd/>
          </a:ln>
        </p:spPr>
      </p:pic>
    </p:spTree>
  </p:cSl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b="1"/>
              <a:t>Note</a:t>
            </a:r>
          </a:p>
          <a:p>
            <a:pPr lvl="0" indent="0" marL="1270000">
              <a:buNone/>
            </a:pPr>
            <a:r>
              <a:rPr sz="2000"/>
              <a:t>RStudio will create a new folder containing an empty project and set it as the new R working directory.</a:t>
            </a:r>
          </a:p>
        </p:txBody>
      </p:sp>
    </p:spTree>
  </p:cSl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Creating an RStudio Project: Important files</a:t>
            </a:r>
          </a:p>
          <a:p>
            <a:pPr lvl="0" indent="0" marL="0">
              <a:buNone/>
            </a:pPr>
            <a:r>
              <a:rPr/>
              <a:t>Two files are created in the otherwise empty project:</a:t>
            </a:r>
          </a:p>
          <a:p>
            <a:pPr lvl="0"/>
            <a:r>
              <a:rPr b="1"/>
              <a:t>.gitignore</a:t>
            </a:r>
            <a:r>
              <a:rPr/>
              <a:t>: Specifies files that should be ignored by the version control system (e.g. sensible data files that should not be made public, or documentation that you don’t need version controlled).</a:t>
            </a:r>
          </a:p>
          <a:p>
            <a:pPr lvl="0"/>
            <a:r>
              <a:rPr b="1"/>
              <a:t>my_first_test_repo.Rproj</a:t>
            </a:r>
            <a:r>
              <a:rPr/>
              <a:t>: Configuration information for the RStudio project.</a:t>
            </a:r>
          </a:p>
        </p:txBody>
      </p:sp>
      <p:pic>
        <p:nvPicPr>
          <p:cNvPr descr="images/project_files.png" id="0" name="Picture 1"/>
          <p:cNvPicPr>
            <a:picLocks noGrp="1" noChangeAspect="1"/>
          </p:cNvPicPr>
          <p:nvPr/>
        </p:nvPicPr>
        <p:blipFill>
          <a:blip r:embed="rId3"/>
          <a:stretch>
            <a:fillRect/>
          </a:stretch>
        </p:blipFill>
        <p:spPr bwMode="auto">
          <a:xfrm>
            <a:off x="3568700" y="1765300"/>
            <a:ext cx="5105400" cy="1257300"/>
          </a:xfrm>
          <a:prstGeom prst="rect">
            <a:avLst/>
          </a:prstGeom>
          <a:noFill/>
          <a:ln w="9525">
            <a:noFill/>
            <a:headEnd/>
            <a:tailEnd/>
          </a:ln>
        </p:spPr>
      </p:pic>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Setting up a small practice project</a:t>
            </a:r>
          </a:p>
          <a:p>
            <a:pPr lvl="0" indent="0" marL="0">
              <a:buNone/>
            </a:pPr>
            <a:r>
              <a:rPr/>
              <a:t>We will now generate a small project to practice version control on.</a:t>
            </a:r>
          </a:p>
          <a:p>
            <a:pPr lvl="0" indent="0" marL="0">
              <a:buNone/>
            </a:pPr>
          </a:p>
          <a:p>
            <a:pPr lvl="0" indent="0" marL="0">
              <a:buNone/>
            </a:pPr>
            <a:r>
              <a:rPr b="1"/>
              <a:t>Step 1</a:t>
            </a:r>
            <a:r>
              <a:rPr/>
              <a:t>: Download dataset to practice analyses on.</a:t>
            </a:r>
          </a:p>
          <a:p>
            <a:pPr lvl="0" indent="0" marL="0">
              <a:buNone/>
            </a:pPr>
            <a:r>
              <a:rPr/>
              <a:t>  ⬇️ Download dataset (.csv)  </a:t>
            </a:r>
          </a:p>
        </p:txBody>
      </p:sp>
    </p:spTree>
  </p:cSl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Setting up a small practice project</a:t>
            </a:r>
          </a:p>
          <a:p>
            <a:pPr lvl="0" indent="0" marL="0">
              <a:buNone/>
            </a:pPr>
            <a:r>
              <a:rPr b="1"/>
              <a:t>Step 2</a:t>
            </a:r>
            <a:r>
              <a:rPr/>
              <a:t>: Create a new R script </a:t>
            </a:r>
            <a:r>
              <a:rPr>
                <a:latin typeface="Courier"/>
              </a:rPr>
              <a:t>File</a:t>
            </a:r>
            <a:r>
              <a:rPr/>
              <a:t> &gt; </a:t>
            </a:r>
            <a:r>
              <a:rPr>
                <a:latin typeface="Courier"/>
              </a:rPr>
              <a:t>New File</a:t>
            </a:r>
            <a:r>
              <a:rPr/>
              <a:t> &gt; </a:t>
            </a:r>
            <a:r>
              <a:rPr>
                <a:latin typeface="Courier"/>
              </a:rPr>
              <a:t>R script</a:t>
            </a:r>
            <a:r>
              <a:rPr/>
              <a:t> and save it as </a:t>
            </a:r>
            <a:r>
              <a:rPr i="1"/>
              <a:t>myscript.R</a:t>
            </a:r>
            <a:r>
              <a:rPr/>
              <a:t>. Then add the code below to your R script.</a:t>
            </a:r>
          </a:p>
          <a:p>
            <a:pPr lvl="0" indent="0">
              <a:buNone/>
            </a:pPr>
            <a:r>
              <a:rPr>
                <a:solidFill>
                  <a:srgbClr val="003B4F"/>
                </a:solidFill>
                <a:latin typeface="Courier"/>
              </a:rPr>
              <a:t>mydata = </a:t>
            </a:r>
            <a:r>
              <a:rPr>
                <a:solidFill>
                  <a:srgbClr val="4758AB"/>
                </a:solidFill>
                <a:latin typeface="Courier"/>
              </a:rPr>
              <a:t>read.csv</a:t>
            </a:r>
            <a:r>
              <a:rPr>
                <a:solidFill>
                  <a:srgbClr val="003B4F"/>
                </a:solidFill>
                <a:latin typeface="Courier"/>
              </a:rPr>
              <a:t>(</a:t>
            </a:r>
            <a:r>
              <a:rPr>
                <a:solidFill>
                  <a:srgbClr val="20794D"/>
                </a:solidFill>
                <a:latin typeface="Courier"/>
              </a:rPr>
              <a:t>"example_data.csv"</a:t>
            </a:r>
            <a:r>
              <a:rPr>
                <a:solidFill>
                  <a:srgbClr val="003B4F"/>
                </a:solidFill>
                <a:latin typeface="Courier"/>
              </a:rPr>
              <a:t>)</a:t>
            </a:r>
            <a:br/>
            <a:r>
              <a:rPr>
                <a:solidFill>
                  <a:srgbClr val="4758AB"/>
                </a:solidFill>
                <a:latin typeface="Courier"/>
              </a:rPr>
              <a:t>plot</a:t>
            </a:r>
            <a:r>
              <a:rPr>
                <a:solidFill>
                  <a:srgbClr val="003B4F"/>
                </a:solidFill>
                <a:latin typeface="Courier"/>
              </a:rPr>
              <a:t>(mydata</a:t>
            </a:r>
            <a:r>
              <a:rPr>
                <a:solidFill>
                  <a:srgbClr val="5E5E5E"/>
                </a:solidFill>
                <a:latin typeface="Courier"/>
              </a:rPr>
              <a:t>$</a:t>
            </a:r>
            <a:r>
              <a:rPr>
                <a:solidFill>
                  <a:srgbClr val="003B4F"/>
                </a:solidFill>
                <a:latin typeface="Courier"/>
              </a:rPr>
              <a:t>xdata,mydata</a:t>
            </a:r>
            <a:r>
              <a:rPr>
                <a:solidFill>
                  <a:srgbClr val="5E5E5E"/>
                </a:solidFill>
                <a:latin typeface="Courier"/>
              </a:rPr>
              <a:t>$</a:t>
            </a:r>
            <a:r>
              <a:rPr>
                <a:solidFill>
                  <a:srgbClr val="003B4F"/>
                </a:solidFill>
                <a:latin typeface="Courier"/>
              </a:rPr>
              <a:t>ydata)</a:t>
            </a:r>
          </a:p>
        </p:txBody>
      </p:sp>
    </p:spTree>
  </p:cSl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Setting up a small practice project</a:t>
            </a:r>
          </a:p>
          <a:p>
            <a:pPr lvl="0" indent="0" marL="0">
              <a:buNone/>
            </a:pPr>
            <a:r>
              <a:rPr b="1"/>
              <a:t>Step 3</a:t>
            </a:r>
            <a:r>
              <a:rPr/>
              <a:t>: Run the code and check your directory. It should now contain four files:</a:t>
            </a:r>
          </a:p>
        </p:txBody>
      </p:sp>
      <p:pic>
        <p:nvPicPr>
          <p:cNvPr descr="images/file_list.png" id="0" name="Picture 1"/>
          <p:cNvPicPr>
            <a:picLocks noGrp="1" noChangeAspect="1"/>
          </p:cNvPicPr>
          <p:nvPr/>
        </p:nvPicPr>
        <p:blipFill>
          <a:blip r:embed="rId3"/>
          <a:stretch>
            <a:fillRect/>
          </a:stretch>
        </p:blipFill>
        <p:spPr bwMode="auto">
          <a:xfrm>
            <a:off x="3568700" y="1524000"/>
            <a:ext cx="5105400" cy="1727200"/>
          </a:xfrm>
          <a:prstGeom prst="rect">
            <a:avLst/>
          </a:prstGeom>
          <a:noFill/>
          <a:ln w="9525">
            <a:noFill/>
            <a:headEnd/>
            <a:tailEnd/>
          </a:ln>
        </p:spPr>
      </p:pic>
    </p:spTree>
  </p:cSl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Getting your project under version control: Key concepts</a:t>
            </a:r>
          </a:p>
          <a:p>
            <a:pPr lvl="0" indent="0" marL="0">
              <a:buNone/>
            </a:pPr>
            <a:r>
              <a:rPr/>
              <a:t>Before we do the first action, one orientation point:</a:t>
            </a:r>
          </a:p>
          <a:p>
            <a:pPr lvl="0"/>
            <a:r>
              <a:rPr/>
              <a:t>The </a:t>
            </a:r>
            <a:r>
              <a:rPr b="1"/>
              <a:t>Git pane</a:t>
            </a:r>
            <a:r>
              <a:rPr/>
              <a:t> in RStudio is your control center for version control</a:t>
            </a:r>
          </a:p>
          <a:p>
            <a:pPr lvl="0"/>
            <a:r>
              <a:rPr/>
              <a:t>It shows which files changed and what Git knows about them</a:t>
            </a:r>
          </a:p>
          <a:p>
            <a:pPr lvl="0"/>
            <a:r>
              <a:rPr/>
              <a:t>This is where you </a:t>
            </a:r>
            <a:r>
              <a:rPr i="1"/>
              <a:t>stage</a:t>
            </a:r>
            <a:r>
              <a:rPr/>
              <a:t>, </a:t>
            </a:r>
            <a:r>
              <a:rPr i="1"/>
              <a:t>commit</a:t>
            </a:r>
            <a:r>
              <a:rPr/>
              <a:t>, review </a:t>
            </a:r>
            <a:r>
              <a:rPr i="1"/>
              <a:t>history</a:t>
            </a:r>
            <a:r>
              <a:rPr/>
              <a:t>, and </a:t>
            </a:r>
            <a:r>
              <a:rPr i="1"/>
              <a:t>sync</a:t>
            </a:r>
            <a:r>
              <a:rPr/>
              <a:t> with GitHub (all actions will be explained in the following slides)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Getting your project under version control</a:t>
            </a:r>
          </a:p>
          <a:p>
            <a:pPr lvl="0" indent="0" marL="0">
              <a:buNone/>
            </a:pPr>
            <a:r>
              <a:rPr b="1"/>
              <a:t>Step 1</a:t>
            </a:r>
            <a:r>
              <a:rPr/>
              <a:t>: Find the git version control pane in the top right corner of RStudio in the </a:t>
            </a:r>
            <a:r>
              <a:rPr>
                <a:latin typeface="Courier"/>
              </a:rPr>
              <a:t>Git</a:t>
            </a:r>
            <a:r>
              <a:rPr/>
              <a:t> tab.</a:t>
            </a:r>
          </a:p>
        </p:txBody>
      </p:sp>
      <p:pic>
        <p:nvPicPr>
          <p:cNvPr descr="images/git_pane.png" id="0" name="Picture 1"/>
          <p:cNvPicPr>
            <a:picLocks noGrp="1" noChangeAspect="1"/>
          </p:cNvPicPr>
          <p:nvPr/>
        </p:nvPicPr>
        <p:blipFill>
          <a:blip r:embed="rId3"/>
          <a:stretch>
            <a:fillRect/>
          </a:stretch>
        </p:blipFill>
        <p:spPr bwMode="auto">
          <a:xfrm>
            <a:off x="3568700" y="1549400"/>
            <a:ext cx="5105400" cy="1701800"/>
          </a:xfrm>
          <a:prstGeom prst="rect">
            <a:avLst/>
          </a:prstGeom>
          <a:noFill/>
          <a:ln w="9525">
            <a:noFill/>
            <a:headEnd/>
            <a:tailEnd/>
          </a:ln>
        </p:spPr>
      </p:pic>
    </p:spTree>
  </p:cSl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Getting your project under version control: Key concepts</a:t>
            </a:r>
          </a:p>
          <a:p>
            <a:pPr lvl="0" indent="0" marL="0">
              <a:buNone/>
            </a:pPr>
            <a:r>
              <a:rPr/>
              <a:t>Before we click anything, two terms matter:</a:t>
            </a:r>
          </a:p>
          <a:p>
            <a:pPr lvl="0"/>
            <a:r>
              <a:rPr b="1"/>
              <a:t>Untracked</a:t>
            </a:r>
            <a:r>
              <a:rPr/>
              <a:t> = a file exists, but Git is not yet tracking its versions</a:t>
            </a:r>
          </a:p>
          <a:p>
            <a:pPr lvl="0"/>
            <a:r>
              <a:rPr b="1"/>
              <a:t>Staged</a:t>
            </a:r>
            <a:r>
              <a:rPr/>
              <a:t> = changes are selected and prepared for the next commit</a:t>
            </a:r>
          </a:p>
          <a:p>
            <a:pPr lvl="0"/>
            <a:r>
              <a:rPr/>
              <a:t>Think of staging as choosing what goes into your next snapshot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Getting your project under version control</a:t>
            </a:r>
          </a:p>
          <a:p>
            <a:pPr lvl="0" indent="0" marL="0">
              <a:buNone/>
            </a:pPr>
            <a:r>
              <a:rPr b="1"/>
              <a:t>Step 2</a:t>
            </a:r>
            <a:r>
              <a:rPr/>
              <a:t>: Hover the mouse pointer over the yellow </a:t>
            </a:r>
            <a:r>
              <a:rPr>
                <a:latin typeface="Courier"/>
              </a:rPr>
              <a:t>?</a:t>
            </a:r>
            <a:r>
              <a:rPr/>
              <a:t> marks in the Git tab, you’ll see a tooltip telling us that the file is </a:t>
            </a:r>
            <a:r>
              <a:rPr b="1"/>
              <a:t>untracked</a:t>
            </a:r>
            <a:r>
              <a:rPr/>
              <a:t>. This means that Git is not tracking versions of this file yet. Tick </a:t>
            </a:r>
            <a:r>
              <a:rPr>
                <a:latin typeface="Courier"/>
              </a:rPr>
              <a:t>staged</a:t>
            </a:r>
            <a:r>
              <a:rPr/>
              <a:t> for each file.</a:t>
            </a:r>
          </a:p>
        </p:txBody>
      </p:sp>
      <p:pic>
        <p:nvPicPr>
          <p:cNvPr descr="images/git_pane_added.png" id="0" name="Picture 1"/>
          <p:cNvPicPr>
            <a:picLocks noGrp="1" noChangeAspect="1"/>
          </p:cNvPicPr>
          <p:nvPr/>
        </p:nvPicPr>
        <p:blipFill>
          <a:blip r:embed="rId3"/>
          <a:stretch>
            <a:fillRect/>
          </a:stretch>
        </p:blipFill>
        <p:spPr bwMode="auto">
          <a:xfrm>
            <a:off x="3568700" y="1511300"/>
            <a:ext cx="5105400" cy="1765300"/>
          </a:xfrm>
          <a:prstGeom prst="rect">
            <a:avLst/>
          </a:prstGeom>
          <a:noFill/>
          <a:ln w="9525">
            <a:noFill/>
            <a:headEnd/>
            <a:tailEnd/>
          </a:ln>
        </p:spPr>
      </p:pic>
    </p:spTree>
  </p:cSl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Getting your project under version control: Key concepts</a:t>
            </a:r>
          </a:p>
          <a:p>
            <a:pPr lvl="0" indent="0" marL="0">
              <a:buNone/>
            </a:pPr>
            <a:r>
              <a:rPr/>
              <a:t>Now the next key idea:</a:t>
            </a:r>
          </a:p>
          <a:p>
            <a:pPr lvl="0"/>
            <a:r>
              <a:rPr/>
              <a:t>A </a:t>
            </a:r>
            <a:r>
              <a:rPr b="1"/>
              <a:t>commit</a:t>
            </a:r>
            <a:r>
              <a:rPr/>
              <a:t> is a saved snapshot in your project history</a:t>
            </a:r>
          </a:p>
          <a:p>
            <a:pPr lvl="0"/>
            <a:r>
              <a:rPr/>
              <a:t>It records the staged changes at one meaningful point in time</a:t>
            </a:r>
          </a:p>
          <a:p>
            <a:pPr lvl="0"/>
            <a:r>
              <a:rPr/>
              <a:t>Commits let you review what changed and return to earlier states if needed</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Getting your project under version control</a:t>
            </a:r>
          </a:p>
          <a:p>
            <a:pPr lvl="0" indent="0" marL="0">
              <a:buNone/>
            </a:pPr>
            <a:r>
              <a:rPr b="1"/>
              <a:t>Step 3</a:t>
            </a:r>
            <a:r>
              <a:rPr/>
              <a:t>: Our staged files are now ready for the first </a:t>
            </a:r>
            <a:r>
              <a:rPr b="1"/>
              <a:t>commit</a:t>
            </a:r>
            <a:r>
              <a:rPr/>
              <a:t>. Click on the </a:t>
            </a:r>
            <a:r>
              <a:rPr>
                <a:latin typeface="Courier"/>
              </a:rPr>
              <a:t>commit button</a:t>
            </a:r>
            <a:r>
              <a:rPr/>
              <a:t>.</a:t>
            </a:r>
          </a:p>
        </p:txBody>
      </p:sp>
      <p:pic>
        <p:nvPicPr>
          <p:cNvPr descr="images/08_Commit_RStudio.png" id="0" name="Picture 1"/>
          <p:cNvPicPr>
            <a:picLocks noGrp="1" noChangeAspect="1"/>
          </p:cNvPicPr>
          <p:nvPr/>
        </p:nvPicPr>
        <p:blipFill>
          <a:blip r:embed="rId3"/>
          <a:stretch>
            <a:fillRect/>
          </a:stretch>
        </p:blipFill>
        <p:spPr bwMode="auto">
          <a:xfrm>
            <a:off x="3568700" y="1993900"/>
            <a:ext cx="5105400" cy="812800"/>
          </a:xfrm>
          <a:prstGeom prst="rect">
            <a:avLst/>
          </a:prstGeom>
          <a:noFill/>
          <a:ln w="9525">
            <a:noFill/>
            <a:headEnd/>
            <a:tailEnd/>
          </a:ln>
        </p:spPr>
      </p:pic>
    </p:spTree>
  </p:cSld>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Getting your project under version control: Key concepts</a:t>
            </a:r>
          </a:p>
          <a:p>
            <a:pPr lvl="0" indent="0" marL="0">
              <a:buNone/>
            </a:pPr>
            <a:r>
              <a:rPr/>
              <a:t>Every commit needs a message:</a:t>
            </a:r>
          </a:p>
          <a:p>
            <a:pPr lvl="0"/>
            <a:r>
              <a:rPr/>
              <a:t>A </a:t>
            </a:r>
            <a:r>
              <a:rPr b="1"/>
              <a:t>commit message</a:t>
            </a:r>
            <a:r>
              <a:rPr/>
              <a:t> explains what changed (and ideally why)</a:t>
            </a:r>
          </a:p>
          <a:p>
            <a:pPr lvl="0"/>
            <a:r>
              <a:rPr/>
              <a:t>Good messages are short, specific, and useful for your future self. They start with a verb in imperative mode, such as: Add, Fix, Improve</a:t>
            </a:r>
          </a:p>
          <a:p>
            <a:pPr lvl="0"/>
            <a:r>
              <a:rPr/>
              <a:t>Example: </a:t>
            </a:r>
            <a:r>
              <a:rPr i="1"/>
              <a:t>Add first analysis script and dataset import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Getting your project under version control</a:t>
            </a:r>
          </a:p>
          <a:p>
            <a:pPr lvl="0" indent="0" marL="0">
              <a:buNone/>
            </a:pPr>
            <a:r>
              <a:rPr b="1"/>
              <a:t>Step 4</a:t>
            </a:r>
            <a:r>
              <a:rPr/>
              <a:t>: Specify a </a:t>
            </a:r>
            <a:r>
              <a:rPr b="1"/>
              <a:t>commit message</a:t>
            </a:r>
            <a:r>
              <a:rPr/>
              <a:t>, which is a brief description of the changes you made. For now, we will add the commit message </a:t>
            </a:r>
            <a:r>
              <a:rPr i="1"/>
              <a:t>First commit</a:t>
            </a:r>
            <a:r>
              <a:rPr/>
              <a:t>. Then click on </a:t>
            </a:r>
            <a:r>
              <a:rPr>
                <a:latin typeface="Courier"/>
              </a:rPr>
              <a:t>Commit</a:t>
            </a:r>
            <a:r>
              <a:rPr/>
              <a:t>.</a:t>
            </a:r>
          </a:p>
        </p:txBody>
      </p:sp>
      <p:pic>
        <p:nvPicPr>
          <p:cNvPr descr="images/first_commit.png" id="0" name="Picture 1"/>
          <p:cNvPicPr>
            <a:picLocks noGrp="1" noChangeAspect="1"/>
          </p:cNvPicPr>
          <p:nvPr/>
        </p:nvPicPr>
        <p:blipFill>
          <a:blip r:embed="rId3"/>
          <a:stretch>
            <a:fillRect/>
          </a:stretch>
        </p:blipFill>
        <p:spPr bwMode="auto">
          <a:xfrm>
            <a:off x="3568700" y="1333500"/>
            <a:ext cx="5105400" cy="2120900"/>
          </a:xfrm>
          <a:prstGeom prst="rect">
            <a:avLst/>
          </a:prstGeom>
          <a:noFill/>
          <a:ln w="9525">
            <a:noFill/>
            <a:headEnd/>
            <a:tailEnd/>
          </a:ln>
        </p:spPr>
      </p:pic>
    </p:spTree>
  </p:cSld>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Getting your project under version control</a:t>
            </a:r>
          </a:p>
          <a:p>
            <a:pPr lvl="0" indent="0" marL="0">
              <a:buNone/>
            </a:pPr>
            <a:r>
              <a:rPr b="1"/>
              <a:t>Step 5</a:t>
            </a:r>
            <a:r>
              <a:rPr/>
              <a:t>: Check the message from git. If no errors appear, everything is fine. Click on close - finished!</a:t>
            </a:r>
          </a:p>
        </p:txBody>
      </p:sp>
      <p:pic>
        <p:nvPicPr>
          <p:cNvPr descr="images/git_commit_message.png" id="0" name="Picture 1"/>
          <p:cNvPicPr>
            <a:picLocks noGrp="1" noChangeAspect="1"/>
          </p:cNvPicPr>
          <p:nvPr/>
        </p:nvPicPr>
        <p:blipFill>
          <a:blip r:embed="rId2"/>
          <a:stretch>
            <a:fillRect/>
          </a:stretch>
        </p:blipFill>
        <p:spPr bwMode="auto">
          <a:xfrm>
            <a:off x="3568700" y="1257300"/>
            <a:ext cx="5105400" cy="2273300"/>
          </a:xfrm>
          <a:prstGeom prst="rect">
            <a:avLst/>
          </a:prstGeom>
          <a:noFill/>
          <a:ln w="9525">
            <a:noFill/>
            <a:headEnd/>
            <a:tailEnd/>
          </a:ln>
        </p:spPr>
      </p:pic>
    </p:spTree>
  </p:cSld>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Making changes</a:t>
            </a:r>
          </a:p>
          <a:p>
            <a:pPr lvl="0" indent="0" marL="0">
              <a:buNone/>
            </a:pPr>
            <a:r>
              <a:rPr/>
              <a:t>Now we want to make some actual changes to practise using Git and to show how Git handles modifications of files. </a:t>
            </a:r>
          </a:p>
          <a:p>
            <a:pPr lvl="0" indent="0" marL="0">
              <a:buNone/>
            </a:pPr>
            <a:r>
              <a:rPr b="1"/>
              <a:t>Step 1</a:t>
            </a:r>
            <a:r>
              <a:rPr/>
              <a:t>: Add the following code to your existing R script:</a:t>
            </a:r>
          </a:p>
          <a:p>
            <a:pPr lvl="0" indent="0">
              <a:buNone/>
            </a:pPr>
            <a:r>
              <a:rPr>
                <a:solidFill>
                  <a:srgbClr val="5E5E5E"/>
                </a:solidFill>
                <a:latin typeface="Courier"/>
              </a:rPr>
              <a:t># some guesses for the parameters.</a:t>
            </a:r>
            <a:br/>
            <a:r>
              <a:rPr>
                <a:solidFill>
                  <a:srgbClr val="003B4F"/>
                </a:solidFill>
                <a:latin typeface="Courier"/>
              </a:rPr>
              <a:t>p1 = </a:t>
            </a:r>
            <a:r>
              <a:rPr>
                <a:solidFill>
                  <a:srgbClr val="AD0000"/>
                </a:solidFill>
                <a:latin typeface="Courier"/>
              </a:rPr>
              <a:t>1</a:t>
            </a:r>
            <a:br/>
            <a:r>
              <a:rPr>
                <a:solidFill>
                  <a:srgbClr val="003B4F"/>
                </a:solidFill>
                <a:latin typeface="Courier"/>
              </a:rPr>
              <a:t>p2 = </a:t>
            </a:r>
            <a:r>
              <a:rPr>
                <a:solidFill>
                  <a:srgbClr val="AD0000"/>
                </a:solidFill>
                <a:latin typeface="Courier"/>
              </a:rPr>
              <a:t>0.2</a:t>
            </a:r>
            <a:br/>
            <a:br/>
            <a:r>
              <a:rPr>
                <a:solidFill>
                  <a:srgbClr val="5E5E5E"/>
                </a:solidFill>
                <a:latin typeface="Courier"/>
              </a:rPr>
              <a:t># do the fit</a:t>
            </a:r>
            <a:br/>
            <a:r>
              <a:rPr>
                <a:solidFill>
                  <a:srgbClr val="003B4F"/>
                </a:solidFill>
                <a:latin typeface="Courier"/>
              </a:rPr>
              <a:t>fit = </a:t>
            </a:r>
            <a:r>
              <a:rPr>
                <a:solidFill>
                  <a:srgbClr val="4758AB"/>
                </a:solidFill>
                <a:latin typeface="Courier"/>
              </a:rPr>
              <a:t>nls</a:t>
            </a:r>
            <a:r>
              <a:rPr>
                <a:solidFill>
                  <a:srgbClr val="003B4F"/>
                </a:solidFill>
                <a:latin typeface="Courier"/>
              </a:rPr>
              <a:t>(ydata </a:t>
            </a:r>
            <a:r>
              <a:rPr>
                <a:solidFill>
                  <a:srgbClr val="5E5E5E"/>
                </a:solidFill>
                <a:latin typeface="Courier"/>
              </a:rPr>
              <a:t>~</a:t>
            </a:r>
            <a:r>
              <a:rPr>
                <a:solidFill>
                  <a:srgbClr val="003B4F"/>
                </a:solidFill>
                <a:latin typeface="Courier"/>
              </a:rPr>
              <a:t> p1</a:t>
            </a:r>
            <a:r>
              <a:rPr>
                <a:solidFill>
                  <a:srgbClr val="5E5E5E"/>
                </a:solidFill>
                <a:latin typeface="Courier"/>
              </a:rPr>
              <a:t>*</a:t>
            </a:r>
            <a:r>
              <a:rPr>
                <a:solidFill>
                  <a:srgbClr val="4758AB"/>
                </a:solidFill>
                <a:latin typeface="Courier"/>
              </a:rPr>
              <a:t>cos</a:t>
            </a:r>
            <a:r>
              <a:rPr>
                <a:solidFill>
                  <a:srgbClr val="003B4F"/>
                </a:solidFill>
                <a:latin typeface="Courier"/>
              </a:rPr>
              <a:t>(p2</a:t>
            </a:r>
            <a:r>
              <a:rPr>
                <a:solidFill>
                  <a:srgbClr val="5E5E5E"/>
                </a:solidFill>
                <a:latin typeface="Courier"/>
              </a:rPr>
              <a:t>*</a:t>
            </a:r>
            <a:r>
              <a:rPr>
                <a:solidFill>
                  <a:srgbClr val="003B4F"/>
                </a:solidFill>
                <a:latin typeface="Courier"/>
              </a:rPr>
              <a:t>xdata) </a:t>
            </a:r>
            <a:r>
              <a:rPr>
                <a:solidFill>
                  <a:srgbClr val="5E5E5E"/>
                </a:solidFill>
                <a:latin typeface="Courier"/>
              </a:rPr>
              <a:t>+</a:t>
            </a:r>
            <a:r>
              <a:rPr>
                <a:solidFill>
                  <a:srgbClr val="003B4F"/>
                </a:solidFill>
                <a:latin typeface="Courier"/>
              </a:rPr>
              <a:t> p2</a:t>
            </a:r>
            <a:r>
              <a:rPr>
                <a:solidFill>
                  <a:srgbClr val="5E5E5E"/>
                </a:solidFill>
                <a:latin typeface="Courier"/>
              </a:rPr>
              <a:t>*</a:t>
            </a:r>
            <a:r>
              <a:rPr>
                <a:solidFill>
                  <a:srgbClr val="4758AB"/>
                </a:solidFill>
                <a:latin typeface="Courier"/>
              </a:rPr>
              <a:t>sin</a:t>
            </a:r>
            <a:r>
              <a:rPr>
                <a:solidFill>
                  <a:srgbClr val="003B4F"/>
                </a:solidFill>
                <a:latin typeface="Courier"/>
              </a:rPr>
              <a:t>(p1</a:t>
            </a:r>
            <a:r>
              <a:rPr>
                <a:solidFill>
                  <a:srgbClr val="5E5E5E"/>
                </a:solidFill>
                <a:latin typeface="Courier"/>
              </a:rPr>
              <a:t>*</a:t>
            </a:r>
            <a:r>
              <a:rPr>
                <a:solidFill>
                  <a:srgbClr val="003B4F"/>
                </a:solidFill>
                <a:latin typeface="Courier"/>
              </a:rPr>
              <a:t>xdata), </a:t>
            </a:r>
            <a:r>
              <a:rPr>
                <a:solidFill>
                  <a:srgbClr val="657422"/>
                </a:solidFill>
                <a:latin typeface="Courier"/>
              </a:rPr>
              <a:t>data =</a:t>
            </a:r>
            <a:r>
              <a:rPr>
                <a:solidFill>
                  <a:srgbClr val="003B4F"/>
                </a:solidFill>
                <a:latin typeface="Courier"/>
              </a:rPr>
              <a:t> mydata, </a:t>
            </a:r>
            <a:r>
              <a:rPr>
                <a:solidFill>
                  <a:srgbClr val="657422"/>
                </a:solidFill>
                <a:latin typeface="Courier"/>
              </a:rPr>
              <a:t>start =</a:t>
            </a:r>
            <a:r>
              <a:rPr>
                <a:solidFill>
                  <a:srgbClr val="003B4F"/>
                </a:solidFill>
                <a:latin typeface="Courier"/>
              </a:rPr>
              <a:t> </a:t>
            </a:r>
            <a:r>
              <a:rPr>
                <a:solidFill>
                  <a:srgbClr val="4758AB"/>
                </a:solidFill>
                <a:latin typeface="Courier"/>
              </a:rPr>
              <a:t>list</a:t>
            </a:r>
            <a:r>
              <a:rPr>
                <a:solidFill>
                  <a:srgbClr val="003B4F"/>
                </a:solidFill>
                <a:latin typeface="Courier"/>
              </a:rPr>
              <a:t>(</a:t>
            </a:r>
            <a:r>
              <a:rPr>
                <a:solidFill>
                  <a:srgbClr val="657422"/>
                </a:solidFill>
                <a:latin typeface="Courier"/>
              </a:rPr>
              <a:t>p1=</a:t>
            </a:r>
            <a:r>
              <a:rPr>
                <a:solidFill>
                  <a:srgbClr val="003B4F"/>
                </a:solidFill>
                <a:latin typeface="Courier"/>
              </a:rPr>
              <a:t>p1,</a:t>
            </a:r>
            <a:r>
              <a:rPr>
                <a:solidFill>
                  <a:srgbClr val="657422"/>
                </a:solidFill>
                <a:latin typeface="Courier"/>
              </a:rPr>
              <a:t>p2=</a:t>
            </a:r>
            <a:r>
              <a:rPr>
                <a:solidFill>
                  <a:srgbClr val="003B4F"/>
                </a:solidFill>
                <a:latin typeface="Courier"/>
              </a:rPr>
              <a:t>p2))</a:t>
            </a:r>
            <a:br/>
            <a:br/>
            <a:r>
              <a:rPr>
                <a:solidFill>
                  <a:srgbClr val="5E5E5E"/>
                </a:solidFill>
                <a:latin typeface="Courier"/>
              </a:rPr>
              <a:t>#Plot the fitted line</a:t>
            </a:r>
            <a:br/>
            <a:r>
              <a:rPr>
                <a:solidFill>
                  <a:srgbClr val="003B4F"/>
                </a:solidFill>
                <a:latin typeface="Courier"/>
              </a:rPr>
              <a:t>new = </a:t>
            </a:r>
            <a:r>
              <a:rPr>
                <a:solidFill>
                  <a:srgbClr val="4758AB"/>
                </a:solidFill>
                <a:latin typeface="Courier"/>
              </a:rPr>
              <a:t>data.frame</a:t>
            </a:r>
            <a:r>
              <a:rPr>
                <a:solidFill>
                  <a:srgbClr val="003B4F"/>
                </a:solidFill>
                <a:latin typeface="Courier"/>
              </a:rPr>
              <a:t>(</a:t>
            </a:r>
            <a:r>
              <a:rPr>
                <a:solidFill>
                  <a:srgbClr val="657422"/>
                </a:solidFill>
                <a:latin typeface="Courier"/>
              </a:rPr>
              <a:t>xdata =</a:t>
            </a:r>
            <a:r>
              <a:rPr>
                <a:solidFill>
                  <a:srgbClr val="003B4F"/>
                </a:solidFill>
                <a:latin typeface="Courier"/>
              </a:rPr>
              <a:t> </a:t>
            </a:r>
            <a:r>
              <a:rPr>
                <a:solidFill>
                  <a:srgbClr val="4758AB"/>
                </a:solidFill>
                <a:latin typeface="Courier"/>
              </a:rPr>
              <a:t>seq</a:t>
            </a:r>
            <a:r>
              <a:rPr>
                <a:solidFill>
                  <a:srgbClr val="003B4F"/>
                </a:solidFill>
                <a:latin typeface="Courier"/>
              </a:rPr>
              <a:t>(</a:t>
            </a:r>
            <a:r>
              <a:rPr>
                <a:solidFill>
                  <a:srgbClr val="4758AB"/>
                </a:solidFill>
                <a:latin typeface="Courier"/>
              </a:rPr>
              <a:t>min</a:t>
            </a:r>
            <a:r>
              <a:rPr>
                <a:solidFill>
                  <a:srgbClr val="003B4F"/>
                </a:solidFill>
                <a:latin typeface="Courier"/>
              </a:rPr>
              <a:t>(mydata</a:t>
            </a:r>
            <a:r>
              <a:rPr>
                <a:solidFill>
                  <a:srgbClr val="5E5E5E"/>
                </a:solidFill>
                <a:latin typeface="Courier"/>
              </a:rPr>
              <a:t>$</a:t>
            </a:r>
            <a:r>
              <a:rPr>
                <a:solidFill>
                  <a:srgbClr val="003B4F"/>
                </a:solidFill>
                <a:latin typeface="Courier"/>
              </a:rPr>
              <a:t>xdata),</a:t>
            </a:r>
            <a:r>
              <a:rPr>
                <a:solidFill>
                  <a:srgbClr val="4758AB"/>
                </a:solidFill>
                <a:latin typeface="Courier"/>
              </a:rPr>
              <a:t>max</a:t>
            </a:r>
            <a:r>
              <a:rPr>
                <a:solidFill>
                  <a:srgbClr val="003B4F"/>
                </a:solidFill>
                <a:latin typeface="Courier"/>
              </a:rPr>
              <a:t>(mydata</a:t>
            </a:r>
            <a:r>
              <a:rPr>
                <a:solidFill>
                  <a:srgbClr val="5E5E5E"/>
                </a:solidFill>
                <a:latin typeface="Courier"/>
              </a:rPr>
              <a:t>$</a:t>
            </a:r>
            <a:r>
              <a:rPr>
                <a:solidFill>
                  <a:srgbClr val="003B4F"/>
                </a:solidFill>
                <a:latin typeface="Courier"/>
              </a:rPr>
              <a:t>xdata),</a:t>
            </a:r>
            <a:r>
              <a:rPr>
                <a:solidFill>
                  <a:srgbClr val="657422"/>
                </a:solidFill>
                <a:latin typeface="Courier"/>
              </a:rPr>
              <a:t>len=</a:t>
            </a:r>
            <a:r>
              <a:rPr>
                <a:solidFill>
                  <a:srgbClr val="AD0000"/>
                </a:solidFill>
                <a:latin typeface="Courier"/>
              </a:rPr>
              <a:t>200</a:t>
            </a:r>
            <a:r>
              <a:rPr>
                <a:solidFill>
                  <a:srgbClr val="003B4F"/>
                </a:solidFill>
                <a:latin typeface="Courier"/>
              </a:rPr>
              <a:t>))</a:t>
            </a:r>
            <a:br/>
            <a:r>
              <a:rPr>
                <a:solidFill>
                  <a:srgbClr val="4758AB"/>
                </a:solidFill>
                <a:latin typeface="Courier"/>
              </a:rPr>
              <a:t>lines</a:t>
            </a:r>
            <a:r>
              <a:rPr>
                <a:solidFill>
                  <a:srgbClr val="003B4F"/>
                </a:solidFill>
                <a:latin typeface="Courier"/>
              </a:rPr>
              <a:t>(new</a:t>
            </a:r>
            <a:r>
              <a:rPr>
                <a:solidFill>
                  <a:srgbClr val="5E5E5E"/>
                </a:solidFill>
                <a:latin typeface="Courier"/>
              </a:rPr>
              <a:t>$</a:t>
            </a:r>
            <a:r>
              <a:rPr>
                <a:solidFill>
                  <a:srgbClr val="003B4F"/>
                </a:solidFill>
                <a:latin typeface="Courier"/>
              </a:rPr>
              <a:t>xdata,</a:t>
            </a:r>
            <a:r>
              <a:rPr>
                <a:solidFill>
                  <a:srgbClr val="4758AB"/>
                </a:solidFill>
                <a:latin typeface="Courier"/>
              </a:rPr>
              <a:t>predict</a:t>
            </a:r>
            <a:r>
              <a:rPr>
                <a:solidFill>
                  <a:srgbClr val="003B4F"/>
                </a:solidFill>
                <a:latin typeface="Courier"/>
              </a:rPr>
              <a:t>(fit,</a:t>
            </a:r>
            <a:r>
              <a:rPr>
                <a:solidFill>
                  <a:srgbClr val="657422"/>
                </a:solidFill>
                <a:latin typeface="Courier"/>
              </a:rPr>
              <a:t>newdata=</a:t>
            </a:r>
            <a:r>
              <a:rPr>
                <a:solidFill>
                  <a:srgbClr val="003B4F"/>
                </a:solidFill>
                <a:latin typeface="Courier"/>
              </a:rPr>
              <a:t>new))</a:t>
            </a:r>
          </a:p>
        </p:txBody>
      </p:sp>
    </p:spTree>
  </p:cSld>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Making changes</a:t>
            </a:r>
          </a:p>
          <a:p>
            <a:pPr lvl="0" indent="0" marL="0">
              <a:buNone/>
            </a:pPr>
            <a:r>
              <a:rPr b="1"/>
              <a:t>Step 2</a:t>
            </a:r>
            <a:r>
              <a:rPr/>
              <a:t>: Change the command that plots our data in this file.</a:t>
            </a:r>
          </a:p>
          <a:p>
            <a:pPr lvl="0" indent="0" marL="0">
              <a:buNone/>
            </a:pPr>
          </a:p>
          <a:p>
            <a:pPr lvl="0" indent="0" marL="0">
              <a:buNone/>
            </a:pPr>
            <a:r>
              <a:rPr/>
              <a:t>Change the line</a:t>
            </a:r>
          </a:p>
          <a:p>
            <a:pPr lvl="0" indent="0">
              <a:buNone/>
            </a:pPr>
            <a:r>
              <a:rPr>
                <a:solidFill>
                  <a:srgbClr val="4758AB"/>
                </a:solidFill>
                <a:latin typeface="Courier"/>
              </a:rPr>
              <a:t>plot</a:t>
            </a:r>
            <a:r>
              <a:rPr>
                <a:solidFill>
                  <a:srgbClr val="003B4F"/>
                </a:solidFill>
                <a:latin typeface="Courier"/>
              </a:rPr>
              <a:t>(mydata</a:t>
            </a:r>
            <a:r>
              <a:rPr>
                <a:solidFill>
                  <a:srgbClr val="5E5E5E"/>
                </a:solidFill>
                <a:latin typeface="Courier"/>
              </a:rPr>
              <a:t>$</a:t>
            </a:r>
            <a:r>
              <a:rPr>
                <a:solidFill>
                  <a:srgbClr val="003B4F"/>
                </a:solidFill>
                <a:latin typeface="Courier"/>
              </a:rPr>
              <a:t>xdata,mydata</a:t>
            </a:r>
            <a:r>
              <a:rPr>
                <a:solidFill>
                  <a:srgbClr val="5E5E5E"/>
                </a:solidFill>
                <a:latin typeface="Courier"/>
              </a:rPr>
              <a:t>$</a:t>
            </a:r>
            <a:r>
              <a:rPr>
                <a:solidFill>
                  <a:srgbClr val="003B4F"/>
                </a:solidFill>
                <a:latin typeface="Courier"/>
              </a:rPr>
              <a:t>ydata)</a:t>
            </a:r>
          </a:p>
          <a:p>
            <a:pPr lvl="0" indent="0" marL="0">
              <a:buNone/>
            </a:pPr>
            <a:r>
              <a:rPr/>
              <a:t>to</a:t>
            </a:r>
          </a:p>
          <a:p>
            <a:pPr lvl="0" indent="0">
              <a:buNone/>
            </a:pPr>
            <a:r>
              <a:rPr>
                <a:solidFill>
                  <a:srgbClr val="4758AB"/>
                </a:solidFill>
                <a:latin typeface="Courier"/>
              </a:rPr>
              <a:t>plot</a:t>
            </a:r>
            <a:r>
              <a:rPr>
                <a:solidFill>
                  <a:srgbClr val="003B4F"/>
                </a:solidFill>
                <a:latin typeface="Courier"/>
              </a:rPr>
              <a:t>(mydata</a:t>
            </a:r>
            <a:r>
              <a:rPr>
                <a:solidFill>
                  <a:srgbClr val="5E5E5E"/>
                </a:solidFill>
                <a:latin typeface="Courier"/>
              </a:rPr>
              <a:t>$</a:t>
            </a:r>
            <a:r>
              <a:rPr>
                <a:solidFill>
                  <a:srgbClr val="003B4F"/>
                </a:solidFill>
                <a:latin typeface="Courier"/>
              </a:rPr>
              <a:t>xdata,mydata</a:t>
            </a:r>
            <a:r>
              <a:rPr>
                <a:solidFill>
                  <a:srgbClr val="5E5E5E"/>
                </a:solidFill>
                <a:latin typeface="Courier"/>
              </a:rPr>
              <a:t>$</a:t>
            </a:r>
            <a:r>
              <a:rPr>
                <a:solidFill>
                  <a:srgbClr val="003B4F"/>
                </a:solidFill>
                <a:latin typeface="Courier"/>
              </a:rPr>
              <a:t>ydata,</a:t>
            </a:r>
            <a:r>
              <a:rPr>
                <a:solidFill>
                  <a:srgbClr val="657422"/>
                </a:solidFill>
                <a:latin typeface="Courier"/>
              </a:rPr>
              <a:t>col=</a:t>
            </a:r>
            <a:r>
              <a:rPr>
                <a:solidFill>
                  <a:srgbClr val="20794D"/>
                </a:solidFill>
                <a:latin typeface="Courier"/>
              </a:rPr>
              <a:t>'red'</a:t>
            </a:r>
            <a:r>
              <a:rPr>
                <a:solidFill>
                  <a:srgbClr val="003B4F"/>
                </a:solidFill>
                <a:latin typeface="Courier"/>
              </a:rPr>
              <a:t>)</a:t>
            </a:r>
          </a:p>
          <a:p>
            <a:pPr lvl="0" indent="0" marL="0">
              <a:buNone/>
            </a:pPr>
            <a:r>
              <a:rPr/>
              <a:t>and run this code.</a:t>
            </a:r>
          </a:p>
        </p:txBody>
      </p:sp>
    </p:spTree>
  </p:cSld>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Making changes: Optional Exercise</a:t>
            </a:r>
          </a:p>
          <a:p>
            <a:pPr lvl="0" indent="0" marL="0">
              <a:buNone/>
            </a:pPr>
            <a:r>
              <a:rPr b="1"/>
              <a:t>Step 3</a:t>
            </a:r>
            <a:r>
              <a:rPr/>
              <a:t> (optional): Create another R file with </a:t>
            </a:r>
            <a:r>
              <a:rPr>
                <a:latin typeface="Courier"/>
              </a:rPr>
              <a:t>File</a:t>
            </a:r>
            <a:r>
              <a:rPr/>
              <a:t> &gt; </a:t>
            </a:r>
            <a:r>
              <a:rPr>
                <a:latin typeface="Courier"/>
              </a:rPr>
              <a:t>New File</a:t>
            </a:r>
            <a:r>
              <a:rPr/>
              <a:t> &gt; </a:t>
            </a:r>
            <a:r>
              <a:rPr>
                <a:latin typeface="Courier"/>
              </a:rPr>
              <a:t>R script</a:t>
            </a:r>
            <a:r>
              <a:rPr/>
              <a:t>. Save as </a:t>
            </a:r>
            <a:r>
              <a:rPr i="1"/>
              <a:t>simulation_script.R</a:t>
            </a:r>
            <a:r>
              <a:rPr/>
              <a:t>. Then add and run the code below in the new R script:</a:t>
            </a:r>
          </a:p>
          <a:p>
            <a:pPr lvl="0" indent="0">
              <a:buNone/>
            </a:pPr>
            <a:r>
              <a:rPr>
                <a:solidFill>
                  <a:srgbClr val="5E5E5E"/>
                </a:solidFill>
                <a:latin typeface="Courier"/>
              </a:rPr>
              <a:t>#Simulate some data</a:t>
            </a:r>
            <a:br/>
            <a:r>
              <a:rPr>
                <a:solidFill>
                  <a:srgbClr val="4758AB"/>
                </a:solidFill>
                <a:latin typeface="Courier"/>
              </a:rPr>
              <a:t>plot</a:t>
            </a:r>
            <a:r>
              <a:rPr>
                <a:solidFill>
                  <a:srgbClr val="003B4F"/>
                </a:solidFill>
                <a:latin typeface="Courier"/>
              </a:rPr>
              <a:t>(</a:t>
            </a:r>
            <a:r>
              <a:rPr>
                <a:solidFill>
                  <a:srgbClr val="4758AB"/>
                </a:solidFill>
                <a:latin typeface="Courier"/>
              </a:rPr>
              <a:t>rnorm</a:t>
            </a:r>
            <a:r>
              <a:rPr>
                <a:solidFill>
                  <a:srgbClr val="003B4F"/>
                </a:solidFill>
                <a:latin typeface="Courier"/>
              </a:rPr>
              <a:t>(</a:t>
            </a:r>
            <a:r>
              <a:rPr>
                <a:solidFill>
                  <a:srgbClr val="AD0000"/>
                </a:solidFill>
                <a:latin typeface="Courier"/>
              </a:rPr>
              <a:t>100</a:t>
            </a:r>
            <a:r>
              <a:rPr>
                <a:solidFill>
                  <a:srgbClr val="003B4F"/>
                </a:solidFill>
                <a:latin typeface="Courier"/>
              </a:rPr>
              <a:t>,</a:t>
            </a:r>
            <a:r>
              <a:rPr>
                <a:solidFill>
                  <a:srgbClr val="AD0000"/>
                </a:solidFill>
                <a:latin typeface="Courier"/>
              </a:rPr>
              <a:t>0</a:t>
            </a:r>
            <a:r>
              <a:rPr>
                <a:solidFill>
                  <a:srgbClr val="003B4F"/>
                </a:solidFill>
                <a:latin typeface="Courier"/>
              </a:rPr>
              <a:t>,</a:t>
            </a:r>
            <a:r>
              <a:rPr>
                <a:solidFill>
                  <a:srgbClr val="AD0000"/>
                </a:solidFill>
                <a:latin typeface="Courier"/>
              </a:rPr>
              <a:t>1</a:t>
            </a:r>
            <a:r>
              <a:rPr>
                <a:solidFill>
                  <a:srgbClr val="003B4F"/>
                </a:solidFill>
                <a:latin typeface="Courier"/>
              </a:rPr>
              <a:t>))</a:t>
            </a:r>
          </a:p>
        </p:txBody>
      </p:sp>
      <p:pic>
        <p:nvPicPr>
          <p:cNvPr descr="OS-M3-S4-Git-slides_files/figure-pptx/simulate-1.png" id="0" name="Picture 1"/>
          <p:cNvPicPr>
            <a:picLocks noGrp="1" noChangeAspect="1"/>
          </p:cNvPicPr>
          <p:nvPr/>
        </p:nvPicPr>
        <p:blipFill>
          <a:blip r:embed="rId3"/>
          <a:stretch>
            <a:fillRect/>
          </a:stretch>
        </p:blipFill>
        <p:spPr bwMode="auto">
          <a:xfrm>
            <a:off x="3568700" y="1117600"/>
            <a:ext cx="5105400" cy="2552700"/>
          </a:xfrm>
          <a:prstGeom prst="rect">
            <a:avLst/>
          </a:prstGeom>
          <a:noFill/>
          <a:ln w="9525">
            <a:noFill/>
            <a:headEnd/>
            <a:tailEnd/>
          </a:ln>
        </p:spPr>
      </p:pic>
    </p:spTree>
  </p:cSld>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Committing changes</a:t>
            </a:r>
          </a:p>
          <a:p>
            <a:pPr lvl="0" indent="0" marL="0">
              <a:buNone/>
            </a:pPr>
            <a:r>
              <a:rPr/>
              <a:t>Click on the </a:t>
            </a:r>
            <a:r>
              <a:rPr>
                <a:latin typeface="Courier"/>
              </a:rPr>
              <a:t>git</a:t>
            </a:r>
            <a:r>
              <a:rPr/>
              <a:t> tab in the top right corner. Two files appeared, the script we modified and the new script.</a:t>
            </a:r>
          </a:p>
          <a:p>
            <a:pPr lvl="0" indent="0" marL="0">
              <a:buNone/>
            </a:pPr>
          </a:p>
          <a:p>
            <a:pPr lvl="0" indent="0" marL="0">
              <a:buNone/>
            </a:pPr>
            <a:r>
              <a:rPr b="1"/>
              <a:t>Step 1</a:t>
            </a:r>
            <a:r>
              <a:rPr/>
              <a:t>: Click on the </a:t>
            </a:r>
            <a:r>
              <a:rPr>
                <a:latin typeface="Courier"/>
              </a:rPr>
              <a:t>staged</a:t>
            </a:r>
            <a:r>
              <a:rPr/>
              <a:t> box to stage changes for the </a:t>
            </a:r>
            <a:r>
              <a:rPr i="1"/>
              <a:t>first</a:t>
            </a:r>
            <a:r>
              <a:rPr/>
              <a:t> script.</a:t>
            </a:r>
          </a:p>
        </p:txBody>
      </p:sp>
      <p:pic>
        <p:nvPicPr>
          <p:cNvPr descr="images/git_changed.png" id="0" name="Picture 1"/>
          <p:cNvPicPr>
            <a:picLocks noGrp="1" noChangeAspect="1"/>
          </p:cNvPicPr>
          <p:nvPr/>
        </p:nvPicPr>
        <p:blipFill>
          <a:blip r:embed="rId3"/>
          <a:stretch>
            <a:fillRect/>
          </a:stretch>
        </p:blipFill>
        <p:spPr bwMode="auto">
          <a:xfrm>
            <a:off x="3568700" y="1727200"/>
            <a:ext cx="5105400" cy="1346200"/>
          </a:xfrm>
          <a:prstGeom prst="rect">
            <a:avLst/>
          </a:prstGeom>
          <a:noFill/>
          <a:ln w="9525">
            <a:noFill/>
            <a:headEnd/>
            <a:tailEnd/>
          </a:ln>
        </p:spPr>
      </p:pic>
    </p:spTree>
  </p:cSld>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Committing changes</a:t>
            </a:r>
          </a:p>
          <a:p>
            <a:pPr lvl="0" indent="0" marL="0">
              <a:buNone/>
            </a:pPr>
            <a:r>
              <a:rPr b="1"/>
              <a:t>Step 2</a:t>
            </a:r>
            <a:r>
              <a:rPr/>
              <a:t>: Click on </a:t>
            </a:r>
            <a:r>
              <a:rPr>
                <a:latin typeface="Courier"/>
              </a:rPr>
              <a:t>Diff</a:t>
            </a:r>
            <a:r>
              <a:rPr/>
              <a:t> for a reminder summary of what changed. Then add a commit message and click </a:t>
            </a:r>
            <a:r>
              <a:rPr>
                <a:latin typeface="Courier"/>
              </a:rPr>
              <a:t>commit</a:t>
            </a:r>
            <a:r>
              <a:rPr/>
              <a:t>.</a:t>
            </a:r>
          </a:p>
        </p:txBody>
      </p:sp>
      <p:pic>
        <p:nvPicPr>
          <p:cNvPr descr="images/git_diff.png" id="0" name="Picture 1"/>
          <p:cNvPicPr>
            <a:picLocks noGrp="1" noChangeAspect="1"/>
          </p:cNvPicPr>
          <p:nvPr/>
        </p:nvPicPr>
        <p:blipFill>
          <a:blip r:embed="rId2"/>
          <a:stretch>
            <a:fillRect/>
          </a:stretch>
        </p:blipFill>
        <p:spPr bwMode="auto">
          <a:xfrm>
            <a:off x="3568700" y="876300"/>
            <a:ext cx="5105400" cy="3035300"/>
          </a:xfrm>
          <a:prstGeom prst="rect">
            <a:avLst/>
          </a:prstGeom>
          <a:noFill/>
          <a:ln w="9525">
            <a:noFill/>
            <a:headEnd/>
            <a:tailEnd/>
          </a:ln>
        </p:spPr>
      </p:pic>
    </p:spTree>
  </p:cSld>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b="1"/>
              <a:t>Important</a:t>
            </a:r>
          </a:p>
          <a:p>
            <a:pPr lvl="0" indent="0" marL="1270000">
              <a:buNone/>
            </a:pPr>
            <a:r>
              <a:rPr sz="2000"/>
              <a:t>Remember that Git track </a:t>
            </a:r>
            <a:r>
              <a:rPr sz="2000" i="1"/>
              <a:t>differences</a:t>
            </a:r>
            <a:r>
              <a:rPr sz="2000"/>
              <a:t> between two files. Lines that have been added are green. Lines that have been removed are red.</a:t>
            </a:r>
          </a:p>
        </p:txBody>
      </p:sp>
    </p:spTree>
  </p:cSld>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Practical exercise 1</a:t>
            </a:r>
          </a:p>
          <a:p>
            <a:pPr lvl="0"/>
            <a:r>
              <a:rPr/>
              <a:t>☐ If you have not already done so, create a second R script and save it in your RStudio project folder.</a:t>
            </a:r>
          </a:p>
          <a:p>
            <a:pPr lvl="0"/>
            <a:r>
              <a:rPr/>
              <a:t>☐ Stage the second script and write a new commit message.</a:t>
            </a:r>
          </a:p>
          <a:p>
            <a:pPr lvl="0"/>
            <a:r>
              <a:rPr/>
              <a:t>☐ In the git tab, press the </a:t>
            </a:r>
            <a:r>
              <a:rPr>
                <a:latin typeface="Courier"/>
              </a:rPr>
              <a:t>History</a:t>
            </a:r>
            <a:r>
              <a:rPr/>
              <a:t> button to review the change and commit history of your files.</a:t>
            </a:r>
          </a:p>
          <a:p>
            <a:pPr lvl="0" indent="0" marL="1270000">
              <a:buNone/>
            </a:pPr>
            <a:r>
              <a:rPr sz="2000" b="1"/>
              <a:t>Note</a:t>
            </a:r>
          </a:p>
          <a:p>
            <a:pPr lvl="0" indent="0" marL="1270000">
              <a:buNone/>
            </a:pPr>
            <a:r>
              <a:rPr sz="2000"/>
              <a:t>By default, the history search feature will show all files added, changed, or deleted for each commit. This can be extremely useful for finding bugs or looking back to how your project looked a few months ago. However, it is often more practical to review the changes made to a single file over time; this enables, for example, clear tracking of the evolution of data cleaning and analysis steps in your project.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Connecting the local repository to GitHub</a:t>
            </a:r>
          </a:p>
          <a:p>
            <a:pPr lvl="0" indent="0" marL="0">
              <a:buNone/>
            </a:pPr>
            <a:r>
              <a:rPr/>
              <a:t>The project is now under version control. Time to create a </a:t>
            </a:r>
            <a:r>
              <a:rPr b="1"/>
              <a:t>new GitHub repository</a:t>
            </a:r>
            <a:r>
              <a:rPr/>
              <a:t> and </a:t>
            </a:r>
            <a:r>
              <a:rPr b="1"/>
              <a:t>upload</a:t>
            </a:r>
            <a:r>
              <a:rPr/>
              <a:t> to GitHub!</a:t>
            </a:r>
          </a:p>
          <a:p>
            <a:pPr lvl="0" indent="0" marL="0">
              <a:buNone/>
            </a:pPr>
          </a:p>
          <a:p>
            <a:pPr lvl="0" indent="0" marL="0">
              <a:buNone/>
            </a:pPr>
            <a:r>
              <a:rPr b="1"/>
              <a:t>Step 1</a:t>
            </a:r>
            <a:r>
              <a:rPr/>
              <a:t>: Log into GitHub and go to your profile page. On the </a:t>
            </a:r>
            <a:r>
              <a:rPr>
                <a:latin typeface="Courier"/>
              </a:rPr>
              <a:t>repositories</a:t>
            </a:r>
            <a:r>
              <a:rPr/>
              <a:t> tab, click </a:t>
            </a:r>
            <a:r>
              <a:rPr>
                <a:latin typeface="Courier"/>
              </a:rPr>
              <a:t>New</a:t>
            </a:r>
            <a:r>
              <a:rPr/>
              <a:t>.</a:t>
            </a:r>
          </a:p>
        </p:txBody>
      </p:sp>
      <p:pic>
        <p:nvPicPr>
          <p:cNvPr descr="images/new_repo.png" id="0" name="Picture 1"/>
          <p:cNvPicPr>
            <a:picLocks noGrp="1" noChangeAspect="1"/>
          </p:cNvPicPr>
          <p:nvPr/>
        </p:nvPicPr>
        <p:blipFill>
          <a:blip r:embed="rId3"/>
          <a:stretch>
            <a:fillRect/>
          </a:stretch>
        </p:blipFill>
        <p:spPr bwMode="auto">
          <a:xfrm>
            <a:off x="3568700" y="1333500"/>
            <a:ext cx="5105400" cy="2133600"/>
          </a:xfrm>
          <a:prstGeom prst="rect">
            <a:avLst/>
          </a:prstGeom>
          <a:noFill/>
          <a:ln w="9525">
            <a:noFill/>
            <a:headEnd/>
            <a:tailEnd/>
          </a:ln>
        </p:spPr>
      </p:pic>
    </p:spTree>
  </p:cSld>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Connecting the local repository to GitHub</a:t>
            </a:r>
          </a:p>
          <a:p>
            <a:pPr lvl="0" indent="0" marL="0">
              <a:buNone/>
            </a:pPr>
            <a:r>
              <a:rPr b="1"/>
              <a:t>Step 2</a:t>
            </a:r>
            <a:r>
              <a:rPr/>
              <a:t>: Give the repository a name and click </a:t>
            </a:r>
            <a:r>
              <a:rPr>
                <a:latin typeface="Courier"/>
              </a:rPr>
              <a:t>Create Repository</a:t>
            </a:r>
            <a:r>
              <a:rPr/>
              <a:t>.</a:t>
            </a:r>
          </a:p>
        </p:txBody>
      </p:sp>
      <p:pic>
        <p:nvPicPr>
          <p:cNvPr descr="images/new_repo_name.png" id="0" name="Picture 1"/>
          <p:cNvPicPr>
            <a:picLocks noGrp="1" noChangeAspect="1"/>
          </p:cNvPicPr>
          <p:nvPr/>
        </p:nvPicPr>
        <p:blipFill>
          <a:blip r:embed="rId3"/>
          <a:stretch>
            <a:fillRect/>
          </a:stretch>
        </p:blipFill>
        <p:spPr bwMode="auto">
          <a:xfrm>
            <a:off x="4419600" y="203200"/>
            <a:ext cx="3390900" cy="4381500"/>
          </a:xfrm>
          <a:prstGeom prst="rect">
            <a:avLst/>
          </a:prstGeom>
          <a:noFill/>
          <a:ln w="9525">
            <a:noFill/>
            <a:headEnd/>
            <a:tailEnd/>
          </a:ln>
        </p:spPr>
      </p:pic>
    </p:spTree>
  </p:cSld>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Connecting the local repository to GitHub</a:t>
            </a:r>
          </a:p>
          <a:p>
            <a:pPr lvl="0" indent="0" marL="0">
              <a:buNone/>
            </a:pPr>
            <a:r>
              <a:rPr b="1"/>
              <a:t>Step 3</a:t>
            </a:r>
            <a:r>
              <a:rPr/>
              <a:t>: Configure the repository in the </a:t>
            </a:r>
            <a:r>
              <a:rPr>
                <a:latin typeface="Courier"/>
              </a:rPr>
              <a:t>Quick Setup</a:t>
            </a:r>
            <a:r>
              <a:rPr/>
              <a:t> screen. Select the </a:t>
            </a:r>
            <a:r>
              <a:rPr>
                <a:latin typeface="Courier"/>
              </a:rPr>
              <a:t>SSH</a:t>
            </a:r>
            <a:r>
              <a:rPr/>
              <a:t> tab and make sure the url shown in the blue box should start with git@github.com.</a:t>
            </a:r>
          </a:p>
        </p:txBody>
      </p:sp>
    </p:spTree>
  </p:cSld>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Connecting the local repository to GitHub</a:t>
            </a:r>
          </a:p>
          <a:p>
            <a:pPr lvl="0" indent="0" marL="0">
              <a:buNone/>
            </a:pPr>
            <a:r>
              <a:rPr b="1"/>
              <a:t>Step 4</a:t>
            </a:r>
            <a:r>
              <a:rPr/>
              <a:t>: Copy the commands from the </a:t>
            </a:r>
            <a:r>
              <a:rPr>
                <a:latin typeface="Courier"/>
              </a:rPr>
              <a:t>or push an existing repository from the command line</a:t>
            </a:r>
            <a:r>
              <a:rPr/>
              <a:t> to your clipboard with the GitHub copy button.</a:t>
            </a:r>
          </a:p>
        </p:txBody>
      </p:sp>
      <p:pic>
        <p:nvPicPr>
          <p:cNvPr descr="images/github_git_commands.png" id="0" name="Picture 1"/>
          <p:cNvPicPr>
            <a:picLocks noGrp="1" noChangeAspect="1"/>
          </p:cNvPicPr>
          <p:nvPr/>
        </p:nvPicPr>
        <p:blipFill>
          <a:blip r:embed="rId3"/>
          <a:stretch>
            <a:fillRect/>
          </a:stretch>
        </p:blipFill>
        <p:spPr bwMode="auto">
          <a:xfrm>
            <a:off x="3568700" y="635000"/>
            <a:ext cx="5105400" cy="3517900"/>
          </a:xfrm>
          <a:prstGeom prst="rect">
            <a:avLst/>
          </a:prstGeom>
          <a:noFill/>
          <a:ln w="9525">
            <a:noFill/>
            <a:headEnd/>
            <a:tailEnd/>
          </a:ln>
        </p:spPr>
      </p:pic>
    </p:spTree>
  </p:cSld>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Connecting the local repository to GitHub</a:t>
            </a:r>
          </a:p>
          <a:p>
            <a:pPr lvl="0" indent="0" marL="0">
              <a:buNone/>
            </a:pPr>
            <a:r>
              <a:rPr b="1"/>
              <a:t>Step 5</a:t>
            </a:r>
            <a:r>
              <a:rPr/>
              <a:t>: Go to RStudio, navigate to the </a:t>
            </a:r>
            <a:r>
              <a:rPr>
                <a:latin typeface="Courier"/>
              </a:rPr>
              <a:t>git</a:t>
            </a:r>
            <a:r>
              <a:rPr/>
              <a:t> tab and Click on </a:t>
            </a:r>
            <a:r>
              <a:rPr>
                <a:latin typeface="Courier"/>
              </a:rPr>
              <a:t>More</a:t>
            </a:r>
            <a:r>
              <a:rPr/>
              <a:t> &gt; </a:t>
            </a:r>
            <a:r>
              <a:rPr>
                <a:latin typeface="Courier"/>
              </a:rPr>
              <a:t>New Terminal</a:t>
            </a:r>
            <a:r>
              <a:rPr/>
              <a:t>.</a:t>
            </a:r>
          </a:p>
        </p:txBody>
      </p:sp>
      <p:pic>
        <p:nvPicPr>
          <p:cNvPr descr="images/git_more_shell.png" id="0" name="Picture 1"/>
          <p:cNvPicPr>
            <a:picLocks noGrp="1" noChangeAspect="1"/>
          </p:cNvPicPr>
          <p:nvPr/>
        </p:nvPicPr>
        <p:blipFill>
          <a:blip r:embed="rId3"/>
          <a:stretch>
            <a:fillRect/>
          </a:stretch>
        </p:blipFill>
        <p:spPr bwMode="auto">
          <a:xfrm>
            <a:off x="3568700" y="1727200"/>
            <a:ext cx="5105400" cy="1346200"/>
          </a:xfrm>
          <a:prstGeom prst="rect">
            <a:avLst/>
          </a:prstGeom>
          <a:noFill/>
          <a:ln w="9525">
            <a:noFill/>
            <a:headEnd/>
            <a:tailEnd/>
          </a:ln>
        </p:spPr>
      </p:pic>
    </p:spTree>
  </p:cSld>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Connecting the local repository to GitHub</a:t>
            </a:r>
          </a:p>
          <a:p>
            <a:pPr lvl="0" indent="0" marL="0">
              <a:buNone/>
            </a:pPr>
            <a:r>
              <a:rPr b="1"/>
              <a:t>Step 6</a:t>
            </a:r>
            <a:r>
              <a:rPr/>
              <a:t>: Paste the git commands from your clipboard into the terminal and press enter to execute them. Insert your SSH passphrase if prompted or type</a:t>
            </a:r>
          </a:p>
          <a:p>
            <a:pPr lvl="0" indent="0">
              <a:buNone/>
            </a:pPr>
            <a:r>
              <a:rPr>
                <a:latin typeface="Courier"/>
              </a:rPr>
              <a:t>yes</a:t>
            </a:r>
          </a:p>
          <a:p>
            <a:pPr lvl="0" indent="0" marL="0">
              <a:buNone/>
            </a:pPr>
            <a:r>
              <a:rPr/>
              <a:t>when a sentence about continuing to connect appears in the terminal.</a:t>
            </a:r>
          </a:p>
        </p:txBody>
      </p:sp>
      <p:pic>
        <p:nvPicPr>
          <p:cNvPr descr="images/first_push_confirm_identity.png" id="0" name="Picture 1"/>
          <p:cNvPicPr>
            <a:picLocks noGrp="1" noChangeAspect="1"/>
          </p:cNvPicPr>
          <p:nvPr/>
        </p:nvPicPr>
        <p:blipFill>
          <a:blip r:embed="rId3"/>
          <a:stretch>
            <a:fillRect/>
          </a:stretch>
        </p:blipFill>
        <p:spPr bwMode="auto">
          <a:xfrm>
            <a:off x="3568700" y="1993900"/>
            <a:ext cx="5105400" cy="800100"/>
          </a:xfrm>
          <a:prstGeom prst="rect">
            <a:avLst/>
          </a:prstGeom>
          <a:noFill/>
          <a:ln w="9525">
            <a:noFill/>
            <a:headEnd/>
            <a:tailEnd/>
          </a:ln>
        </p:spPr>
      </p:pic>
    </p:spTree>
  </p:cSld>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Connecting the local repository to GitHub</a:t>
            </a:r>
          </a:p>
          <a:p>
            <a:pPr lvl="0" indent="0" marL="0">
              <a:buNone/>
            </a:pPr>
            <a:r>
              <a:rPr b="1"/>
              <a:t>Step 7</a:t>
            </a:r>
            <a:r>
              <a:rPr/>
              <a:t>: Check that your local repository with your RStudio Project appears on your GitHub profile (please refresh the page once).</a:t>
            </a:r>
          </a:p>
          <a:p>
            <a:pPr lvl="0" indent="0" marL="1270000">
              <a:buNone/>
            </a:pPr>
            <a:r>
              <a:rPr sz="2000" b="1"/>
              <a:t>Note</a:t>
            </a:r>
          </a:p>
          <a:p>
            <a:pPr lvl="0" indent="0" marL="1270000">
              <a:buNone/>
            </a:pPr>
            <a:r>
              <a:rPr sz="2000"/>
              <a:t>You only need to upload your local repository </a:t>
            </a:r>
            <a:r>
              <a:rPr sz="2000" b="1"/>
              <a:t>once</a:t>
            </a:r>
            <a:r>
              <a:rPr sz="2000"/>
              <a:t> to GitHub. In the subsequent section, we explain how to sync (or </a:t>
            </a:r>
            <a:r>
              <a:rPr sz="2000" b="1"/>
              <a:t>push</a:t>
            </a:r>
            <a:r>
              <a:rPr sz="2000"/>
              <a:t>) your local changes in your RStudio project with the remote repository you just created on GitHub.</a:t>
            </a:r>
          </a:p>
        </p:txBody>
      </p:sp>
    </p:spTree>
  </p:cSld>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Making changes: Adding a README to your RStudio Project</a:t>
            </a:r>
          </a:p>
          <a:p>
            <a:pPr lvl="0" indent="0" marL="0">
              <a:buNone/>
            </a:pPr>
            <a:r>
              <a:rPr/>
              <a:t>Imagine that as a follow-up step, we want to add a README file to the RStudio project folder.</a:t>
            </a:r>
          </a:p>
          <a:p>
            <a:pPr lvl="0" indent="0" marL="0">
              <a:buNone/>
            </a:pPr>
          </a:p>
          <a:p>
            <a:pPr lvl="0" indent="0" marL="1270000">
              <a:buNone/>
            </a:pPr>
            <a:r>
              <a:rPr sz="2000" b="1"/>
              <a:t>Note</a:t>
            </a:r>
          </a:p>
          <a:p>
            <a:pPr lvl="0" indent="0" marL="1270000">
              <a:buNone/>
            </a:pPr>
            <a:r>
              <a:rPr sz="2000"/>
              <a:t>A README file is a short document that explains what your R project is about and can be viewed as a sort of </a:t>
            </a:r>
            <a:r>
              <a:rPr sz="2000" i="1"/>
              <a:t>Welcome Guide</a:t>
            </a:r>
            <a:r>
              <a:rPr sz="2000"/>
              <a:t>. It usually includes things like:</a:t>
            </a:r>
          </a:p>
          <a:p>
            <a:pPr lvl="0"/>
            <a:r>
              <a:rPr sz="2000"/>
              <a:t>What the project does and who made it</a:t>
            </a:r>
          </a:p>
          <a:p>
            <a:pPr lvl="0"/>
            <a:r>
              <a:rPr sz="2000"/>
              <a:t>What files or data are included</a:t>
            </a:r>
          </a:p>
          <a:p>
            <a:pPr lvl="0"/>
            <a:r>
              <a:rPr sz="2000"/>
              <a:t>How to use or run the code</a:t>
            </a:r>
          </a:p>
          <a:p>
            <a:pPr lvl="0"/>
            <a:r>
              <a:rPr sz="2000"/>
              <a:t>Any special setup or packages needed</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Adding a README to your RStudio Project</a:t>
            </a:r>
          </a:p>
          <a:p>
            <a:pPr lvl="0" indent="0" marL="0">
              <a:buNone/>
            </a:pPr>
            <a:r>
              <a:rPr b="1"/>
              <a:t>Step 1</a:t>
            </a:r>
            <a:r>
              <a:rPr/>
              <a:t>: In RStudio, click on </a:t>
            </a:r>
            <a:r>
              <a:rPr>
                <a:latin typeface="Courier"/>
              </a:rPr>
              <a:t>File</a:t>
            </a:r>
            <a:r>
              <a:rPr/>
              <a:t> &gt; </a:t>
            </a:r>
            <a:r>
              <a:rPr>
                <a:latin typeface="Courier"/>
              </a:rPr>
              <a:t>New File</a:t>
            </a:r>
            <a:r>
              <a:rPr/>
              <a:t> &gt; </a:t>
            </a:r>
            <a:r>
              <a:rPr>
                <a:latin typeface="Courier"/>
              </a:rPr>
              <a:t>Text File</a:t>
            </a:r>
            <a:r>
              <a:rPr/>
              <a:t>. Add the following text to the file and save it as </a:t>
            </a:r>
            <a:r>
              <a:rPr b="1"/>
              <a:t>README.md</a:t>
            </a:r>
            <a:r>
              <a:rPr/>
              <a:t>:</a:t>
            </a:r>
          </a:p>
          <a:p>
            <a:pPr lvl="0" indent="0">
              <a:buNone/>
            </a:pPr>
            <a:r>
              <a:rPr>
                <a:solidFill>
                  <a:srgbClr val="4758AB"/>
                </a:solidFill>
                <a:latin typeface="Courier"/>
              </a:rPr>
              <a:t># My Example Repo</a:t>
            </a:r>
            <a:br/>
            <a:br/>
            <a:r>
              <a:rPr>
                <a:solidFill>
                  <a:srgbClr val="003B4F"/>
                </a:solidFill>
                <a:latin typeface="Courier"/>
              </a:rPr>
              <a:t>This repo is used to demonstrate GitHub to users of R and R Studio.</a:t>
            </a:r>
          </a:p>
        </p:txBody>
      </p:sp>
    </p:spTree>
  </p:cSld>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Adding a README to your RStudio Project</a:t>
            </a:r>
          </a:p>
          <a:p>
            <a:pPr lvl="0" indent="0" marL="0">
              <a:buNone/>
            </a:pPr>
            <a:r>
              <a:rPr b="1"/>
              <a:t>Step 2</a:t>
            </a:r>
            <a:r>
              <a:rPr/>
              <a:t>: In the </a:t>
            </a:r>
            <a:r>
              <a:rPr b="1"/>
              <a:t>git</a:t>
            </a:r>
            <a:r>
              <a:rPr/>
              <a:t> tab, you should see the new </a:t>
            </a:r>
            <a:r>
              <a:rPr b="1"/>
              <a:t>Readme.md</a:t>
            </a:r>
            <a:r>
              <a:rPr/>
              <a:t> file (and only that one!). Stage the file and press </a:t>
            </a:r>
            <a:r>
              <a:rPr b="1"/>
              <a:t>commit</a:t>
            </a:r>
            <a:r>
              <a:rPr/>
              <a:t>.</a:t>
            </a:r>
          </a:p>
        </p:txBody>
      </p:sp>
      <p:pic>
        <p:nvPicPr>
          <p:cNvPr descr="images/staged_readme.png" id="0" name="Picture 1"/>
          <p:cNvPicPr>
            <a:picLocks noGrp="1" noChangeAspect="1"/>
          </p:cNvPicPr>
          <p:nvPr/>
        </p:nvPicPr>
        <p:blipFill>
          <a:blip r:embed="rId3"/>
          <a:stretch>
            <a:fillRect/>
          </a:stretch>
        </p:blipFill>
        <p:spPr bwMode="auto">
          <a:xfrm>
            <a:off x="3568700" y="1778000"/>
            <a:ext cx="5105400" cy="1231900"/>
          </a:xfrm>
          <a:prstGeom prst="rect">
            <a:avLst/>
          </a:prstGeom>
          <a:noFill/>
          <a:ln w="9525">
            <a:noFill/>
            <a:headEnd/>
            <a:tailEnd/>
          </a:ln>
        </p:spPr>
      </p:pic>
    </p:spTree>
  </p:cSld>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Adding a README to your RStudio Project</a:t>
            </a:r>
          </a:p>
          <a:p>
            <a:pPr lvl="0" indent="0" marL="0">
              <a:buNone/>
            </a:pPr>
            <a:r>
              <a:rPr b="1"/>
              <a:t>Step 3</a:t>
            </a:r>
            <a:r>
              <a:rPr/>
              <a:t>: Add a new commit message and press </a:t>
            </a:r>
            <a:r>
              <a:rPr>
                <a:latin typeface="Courier"/>
              </a:rPr>
              <a:t>Commit</a:t>
            </a:r>
            <a:r>
              <a:rPr/>
              <a:t> in the bottom right corner.</a:t>
            </a:r>
          </a:p>
        </p:txBody>
      </p:sp>
      <p:pic>
        <p:nvPicPr>
          <p:cNvPr descr="images/readme_commit.png" id="0" name="Picture 1"/>
          <p:cNvPicPr>
            <a:picLocks noGrp="1" noChangeAspect="1"/>
          </p:cNvPicPr>
          <p:nvPr/>
        </p:nvPicPr>
        <p:blipFill>
          <a:blip r:embed="rId2"/>
          <a:stretch>
            <a:fillRect/>
          </a:stretch>
        </p:blipFill>
        <p:spPr bwMode="auto">
          <a:xfrm>
            <a:off x="3568700" y="1308100"/>
            <a:ext cx="5105400" cy="2171700"/>
          </a:xfrm>
          <a:prstGeom prst="rect">
            <a:avLst/>
          </a:prstGeom>
          <a:noFill/>
          <a:ln w="9525">
            <a:noFill/>
            <a:headEnd/>
            <a:tailEnd/>
          </a:ln>
        </p:spPr>
      </p:pic>
    </p:spTree>
  </p:cSld>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b="1"/>
              <a:t>Note</a:t>
            </a:r>
          </a:p>
          <a:p>
            <a:pPr lvl="0" indent="0" marL="1270000">
              <a:buNone/>
            </a:pPr>
            <a:r>
              <a:rPr sz="2000"/>
              <a:t>Note that the window might disappear after pressing </a:t>
            </a:r>
            <a:r>
              <a:rPr sz="2000">
                <a:latin typeface="Courier"/>
              </a:rPr>
              <a:t>Commit</a:t>
            </a:r>
            <a:r>
              <a:rPr sz="2000"/>
              <a:t>. This is nothing unusual, but in that case, please re-open it for Step 4 on the next slide.</a:t>
            </a:r>
          </a:p>
        </p:txBody>
      </p:sp>
    </p:spTree>
  </p:cSld>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Adding a README to your RStudio Project</a:t>
            </a:r>
          </a:p>
          <a:p>
            <a:pPr lvl="0" indent="0" marL="0">
              <a:buNone/>
            </a:pPr>
            <a:r>
              <a:rPr b="1"/>
              <a:t>Step 4</a:t>
            </a:r>
            <a:r>
              <a:rPr/>
              <a:t>: </a:t>
            </a:r>
            <a:r>
              <a:rPr b="1"/>
              <a:t>Push</a:t>
            </a:r>
            <a:r>
              <a:rPr/>
              <a:t> the changes to upload to GitHub by pressing the button in the top right corner with the green arrow pointing upwards.</a:t>
            </a:r>
          </a:p>
        </p:txBody>
      </p:sp>
      <p:pic>
        <p:nvPicPr>
          <p:cNvPr descr="images/git_push.png" id="0" name="Picture 1"/>
          <p:cNvPicPr>
            <a:picLocks noGrp="1" noChangeAspect="1"/>
          </p:cNvPicPr>
          <p:nvPr/>
        </p:nvPicPr>
        <p:blipFill>
          <a:blip r:embed="rId3"/>
          <a:stretch>
            <a:fillRect/>
          </a:stretch>
        </p:blipFill>
        <p:spPr bwMode="auto">
          <a:xfrm>
            <a:off x="3568700" y="1295400"/>
            <a:ext cx="5105400" cy="2184400"/>
          </a:xfrm>
          <a:prstGeom prst="rect">
            <a:avLst/>
          </a:prstGeom>
          <a:noFill/>
          <a:ln w="9525">
            <a:noFill/>
            <a:headEnd/>
            <a:tailEnd/>
          </a:ln>
        </p:spPr>
      </p:pic>
    </p:spTree>
  </p:cSld>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When to stage and commit?</a:t>
            </a:r>
          </a:p>
          <a:p>
            <a:pPr lvl="0" indent="0" marL="1270000">
              <a:buNone/>
            </a:pPr>
            <a:r>
              <a:rPr sz="2000" b="1"/>
              <a:t>Important</a:t>
            </a:r>
          </a:p>
          <a:p>
            <a:pPr lvl="0" indent="0" marL="1270000">
              <a:buNone/>
            </a:pPr>
            <a:r>
              <a:rPr sz="2000" b="1"/>
              <a:t>Great question!</a:t>
            </a:r>
            <a:r>
              <a:rPr sz="2000"/>
              <a:t> The point of version control is to have a </a:t>
            </a:r>
            <a:r>
              <a:rPr sz="2000" b="1"/>
              <a:t>track record</a:t>
            </a:r>
            <a:r>
              <a:rPr sz="2000"/>
              <a:t> of changes and that you can undo/redo any changes at any time. Therefore, you should stage and commit your changes to version control whenever you finished a clear, logical “unit”, e.g.:</a:t>
            </a:r>
          </a:p>
          <a:p>
            <a:pPr lvl="0"/>
            <a:r>
              <a:rPr sz="2000"/>
              <a:t>Added a code chuck or function</a:t>
            </a:r>
          </a:p>
          <a:p>
            <a:pPr lvl="0"/>
            <a:r>
              <a:rPr sz="2000"/>
              <a:t>Cleaned your dataset</a:t>
            </a:r>
          </a:p>
          <a:p>
            <a:pPr lvl="0"/>
            <a:r>
              <a:rPr sz="2000"/>
              <a:t>Created a new figure</a:t>
            </a:r>
          </a:p>
          <a:p>
            <a:pPr lvl="0"/>
            <a:r>
              <a:rPr sz="2000"/>
              <a:t>Updated a paragraph</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RECAP: Version control in RStudio with Git</a:t>
            </a:r>
          </a:p>
          <a:p>
            <a:pPr lvl="0" indent="0" marL="0">
              <a:buNone/>
            </a:pPr>
            <a:r>
              <a:rPr b="1"/>
              <a:t>What have we done so far?</a:t>
            </a:r>
          </a:p>
          <a:p>
            <a:pPr lvl="0"/>
            <a:r>
              <a:rPr/>
              <a:t>Created an RStudio Project in a local repository ✅</a:t>
            </a:r>
          </a:p>
          <a:p>
            <a:pPr lvl="0"/>
            <a:r>
              <a:rPr/>
              <a:t>Created files for the project (code, downloaded data etc.) ✅</a:t>
            </a:r>
          </a:p>
          <a:p>
            <a:pPr lvl="0"/>
            <a:r>
              <a:rPr/>
              <a:t>Added version control to our project in the local repository ✅</a:t>
            </a:r>
          </a:p>
          <a:p>
            <a:pPr lvl="0"/>
            <a:r>
              <a:rPr/>
              <a:t>Made changes and commit these changes locally ✅</a:t>
            </a:r>
          </a:p>
          <a:p>
            <a:pPr lvl="0"/>
            <a:r>
              <a:rPr/>
              <a:t>Connected the local repository with a remote repository ✅</a:t>
            </a:r>
          </a:p>
          <a:p>
            <a:pPr lvl="0"/>
            <a:r>
              <a:rPr/>
              <a:t>Synchronised ( = </a:t>
            </a:r>
            <a:r>
              <a:rPr i="1"/>
              <a:t>pushed</a:t>
            </a:r>
            <a:r>
              <a:rPr/>
              <a:t> ) the local changes to the remote repository ✅</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OVERVIEW: The Git/GitHub workflow</a:t>
            </a:r>
          </a:p>
          <a:p>
            <a:pPr lvl="0" indent="0" marL="1270000">
              <a:buNone/>
            </a:pPr>
            <a:r>
              <a:rPr sz="2000" b="1"/>
              <a:t>What do I need to do?</a:t>
            </a:r>
          </a:p>
          <a:p>
            <a:pPr lvl="0" indent="-342900" marL="342900">
              <a:buAutoNum type="arabicPeriod"/>
            </a:pPr>
            <a:r>
              <a:rPr sz="2000"/>
              <a:t>Make changes locally</a:t>
            </a:r>
          </a:p>
          <a:p>
            <a:pPr lvl="0" indent="-342900" marL="342900">
              <a:buAutoNum type="arabicPeriod"/>
            </a:pPr>
            <a:r>
              <a:rPr sz="2000"/>
              <a:t>Stage changes locally</a:t>
            </a:r>
          </a:p>
          <a:p>
            <a:pPr lvl="0" indent="-342900" marL="342900">
              <a:buAutoNum type="arabicPeriod"/>
            </a:pPr>
            <a:r>
              <a:rPr sz="2000"/>
              <a:t>Commit changes locally with a commit message</a:t>
            </a:r>
          </a:p>
          <a:p>
            <a:pPr lvl="0" indent="-342900" marL="342900">
              <a:buAutoNum type="arabicPeriod"/>
            </a:pPr>
            <a:r>
              <a:rPr sz="2000"/>
              <a:t>Push local changes to the remote repository on GitHub</a:t>
            </a:r>
          </a:p>
          <a:p>
            <a:pPr lvl="0" indent="0" marL="0">
              <a:buNone/>
            </a:pPr>
          </a:p>
          <a:p>
            <a:pPr lvl="0" indent="0" marL="0">
              <a:buNone/>
            </a:pPr>
            <a:r>
              <a:rPr/>
              <a:t>Once you have brought your local repository under version control and connected the remote repository, you will find yourself </a:t>
            </a:r>
            <a:r>
              <a:rPr b="1"/>
              <a:t>repeating the same steps</a:t>
            </a:r>
            <a:r>
              <a:rPr/>
              <a:t> above </a:t>
            </a:r>
            <a:r>
              <a:rPr b="1"/>
              <a:t>over and over</a:t>
            </a:r>
            <a:r>
              <a:rPr/>
              <a: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Activity: One-Minute Paper!</a:t>
            </a:r>
          </a:p>
          <a:p>
            <a:pPr lvl="0" indent="0" marL="0">
              <a:buNone/>
            </a:pPr>
            <a:r>
              <a:rPr/>
              <a:t>  </a:t>
            </a:r>
          </a:p>
          <a:p>
            <a:pPr lvl="0" indent="0" marL="0">
              <a:buNone/>
            </a:pPr>
            <a:r>
              <a:rPr b="1"/>
              <a:t>Why is version control important and useful?</a:t>
            </a:r>
            <a:r>
              <a:rPr/>
              <a:t> </a:t>
            </a:r>
            <a:r>
              <a:rPr i="1"/>
              <a:t>Take one minute to write down your thoughts on some paper.</a:t>
            </a:r>
          </a:p>
        </p:txBody>
      </p:sp>
    </p:spTree>
  </p:cSld>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Why is version control important and useful?</a:t>
            </a:r>
          </a:p>
          <a:p>
            <a:pPr lvl="0" indent="0" marL="0">
              <a:buNone/>
            </a:pPr>
            <a:r>
              <a:rPr b="1"/>
              <a:t>Some thoughts …</a:t>
            </a:r>
          </a:p>
          <a:p>
            <a:pPr lvl="0"/>
            <a:r>
              <a:rPr b="1"/>
              <a:t>Tracks</a:t>
            </a:r>
            <a:r>
              <a:rPr/>
              <a:t> every change in your R project and acts as a “time machine” for your code/files</a:t>
            </a:r>
          </a:p>
          <a:p>
            <a:pPr lvl="0"/>
            <a:r>
              <a:rPr b="1"/>
              <a:t>Makes mistakes easy to fix</a:t>
            </a:r>
            <a:r>
              <a:rPr/>
              <a:t> because you can revert to earlier versions anytime</a:t>
            </a:r>
          </a:p>
          <a:p>
            <a:pPr lvl="0"/>
            <a:r>
              <a:rPr b="1"/>
              <a:t>Improves reproducibility</a:t>
            </a:r>
            <a:r>
              <a:rPr/>
              <a:t> by seeing </a:t>
            </a:r>
            <a:r>
              <a:rPr i="1"/>
              <a:t>what</a:t>
            </a:r>
            <a:r>
              <a:rPr/>
              <a:t> changed, </a:t>
            </a:r>
            <a:r>
              <a:rPr i="1"/>
              <a:t>when</a:t>
            </a:r>
            <a:r>
              <a:rPr/>
              <a:t>, and </a:t>
            </a:r>
            <a:r>
              <a:rPr i="1"/>
              <a:t>why</a:t>
            </a:r>
            <a:r>
              <a:rPr/>
              <a:t> it changed</a:t>
            </a:r>
          </a:p>
          <a:p>
            <a:pPr lvl="0"/>
            <a:r>
              <a:rPr b="1"/>
              <a:t>Provides a backup via GitHub</a:t>
            </a:r>
            <a:r>
              <a:rPr/>
              <a:t> for easy sharing and access anywhere</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Reflection</a:t>
            </a:r>
          </a:p>
          <a:p>
            <a:pPr lvl="0" indent="0" marL="0">
              <a:buNone/>
            </a:pPr>
            <a:r>
              <a:rPr/>
              <a:t>  </a:t>
            </a:r>
          </a:p>
          <a:p>
            <a:pPr lvl="0" indent="0" marL="0">
              <a:buNone/>
            </a:pPr>
            <a:r>
              <a:rPr/>
              <a:t>Take 10 minutes now to reflect upon where in your </a:t>
            </a:r>
            <a:r>
              <a:rPr b="1"/>
              <a:t>own current or future research</a:t>
            </a:r>
            <a:r>
              <a:rPr/>
              <a:t> you could use Git. Write then the steps you will need to implement what you have learned here in that project and which barriers you may face” (e.g., technical, project partners/supervisors, etc.)</a:t>
            </a:r>
          </a:p>
        </p:txBody>
      </p:sp>
    </p:spTree>
  </p:cSld>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Assignment: Practising the workflow</a:t>
            </a:r>
          </a:p>
          <a:p>
            <a:pPr lvl="0"/>
            <a:r>
              <a:rPr/>
              <a:t>☐ In a new local folder, create a new RStudio Project named </a:t>
            </a:r>
            <a:r>
              <a:rPr b="1"/>
              <a:t>git_practice</a:t>
            </a:r>
            <a:r>
              <a:rPr/>
              <a:t>.</a:t>
            </a:r>
          </a:p>
          <a:p>
            <a:pPr lvl="0"/>
            <a:r>
              <a:rPr/>
              <a:t>☐ Download the practise_data.csv file and save it in your project folder</a:t>
            </a:r>
          </a:p>
          <a:p>
            <a:pPr lvl="0" indent="0" marL="0">
              <a:buNone/>
            </a:pPr>
            <a:r>
              <a:rPr/>
              <a:t>  ⬇️ Download dataset for the assignment  </a:t>
            </a:r>
          </a:p>
          <a:p>
            <a:pPr lvl="0" indent="0" marL="0">
              <a:buNone/>
            </a:pPr>
            <a:r>
              <a:rPr/>
              <a:t>This is a dataset containing the number of athletes that participated in the Summer Olympics over the years.</a:t>
            </a:r>
          </a:p>
          <a:p>
            <a:pPr lvl="0" indent="0" marL="1270000">
              <a:buNone/>
            </a:pPr>
            <a:r>
              <a:rPr sz="2000" b="1"/>
              <a:t>Tip</a:t>
            </a:r>
          </a:p>
          <a:p>
            <a:pPr lvl="0" indent="0" marL="1270000">
              <a:buNone/>
            </a:pPr>
            <a:r>
              <a:rPr sz="2000"/>
              <a:t>When creating the new RStudio project, make sure to check </a:t>
            </a:r>
            <a:r>
              <a:rPr sz="2000">
                <a:latin typeface="Courier"/>
              </a:rPr>
              <a:t>Create a git repository</a:t>
            </a:r>
            <a:r>
              <a:rPr sz="2000"/>
              <a: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Assignment: Practising the workflow</a:t>
            </a:r>
          </a:p>
          <a:p>
            <a:pPr lvl="0" indent="0" marL="0">
              <a:buNone/>
            </a:pPr>
            <a:r>
              <a:rPr/>
              <a:t>(cont.)</a:t>
            </a:r>
          </a:p>
          <a:p>
            <a:pPr lvl="0"/>
            <a:r>
              <a:rPr/>
              <a:t>☐ Create a new R script and write code to read in data, inspect the data and plot the number of athletes over time</a:t>
            </a:r>
          </a:p>
          <a:p>
            <a:pPr lvl="0"/>
            <a:r>
              <a:rPr/>
              <a:t>☐ Stage and commit changes</a:t>
            </a:r>
          </a:p>
          <a:p>
            <a:pPr lvl="0"/>
            <a:r>
              <a:rPr/>
              <a:t>☐ Create a new repository on GitHub and connect it with your new local repository</a:t>
            </a:r>
          </a:p>
          <a:p>
            <a:pPr lvl="0"/>
            <a:r>
              <a:rPr/>
              <a:t>☐ Push your changes to GitHub</a:t>
            </a:r>
          </a:p>
          <a:p>
            <a:pPr lvl="0" indent="0" marL="1270000">
              <a:buNone/>
            </a:pPr>
            <a:r>
              <a:rPr sz="2000" b="1"/>
              <a:t>Tip</a:t>
            </a:r>
          </a:p>
          <a:p>
            <a:pPr lvl="0" indent="0" marL="1270000">
              <a:buNone/>
            </a:pPr>
            <a:r>
              <a:rPr sz="2000"/>
              <a:t>For the plot, use geom_line() to plot the number of athletes at the Summer Olympics over the years.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Take-home message</a:t>
            </a:r>
          </a:p>
          <a:p>
            <a:pPr lvl="0" indent="0" marL="0">
              <a:buNone/>
            </a:pPr>
            <a:r>
              <a:rPr/>
              <a:t> </a:t>
            </a:r>
          </a:p>
          <a:p>
            <a:pPr lvl="0" indent="0" marL="0">
              <a:buNone/>
            </a:pPr>
            <a:r>
              <a:rPr b="1"/>
              <a:t>What are you taking away from today?</a:t>
            </a:r>
          </a:p>
          <a:p>
            <a:pPr lvl="0" indent="0" marL="0">
              <a:buNone/>
            </a:pPr>
            <a:r>
              <a:rPr/>
              <a:t> </a:t>
            </a:r>
          </a:p>
          <a:p>
            <a:pPr lvl="0" indent="0" marL="1270000">
              <a:buNone/>
            </a:pPr>
            <a:r>
              <a:rPr sz="2000" b="1"/>
              <a:t>Keep practising!</a:t>
            </a:r>
          </a:p>
          <a:p>
            <a:pPr lvl="0" indent="0" marL="1270000">
              <a:buNone/>
            </a:pPr>
            <a:r>
              <a:rPr sz="2000"/>
              <a:t>It is all about practise until you develop a routine.</a:t>
            </a:r>
          </a:p>
        </p:txBody>
      </p:sp>
    </p:spTree>
  </p:cSld>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To conclude: Survey time!</a:t>
            </a:r>
          </a:p>
        </p:txBody>
      </p:sp>
    </p:spTree>
  </p:cSld>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Which of the following concepts or skills do you </a:t>
            </a:r>
            <a:r>
              <a:rPr b="1" i="1"/>
              <a:t>now</a:t>
            </a:r>
            <a:r>
              <a:rPr b="1"/>
              <a:t> feel more confident about in relation to version control? (Select all that apply)</a:t>
            </a:r>
          </a:p>
          <a:p>
            <a:pPr lvl="0" indent="-342900" marL="342900">
              <a:buAutoNum type="alphaLcPeriod"/>
            </a:pPr>
            <a:r>
              <a:rPr/>
              <a:t>Git</a:t>
            </a:r>
          </a:p>
          <a:p>
            <a:pPr lvl="0" indent="-342900" marL="342900">
              <a:buAutoNum type="alphaLcPeriod"/>
            </a:pPr>
            <a:r>
              <a:rPr/>
              <a:t>GitHub</a:t>
            </a:r>
          </a:p>
          <a:p>
            <a:pPr lvl="0" indent="-342900" marL="342900">
              <a:buAutoNum type="alphaLcPeriod"/>
            </a:pPr>
            <a:r>
              <a:rPr/>
              <a:t>Repositories</a:t>
            </a:r>
          </a:p>
          <a:p>
            <a:pPr lvl="0" indent="-342900" marL="342900">
              <a:buAutoNum type="alphaLcPeriod"/>
            </a:pPr>
            <a:r>
              <a:rPr/>
              <a:t>RStudio Project</a:t>
            </a:r>
          </a:p>
          <a:p>
            <a:pPr lvl="0" indent="-342900" marL="342900">
              <a:buAutoNum type="alphaLcPeriod"/>
            </a:pPr>
            <a:r>
              <a:rPr/>
              <a:t>I am (still) not sure about any of these concepts.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On a scale of 1 to 5, how comfortable are you with using Git for version control? (1 = Not comfortable at all, 5 = Very comfortable)</a:t>
            </a:r>
          </a:p>
          <a:p>
            <a:pPr lvl="0" indent="-342900" marL="342900">
              <a:buAutoNum type="alphaLcPeriod"/>
            </a:pPr>
            <a:r>
              <a:rPr/>
              <a:t>1</a:t>
            </a:r>
          </a:p>
          <a:p>
            <a:pPr lvl="0" indent="-342900" marL="342900">
              <a:buAutoNum type="alphaLcPeriod"/>
            </a:pPr>
            <a:r>
              <a:rPr/>
              <a:t>2</a:t>
            </a:r>
          </a:p>
          <a:p>
            <a:pPr lvl="0" indent="-342900" marL="342900">
              <a:buAutoNum type="alphaLcPeriod"/>
            </a:pPr>
            <a:r>
              <a:rPr/>
              <a:t>3</a:t>
            </a:r>
          </a:p>
          <a:p>
            <a:pPr lvl="0" indent="-342900" marL="342900">
              <a:buAutoNum type="alphaLcPeriod"/>
            </a:pPr>
            <a:r>
              <a:rPr/>
              <a:t>4</a:t>
            </a:r>
          </a:p>
          <a:p>
            <a:pPr lvl="0" indent="-342900" marL="342900">
              <a:buAutoNum type="alphaLcPeriod"/>
            </a:pPr>
            <a:r>
              <a:rPr/>
              <a:t>5</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Discussion of survey results</a:t>
            </a:r>
          </a:p>
          <a:p>
            <a:pPr lvl="0" indent="0" marL="0">
              <a:buNone/>
            </a:pPr>
          </a:p>
          <a:p>
            <a:pPr lvl="0" indent="0" marL="0">
              <a:buNone/>
            </a:pPr>
            <a:r>
              <a:rPr/>
              <a:t>What do we see in the results and how do they compare to the previous ratings?</a:t>
            </a:r>
          </a:p>
        </p:txBody>
      </p:sp>
    </p:spTree>
  </p:cSld>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Always remember …</a:t>
            </a:r>
          </a:p>
        </p:txBody>
      </p:sp>
      <p:pic>
        <p:nvPicPr>
          <p:cNvPr descr="images/13_Git_in_case_of_fire.png" id="0" name="Picture 1"/>
          <p:cNvPicPr>
            <a:picLocks noGrp="1" noChangeAspect="1"/>
          </p:cNvPicPr>
          <p:nvPr/>
        </p:nvPicPr>
        <p:blipFill>
          <a:blip r:embed="rId2"/>
          <a:stretch>
            <a:fillRect/>
          </a:stretch>
        </p:blipFill>
        <p:spPr bwMode="auto">
          <a:xfrm>
            <a:off x="3568700" y="508000"/>
            <a:ext cx="5105400" cy="3771900"/>
          </a:xfrm>
          <a:prstGeom prst="rect">
            <a:avLst/>
          </a:prstGeom>
          <a:noFill/>
          <a:ln w="9525">
            <a:noFill/>
            <a:headEnd/>
            <a:tailEnd/>
          </a:ln>
        </p:spPr>
      </p:pic>
    </p:spTree>
  </p:cSld>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And of course…</a:t>
            </a:r>
          </a:p>
          <a:p>
            <a:pPr lvl="0"/>
            <a:r>
              <a:rPr/>
              <a:t>Practice</a:t>
            </a:r>
          </a:p>
          <a:p>
            <a:pPr lvl="0"/>
            <a:r>
              <a:rPr/>
              <a:t>Practice some more</a:t>
            </a:r>
          </a:p>
          <a:p>
            <a:pPr lvl="0"/>
            <a:r>
              <a:rPr/>
              <a:t>More practice</a:t>
            </a:r>
          </a:p>
          <a:p>
            <a:pPr lvl="0"/>
            <a:r>
              <a:rPr/>
              <a:t>… and: MORE PRACTICE</a:t>
            </a:r>
          </a:p>
          <a:p>
            <a:pPr lvl="0" indent="0" marL="1270000">
              <a:buNone/>
            </a:pPr>
            <a:r>
              <a:rPr sz="2000" b="1"/>
              <a:t>Note</a:t>
            </a:r>
          </a:p>
          <a:p>
            <a:pPr lvl="0" indent="0" marL="1270000">
              <a:buNone/>
            </a:pPr>
            <a:r>
              <a:rPr sz="2000"/>
              <a:t>At this point it perhaps still feels a little strange and slightly unnerving, keep going!</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Help and support</a:t>
            </a:r>
          </a:p>
          <a:p>
            <a:pPr lvl="0" indent="0" marL="0">
              <a:buNone/>
            </a:pPr>
            <a:r>
              <a:rPr/>
              <a:t>If you get stuck, there is plently of help available:</a:t>
            </a:r>
          </a:p>
          <a:p>
            <a:pPr lvl="0"/>
            <a:r>
              <a:rPr>
                <a:hlinkClick r:id="rId3"/>
              </a:rPr>
              <a:t>Using Git with RStudio</a:t>
            </a:r>
            <a:r>
              <a:rPr/>
              <a:t> for an introductory overview</a:t>
            </a:r>
          </a:p>
          <a:p>
            <a:pPr lvl="0"/>
            <a:r>
              <a:rPr>
                <a:hlinkClick r:id="rId4"/>
              </a:rPr>
              <a:t>Git Guides on staging and committing</a:t>
            </a:r>
            <a:r>
              <a:rPr/>
              <a:t> for an overview of the workflow</a:t>
            </a:r>
          </a:p>
          <a:p>
            <a:pPr lvl="0"/>
            <a:r>
              <a:rPr>
                <a:hlinkClick r:id="rId5"/>
              </a:rPr>
              <a:t>Git and GitHub learning resources</a:t>
            </a:r>
            <a:r>
              <a:rPr/>
              <a:t> for free interactive courses built in GitHub</a:t>
            </a:r>
          </a:p>
          <a:p>
            <a:pPr lvl="0"/>
            <a:r>
              <a:rPr>
                <a:hlinkClick r:id="rId6"/>
              </a:rPr>
              <a:t>Git Cheatsheet</a:t>
            </a:r>
            <a:r>
              <a:rPr/>
              <a:t> featuring tips on installation, setup, staging, committing and pushing</a:t>
            </a:r>
          </a:p>
          <a:p>
            <a:pPr lvl="0"/>
            <a:r>
              <a:rPr>
                <a:hlinkClick r:id="rId7"/>
              </a:rPr>
              <a:t>The LMU OSC RStudio/Git tutorial</a:t>
            </a:r>
            <a:r>
              <a:rPr/>
              <a:t> for similar exercises and advanced materials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Thanks! </a:t>
            </a:r>
          </a:p>
        </p:txBody>
      </p:sp>
      <p:sp>
        <p:nvSpPr>
          <p:cNvPr id="3" name="Content Placeholder 2"/>
          <p:cNvSpPr>
            <a:spLocks noGrp="1"/>
          </p:cNvSpPr>
          <p:nvPr>
            <p:ph idx="1"/>
          </p:nvPr>
        </p:nvSpPr>
        <p:spPr/>
        <p:txBody>
          <a:bodyPr/>
          <a:lstStyle/>
          <a:p>
            <a:pPr lvl="0" indent="0" marL="0">
              <a:buNone/>
            </a:pPr>
            <a:r>
              <a:rPr/>
              <a:t>Ready for the next session? 😊</a:t>
            </a:r>
          </a:p>
        </p:txBody>
      </p:sp>
    </p:spTree>
  </p:cSld>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Troubleshooting</a:t>
            </a:r>
          </a:p>
          <a:p>
            <a:pPr lvl="0" indent="0" marL="0">
              <a:buNone/>
            </a:pPr>
            <a:r>
              <a:rPr/>
              <a:t>Some general pointers on where learners could run into issues:</a:t>
            </a:r>
          </a:p>
          <a:p>
            <a:pPr lvl="0"/>
            <a:r>
              <a:rPr b="1"/>
              <a:t>Mistyping the Git commands</a:t>
            </a:r>
            <a:r>
              <a:rPr/>
              <a:t>: Correct spelling (including spaces) matters, else Git will not recognize the command</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FAQ</a:t>
            </a:r>
          </a:p>
          <a:p>
            <a:pPr lvl="0" indent="0" marL="0">
              <a:buNone/>
            </a:pPr>
            <a:r>
              <a:rPr/>
              <a:t>Here a collection of some general questions from users:</a:t>
            </a:r>
          </a:p>
          <a:p>
            <a:pPr lvl="0"/>
            <a:r>
              <a:rPr b="1"/>
              <a:t>How often should I commit?</a:t>
            </a:r>
            <a:r>
              <a:rPr/>
              <a:t> Commit early and often after a “work” unit (whatever this could mean for your specific work), better to committ too often that too little. See here for more general guidelines: </a:t>
            </a:r>
            <a:r>
              <a:rPr>
                <a:hlinkClick r:id="rId2"/>
              </a:rPr>
              <a:t>https://www.simplethread.com/what-makes-a-good-git-commit/</a:t>
            </a:r>
            <a:r>
              <a:rPr/>
              <a:t>.</a:t>
            </a:r>
          </a:p>
          <a:p>
            <a:pPr lvl="0"/>
            <a:r>
              <a:rPr b="1"/>
              <a:t>How often should I push my changes?</a:t>
            </a:r>
            <a:r>
              <a:rPr/>
              <a:t> Professional coders push up to 100 times per day (during an eight hour workday). You can consider pushing after every commit, at the minimum several times per day.</a:t>
            </a:r>
          </a:p>
          <a:p>
            <a:pPr lvl="0"/>
            <a:r>
              <a:rPr b="1"/>
              <a:t>Do I need to save my files before committing the changes?</a:t>
            </a:r>
            <a:r>
              <a:rPr/>
              <a:t>: Committing means taking a snapshot of the state your current files are in, if you have not saved your work you have not made any “actual” changes to a file. Committing an unsaved file would result in committing the same file as per prior commit.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version control with Git in RStudio</dc:title>
  <dc:creator>Sarah von Grebmer</dc:creator>
  <cp:keywords/>
  <dcterms:created xsi:type="dcterms:W3CDTF">2026-09-28T01:27:41Z</dcterms:created>
  <dcterms:modified xsi:type="dcterms:W3CDTF">2026-09-28T01:27:41Z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date">
    <vt:lpwstr>28/09/2026</vt:lpwstr>
  </property>
  <property fmtid="{D5CDD505-2E9C-101B-9397-08002B2CF9AE}" pid="6" name="date-format">
    <vt:lpwstr>DD/MM/YYYY</vt:lpwstr>
  </property>
  <property fmtid="{D5CDD505-2E9C-101B-9397-08002B2CF9AE}" pid="7" name="execute">
    <vt:lpwstr/>
  </property>
  <property fmtid="{D5CDD505-2E9C-101B-9397-08002B2CF9AE}" pid="8" name="header-includes">
    <vt:lpwstr/>
  </property>
  <property fmtid="{D5CDD505-2E9C-101B-9397-08002B2CF9AE}" pid="9" name="include-after">
    <vt:lpwstr/>
  </property>
  <property fmtid="{D5CDD505-2E9C-101B-9397-08002B2CF9AE}" pid="10" name="include-before">
    <vt:lpwstr/>
  </property>
  <property fmtid="{D5CDD505-2E9C-101B-9397-08002B2CF9AE}" pid="11" name="labels">
    <vt:lpwstr/>
  </property>
  <property fmtid="{D5CDD505-2E9C-101B-9397-08002B2CF9AE}" pid="12" name="toc-title">
    <vt:lpwstr>Table of contents</vt:lpwstr>
  </property>
</Properties>
</file>