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notesMaster" Target="notesMasters/notesMaster1.xml" /><Relationship Id="rId37" Type="http://schemas.openxmlformats.org/officeDocument/2006/relationships/viewProps" Target="viewProps.xml" /><Relationship Id="rId36" Type="http://schemas.openxmlformats.org/officeDocument/2006/relationships/presProps" Target="presProps.xml" /><Relationship Id="rId1" Type="http://schemas.openxmlformats.org/officeDocument/2006/relationships/slideMaster" Target="slideMasters/slideMaster1.xml" /><Relationship Id="rId39" Type="http://schemas.openxmlformats.org/officeDocument/2006/relationships/tableStyles" Target="tableStyles.xml" /><Relationship Id="rId3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Before we begin this session,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If you are short on time, provide these prerequisites to your learners as part of the preparation for this session. Remind them that they can download Zotero also later when starting the practical part.</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session,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br/>
            <a:r>
              <a:rPr b="1"/>
              <a:t>Instructor Notes</a:t>
            </a:r>
            <a:r>
              <a:rPr/>
              <a:t>: This slide is dedicated to clarifying questions from the previous session and/or to discuss assignments. Additional slides may need to be added depending on the nature of the homework assignments. This is critical for the learning process to ensure that learners are on the same page and have been able to achieve the learning objectives of the previous workshop.</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objectives for the session. At this stage, you’re not expected to fully understand or master all of these points. Think of them as a roadmap rather than a checklist; they show where we’re headed, not what you already need to know. You can use these objectives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objectives will be revisited throughout the session for reflection and self-assessment. Avoid explaining each objective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shows the difference between citations and references.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a:t>References, on the other hand, appear at the end of a paper and provide the full details needed to locate the source. This will allow you to access the ‘source of the information’ and see for yourself what the paper entails.Together,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and references while reading a research paper. Use the images as visual anchors to reinforce where each appears in a paper. Avoid going into citation styles here; the objective is conceptual clarity, not technical mastery.</a:t>
            </a:r>
          </a:p>
          <a:p>
            <a:pPr lvl="0" indent="0" marL="0">
              <a:buNone/>
            </a:pPr>
          </a:p>
          <a:p>
            <a:pPr lvl="0" indent="0" marL="0">
              <a:buNone/>
            </a:pPr>
            <a:r>
              <a:rPr b="1"/>
              <a:t>Accessibility Tips</a:t>
            </a:r>
            <a:r>
              <a:rPr/>
              <a:t>:</a:t>
            </a:r>
            <a:br/>
            <a:r>
              <a:rPr/>
              <a:t>Verbally describe what is shown in each image for learners who may not be able to see them clearly. Allow a brief pause after each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objective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a:p>
            <a:pPr lvl="0" indent="0" marL="0">
              <a:buNone/>
            </a:pPr>
          </a:p>
          <a:p>
            <a:pPr lvl="0" indent="0" marL="0">
              <a:buNone/>
            </a:pPr>
            <a:r>
              <a:rPr/>
              <a:t>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a:t>
            </a:r>
          </a:p>
          <a:p>
            <a:pPr lvl="0" indent="0" marL="0">
              <a:buNone/>
            </a:pPr>
          </a:p>
          <a:p>
            <a:pPr lvl="0" indent="0" marL="0">
              <a:buNone/>
            </a:pP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gives a very brief overview of Zotero.</a:t>
            </a:r>
            <a:br/>
            <a:r>
              <a:rPr/>
              <a:t>Zotero is a citation tool that helps you collect, organise, and cite your sources in one place. 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objective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objective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objective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objectives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objectives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session. Please answer honestly based on how confident you feel now. </a:t>
            </a:r>
            <a:r>
              <a:rPr b="1"/>
              <a:t>Instructor Notes</a:t>
            </a:r>
            <a:r>
              <a:rPr/>
              <a:t>: The purpose is to compare pre- and post-session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Instructer Notes</a:t>
            </a:r>
            <a:r>
              <a:rPr/>
              <a:t>: Briefly examine the answers given to each question interactively with the group.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 </a:t>
            </a: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Creative Commons Universal License (CC0 1.0).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0.xml" /><Relationship Id="rId4" Type="http://schemas.openxmlformats.org/officeDocument/2006/relationships/image" Target="../media/image2.jpg" /><Relationship Id="rId3" Type="http://schemas.openxmlformats.org/officeDocument/2006/relationships/image" Target="../media/image1.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177/2158244019829575"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 Id="rId9" Type="http://schemas.openxmlformats.org/officeDocument/2006/relationships/hyperlink" Target="https://www.osc.lmu.de/" TargetMode="External" /><Relationship Id="rId10" Type="http://schemas.openxmlformats.org/officeDocument/2006/relationships/hyperlink" Target="https://lmu-osc.github.io/teaching-material-for-novices/open-research-tools/zotero"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Citing made simple: A practical guide for Zotero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Tejaswini Sharma and Sarah von Grebmer zu Wolfsthurn</a:t>
            </a:r>
          </a:p>
        </p:txBody>
      </p:sp>
      <p:sp>
        <p:nvSpPr>
          <p:cNvPr id="4" name="Date Placeholder 3"/>
          <p:cNvSpPr>
            <a:spLocks noGrp="1"/>
          </p:cNvSpPr>
          <p:nvPr>
            <p:ph idx="10" sz="half" type="dt"/>
          </p:nvPr>
        </p:nvSpPr>
        <p:spPr/>
        <p:txBody>
          <a:bodyPr/>
          <a:lstStyle/>
          <a:p>
            <a:pPr lvl="0" indent="0" marL="0">
              <a:buNone/>
            </a:pPr>
            <a:r>
              <a:rPr/>
              <a:t>14/10/2026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the following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 (cont.)</a:t>
            </a:r>
          </a:p>
        </p:txBody>
      </p:sp>
      <p:sp>
        <p:nvSpPr>
          <p:cNvPr id="3" name="Content Placeholder 2"/>
          <p:cNvSpPr>
            <a:spLocks noGrp="1"/>
          </p:cNvSpPr>
          <p:nvPr>
            <p:ph idx="1"/>
          </p:nvPr>
        </p:nvSpPr>
        <p:spPr/>
        <p:txBody>
          <a:bodyPr/>
          <a:lstStyle/>
          <a:p>
            <a:pPr lvl="0"/>
            <a:r>
              <a:rPr/>
              <a:t>☐ Familiarity with the concept of </a:t>
            </a:r>
            <a:r>
              <a:rPr b="1"/>
              <a:t>literature review</a:t>
            </a:r>
            <a:r>
              <a:rPr/>
              <a:t>; how and where to access scientific papers, such as </a:t>
            </a:r>
            <a:r>
              <a:rPr i="1"/>
              <a:t>Google Scholar</a:t>
            </a:r>
            <a:r>
              <a:rPr/>
              <a:t>.</a:t>
            </a:r>
          </a:p>
          <a:p>
            <a:pPr lvl="0" indent="0" marL="0">
              <a:buNone/>
            </a:pP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session?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your level of familiarity with citing and referencing scientific papers?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How confident do you feel with the Zotero workflow of collection, organisation, and citing?</a:t>
            </a:r>
            <a:r>
              <a:rPr/>
              <a:t> </a:t>
            </a:r>
            <a:r>
              <a:rPr i="1"/>
              <a:t>(1 = Not confident at all, 5 = Very confident)</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will be able to…</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citations and references?</a:t>
            </a:r>
          </a:p>
        </p:txBody>
      </p:sp>
      <p:sp>
        <p:nvSpPr>
          <p:cNvPr id="3" name="Content Placeholder 2"/>
          <p:cNvSpPr>
            <a:spLocks noGrp="1"/>
          </p:cNvSpPr>
          <p:nvPr>
            <p:ph idx="1"/>
          </p:nvPr>
        </p:nvSpPr>
        <p:spPr/>
        <p:txBody>
          <a:bodyPr/>
          <a:lstStyle/>
          <a:p>
            <a:pPr lvl="0" indent="0" marL="1270000">
              <a:buNone/>
            </a:pPr>
            <a:r>
              <a:rPr sz="2000" b="1"/>
              <a:t>A small thought experiment..</a:t>
            </a:r>
          </a:p>
          <a:p>
            <a:pPr lvl="0" indent="0" marL="1270000">
              <a:buNone/>
            </a:pPr>
            <a:r>
              <a:rPr sz="2000"/>
              <a:t>Imagine reading various scientific papers to collect knowledge (</a:t>
            </a:r>
            <a:r>
              <a:rPr sz="2000" i="1"/>
              <a:t>= reviewing the literature</a:t>
            </a:r>
            <a:r>
              <a:rPr sz="2000"/>
              <a:t>). When you share this knowledge with someone, they would ask: </a:t>
            </a:r>
            <a:r>
              <a:rPr sz="2000" b="1"/>
              <a:t>“Where did you read this?”</a:t>
            </a:r>
          </a:p>
          <a:p>
            <a:pPr lvl="0" indent="0" marL="0">
              <a:buNone/>
            </a:pPr>
          </a:p>
          <a:p>
            <a:pPr lvl="0" indent="0" marL="0">
              <a:buNone/>
            </a:pPr>
            <a:r>
              <a:rPr/>
              <a:t>Copyright: © FastArcher.</a:t>
            </a:r>
          </a:p>
          <a:p>
            <a:pPr lvl="0" indent="0" marL="0">
              <a:buNone/>
            </a:pPr>
            <a:r>
              <a:rPr/>
              <a:t>Thus, you need to </a:t>
            </a:r>
            <a:r>
              <a:rPr b="1"/>
              <a:t>cite</a:t>
            </a:r>
            <a:r>
              <a:rPr/>
              <a:t> the source of your knowledge; in this case, a scientific paper.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citations and references?</a:t>
            </a:r>
          </a:p>
        </p:txBody>
      </p:sp>
      <p:sp>
        <p:nvSpPr>
          <p:cNvPr id="3" name="Content Placeholder 2"/>
          <p:cNvSpPr>
            <a:spLocks noGrp="1"/>
          </p:cNvSpPr>
          <p:nvPr>
            <p:ph idx="1"/>
          </p:nvPr>
        </p:nvSpPr>
        <p:spPr/>
        <p:txBody>
          <a:bodyPr/>
          <a:lstStyle/>
          <a:p>
            <a:pPr lvl="0"/>
            <a:r>
              <a:rPr b="1"/>
              <a:t>Citations</a:t>
            </a:r>
            <a:r>
              <a:rPr/>
              <a:t> are the </a:t>
            </a:r>
            <a:r>
              <a:rPr b="1"/>
              <a:t>in‑text pointers</a:t>
            </a:r>
            <a:r>
              <a:rPr/>
              <a:t> to sources you use (e.g., Sharma, 2025).</a:t>
            </a:r>
          </a:p>
          <a:p>
            <a:pPr lvl="0" indent="0" marL="0">
              <a:buNone/>
            </a:pPr>
          </a:p>
          <a:p>
            <a:pPr lvl="0" indent="0" marL="0">
              <a:buNone/>
            </a:pPr>
            <a:r>
              <a:rPr/>
              <a:t>Example of a (fictional) citation.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Citations vs. references</a:t>
            </a:r>
          </a:p>
        </p:txBody>
      </p:sp>
      <p:sp>
        <p:nvSpPr>
          <p:cNvPr id="3" name="Text Placeholder 2"/>
          <p:cNvSpPr>
            <a:spLocks noGrp="1"/>
          </p:cNvSpPr>
          <p:nvPr>
            <p:ph idx="1" type="body"/>
          </p:nvPr>
        </p:nvSpPr>
        <p:spPr/>
        <p:txBody>
          <a:bodyPr/>
          <a:lstStyle/>
          <a:p>
            <a:pPr lvl="0" indent="0" marL="0">
              <a:buNone/>
            </a:pPr>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457200" y="2616200"/>
            <a:ext cx="4038600" cy="4572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Example of a (fictional) citation.</a:t>
            </a:r>
          </a:p>
        </p:txBody>
      </p:sp>
      <p:sp>
        <p:nvSpPr>
          <p:cNvPr id="5" name="Text Placeholder 4"/>
          <p:cNvSpPr>
            <a:spLocks noGrp="1"/>
          </p:cNvSpPr>
          <p:nvPr>
            <p:ph idx="3" sz="quarter" type="body"/>
          </p:nvPr>
        </p:nvSpPr>
        <p:spPr/>
        <p:txBody>
          <a:bodyPr/>
          <a:lstStyle/>
          <a:p>
            <a:pPr lvl="0" indent="0" marL="0">
              <a:buNone/>
            </a:pPr>
            <a:r>
              <a:rPr b="1"/>
              <a:t>References</a:t>
            </a:r>
            <a:r>
              <a:rPr/>
              <a:t> are the </a:t>
            </a:r>
            <a:r>
              <a:rPr b="1"/>
              <a:t>full bibliographic details</a:t>
            </a:r>
            <a:r>
              <a:rPr/>
              <a:t> listed at the end of a scientific document (Aksnes et al., 2019).</a:t>
            </a:r>
          </a:p>
        </p:txBody>
      </p:sp>
      <p:pic>
        <p:nvPicPr>
          <p:cNvPr descr="images/03_reference_example.jpg" id="0" name="Picture 1"/>
          <p:cNvPicPr>
            <a:picLocks noGrp="1" noChangeAspect="1"/>
          </p:cNvPicPr>
          <p:nvPr/>
        </p:nvPicPr>
        <p:blipFill>
          <a:blip r:embed="rId4"/>
          <a:stretch>
            <a:fillRect/>
          </a:stretch>
        </p:blipFill>
        <p:spPr bwMode="auto">
          <a:xfrm>
            <a:off x="4635500" y="2387600"/>
            <a:ext cx="4038600" cy="939800"/>
          </a:xfrm>
          <a:prstGeom prst="rect">
            <a:avLst/>
          </a:prstGeom>
          <a:noFill/>
          <a:ln w="9525">
            <a:noFill/>
            <a:headEnd/>
            <a:tailEnd/>
          </a:ln>
        </p:spPr>
      </p:pic>
      <p:sp>
        <p:nvSpPr>
          <p:cNvPr id="1" name="TextBox 3"/>
          <p:cNvSpPr txBox="1"/>
          <p:nvPr>
            <p:ph idx="1"/>
          </p:nvPr>
        </p:nvSpPr>
        <p:spPr>
          <a:xfrm>
            <a:off x="4635500" y="4076700"/>
            <a:ext cx="4038600" cy="508000"/>
          </a:xfrm>
          <a:prstGeom prst="rect">
            <a:avLst/>
          </a:prstGeom>
          <a:noFill/>
        </p:spPr>
        <p:txBody>
          <a:bodyPr/>
          <a:lstStyle/>
          <a:p>
            <a:pPr lvl="0" indent="0" marL="0" algn="ctr">
              <a:buNone/>
            </a:pPr>
            <a:r>
              <a:rPr/>
              <a:t>Example of a (fictional) reference (list).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they needed?</a:t>
            </a:r>
          </a:p>
        </p:txBody>
      </p:sp>
      <p:sp>
        <p:nvSpPr>
          <p:cNvPr id="3" name="Content Placeholder 2"/>
          <p:cNvSpPr>
            <a:spLocks noGrp="1"/>
          </p:cNvSpPr>
          <p:nvPr>
            <p:ph idx="1"/>
          </p:nvPr>
        </p:nvSpPr>
        <p:spPr/>
        <p:txBody>
          <a:bodyPr/>
          <a:lstStyle/>
          <a:p>
            <a:pPr lvl="0" indent="0" marL="0">
              <a:buNone/>
            </a:pPr>
            <a:r>
              <a:rPr/>
              <a:t>From Aksnes et al. (2019):</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a:t>
            </a:r>
          </a:p>
          <a:p>
            <a:pPr lvl="1" indent="0" marL="342900">
              <a:buNone/>
            </a:pPr>
            <a:r>
              <a:rPr/>
              <a:t>For example: “Recent results support this view (Miller &amp; Rossi, 2021).”</a:t>
            </a:r>
          </a:p>
          <a:p>
            <a:pPr lvl="0"/>
            <a:r>
              <a:rPr b="1"/>
              <a:t>Reference list</a:t>
            </a:r>
            <a:r>
              <a:rPr/>
              <a:t>: After, you provide the full </a:t>
            </a:r>
            <a:r>
              <a:rPr b="1"/>
              <a:t>bibliographic information</a:t>
            </a:r>
            <a:r>
              <a:rPr/>
              <a:t>: </a:t>
            </a:r>
          </a:p>
          <a:p>
            <a:pPr lvl="1" indent="-342900" marL="685800">
              <a:buAutoNum type="arabicPeriod"/>
            </a:pPr>
            <a:r>
              <a:rPr/>
              <a:t>Author: all authors’ last names and initials. </a:t>
            </a:r>
          </a:p>
          <a:p>
            <a:pPr lvl="1" indent="-342900" marL="685800">
              <a:buAutoNum type="arabicPeriod"/>
            </a:pPr>
            <a:r>
              <a:rPr/>
              <a:t>Date: When it was published (usually the year).</a:t>
            </a:r>
          </a:p>
          <a:p>
            <a:pPr lvl="1" indent="-342900" marL="685800">
              <a:buAutoNum type="arabicPeriod"/>
            </a:pPr>
            <a:r>
              <a:rPr/>
              <a:t>Title: What the article is called.</a:t>
            </a:r>
          </a:p>
          <a:p>
            <a:pPr lvl="1" indent="-342900" marL="6858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r>
              <a:rPr/>
              <a: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a:t>
            </a:r>
          </a:p>
          <a:p>
            <a:pPr lvl="1" indent="0" marL="342900">
              <a:buNone/>
            </a:pPr>
            <a:r>
              <a:rPr/>
              <a:t>For example: “Recent results support this view (Miller &amp; Rossi, 2021).”</a:t>
            </a:r>
          </a:p>
          <a:p>
            <a:pPr lvl="0"/>
            <a:r>
              <a:rPr b="1"/>
              <a:t>Reference list</a:t>
            </a:r>
            <a:r>
              <a:rPr/>
              <a:t>: After, you provide the full </a:t>
            </a:r>
            <a:r>
              <a:rPr b="1"/>
              <a:t>bibliographic information</a:t>
            </a:r>
            <a:r>
              <a:rPr/>
              <a:t>: </a:t>
            </a:r>
          </a:p>
          <a:p>
            <a:pPr lvl="1" indent="-342900" marL="685800">
              <a:buAutoNum type="arabicPeriod"/>
            </a:pPr>
            <a:r>
              <a:rPr/>
              <a:t>Author: all authors’ last names and initials. </a:t>
            </a:r>
          </a:p>
          <a:p>
            <a:pPr lvl="1" indent="-342900" marL="685800">
              <a:buAutoNum type="arabicPeriod"/>
            </a:pPr>
            <a:r>
              <a:rPr/>
              <a:t>Date: When it was published (usually the year).</a:t>
            </a:r>
          </a:p>
          <a:p>
            <a:pPr lvl="1" indent="-342900" marL="685800">
              <a:buAutoNum type="arabicPeriod"/>
            </a:pPr>
            <a:r>
              <a:rPr/>
              <a:t>Title: What the article is called.</a:t>
            </a:r>
          </a:p>
          <a:p>
            <a:pPr lvl="1" indent="-342900" marL="6858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r>
              <a:rPr/>
              <a:t> </a:t>
            </a:r>
          </a:p>
          <a:p>
            <a:pPr lvl="0" indent="0" marL="1270000">
              <a:buNone/>
            </a:pPr>
            <a:r>
              <a:rPr sz="2000" b="1"/>
              <a:t>Note</a:t>
            </a:r>
          </a:p>
          <a:p>
            <a:pPr lvl="0" indent="0" marL="1270000">
              <a:buNone/>
            </a:pPr>
            <a:r>
              <a:rPr sz="2000"/>
              <a:t>The </a:t>
            </a:r>
            <a:r>
              <a:rPr sz="2000" i="1"/>
              <a:t>exact formatting</a:t>
            </a:r>
            <a:r>
              <a:rPr sz="2000"/>
              <a:t> depends on the citation format.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 (cont.)</a:t>
            </a:r>
          </a:p>
        </p:txBody>
      </p:sp>
      <p:sp>
        <p:nvSpPr>
          <p:cNvPr id="3" name="Content Placeholder 2"/>
          <p:cNvSpPr>
            <a:spLocks noGrp="1"/>
          </p:cNvSpPr>
          <p:nvPr>
            <p:ph idx="1"/>
          </p:nvPr>
        </p:nvSpPr>
        <p:spPr/>
        <p:txBody>
          <a:bodyPr/>
          <a:lstStyle/>
          <a:p>
            <a:pPr lvl="0" indent="0" marL="1270000">
              <a:buNone/>
            </a:pPr>
            <a:r>
              <a:rPr sz="2000" b="1"/>
              <a:t>Short exercise</a:t>
            </a:r>
          </a:p>
          <a:p>
            <a:pPr lvl="0" indent="0" marL="1270000">
              <a:buNone/>
            </a:pPr>
            <a:r>
              <a:rPr sz="2000"/>
              <a:t>Use a minute to think about which citation format is used in </a:t>
            </a:r>
            <a:r>
              <a:rPr sz="2000" b="1"/>
              <a:t>your field</a:t>
            </a:r>
            <a:r>
              <a:rPr sz="2000"/>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at this point?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Brief overview of Zotero</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sp>
        <p:nvSpPr>
          <p:cNvPr id="3" name="Content Placeholder 2"/>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sp>
        <p:nvSpPr>
          <p:cNvPr id="3" name="Content Placeholder 2"/>
          <p:cNvSpPr>
            <a:spLocks noGrp="1"/>
          </p:cNvSpPr>
          <p:nvPr>
            <p:ph idx="1"/>
          </p:nvPr>
        </p:nvSpPr>
        <p:spPr/>
        <p:txBody>
          <a:bodyPr/>
          <a:lstStyle/>
          <a:p>
            <a:pPr lvl="0" indent="0" marL="0">
              <a:buNone/>
            </a:pPr>
          </a:p>
          <a:p>
            <a:pPr lvl="0" indent="0" marL="0">
              <a:buNone/>
            </a:pPr>
            <a:r>
              <a:rPr/>
              <a:t>Zotero Interface.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1270000">
              <a:buNone/>
            </a:pPr>
            <a:r>
              <a:rPr sz="2000" b="1"/>
              <a:t>Tip</a:t>
            </a:r>
          </a:p>
          <a:p>
            <a:pPr lvl="0" indent="0" marL="1270000">
              <a:buNone/>
            </a:pPr>
            <a:r>
              <a:rPr sz="2000"/>
              <a:t>Since this is a self-paced tutorial, </a:t>
            </a:r>
            <a:r>
              <a:rPr sz="2000" i="1"/>
              <a:t>take your time</a:t>
            </a:r>
            <a:r>
              <a:rPr sz="2000"/>
              <a:t> on navigating it; and it can be finished at home as well. We will have a </a:t>
            </a:r>
            <a:r>
              <a:rPr sz="2000" b="1"/>
              <a:t>check-in moment</a:t>
            </a:r>
            <a:r>
              <a:rPr sz="2000"/>
              <a:t> at the end of this session and discuss any remaining questions.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Wrapping up</a:t>
            </a:r>
          </a:p>
        </p:txBody>
      </p:sp>
      <p:sp>
        <p:nvSpPr>
          <p:cNvPr id="3" name="Content Placeholder 2"/>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into the future</a:t>
            </a:r>
          </a:p>
        </p:txBody>
      </p:sp>
      <p:sp>
        <p:nvSpPr>
          <p:cNvPr id="3" name="Content Placeholder 2"/>
          <p:cNvSpPr>
            <a:spLocks noGrp="1"/>
          </p:cNvSpPr>
          <p:nvPr>
            <p:ph idx="1"/>
          </p:nvPr>
        </p:nvSpPr>
        <p:spPr/>
        <p:txBody>
          <a:bodyPr/>
          <a:lstStyle/>
          <a:p>
            <a:pPr lvl="0" indent="-342900" marL="342900">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342900" marL="342900">
              <a:buAutoNum startAt="2" type="arabicPeriod"/>
            </a:pPr>
            <a:r>
              <a:rPr b="1"/>
              <a:t>Share your thoughts with the group.</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1270000">
              <a:buNone/>
            </a:pPr>
            <a:r>
              <a:rPr sz="2000" b="1"/>
              <a:t>Make Zotero a habit!</a:t>
            </a:r>
          </a:p>
          <a:p>
            <a:pPr lvl="0" indent="0" marL="1270000">
              <a:buNone/>
            </a:pPr>
            <a:r>
              <a:rPr sz="2000"/>
              <a:t>Zotero can be your go-to tool for saving and citing studies, from assignments to thesis.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Check-In</a:t>
            </a:r>
          </a:p>
        </p:txBody>
      </p:sp>
      <p:sp>
        <p:nvSpPr>
          <p:cNvPr id="3" name="Content Placeholder 2"/>
          <p:cNvSpPr>
            <a:spLocks noGrp="1"/>
          </p:cNvSpPr>
          <p:nvPr>
            <p:ph idx="1"/>
          </p:nvPr>
        </p:nvSpPr>
        <p:spPr/>
        <p:txBody>
          <a:bodyPr/>
          <a:lstStyle/>
          <a:p>
            <a:pPr lvl="0" indent="0" marL="0">
              <a:buNone/>
            </a:pPr>
            <a:r>
              <a:rPr b="1"/>
              <a:t>Where are we at?</a:t>
            </a:r>
          </a:p>
          <a:p>
            <a:pPr lvl="0"/>
            <a:r>
              <a:rPr/>
              <a:t>☐ </a:t>
            </a:r>
            <a:r>
              <a:rPr b="1"/>
              <a:t>Explain</a:t>
            </a:r>
            <a:r>
              <a:rPr/>
              <a:t> the importance of citing scientific literature and citation tools</a:t>
            </a:r>
          </a:p>
          <a:p>
            <a:pPr lvl="0"/>
            <a:r>
              <a:rPr/>
              <a:t>☐ </a:t>
            </a:r>
            <a:r>
              <a:rPr b="1"/>
              <a:t>Familiarize yourself</a:t>
            </a:r>
            <a:r>
              <a:rPr/>
              <a:t> with different citation formats (CSL)</a:t>
            </a:r>
          </a:p>
          <a:p>
            <a:pPr lvl="0"/>
            <a:r>
              <a:rPr/>
              <a:t>☐ </a:t>
            </a:r>
            <a:r>
              <a:rPr b="1"/>
              <a:t>Set up and organize</a:t>
            </a:r>
            <a:r>
              <a:rPr/>
              <a:t> a personal Zotero library</a:t>
            </a:r>
          </a:p>
          <a:p>
            <a:pPr lvl="0"/>
            <a:r>
              <a:rPr/>
              <a:t>☐ </a:t>
            </a:r>
            <a:r>
              <a:rPr b="1"/>
              <a:t>Apply and develop</a:t>
            </a:r>
            <a:r>
              <a:rPr/>
              <a:t> a referencing workflow in Quarto and RStudio</a:t>
            </a:r>
          </a:p>
          <a:p>
            <a:pPr lvl="0"/>
            <a:r>
              <a:rPr/>
              <a:t>☐ </a:t>
            </a:r>
            <a:r>
              <a:rPr b="1"/>
              <a:t>Apply and develop</a:t>
            </a:r>
            <a:r>
              <a:rPr/>
              <a:t> a referencing workflow in MS Word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your level of familiarity with citing and referencing scientific papers?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How confident do you feel with the Zotero workflow of collection, organisation, and citing?</a:t>
            </a:r>
            <a:r>
              <a:rPr/>
              <a:t> </a:t>
            </a:r>
            <a:r>
              <a:rPr i="1"/>
              <a:t>(1 = Not confident at all, 5 = Very confident)</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Aksnes, D. W., Langfeldt, L., &amp; Wouters, P. (2019). Citations, citation indicators, and research quality: An overview of basic concepts and theories. </a:t>
            </a:r>
            <a:r>
              <a:rPr i="1"/>
              <a:t>Sage Open</a:t>
            </a:r>
            <a:r>
              <a:rPr/>
              <a:t>, </a:t>
            </a:r>
            <a:r>
              <a:rPr i="1"/>
              <a:t>9</a:t>
            </a:r>
            <a:r>
              <a:rPr/>
              <a:t>(1). </a:t>
            </a:r>
            <a:r>
              <a:rPr>
                <a:hlinkClick r:id="rId2"/>
              </a:rPr>
              <a:t>https://doi.org/10.1177/2158244019829575</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in-class activity</a:t>
            </a:r>
          </a:p>
        </p:txBody>
      </p:sp>
      <p:sp>
        <p:nvSpPr>
          <p:cNvPr id="3" name="Content Placeholder 2"/>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p>
          <a:p>
            <a:pPr lvl="0" indent="0" marL="0">
              <a:buNone/>
            </a:pPr>
            <a:r>
              <a:rPr b="1"/>
              <a:t>Creator</a:t>
            </a:r>
            <a:r>
              <a:rPr/>
              <a:t>: Sharma, Tejaswini ( </a:t>
            </a:r>
            <a:r>
              <a:rPr>
                <a:hlinkClick r:id="rId2"/>
              </a:rPr>
              <a:t>00009-0000-0305-9751</a:t>
            </a:r>
            <a:r>
              <a:rPr/>
              <a:t>)</a:t>
            </a:r>
          </a:p>
          <a:p>
            <a:pPr lvl="0" indent="0" marL="0">
              <a:buNone/>
            </a:pPr>
            <a:r>
              <a:rPr b="1"/>
              <a:t>Reviewer</a:t>
            </a:r>
            <a:r>
              <a:rPr/>
              <a:t>: Von Grebmer zu Wolfsthurn, Sarah ( </a:t>
            </a:r>
            <a:r>
              <a:rPr>
                <a:hlinkClick r:id="rId3"/>
              </a:rPr>
              <a:t>0000-0002-6413-3895</a:t>
            </a:r>
            <a: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Pat Callahan and Dejana Damjanovic under a </a:t>
            </a:r>
            <a:r>
              <a:rPr>
                <a:hlinkClick r:id="rId3"/>
              </a:rPr>
              <a:t>Creative Commons Attribution 4.0 International License</a:t>
            </a:r>
            <a:r>
              <a:rPr/>
              <a:t> (CC-BY 4.0) and a </a:t>
            </a:r>
            <a:r>
              <a:rPr>
                <a:hlinkClick r:id="rId4"/>
              </a:rPr>
              <a:t>Creative Commons Universal License</a:t>
            </a:r>
            <a:r>
              <a:rPr/>
              <a:t> (CC0 1.0)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a:t>
            </a:r>
            <a:r>
              <a:rPr>
                <a:hlinkClick r:id="rId7"/>
              </a:rPr>
              <a:t>Creative Commons Attribution 4.0 International SA License</a:t>
            </a:r>
            <a:r>
              <a:rPr/>
              <a:t> (CC-BY-SA 4.0). Code snippets are dedicated to the public domain and licensed under a </a:t>
            </a:r>
            <a:r>
              <a:rPr>
                <a:hlinkClick r:id="rId8"/>
              </a:rPr>
              <a:t>Creative Commons Universal Licence</a:t>
            </a:r>
            <a:r>
              <a:rPr/>
              <a:t> (CC0 1.0).</a:t>
            </a:r>
          </a:p>
          <a:p>
            <a:pPr lvl="0" indent="0" marL="0">
              <a:buNone/>
            </a:pPr>
            <a:r>
              <a:rPr/>
              <a:t>Please cite these materials as: Sharma, T., &amp; Von Grebmer Zu Wolfsthurn, S. (2026). </a:t>
            </a:r>
            <a:r>
              <a:rPr i="1"/>
              <a:t>Introduction to Zotero</a:t>
            </a:r>
            <a:r>
              <a:rPr/>
              <a:t> [Quarto slides]. </a:t>
            </a:r>
            <a:r>
              <a:rPr>
                <a:hlinkClick r:id="rId9"/>
              </a:rPr>
              <a:t>LMU Open Science Center</a:t>
            </a:r>
            <a:r>
              <a:rPr/>
              <a:t>. </a:t>
            </a:r>
            <a:r>
              <a:rPr>
                <a:hlinkClick r:id="rId10"/>
              </a:rPr>
              <a:t>https://lmu-osc.github.io/teaching-material-for-novices/open-research-tools/zotero</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 and Sarah von Grebmer zu Wolfsthurn</dc:creator>
  <cp:keywords/>
  <dcterms:created xsi:type="dcterms:W3CDTF">2026-10-14T12:55:27Z</dcterms:created>
  <dcterms:modified xsi:type="dcterms:W3CDTF">2026-10-14T12:55:27Z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14/10/2026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revealjs-plugins">
    <vt:lpwstr/>
  </property>
  <property fmtid="{D5CDD505-2E9C-101B-9397-08002B2CF9AE}" pid="18" name="toc-title">
    <vt:lpwstr>Table of contents</vt:lpwstr>
  </property>
</Properties>
</file>