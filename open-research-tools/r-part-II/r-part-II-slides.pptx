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notesMaster" Target="notesMasters/notesMaster1.xml" /><Relationship Id="rId69" Type="http://schemas.openxmlformats.org/officeDocument/2006/relationships/viewProps" Target="viewProps.xml" /><Relationship Id="rId68" Type="http://schemas.openxmlformats.org/officeDocument/2006/relationships/presProps" Target="presProps.xml" /><Relationship Id="rId1" Type="http://schemas.openxmlformats.org/officeDocument/2006/relationships/slideMaster" Target="slideMasters/slideMaster1.xml" /><Relationship Id="rId71" Type="http://schemas.openxmlformats.org/officeDocument/2006/relationships/tableStyles" Target="tableStyles.xml" /><Relationship Id="rId7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find a script for the presenter for every slide. In presentation mode, your audience will not be able to see these presenter notes, they are only visible to the presenter.</a:t>
            </a:r>
          </a:p>
          <a:p>
            <a:pPr lvl="0" indent="0" marL="0">
              <a:buNone/>
            </a:pPr>
          </a:p>
          <a:p>
            <a:pPr lvl="0" indent="0" marL="0">
              <a:buNone/>
            </a:pPr>
            <a:r>
              <a:rPr/>
              <a:t>Welcome back! Before we dive into Part II, please make sure you still have R and RStudio installed and ready to go. You should also be familiar with the basic concepts we covered in Part I, like the RStudio interface and creating simple objects.</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a:t>Quickly verify whether learners have the required software open. Remind them that they can open the R scripts they saved during the last session.</a:t>
            </a:r>
          </a:p>
          <a:p>
            <a:pPr lvl="0" indent="0" marL="0">
              <a:buNone/>
            </a:pPr>
          </a:p>
          <a:p>
            <a:pPr lvl="0" indent="0" marL="0">
              <a:buNone/>
            </a:pPr>
            <a:r>
              <a:rPr b="1"/>
              <a:t>Accessibility Tips</a:t>
            </a:r>
            <a:r>
              <a:rPr/>
              <a:t>: Where applicable, this is a space to add any tips you may have to facilitate the accessibility of your slides and activities.</a:t>
            </a:r>
          </a:p>
          <a:p>
            <a:pPr lvl="0" indent="0" marL="0">
              <a:buNone/>
            </a:pPr>
          </a:p>
          <a:p>
            <a:pPr lvl="0" indent="0" marL="0">
              <a:buNone/>
            </a:pPr>
            <a:r>
              <a:rPr/>
              <a:t>Consider pairing learners who might need a quick refresher on Part I with those who feel very confident.</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start with new topics, are there any lingering questions from Part I? For example, anything regarding data types, logical comparisons, or saving your scripts?</a:t>
            </a:r>
          </a:p>
          <a:p>
            <a:pPr lvl="0" indent="0" marL="0">
              <a:buNone/>
            </a:pPr>
          </a:p>
          <a:p>
            <a:pPr lvl="0" indent="0" marL="0">
              <a:buNone/>
            </a:pPr>
            <a:r>
              <a:rPr b="1"/>
              <a:t>Instructor Notes</a:t>
            </a:r>
            <a:r>
              <a:rPr/>
              <a:t>: This slide is dedicated to clarifying questions from the previous session and/or to discuss assignments. It is critical for the learning process to ensure that learners are on the same page and have been able to achieve the learning objectives of the previous workshop.</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get our brains back into “R mode”, let’s do a very quick quiz on two core concepts from our last session. Feel free to just call out the answers!</a:t>
            </a:r>
          </a:p>
          <a:p>
            <a:pPr lvl="0" indent="0" marL="0">
              <a:buNone/>
            </a:pPr>
          </a:p>
          <a:p>
            <a:pPr lvl="0" indent="0" marL="0">
              <a:buNone/>
            </a:pPr>
            <a:r>
              <a:rPr/>
              <a:t>Question 1: The correct answer is B. The standard assignment arrow points to the left without any spaces. Option A uses a double equals sign, which is a logical operator that checks if an existing object is exactly 42, rather than assigning it. Option C contains a space between the less-than sign and the minus sign, which R interprets as a logical question asking if the object </a:t>
            </a:r>
            <a:r>
              <a:rPr>
                <a:latin typeface="Courier"/>
              </a:rPr>
              <a:t>my_data</a:t>
            </a:r>
            <a:r>
              <a:rPr/>
              <a:t> is smaller than negative 42. Option D places the raw number on the left side of the arrow, which causes an error because the object name receiving the data must always be on the left.</a:t>
            </a:r>
          </a:p>
          <a:p>
            <a:pPr lvl="0" indent="0" marL="0">
              <a:buNone/>
            </a:pPr>
          </a:p>
          <a:p>
            <a:pPr lvl="0" indent="0" marL="0">
              <a:buNone/>
            </a:pPr>
            <a:r>
              <a:rPr/>
              <a:t>Question 2: The correct answer is B, FALSE. While 5 is indeed greater than 3 (which is TRUE), 10 does not equal 5 (which is FALSE). Since we used the AND operator (&amp;), both conditions must be true for the final result to be TRUE.</a:t>
            </a:r>
          </a:p>
          <a:p>
            <a:pPr lvl="0" indent="0" marL="0">
              <a:buNone/>
            </a:pPr>
          </a:p>
          <a:p>
            <a:pPr lvl="0" indent="0" marL="0">
              <a:buNone/>
            </a:pPr>
            <a:r>
              <a:rPr/>
              <a:t>Question 3: The correct answer is C. The dollar sign ($) is used to extract a specific column from a data frame by its name. Option A is missing the necessary quotation marks for basic bracket indexing. Option B incorrectly uses parentheses, which are reserved for functions. Option D reverses the order; the data frame name must always precede the dollar sign.</a:t>
            </a:r>
          </a:p>
          <a:p>
            <a:pPr lvl="0" indent="0" marL="0">
              <a:buNone/>
            </a:pPr>
          </a:p>
          <a:p>
            <a:pPr lvl="0" indent="0" marL="0">
              <a:buNone/>
            </a:pPr>
            <a:r>
              <a:rPr b="1"/>
              <a:t>Instructor Notes</a:t>
            </a:r>
            <a:r>
              <a:rPr/>
              <a:t>: Use these two quiz slides to actively engage learners instead of just reading out a recap. Ensure everyone understands the assignment operator and basic logical checks before moving on.</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we’ve refreshed Part I, let’s take a short survey regarding today’s topics. In Part II, we are moving away from R as a simple calculator and starting to work with real data. In the next few slides, you’ll see some questions about concepts we will cover today. As always, this isn’t a test. If you have never heard these terms, that is exactly why we are here!</a:t>
            </a:r>
          </a:p>
          <a:p>
            <a:pPr lvl="0" indent="0" marL="0">
              <a:buNone/>
            </a:pPr>
          </a:p>
          <a:p>
            <a:pPr lvl="0" indent="0" marL="0">
              <a:buNone/>
            </a:pPr>
            <a:r>
              <a:rPr b="1"/>
              <a:t>Instructor Notes</a:t>
            </a:r>
            <a:r>
              <a:rPr/>
              <a:t>: Set a low-stakes, supportive tone. Emphasize that uncertainty is expected and valuable for measuring learning progress.</a:t>
            </a:r>
          </a:p>
          <a:p>
            <a:pPr lvl="0" indent="0" marL="0">
              <a:buNone/>
            </a:pPr>
          </a:p>
          <a:p>
            <a:pPr lvl="0" indent="0" marL="0">
              <a:buNone/>
            </a:pPr>
            <a:r>
              <a:rPr/>
              <a:t>For Question 3: Ask the learners about their experience with creating data visualizations, such as histograms or scatter plots. In Part II, we will cover how to create simple histograms.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The aim is to understand the group’s current standing in terms of knowledge and familiarity. Emphasize explicitly that the survey is not about correct or incorrect answers. Avoid evaluating answers.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Part I, we learned the alphabet of R: data types, math operators, functions, and how to save a script. Today, we start writing sentences. We are shifting from treating R like a calculator to using it as a data analysis tool. By the end of this session, you will know how to load your own research data into R and start exploring it.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outlines the learning objectives for today’s session. Just like last time, think of them as a roadmap. They show where we’re headed today. You can use these objectives to keep track of your learning and identify areas where you might want to ask questions later.</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key terms we will revisit throughout the lesson. What comes to mind when you see each of them? Which ones are familiar, and which feel new? Take a moment to think about what they might mean.</a:t>
            </a:r>
          </a:p>
          <a:p>
            <a:pPr lvl="0" indent="0" marL="0">
              <a:buNone/>
            </a:pPr>
          </a:p>
          <a:p>
            <a:pPr lvl="0" indent="0" marL="0">
              <a:buNone/>
            </a:pPr>
            <a:r>
              <a:rPr b="1"/>
              <a:t>Instructor Notes</a:t>
            </a:r>
            <a:r>
              <a:rPr/>
              <a:t>: Use a think-pair-share approach. First, have learners reflect individually on their associations with each term for a few minutes, then discuss in pairs for a few minutes, and finally share with the group. Allow about 10 minutes for this activity.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go through what these key terms mean:</a:t>
            </a:r>
          </a:p>
          <a:p>
            <a:pPr lvl="0" indent="0" marL="0">
              <a:buNone/>
            </a:pPr>
          </a:p>
          <a:p>
            <a:pPr lvl="0"/>
            <a:r>
              <a:rPr/>
              <a:t>The Working directory is the folder R is currently focused on. It reads files from here and saves outputs here.</a:t>
            </a:r>
          </a:p>
          <a:p>
            <a:pPr lvl="0" indent="0" marL="0">
              <a:buNone/>
            </a:pPr>
          </a:p>
          <a:p>
            <a:pPr lvl="0"/>
            <a:r>
              <a:rPr/>
              <a:t>Packages are add-ons. They contain tools and functions created by the R community that expand what base R can do.</a:t>
            </a:r>
          </a:p>
          <a:p>
            <a:pPr lvl="0" indent="0" marL="0">
              <a:buNone/>
            </a:pPr>
          </a:p>
          <a:p>
            <a:pPr lvl="0"/>
            <a:r>
              <a:rPr/>
              <a:t>A dataframe is the standard way to store data in R. Think of it like a spreadsheet where each column is a variable and each row is an observation.</a:t>
            </a:r>
          </a:p>
          <a:p>
            <a:pPr lvl="0" indent="0" marL="0">
              <a:buNone/>
            </a:pPr>
          </a:p>
          <a:p>
            <a:pPr lvl="0"/>
            <a:r>
              <a:rPr/>
              <a:t>Subsetting allows us to isolate the exact data we need. Instead of working with an entire dataset, we extract only the relevant rows or columns.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working directory is your anchor point. If you tell R to open a dataset without specifying the full path on your computer, R looks in the working directory. If you tell R to save a plot, it saves it there. Setting it correctly prevents “file not found” errors.</a:t>
            </a:r>
          </a:p>
          <a:p>
            <a:pPr lvl="0" indent="0" marL="0">
              <a:buNone/>
            </a:pPr>
          </a:p>
          <a:p>
            <a:pPr lvl="0" indent="0" marL="0">
              <a:buNone/>
            </a:pPr>
            <a:r>
              <a:rPr b="1"/>
              <a:t>Instructor Notes</a:t>
            </a:r>
            <a:r>
              <a:rPr/>
              <a:t>: Use the analogy of a physical desk. If you ask someone to hand you a paper, they will look on the desk they are currently standing at. If the paper is in another room, they won’t find it unless you point them to the correct room.</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is the standard graphical way to set your directory. It opens your operating system’s standard file browser.</a:t>
            </a:r>
          </a:p>
          <a:p>
            <a:pPr lvl="0" indent="0" marL="0">
              <a:buNone/>
            </a:pPr>
          </a:p>
          <a:p>
            <a:pPr lvl="0" indent="0" marL="0">
              <a:buNone/>
            </a:pPr>
            <a:r>
              <a:rPr b="1"/>
              <a:t>Instructor Notes</a:t>
            </a:r>
            <a:r>
              <a:rPr/>
              <a:t>: Briefly demonstrate this live. Ensure learners know how to navigate their local file system (e.g., finding their Documents or Desktop folder). Encourage learners to open their own RStudio to follow along during the later exercises.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method is often faster if you already see your files in the bottom right corner of RStudio. Clicking ‘Set As Working Directory’ locks R to that specific folder.</a:t>
            </a:r>
          </a:p>
          <a:p>
            <a:pPr lvl="0" indent="0" marL="0">
              <a:buNone/>
            </a:pPr>
          </a:p>
          <a:p>
            <a:pPr lvl="0" indent="0" marL="0">
              <a:buNone/>
            </a:pPr>
            <a:r>
              <a:rPr b="1"/>
              <a:t>Instructor Notes</a:t>
            </a:r>
            <a:r>
              <a:rPr/>
              <a:t>: Remind learners that simply navigating to a folder in the output pane does not automatically set it as the working directory. They must explicitly execute the “Set As Working Directory” command.</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 can always verify your current location by checking the gray text at the top of your console. If it shows the wrong path, your file imports will fail. You can also run the command </a:t>
            </a:r>
            <a:r>
              <a:rPr>
                <a:latin typeface="Courier"/>
              </a:rPr>
              <a:t>getwd()</a:t>
            </a:r>
            <a:r>
              <a:rPr/>
              <a:t>, which stands for “get working directory”.</a:t>
            </a:r>
          </a:p>
          <a:p>
            <a:pPr lvl="0" indent="0" marL="0">
              <a:buNone/>
            </a:pPr>
          </a:p>
          <a:p>
            <a:pPr lvl="0" indent="0" marL="0">
              <a:buNone/>
            </a:pPr>
            <a:r>
              <a:rPr b="1"/>
              <a:t>Accessibility Tips</a:t>
            </a:r>
            <a:r>
              <a:rPr/>
              <a:t>: Read the console path structure aloud (e.g., “C drive, Users, Documents”) to help learners orient themselves.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Open RStudio. Take a minute to create and set your working directory to the folder for today’s session. We will need this set correctly when we start importing data later today.</a:t>
            </a:r>
          </a:p>
          <a:p>
            <a:pPr lvl="0" indent="0" marL="0">
              <a:buNone/>
            </a:pPr>
          </a:p>
          <a:p>
            <a:pPr lvl="0" indent="0" marL="0">
              <a:buNone/>
            </a:pPr>
            <a:r>
              <a:rPr b="1"/>
              <a:t>Instructor Notes</a:t>
            </a:r>
            <a:r>
              <a:rPr/>
              <a:t>: Verifying the working directory is a critical step. Do not proceed until all learners have successfully set their directory. Check for common issues like OneDrive/Cloud sync folders causing path errors on Windows machines, or learners not typing the command correctly.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While Base R is powerful, the real strength of R lies in its packages. These are bundles of code written by other users that add new capabilities, from advanced statistical models to data import tools.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 only need to install a package once on your computer. Note that the package name must be enclosed in quotation marks when installing. You can also use the Packages tab in RStudio to install them graphically.</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Think of installing a package like buying a book and putting it on your shelf. You only buy it once. Loading a package with the library function is like taking the book off the shelf to read it today. You have to do this every time you start a new session in R.</a:t>
            </a:r>
          </a:p>
          <a:p>
            <a:pPr lvl="0" indent="0" marL="0">
              <a:buNone/>
            </a:pPr>
          </a:p>
          <a:p>
            <a:pPr lvl="0" indent="0" marL="0">
              <a:buNone/>
            </a:pPr>
            <a:r>
              <a:rPr b="1"/>
              <a:t>Instructor Notes</a:t>
            </a:r>
            <a:r>
              <a:rPr/>
              <a:t>: Emphasize the difference between installing (quotes needed, done once) and loading (no quotes needed, done every session). This is a very common point of confusion for beginners.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Take a moment to install the haven package and then load it. We will need this package later if we want to import specialized data formats.</a:t>
            </a:r>
          </a:p>
          <a:p>
            <a:pPr lvl="0" indent="0" marL="0">
              <a:buNone/>
            </a:pPr>
          </a:p>
          <a:p>
            <a:pPr lvl="0" indent="0" marL="0">
              <a:buNone/>
            </a:pPr>
            <a:r>
              <a:rPr b="1"/>
              <a:t>Instructor Notes</a:t>
            </a:r>
            <a:r>
              <a:rPr/>
              <a:t>: Give learners about 3 minutes. Remind them to look at the console to see the installation progress.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First, we use </a:t>
            </a:r>
            <a:r>
              <a:rPr>
                <a:latin typeface="Courier"/>
              </a:rPr>
              <a:t>install.packages</a:t>
            </a:r>
            <a:r>
              <a:rPr/>
              <a:t> with quotation marks to download the package to our computer. Then, we use </a:t>
            </a:r>
            <a:r>
              <a:rPr>
                <a:latin typeface="Courier"/>
              </a:rPr>
              <a:t>library</a:t>
            </a:r>
            <a:r>
              <a:rPr/>
              <a:t> without quotation marks to load it into our current session.</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can load and inspect data, we need to have it on our computers. Please use the link or scan the QR code to download the </a:t>
            </a:r>
            <a:r>
              <a:rPr>
                <a:latin typeface="Courier"/>
              </a:rPr>
              <a:t>characters.rds</a:t>
            </a:r>
            <a:r>
              <a:rPr/>
              <a:t> file. This dataset contains fun information about TV show characters, specifically from “Brooklyn Nine-Nine” and “Community”, including variables like their show’s name and a “notability” score. We will use this dataset to practice data exploration and visualization.</a:t>
            </a:r>
          </a:p>
          <a:p>
            <a:pPr lvl="0" indent="0" marL="0">
              <a:buNone/>
            </a:pPr>
          </a:p>
          <a:p>
            <a:pPr lvl="0" indent="0" marL="0">
              <a:buNone/>
            </a:pPr>
            <a:r>
              <a:rPr b="1"/>
              <a:t>Instructor Notes</a:t>
            </a:r>
            <a:r>
              <a:rPr/>
              <a:t>: Ensure learners do not skip this step. The specific instructions for moving the file and setting the directory follow on the next slide.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Once downloaded, make sure to move the file out of your general Downloads folder and into a new R folder with your files for this session. Finally, verify that RStudio is pointing to that exact folder as your working directory.</a:t>
            </a:r>
          </a:p>
          <a:p>
            <a:pPr lvl="0" indent="0" marL="0">
              <a:buNone/>
            </a:pPr>
          </a:p>
          <a:p>
            <a:pPr lvl="0" indent="0" marL="0">
              <a:buNone/>
            </a:pPr>
            <a:r>
              <a:rPr b="1"/>
              <a:t>Instructor Notes</a:t>
            </a:r>
            <a:r>
              <a:rPr/>
              <a:t>: This step often causes friction as learners may struggle to locate their downloads or move files. Use the upcoming break to help anyone who is stuck here. Ensure they do not leave the file in their standard “Downloads” folder, as this will cause paths issues later.</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R knows where to look, let’s load some data. The function you use depends on the file type. Because we downloaded an </a:t>
            </a:r>
            <a:r>
              <a:rPr>
                <a:latin typeface="Courier"/>
              </a:rPr>
              <a:t>.rds</a:t>
            </a:r>
            <a:r>
              <a:rPr/>
              <a:t> file, which is R’s native format, we will use the </a:t>
            </a:r>
            <a:r>
              <a:rPr>
                <a:latin typeface="Courier"/>
              </a:rPr>
              <a:t>readRDS</a:t>
            </a:r>
            <a:r>
              <a:rPr/>
              <a:t> function. For other common formats like CSVs, or files from SPSS and Excel, you will need different functions and sometimes extra packages like </a:t>
            </a:r>
            <a:r>
              <a:rPr>
                <a:latin typeface="Courier"/>
              </a:rPr>
              <a:t>haven</a:t>
            </a:r>
            <a:r>
              <a:rPr/>
              <a:t>. If you ever forget how to load a specific file type, simply Google “how to open xlsx in RStudio”. Alternatively, you can use the “Import Dataset” button in the menu, which is highly recommended because it gives you a preview of the data and writes the code for you.</a:t>
            </a:r>
          </a:p>
          <a:p>
            <a:pPr lvl="0" indent="0" marL="0">
              <a:buNone/>
            </a:pPr>
          </a:p>
          <a:p>
            <a:pPr lvl="0" indent="0" marL="0">
              <a:buNone/>
            </a:pPr>
            <a:r>
              <a:rPr b="1"/>
              <a:t>Instructor Notes</a:t>
            </a:r>
            <a:r>
              <a:rPr/>
              <a:t>: Briefly demonstrate the “Import Dataset” feature via screen share if time permits, showing how it populates the console with code. Emphasize that Googling for specific file type imports is standard practice.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It is time to start our main data analysis script! We will build on this script for the rest of the session, so you can save it and use it as a cheat sheet for your own future projects. Start by writing the code to load the </a:t>
            </a:r>
            <a:r>
              <a:rPr>
                <a:latin typeface="Courier"/>
              </a:rPr>
              <a:t>characters.rds</a:t>
            </a:r>
            <a:r>
              <a:rPr/>
              <a:t> file and assign it to an object named </a:t>
            </a:r>
            <a:r>
              <a:rPr>
                <a:latin typeface="Courier"/>
              </a:rPr>
              <a:t>characters</a:t>
            </a:r>
            <a:r>
              <a:rPr/>
              <a:t>.</a:t>
            </a:r>
          </a:p>
          <a:p>
            <a:pPr lvl="0" indent="0" marL="0">
              <a:buNone/>
            </a:pPr>
          </a:p>
          <a:p>
            <a:pPr lvl="0" indent="0" marL="0">
              <a:buNone/>
            </a:pPr>
            <a:r>
              <a:rPr b="1"/>
              <a:t>Instructor Notes</a:t>
            </a:r>
            <a:r>
              <a:rPr/>
              <a:t>: Give learners about 3-5 minutes. Remind them that if they get a “file not found” error, it almost certainly means their Working Directory is not set to the folder where the file actually lives, or they made a typo in the file name.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the solution. We use the assignment arrow to store the data in an object called characters. The readRDS function tells R to look for the file named “characters.rds” inside our Working Directory. If everything worked correctly, you should now see a new object appear in the top right Environment pane, showing that it has hundreds of rows and several variables.</a:t>
            </a:r>
          </a:p>
          <a:p>
            <a:pPr lvl="0" indent="0" marL="0">
              <a:buNone/>
            </a:pPr>
          </a:p>
          <a:p>
            <a:pPr lvl="0" indent="0" marL="0">
              <a:buNone/>
            </a:pPr>
            <a:r>
              <a:rPr b="1"/>
              <a:t>Instructor Notes</a:t>
            </a:r>
            <a:r>
              <a:rPr/>
              <a:t>: Have the participants confirm they see the dataset in their Environment. Do not move forward until everyone has successfully loaded the data, as the rest of the workshop depends on it.</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Once the data is loaded, we need to look at it. You should never start analyzing without knowing what variables you have. We use four main functions for this. </a:t>
            </a:r>
            <a:r>
              <a:rPr>
                <a:latin typeface="Courier"/>
              </a:rPr>
              <a:t>names</a:t>
            </a:r>
            <a:r>
              <a:rPr/>
              <a:t> gives you the column headers. Keep in mind that column names are often short, so having a codebook explaining what each variable means is highly recommended. </a:t>
            </a:r>
            <a:r>
              <a:rPr>
                <a:latin typeface="Courier"/>
              </a:rPr>
              <a:t>str</a:t>
            </a:r>
            <a:r>
              <a:rPr/>
              <a:t> shows the structure, including whether variables are numbers or text. </a:t>
            </a:r>
            <a:r>
              <a:rPr>
                <a:latin typeface="Courier"/>
              </a:rPr>
              <a:t>head</a:t>
            </a:r>
            <a:r>
              <a:rPr/>
              <a:t> shows the first six rows. </a:t>
            </a:r>
            <a:r>
              <a:rPr>
                <a:latin typeface="Courier"/>
              </a:rPr>
              <a:t>summary</a:t>
            </a:r>
            <a:r>
              <a:rPr/>
              <a:t> provides basic statistics, like means for numeric data or counts for categorical data.</a:t>
            </a:r>
          </a:p>
          <a:p>
            <a:pPr lvl="0" indent="0" marL="0">
              <a:buNone/>
            </a:pPr>
          </a:p>
          <a:p>
            <a:pPr lvl="0" indent="0" marL="0">
              <a:buNone/>
            </a:pPr>
            <a:r>
              <a:rPr b="1"/>
              <a:t>Instructor Notes</a:t>
            </a:r>
            <a:r>
              <a:rPr/>
              <a:t>: Emphasize the importance of a codebook. Novices often assume variable names are self-explanatory, which leads to analytical errors.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apply these functions to the dataset we just loaded. Run each function on the </a:t>
            </a:r>
            <a:r>
              <a:rPr>
                <a:latin typeface="Courier"/>
              </a:rPr>
              <a:t>characters</a:t>
            </a:r>
            <a:r>
              <a:rPr/>
              <a:t> object and look closely at the output in the console. Based on what you see—the variable names and the specific text values—can anyone guess what this dataset is actually about?</a:t>
            </a:r>
          </a:p>
          <a:p>
            <a:pPr lvl="0" indent="0" marL="0">
              <a:buNone/>
            </a:pPr>
          </a:p>
          <a:p>
            <a:pPr lvl="0" indent="0" marL="0">
              <a:buNone/>
            </a:pPr>
            <a:r>
              <a:rPr b="1"/>
              <a:t>Instructor Notes</a:t>
            </a:r>
            <a:r>
              <a:rPr/>
              <a:t>: Give learners 5 minutes to run the code and read the outputs. Ask the room to share their guesses regarding the dataset’s content.</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Running these four lines provides a complete overview of the dataset without having to open it like a spreadsheet.</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head into the break, let’s do a quick check-in to see how things are going so far. The questions are designed to help you reflect on your current understanding of the key concepts we just covered: working directories, packages, loading data, and inspecting data structures.</a:t>
            </a:r>
          </a:p>
          <a:p>
            <a:pPr lvl="0" indent="0" marL="0">
              <a:buNone/>
            </a:pPr>
          </a:p>
          <a:p>
            <a:pPr lvl="0" indent="0" marL="0">
              <a:buNone/>
            </a:pPr>
            <a:r>
              <a:rPr/>
              <a:t>Question 1: The correct answer for this question is B. Question 2: The correct answer for this question is D. Question 3: The correct answer for this question is A. Question 4: The correct answer for this question is D. Question 5: The answer for this question is B.</a:t>
            </a:r>
          </a:p>
          <a:p>
            <a:pPr lvl="0" indent="0" marL="0">
              <a:buNone/>
            </a:pPr>
          </a:p>
          <a:p>
            <a:pPr lvl="0" indent="0" marL="0">
              <a:buNone/>
            </a:pPr>
            <a:r>
              <a:rPr b="1"/>
              <a:t>Instructor Notes</a:t>
            </a:r>
            <a:r>
              <a:rPr/>
              <a:t>: Use this pre-break survey to gauge learners’ understanding of the session’s core concepts.</a:t>
            </a:r>
          </a:p>
          <a:p>
            <a:pPr lvl="0" indent="0" marL="0">
              <a:buNone/>
            </a:pPr>
          </a:p>
          <a:p>
            <a:pPr lvl="0"/>
            <a:r>
              <a:rPr/>
              <a:t>If more than 80% of learners select the correct answer, briefly confirm the correct response and continue.</a:t>
            </a:r>
          </a:p>
          <a:p>
            <a:pPr lvl="0" indent="0" marL="0">
              <a:buNone/>
            </a:pPr>
          </a:p>
          <a:p>
            <a:pPr lvl="0"/>
            <a:r>
              <a:rPr/>
              <a:t>If fewer than 80% answer correctly, give learners 1–2 minutes to discuss their reasoning with a partner before re-running the question. If results improve above 80%, continue; otherwise, explain the correct answer and address common misunderstandings.</a:t>
            </a:r>
          </a:p>
          <a:p>
            <a:pPr lvl="0" indent="0" marL="0">
              <a:buNone/>
            </a:pPr>
          </a:p>
          <a:p>
            <a:pPr lvl="0"/>
            <a:r>
              <a:rPr/>
              <a:t>If a large portion of learners select the same distractor answer, pause to discuss why that option may seem plausible and clarify the misconception.</a:t>
            </a:r>
          </a:p>
          <a:p>
            <a:pPr lvl="0" indent="0" marL="0">
              <a:buNone/>
            </a:pPr>
          </a:p>
          <a:p>
            <a:pPr lvl="0" indent="0" marL="0">
              <a:buNone/>
            </a:pPr>
            <a:r>
              <a:rPr b="1"/>
              <a:t>Accessibility Tip</a:t>
            </a:r>
            <a:r>
              <a:rPr/>
              <a:t>: This activity is designed for synchronous teaching settings and may be skipped or adapted if needed.</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Briefly examine the answers given to each question interactively with the group. Use visuals from the survey to highlight specific answers. Serves to clarify concepts and aspects that are not yet understood. Highlight specific answers given during the survey.</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you might remember from Part I, indexing allows us to point R to specific data. When working with data frames, subsetting is central because we usually want to focus on specific subgroups rather than the whole dataset. We can access a specific column using the dollar sign, just like last time. To filter rows based on characteristics, we use the square brackets. By placing our logical conditions before the comma, we tell R which rows to keep. We build these conditions using double equals for exact matches and the vertical pipe for “OR”. Most importantly, we save this subset as a new object so our original dataset remains untouched.</a:t>
            </a:r>
          </a:p>
          <a:p>
            <a:pPr lvl="0" indent="0" marL="0">
              <a:buNone/>
            </a:pPr>
          </a:p>
          <a:p>
            <a:pPr lvl="0" indent="0" marL="0">
              <a:buNone/>
            </a:pPr>
            <a:r>
              <a:rPr b="1"/>
              <a:t>Instructor Notes</a:t>
            </a:r>
            <a:r>
              <a:rPr/>
              <a:t>: Clearly link this back to the indexing exercises from Part I to build confidence. Emphasize how </a:t>
            </a:r>
            <a:r>
              <a:rPr>
                <a:latin typeface="Courier"/>
              </a:rPr>
              <a:t>$</a:t>
            </a:r>
            <a:r>
              <a:rPr/>
              <a:t> points to the variable inside the condition.</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apply what we learned in Part I to create our subset. We want to isolate characters from Brooklyn Nine-Nine and Community. Use your indexing knowledge, the dollar sign, and the logical operators we just discussed. After you assign it to the new object </a:t>
            </a:r>
            <a:r>
              <a:rPr>
                <a:latin typeface="Courier"/>
              </a:rPr>
              <a:t>relevant_data</a:t>
            </a:r>
            <a:r>
              <a:rPr/>
              <a:t>, use the </a:t>
            </a:r>
            <a:r>
              <a:rPr>
                <a:latin typeface="Courier"/>
              </a:rPr>
              <a:t>table()</a:t>
            </a:r>
            <a:r>
              <a:rPr/>
              <a:t> function on the </a:t>
            </a:r>
            <a:r>
              <a:rPr>
                <a:latin typeface="Courier"/>
              </a:rPr>
              <a:t>uni_name</a:t>
            </a:r>
            <a:r>
              <a:rPr/>
              <a:t> column of your new subset to verify that it worked.</a:t>
            </a:r>
          </a:p>
          <a:p>
            <a:pPr lvl="0" indent="0" marL="0">
              <a:buNone/>
            </a:pPr>
          </a:p>
          <a:p>
            <a:pPr lvl="0" indent="0" marL="0">
              <a:buNone/>
            </a:pPr>
            <a:r>
              <a:rPr b="1"/>
              <a:t>Instructor Notes</a:t>
            </a:r>
            <a:r>
              <a:rPr/>
              <a:t>: Give learners 5-7 minutes. Monitor for the three common pitfalls: missing the trailing comma inside the brackets, using a single equals sign, or failing to repeat </a:t>
            </a:r>
            <a:r>
              <a:rPr>
                <a:latin typeface="Courier"/>
              </a:rPr>
              <a:t>characters$uni_name</a:t>
            </a:r>
            <a:r>
              <a:rPr/>
              <a:t> after the OR operator.</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one correct way of solving this exercise. We specify the row conditions before the comma. Notice that we have to tell R exactly where to look for both sides of the OR condition by writing characters$uni_name twice. Finally, running table() on the newly created object confirms that we only have characters from those two shows.</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the subset is established, we can compute basic statistics. We combine summary functions with the dollar sign operator. For numeric data, we apply </a:t>
            </a:r>
            <a:r>
              <a:rPr>
                <a:latin typeface="Courier"/>
              </a:rPr>
              <a:t>mean()</a:t>
            </a:r>
            <a:r>
              <a:rPr/>
              <a:t> and </a:t>
            </a:r>
            <a:r>
              <a:rPr>
                <a:latin typeface="Courier"/>
              </a:rPr>
              <a:t>sd()</a:t>
            </a:r>
            <a:r>
              <a:rPr/>
              <a:t>. For categorical data, we use </a:t>
            </a:r>
            <a:r>
              <a:rPr>
                <a:latin typeface="Courier"/>
              </a:rPr>
              <a:t>table()</a:t>
            </a:r>
            <a:r>
              <a:rPr/>
              <a:t> to count occurrences. Indexing can be nested directly inside functions to calculate statistics for specific subgroups without generating new objects.</a:t>
            </a:r>
          </a:p>
          <a:p>
            <a:pPr lvl="0" indent="0" marL="0">
              <a:buNone/>
            </a:pPr>
          </a:p>
          <a:p>
            <a:pPr lvl="0" indent="0" marL="0">
              <a:buNone/>
            </a:pPr>
            <a:r>
              <a:rPr b="1"/>
              <a:t>Instructor Notes</a:t>
            </a:r>
            <a:r>
              <a:rPr/>
              <a:t>: Ensure learners recognize that executing </a:t>
            </a:r>
            <a:r>
              <a:rPr>
                <a:latin typeface="Courier"/>
              </a:rPr>
              <a:t>mean(data)</a:t>
            </a:r>
            <a:r>
              <a:rPr/>
              <a:t> directly on a data frame fails. They must isolate a numeric vector using </a:t>
            </a:r>
            <a:r>
              <a:rPr>
                <a:latin typeface="Courier"/>
              </a:rPr>
              <a: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execute the commands to determine the overall dispersion and central tendency for the notability variable. We will follow this by extracting the mean notability for each show independently. We can utilize bracket subsetting logic directly inside the mean function.</a:t>
            </a:r>
          </a:p>
          <a:p>
            <a:pPr lvl="0" indent="0" marL="0">
              <a:buNone/>
            </a:pPr>
          </a:p>
          <a:p>
            <a:pPr lvl="0" indent="0" marL="0">
              <a:buNone/>
            </a:pPr>
            <a:r>
              <a:rPr b="1"/>
              <a:t>Instructor Notes</a:t>
            </a:r>
            <a:r>
              <a:rPr/>
              <a:t>: Give learners 5 minutes. Monitor for syntax errors when nesting bracket indexing inside the parentheses of the </a:t>
            </a:r>
            <a:r>
              <a:rPr>
                <a:latin typeface="Courier"/>
              </a:rPr>
              <a:t>mean()</a:t>
            </a:r>
            <a:r>
              <a:rPr/>
              <a:t> function.</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dollar sign operator extracts the full vector for overall statistics. To calculate group-specific means, we nest the row condition inside the mean() function and specify “notability” in the column position after the comma.</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Numbers are great, but visualizing data often makes it much easier to understand. A histogram is one of the most common plots for numeric variables. It shows us how often different values occur in our dataset. We create it using the </a:t>
            </a:r>
            <a:r>
              <a:rPr>
                <a:latin typeface="Courier"/>
              </a:rPr>
              <a:t>hist()</a:t>
            </a:r>
            <a:r>
              <a:rPr/>
              <a:t> function. When we run this code, the plot will automatically appear in the output pane in the bottom right corner of RStudio. We can also customize these plots, for example by changing the title or the axis labels, so they look clean and don’t overlap. Histograms are incredibly useful because they show us the entire distribution and actual shape of the data, not just a single summary number like the mean.</a:t>
            </a:r>
          </a:p>
          <a:p>
            <a:pPr lvl="0" indent="0" marL="0">
              <a:buNone/>
            </a:pPr>
          </a:p>
          <a:p>
            <a:pPr lvl="0" indent="0" marL="0">
              <a:buNone/>
            </a:pPr>
            <a:r>
              <a:rPr b="1"/>
              <a:t>Instructor Notes</a:t>
            </a:r>
            <a:r>
              <a:rPr/>
              <a:t>: Ensure learners know to look at the bottom-right pane for their output. If their output pane is too small, RStudio might throw a “figure margins too large” error. Tell them to simply drag the pane borders to make it larger if that happens.</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visualize the data we just summarized. We will create two separate histograms—one for each show. Before you plot the data, make sure to run the </a:t>
            </a:r>
            <a:r>
              <a:rPr>
                <a:latin typeface="Courier"/>
              </a:rPr>
              <a:t>par</a:t>
            </a:r>
            <a:r>
              <a:rPr/>
              <a:t> code provided in the hint to show them side-by-side. Then, nest your subsetting code inside the </a:t>
            </a:r>
            <a:r>
              <a:rPr>
                <a:latin typeface="Courier"/>
              </a:rPr>
              <a:t>hist()</a:t>
            </a:r>
            <a:r>
              <a:rPr/>
              <a:t> function.</a:t>
            </a:r>
          </a:p>
          <a:p>
            <a:pPr lvl="0" indent="0" marL="0">
              <a:buNone/>
            </a:pPr>
          </a:p>
          <a:p>
            <a:pPr lvl="0" indent="0" marL="0">
              <a:buNone/>
            </a:pPr>
            <a:r>
              <a:rPr b="1"/>
              <a:t>Instructor Notes</a:t>
            </a:r>
            <a:r>
              <a:rPr/>
              <a:t>: Give learners 5-7 minutes. Reassure them that they can reuse the exact subsetting syntax (</a:t>
            </a:r>
            <a:r>
              <a:rPr>
                <a:latin typeface="Courier"/>
              </a:rPr>
              <a:t>relevant_data[condition, "column_name"]</a:t>
            </a:r>
            <a:r>
              <a:rPr/>
              <a:t>) they already wrote for the </a:t>
            </a:r>
            <a:r>
              <a:rPr>
                <a:latin typeface="Courier"/>
              </a:rPr>
              <a:t>mean()</a:t>
            </a:r>
            <a:r>
              <a:rPr/>
              <a:t> exercise.</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the solution. By reusing our subsetting logic, we can directly plot the notability for each specific show. Notice that we snuck in two extra arguments here: </a:t>
            </a:r>
            <a:r>
              <a:rPr>
                <a:latin typeface="Courier"/>
              </a:rPr>
              <a:t>main</a:t>
            </a:r>
            <a:r>
              <a:rPr/>
              <a:t> and </a:t>
            </a:r>
            <a:r>
              <a:rPr>
                <a:latin typeface="Courier"/>
              </a:rPr>
              <a:t>xlab</a:t>
            </a:r>
            <a:r>
              <a:rPr/>
              <a:t>. If you ran your code without them, you probably saw a very long, messy default title generated by R. By adding these arguments, we get clean, readable plots without overlapping text.</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is what your output should look like in the output pane. Looking at the plots, you can visually confirm what the means calculated earlier suggested: the distributions are different, and we can now actually see where the majority of characters fall on the notability scale for each universe. Here you can clearly see the side-by-side comparison of both distributions.</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Programming involves making mistakes constantly. When R gives you a red error message, do not panic. Most of the time, it is a simple typo. R is strictly case-sensitive, meaning a capital C is completely different from a lowercase c. Another frequent issue is forgetting quotation marks around text. If you type Community without quotes, R thinks you are looking for an object named Community, not the text string. Always double-check your spelling, missing commas, and ensure your assignment arrows are pointing the right way.</a:t>
            </a:r>
          </a:p>
          <a:p>
            <a:pPr lvl="0" indent="0" marL="0">
              <a:buNone/>
            </a:pPr>
          </a:p>
          <a:p>
            <a:pPr lvl="0" indent="0" marL="0">
              <a:buNone/>
            </a:pPr>
            <a:r>
              <a:rPr b="1"/>
              <a:t>Instructor Notes</a:t>
            </a:r>
            <a:r>
              <a:rPr/>
              <a:t>: Normalize errors. Remind learners that the console output usually gives a hint about what went wrong (e.g., “object not found” usually means a typo or missing quotes).</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look at this code. There are three lines, and each contains typical beginner mistakes. Take a moment to read through them and see if you can spot what would cause R to throw an error.</a:t>
            </a:r>
          </a:p>
          <a:p>
            <a:pPr lvl="0" indent="0" marL="0">
              <a:buNone/>
            </a:pPr>
          </a:p>
          <a:p>
            <a:pPr lvl="0" indent="0" marL="0">
              <a:buNone/>
            </a:pPr>
            <a:r>
              <a:rPr b="1"/>
              <a:t>Instructor Notes</a:t>
            </a:r>
            <a:r>
              <a:rPr/>
              <a:t>: Use this only if time permits. It is a highly effective way to test syntax recognition without requiring participants to write new code.</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go through the solutions. Line 1 was missing quotation marks around the file name. Line 2 used a capital M for the mean function, but R functions are lowercase. Line 3 was missing quotation marks around the show name AND was missing the crucial comma inside the brackets.</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take a step back and look at the big picture. What we did today—loading data, subsetting it, and creating histograms—are the exact first steps of any professional data analysis pipeline. R is not just a calculator; it is an entire ecosystem. You start by importing data, then you wrangle and transform it. After that, you visualize it to understand what you are working with. Finally, you model the data statistically and communicate the results. In fact, this entire presentation was created using R!</a:t>
            </a:r>
          </a:p>
          <a:p>
            <a:pPr lvl="0" indent="0" marL="0">
              <a:buNone/>
            </a:pPr>
          </a:p>
          <a:p>
            <a:pPr lvl="0" indent="0" marL="0">
              <a:buNone/>
            </a:pPr>
            <a:r>
              <a:rPr b="1"/>
              <a:t>Instructor Notes</a:t>
            </a:r>
            <a:r>
              <a:rPr/>
              <a:t>: Use this slide to bridge the gap between the simple exercises done today and the real-world utility of R. Highlight that the skills learned today are the actual foundation of professional workflows.</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we did not cover yet are some more advanced aspects of using R for research. Building up on your data wrangling skills, you can also use R to run complex statistical analyses and machine learning algorithms. -You can also use R to generate automated reports, research manuscripts, interactive dashboards, or even </a:t>
            </a:r>
            <a:r>
              <a:rPr b="1"/>
              <a:t>these exact presentation slides</a:t>
            </a:r>
            <a:r>
              <a:rPr/>
              <a:t> using Quarto/RMarkdown! This last aspect is something we will cover in a following session.</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you continue learning, you will discover that R is incredibly powerful. You can move from simple base R histograms to stunning, publication-ready graphics using packages like ggplot2. You can even build interactive websites using packages like shiny. If you’re curious about either of these packages, both ggplot2 and shiny are clickable links on this slide that will take you straight to their official websites. Most importantly, by writing scripts instead of clicking through menus, your research becomes 100% reproducible.</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wrap up, remember that learning R is like learning a new language. It feels unfamiliar at first, and syntax errors are completely normal. Even professionals use AI constantly to write scripts, bypass lengthy documentation, and troubleshoot errors. However, the foundational understanding you gained today is what allows you to actually evaluate and verify the solutions it provides. Do not get discouraged by red text in the console. Save the script you built today, use it as a reference, and keep practicing. Great job today!</a:t>
            </a:r>
          </a:p>
          <a:p>
            <a:pPr lvl="0" indent="0" marL="0">
              <a:buNone/>
            </a:pPr>
          </a:p>
          <a:p>
            <a:pPr lvl="0" indent="0" marL="0">
              <a:buNone/>
            </a:pPr>
            <a:r>
              <a:rPr b="1"/>
              <a:t>Instructor Notes</a:t>
            </a:r>
            <a:r>
              <a:rPr/>
              <a:t>: End on a high note. Emphasize that the frustration of learning a new syntax is universal and temporary.</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AI tools become deeply integrated into programming workflows, it’s important to use them responsibly. They are excellent co-pilots for troubleshooting red text in the console or figuring out how to approach a new task. However, they are not infallible. You must understand the foundations of R to verify if the AI’s code actually does what you need. When it comes to tools, you can use standalone chatbots, or integrations directly within your programming environment (also called an IDE, like RStudio). Integrations have the benefit of “seeing” your entire script, so you don’t have to copy-paste as much context. Most importantly, remind learners about data privacy: public AI models often train on user inputs, so sensitive data should never be shared with them!</a:t>
            </a:r>
          </a:p>
          <a:p>
            <a:pPr lvl="0" indent="0" marL="0">
              <a:buNone/>
            </a:pPr>
          </a:p>
          <a:p>
            <a:pPr lvl="0" indent="0" marL="0">
              <a:buNone/>
            </a:pPr>
            <a:r>
              <a:rPr b="1"/>
              <a:t>Instructor Notes</a:t>
            </a:r>
            <a:r>
              <a:rPr/>
              <a:t>: Frame AI as an assistant, not a replacement for learning the basics. The core message is that acquiring foundational coding skills is the only way for transparent and credible research, because one must understand the question they are asking and be able to evaluate the output they are receiving.</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this part, there are three key ideas to remember. First, correctly setting your Working Directory and loading necessary packages are the non-negotiable first steps of any R session. Without them, you cannot access your data or advanced tools.</a:t>
            </a:r>
          </a:p>
          <a:p>
            <a:pPr lvl="0" indent="0" marL="0">
              <a:buNone/>
            </a:pPr>
          </a:p>
          <a:p>
            <a:pPr lvl="0" indent="0" marL="0">
              <a:buNone/>
            </a:pPr>
            <a:r>
              <a:rPr/>
              <a:t>Second, subsetting is central to data analysis. You rarely work with a full raw dataset at once; instead, you filter specific rows based on logical conditions to answer targeted questions. And third, basic statistics and visualizations go hand in hand. Using summary functions alongside plots like histograms gives you a complete picture of your data’s shape and distribution.</a:t>
            </a:r>
          </a:p>
          <a:p>
            <a:pPr lvl="0" indent="0" marL="0">
              <a:buNone/>
            </a:pPr>
          </a:p>
          <a:p>
            <a:pPr lvl="0" indent="0" marL="0">
              <a:buNone/>
            </a:pPr>
            <a:r>
              <a:rPr b="1"/>
              <a:t>Instructor Notes</a:t>
            </a:r>
            <a:r>
              <a:rPr/>
              <a:t>: Keep this slide concise and use it as a clear closure of the R part 2 section.</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objectives and reflect on how comfortable you feel with each one. 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Use this slide to encourage self-reflection rather than evaluation. Emphasize that learners are not expected to feel equally confident about all objectives at this stage. Keep the discussion supportive and brief, focusing on clarifying concepts rather than introducing new material.</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wrap up, let’s take a moment to bring everything together and think about how this connects to your own work going forward. First, take about one minute to reflect individually on these questions. Then discuss them with a partner. Think about where R/RStudio could realistically support you, for example, in upcoming essays, group projects, or your thesis work. What benefits do you see in using it? What might make it difficult to use it consistently? And how could it fit into your current workflow?</a:t>
            </a:r>
            <a:br/>
            <a:r>
              <a:rPr/>
              <a:t>After that, we’ll briefly share some of your thoughts with the group.</a:t>
            </a:r>
          </a:p>
          <a:p>
            <a:pPr lvl="0" indent="0" marL="0">
              <a:buNone/>
            </a:pPr>
          </a:p>
          <a:p>
            <a:pPr lvl="0" indent="0" marL="0">
              <a:buNone/>
            </a:pPr>
            <a:r>
              <a:rPr b="1"/>
              <a:t>Instructor Notes</a:t>
            </a:r>
            <a:r>
              <a:rPr/>
              <a:t>: Allocate about 5-10 minutes total for this think-pair-share activity (1-2 minutes for individual reflection, 3-4 minutes in pairs, and the remainder for group discussion). Facilitate an open discussion focusing on application rather than theory. Encourage concrete examples from learners’ own academic context. Actively prompt for both benefits and barriers. Keep the discussion time-bound to avoid overextension at the end of the session.</a:t>
            </a:r>
          </a:p>
          <a:p>
            <a:pPr lvl="0" indent="0" marL="0">
              <a:buNone/>
            </a:pPr>
          </a:p>
          <a:p>
            <a:pPr lvl="0" indent="0" marL="0">
              <a:buNone/>
            </a:pPr>
            <a:r>
              <a:rPr b="1"/>
              <a:t>Accessibility Tip</a:t>
            </a:r>
            <a:r>
              <a:rPr/>
              <a:t>: Allow silent reflection time before discussion. Summarize key contributions aloud for clarity.</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finish, you have a short home assignment that brings together everything we covered in Part II. You will create a script where you first set your working directory and load the characters dataset. Then, you will practice subsetting by filtering the data based on a condition of your choosing—perhaps explore characters from a different show. Next, compute a basic summary statistic like a mean or a frequency table on your new subset. Finally, visualize a numeric variable using a histogram and give it a custom title. Make sure to comment your code so you know exactly what each line does when you look at it later.</a:t>
            </a:r>
          </a:p>
          <a:p>
            <a:pPr lvl="0" indent="0" marL="0">
              <a:buNone/>
            </a:pPr>
          </a:p>
          <a:p>
            <a:pPr lvl="0" indent="0" marL="0">
              <a:buNone/>
            </a:pPr>
            <a:r>
              <a:rPr b="1"/>
              <a:t>Instructor Notes</a:t>
            </a:r>
            <a:r>
              <a:rPr/>
              <a:t>: Clarify that this is a practice exercise rather than a graded assessment. Encourage learners to explore variables in the dataset they haven’t looked at yet. Reassure them that running into errors during subsetting is normal and part of the learning process.</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we’ll take a short survey. This post-session survey helps us understand your current level of knowledge after completing the session. Please answer honestly based on how confident you feel now.</a:t>
            </a:r>
          </a:p>
          <a:p>
            <a:pPr lvl="0" indent="0" marL="0">
              <a:buNone/>
            </a:pPr>
          </a:p>
          <a:p>
            <a:pPr lvl="0" indent="0" marL="0">
              <a:buNone/>
            </a:pPr>
            <a:r>
              <a:rPr b="1"/>
              <a:t>Instructor Notes</a:t>
            </a:r>
            <a:r>
              <a:rPr/>
              <a:t>: The purpose is to compare pre- and post-session responses to evaluate learning progress. Encourage the learnrs to share in class. Use this space to answer doubts, and provide learning or practice tips if the learners still feel under-confident in any areas.</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you’d like to continue practicing R after this session, there are optional additional resources available.</a:t>
            </a:r>
          </a:p>
          <a:p>
            <a:pPr lvl="0" indent="0" marL="0">
              <a:buNone/>
            </a:pPr>
          </a:p>
          <a:p>
            <a:pPr lvl="0" indent="0" marL="0">
              <a:buNone/>
            </a:pPr>
            <a:r>
              <a:rPr/>
              <a:t>Datacamp offers a free, interactive introduction to R, where you can practice directly in your browser. We also highly recommend the LMU OSC’s own Introduction to R tutorial, which is a great comprehensive guide. These are useful ways to reinforce what we covered today and get more comfortable with writing code at your own pace.</a:t>
            </a:r>
          </a:p>
          <a:p>
            <a:pPr lvl="0" indent="0" marL="0">
              <a:buNone/>
            </a:pPr>
          </a:p>
          <a:p>
            <a:pPr lvl="0" indent="0" marL="0">
              <a:buNone/>
            </a:pPr>
            <a:r>
              <a:rPr/>
              <a:t>You are not required to complete them, but they can be helpful if you want extra practice or a more structured introduction to R outside of class.</a:t>
            </a:r>
          </a:p>
          <a:p>
            <a:pPr lvl="0" indent="0" marL="0">
              <a:buNone/>
            </a:pPr>
          </a:p>
          <a:p>
            <a:pPr lvl="0" indent="0" marL="0">
              <a:buNone/>
            </a:pPr>
            <a:r>
              <a:rPr b="1"/>
              <a:t>Instructor Notes</a:t>
            </a:r>
            <a:r>
              <a:rPr/>
              <a:t>: Present these as optional extensions, not part of the core learning requirements. Avoid suggesting them as mandatory. Emphasise self-paced learning and reinforcement of basic R skills using both the interactive Datacamp course and the in-depth OSC material.</a:t>
            </a:r>
          </a:p>
          <a:p>
            <a:pPr lvl="0" indent="0" marL="0">
              <a:buNone/>
            </a:pPr>
          </a:p>
          <a:p>
            <a:pPr lvl="0" indent="0" marL="0">
              <a:buNone/>
            </a:pPr>
            <a:r>
              <a:rPr b="1"/>
              <a:t>Accessibility Tips:</a:t>
            </a:r>
            <a:br/>
            <a:r>
              <a:rPr/>
              <a:t>Ensure the links are accessible through the course platform or slide deck.</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Creative Commons Universal License (CC0 1.0).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2.xml" /><Relationship Id="rId3" Type="http://schemas.openxmlformats.org/officeDocument/2006/relationships/image" Target="../media/image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6.xml" /><Relationship Id="rId3" Type="http://schemas.openxmlformats.org/officeDocument/2006/relationships/image" Target="../media/image6.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hyperlink" Target="https://github.com/nickhaf/r_tutorial/tree/main/raw_data" TargetMode="External" /><Relationship Id="rId4" Type="http://schemas.openxmlformats.org/officeDocument/2006/relationships/hyperlink" Target="https://github.com/nickhaf/r_tutorial/tree/main/raw_data" TargetMode="Externa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s://github.com/nickhaf/r_tutorial/tree/main/raw_data" TargetMode="Externa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 Id="rId3" Type="http://schemas.openxmlformats.org/officeDocument/2006/relationships/hyperlink" Target="https://lmu-osc.github.io/data-documentation-validation-R/02-data-dictionaries/page1.html" TargetMode="Externa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 Id="rId3" Type="http://schemas.openxmlformats.org/officeDocument/2006/relationships/image" Target="../media/image9.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 Id="rId3" Type="http://schemas.openxmlformats.org/officeDocument/2006/relationships/hyperlink" Target="https://lmu-osc.github.io/introduction-to-Quarto/" TargetMode="Externa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 Id="rId3" Type="http://schemas.openxmlformats.org/officeDocument/2006/relationships/hyperlink" Target="https://ggplot2.tidyverse.org/" TargetMode="External" /><Relationship Id="rId4" Type="http://schemas.openxmlformats.org/officeDocument/2006/relationships/hyperlink" Target="https://ggplot2.tidyverse.org/" TargetMode="External" /><Relationship Id="rId5" Type="http://schemas.openxmlformats.org/officeDocument/2006/relationships/hyperlink" Target="https://shiny.posit.co/" TargetMode="External" /><Relationship Id="rId6" Type="http://schemas.openxmlformats.org/officeDocument/2006/relationships/hyperlink" Target="https://shiny.posit.co/" TargetMode="Externa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 Id="rId3" Type="http://schemas.openxmlformats.org/officeDocument/2006/relationships/hyperlink" Target="https://www.datacamp.com/courses/free-introduction-to-r" TargetMode="External" /><Relationship Id="rId4" Type="http://schemas.openxmlformats.org/officeDocument/2006/relationships/hyperlink" Target="https://lmu-osc.github.io/introduction-to-R/" TargetMode="Externa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9-0004-3701-3101" TargetMode="External" /><Relationship Id="rId3" Type="http://schemas.openxmlformats.org/officeDocument/2006/relationships/hyperlink" Target="https://orcid.org/0009-0006-3725-6730" TargetMode="External" /><Relationship Id="rId4" Type="http://schemas.openxmlformats.org/officeDocument/2006/relationships/hyperlink" Target="https://orcid.org/0009-0006-4783-1110" TargetMode="External" /><Relationship Id="rId5" Type="http://schemas.openxmlformats.org/officeDocument/2006/relationships/hyperlink" Target="https://orcid.org/0000-0001-5307-8029" TargetMode="External" /><Relationship Id="rId6" Type="http://schemas.openxmlformats.org/officeDocument/2006/relationships/hyperlink" Target="https://orcid.org/0000-0002-6413-3895" TargetMode="Externa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 Id="rId3" Type="http://schemas.openxmlformats.org/officeDocument/2006/relationships/hyperlink" Target="https://orcid.org/0000-0001-9035-4483" TargetMode="External" /><Relationship Id="rId4" Type="http://schemas.openxmlformats.org/officeDocument/2006/relationships/hyperlink" Target="https://orcid.org/0009-0004-3701-3101" TargetMode="External" /><Relationship Id="rId5" Type="http://schemas.openxmlformats.org/officeDocument/2006/relationships/hyperlink" Target="https://orcid.org/0009-0006-3725-6730" TargetMode="External" /><Relationship Id="rId6" Type="http://schemas.openxmlformats.org/officeDocument/2006/relationships/hyperlink" Target="https://orcid.org/0009-0006-4783-1110" TargetMode="External" /><Relationship Id="rId7" Type="http://schemas.openxmlformats.org/officeDocument/2006/relationships/hyperlink" Target="https://orcid.org/0000-0001-5307-8029" TargetMode="External" /><Relationship Id="rId8" Type="http://schemas.openxmlformats.org/officeDocument/2006/relationships/hyperlink" Target="https://orcid.org/0000-0002-6413-3895" TargetMode="External" /><Relationship Id="rId9" Type="http://schemas.openxmlformats.org/officeDocument/2006/relationships/hyperlink" Target="https://creativecommons.org/licenses/by-sa/4.0/deed.en" TargetMode="External" /><Relationship Id="rId10" Type="http://schemas.openxmlformats.org/officeDocument/2006/relationships/hyperlink" Target="https://creativecommons.org/publicdomain/zero/1.0/" TargetMode="External" /><Relationship Id="rId11" Type="http://schemas.openxmlformats.org/officeDocument/2006/relationships/hyperlink" Target="https://www.osc.lmu.de/" TargetMode="External" /><Relationship Id="rId12" Type="http://schemas.openxmlformats.org/officeDocument/2006/relationships/hyperlink" Target="https://lmu-osc.github.io/teaching-material-for-novices/open-research-tools/r-part-II"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R: Part II</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David Rieger and Elizabeth Waterfield</a:t>
            </a:r>
          </a:p>
        </p:txBody>
      </p:sp>
      <p:sp>
        <p:nvSpPr>
          <p:cNvPr id="4" name="Date Placeholder 3"/>
          <p:cNvSpPr>
            <a:spLocks noGrp="1"/>
          </p:cNvSpPr>
          <p:nvPr>
            <p:ph idx="10" sz="half" type="dt"/>
          </p:nvPr>
        </p:nvSpPr>
        <p:spPr/>
        <p:txBody>
          <a:bodyPr/>
          <a:lstStyle/>
          <a:p>
            <a:pPr lvl="0" indent="0" marL="0">
              <a:buNone/>
            </a:pPr>
            <a:r>
              <a:rPr/>
              <a:t>22/10/2026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Before completing this session, please carefully read about the prerequisites.</a:t>
            </a:r>
          </a:p>
          <a:p>
            <a:pPr lvl="0" indent="0" marL="0">
              <a:buNone/>
            </a:pPr>
          </a:p>
          <a:p>
            <a:pPr lvl="0"/>
            <a:r>
              <a:rPr/>
              <a:t>R: https://www.r-project.org/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from previous sessions</a:t>
            </a:r>
          </a:p>
        </p:txBody>
      </p:sp>
      <p:sp>
        <p:nvSpPr>
          <p:cNvPr id="3" name="Content Placeholder 2"/>
          <p:cNvSpPr>
            <a:spLocks noGrp="1"/>
          </p:cNvSpPr>
          <p:nvPr>
            <p:ph idx="1"/>
          </p:nvPr>
        </p:nvSpPr>
        <p:spPr/>
        <p:txBody>
          <a:bodyPr/>
          <a:lstStyle/>
          <a:p>
            <a:pPr lvl="0" indent="0" marL="0">
              <a:buNone/>
            </a:pPr>
            <a:r>
              <a:rPr/>
              <a:t>Are there any open questions regarding </a:t>
            </a:r>
            <a:r>
              <a:rPr b="1"/>
              <a:t>Introduction to R - Part I</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Let’s refresh our memories!</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Which of the following creates an object named </a:t>
            </a:r>
            <a:r>
              <a:rPr b="1">
                <a:latin typeface="Courier"/>
              </a:rPr>
              <a:t>my_data</a:t>
            </a:r>
            <a:r>
              <a:rPr b="1"/>
              <a:t> containing the number </a:t>
            </a:r>
            <a:r>
              <a:rPr b="1">
                <a:latin typeface="Courier"/>
              </a:rPr>
              <a:t>42</a:t>
            </a:r>
            <a:r>
              <a:rPr b="1"/>
              <a:t>?</a:t>
            </a:r>
          </a:p>
          <a:p>
            <a:pPr lvl="0" indent="-342900" marL="342900">
              <a:buAutoNum type="alphaLcPeriod"/>
            </a:pPr>
            <a:r>
              <a:rPr>
                <a:latin typeface="Courier"/>
              </a:rPr>
              <a:t>my_data == 42</a:t>
            </a:r>
          </a:p>
          <a:p>
            <a:pPr lvl="0" indent="-342900" marL="342900">
              <a:buAutoNum type="alphaLcPeriod"/>
            </a:pPr>
            <a:r>
              <a:rPr>
                <a:latin typeface="Courier"/>
              </a:rPr>
              <a:t>my_data &lt;- 42</a:t>
            </a:r>
          </a:p>
          <a:p>
            <a:pPr lvl="0" indent="-342900" marL="342900">
              <a:buAutoNum type="alphaLcPeriod"/>
            </a:pPr>
            <a:r>
              <a:rPr>
                <a:latin typeface="Courier"/>
              </a:rPr>
              <a:t>my_data &lt; - 42</a:t>
            </a:r>
          </a:p>
          <a:p>
            <a:pPr lvl="0" indent="-342900" marL="342900">
              <a:buAutoNum type="alphaLcPeriod"/>
            </a:pPr>
            <a:r>
              <a:rPr>
                <a:latin typeface="Courier"/>
              </a:rPr>
              <a:t>42 &lt;- my_data</a:t>
            </a:r>
          </a:p>
          <a:p>
            <a:pPr lvl="0" indent="0" marL="0">
              <a:spcBef>
                <a:spcPts val="3000"/>
              </a:spcBef>
              <a:buNone/>
            </a:pPr>
            <a:r>
              <a:rPr b="1"/>
              <a:t>Question 2</a:t>
            </a:r>
          </a:p>
          <a:p>
            <a:pPr lvl="0" indent="0" marL="0">
              <a:buNone/>
            </a:pPr>
            <a:r>
              <a:rPr b="1"/>
              <a:t>What is the result of the following logical comparison?</a:t>
            </a:r>
          </a:p>
          <a:p>
            <a:pPr lvl="0" indent="0">
              <a:buNone/>
            </a:pPr>
            <a:r>
              <a:rPr>
                <a:solidFill>
                  <a:srgbClr val="003B4F"/>
                </a:solidFill>
                <a:latin typeface="Courier"/>
              </a:rPr>
              <a:t>(</a:t>
            </a:r>
            <a:r>
              <a:rPr>
                <a:solidFill>
                  <a:srgbClr val="AD0000"/>
                </a:solidFill>
                <a:latin typeface="Courier"/>
              </a:rPr>
              <a:t>5</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&amp;</a:t>
            </a:r>
            <a:r>
              <a:rPr>
                <a:solidFill>
                  <a:srgbClr val="003B4F"/>
                </a:solidFill>
                <a:latin typeface="Courier"/>
              </a:rPr>
              <a:t> (</a:t>
            </a:r>
            <a:r>
              <a:rPr>
                <a:solidFill>
                  <a:srgbClr val="AD0000"/>
                </a:solidFill>
                <a:latin typeface="Courier"/>
              </a:rPr>
              <a:t>10</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a:t>
            </a:r>
          </a:p>
          <a:p>
            <a:pPr lvl="0" indent="-342900" marL="342900">
              <a:buAutoNum type="alphaLcPeriod"/>
            </a:pPr>
            <a:r>
              <a:rPr/>
              <a:t>TRUE</a:t>
            </a:r>
          </a:p>
          <a:p>
            <a:pPr lvl="0" indent="-342900" marL="342900">
              <a:buAutoNum type="alphaLcPeriod"/>
            </a:pPr>
            <a:r>
              <a:rPr/>
              <a:t>FALSE</a:t>
            </a:r>
          </a:p>
          <a:p>
            <a:pPr lvl="0" indent="-342900" marL="342900">
              <a:buAutoNum type="alphaLcPeriod"/>
            </a:pPr>
            <a:r>
              <a:rPr/>
              <a:t>Error</a:t>
            </a:r>
          </a:p>
          <a:p>
            <a:pPr lvl="0" indent="0" marL="0">
              <a:spcBef>
                <a:spcPts val="3000"/>
              </a:spcBef>
              <a:buNone/>
            </a:pPr>
            <a:r>
              <a:rPr b="1"/>
              <a:t>Question 3</a:t>
            </a:r>
          </a:p>
          <a:p>
            <a:pPr lvl="0" indent="0" marL="0">
              <a:buNone/>
            </a:pPr>
            <a:r>
              <a:rPr b="1"/>
              <a:t>How do you access a column named age from a data frame called people_data?</a:t>
            </a:r>
          </a:p>
          <a:p>
            <a:pPr lvl="0" indent="-342900" marL="342900">
              <a:buAutoNum type="alphaLcPeriod"/>
            </a:pPr>
            <a:r>
              <a:rPr/>
              <a:t>people_data[age]</a:t>
            </a:r>
          </a:p>
          <a:p>
            <a:pPr lvl="0" indent="-342900" marL="342900">
              <a:buAutoNum type="alphaLcPeriod"/>
            </a:pPr>
            <a:r>
              <a:rPr/>
              <a:t>people_data(age)</a:t>
            </a:r>
          </a:p>
          <a:p>
            <a:pPr lvl="0" indent="-342900" marL="342900">
              <a:buAutoNum type="alphaLcPeriod"/>
            </a:pPr>
            <a:r>
              <a:rPr/>
              <a:t>people_data$age</a:t>
            </a:r>
          </a:p>
          <a:p>
            <a:pPr lvl="0" indent="-342900" marL="342900">
              <a:buAutoNum type="alphaLcPeriod"/>
            </a:pPr>
            <a:r>
              <a:rPr/>
              <a:t>age$people_data</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What is your level of familiarity with “Packages” in R?</a:t>
            </a:r>
          </a:p>
          <a:p>
            <a:pPr lvl="0" indent="-342900" marL="342900">
              <a:buAutoNum type="alphaLcPeriod"/>
            </a:pPr>
            <a:r>
              <a:rPr/>
              <a:t>I have never heard of them.</a:t>
            </a:r>
          </a:p>
          <a:p>
            <a:pPr lvl="0" indent="-342900" marL="342900">
              <a:buAutoNum type="alphaLcPeriod"/>
            </a:pPr>
            <a:r>
              <a:rPr/>
              <a:t>I have heard of them but never installed or loaded one.</a:t>
            </a:r>
          </a:p>
          <a:p>
            <a:pPr lvl="0" indent="-342900" marL="342900">
              <a:buAutoNum type="alphaLcPeriod"/>
            </a:pPr>
            <a:r>
              <a:rPr/>
              <a:t>I have basic experience installing and loading them.</a:t>
            </a:r>
          </a:p>
          <a:p>
            <a:pPr lvl="0" indent="-342900" marL="342900">
              <a:buAutoNum type="alphaLcPeriod"/>
            </a:pPr>
            <a:r>
              <a:rPr/>
              <a:t>I am very familiar and use them regularly.</a:t>
            </a:r>
          </a:p>
          <a:p>
            <a:pPr lvl="0" indent="0" marL="0">
              <a:spcBef>
                <a:spcPts val="3000"/>
              </a:spcBef>
              <a:buNone/>
            </a:pPr>
            <a:r>
              <a:rPr b="1"/>
              <a:t>Question 2</a:t>
            </a:r>
          </a:p>
          <a:p>
            <a:pPr lvl="0" indent="0" marL="0">
              <a:buNone/>
            </a:pPr>
            <a:r>
              <a:rPr b="1"/>
              <a:t>Have you ever imported a dataset (e.g., an Excel, CSV, or SPSS file) into a statistical software program?</a:t>
            </a:r>
          </a:p>
          <a:p>
            <a:pPr lvl="0" indent="-342900" marL="342900">
              <a:buAutoNum type="alphaLcPeriod"/>
            </a:pPr>
            <a:r>
              <a:rPr/>
              <a:t>No, never.</a:t>
            </a:r>
          </a:p>
          <a:p>
            <a:pPr lvl="0" indent="-342900" marL="342900">
              <a:buAutoNum type="alphaLcPeriod"/>
            </a:pPr>
            <a:r>
              <a:rPr/>
              <a:t>Yes, using menus (point-and-click).</a:t>
            </a:r>
          </a:p>
          <a:p>
            <a:pPr lvl="0" indent="-342900" marL="342900">
              <a:buAutoNum type="alphaLcPeriod"/>
            </a:pPr>
            <a:r>
              <a:rPr/>
              <a:t>Yes, using code/commands.</a:t>
            </a:r>
          </a:p>
          <a:p>
            <a:pPr lvl="0" indent="0" marL="0">
              <a:spcBef>
                <a:spcPts val="3000"/>
              </a:spcBef>
              <a:buNone/>
            </a:pPr>
            <a:r>
              <a:rPr b="1"/>
              <a:t>Question 3</a:t>
            </a:r>
          </a:p>
          <a:p>
            <a:pPr lvl="0" indent="0" marL="0">
              <a:buNone/>
            </a:pPr>
            <a:r>
              <a:rPr b="1"/>
              <a:t>How familiar are you with creating data visualizations (e.g., histograms or scatter plots)?</a:t>
            </a:r>
          </a:p>
          <a:p>
            <a:pPr lvl="0" indent="-342900" marL="342900">
              <a:buAutoNum type="alphaLcPeriod"/>
            </a:pPr>
            <a:r>
              <a:rPr/>
              <a:t>I have never done this before.</a:t>
            </a:r>
          </a:p>
          <a:p>
            <a:pPr lvl="0" indent="-342900" marL="342900">
              <a:buAutoNum type="alphaLcPeriod"/>
            </a:pPr>
            <a:r>
              <a:rPr/>
              <a:t>I have done it using point-and-click tools (e.g., Excel or SPSS).</a:t>
            </a:r>
          </a:p>
          <a:p>
            <a:pPr lvl="0" indent="-342900" marL="342900">
              <a:buAutoNum type="alphaLcPeriod"/>
            </a:pPr>
            <a:r>
              <a:rPr/>
              <a:t>I have done it using code (e.g., in R or Python).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Moving forward: From Part I to Part II</a:t>
            </a:r>
          </a:p>
        </p:txBody>
      </p:sp>
      <p:sp>
        <p:nvSpPr>
          <p:cNvPr id="3" name="Content Placeholder 2"/>
          <p:cNvSpPr>
            <a:spLocks noGrp="1"/>
          </p:cNvSpPr>
          <p:nvPr>
            <p:ph idx="1"/>
          </p:nvPr>
        </p:nvSpPr>
        <p:spPr/>
        <p:txBody>
          <a:bodyPr/>
          <a:lstStyle/>
          <a:p>
            <a:pPr lvl="0"/>
            <a:r>
              <a:rPr b="1"/>
              <a:t>Part I (the basics)</a:t>
            </a:r>
            <a:r>
              <a:rPr/>
              <a:t>:</a:t>
            </a:r>
          </a:p>
          <a:p>
            <a:pPr lvl="1"/>
            <a:r>
              <a:rPr/>
              <a:t>R as a calculator</a:t>
            </a:r>
          </a:p>
          <a:p>
            <a:pPr lvl="1"/>
            <a:r>
              <a:rPr/>
              <a:t>Data types</a:t>
            </a:r>
          </a:p>
          <a:p>
            <a:pPr lvl="1"/>
            <a:r>
              <a:rPr/>
              <a:t>Basic functions</a:t>
            </a:r>
          </a:p>
          <a:p>
            <a:pPr lvl="1"/>
            <a:r>
              <a:rPr/>
              <a:t>Writing basic scripts</a:t>
            </a:r>
          </a:p>
          <a:p>
            <a:pPr lvl="0"/>
            <a:r>
              <a:rPr b="1"/>
              <a:t>Part II (the application)</a:t>
            </a:r>
            <a:r>
              <a:rPr/>
              <a:t>: Transitioning from calculating to analyzing</a:t>
            </a:r>
          </a:p>
          <a:p>
            <a:pPr lvl="1"/>
            <a:r>
              <a:rPr/>
              <a:t>Understanding where files are saved (</a:t>
            </a:r>
            <a:r>
              <a:rPr i="1"/>
              <a:t>working directories</a:t>
            </a:r>
            <a:r>
              <a:rPr/>
              <a:t>).</a:t>
            </a:r>
          </a:p>
          <a:p>
            <a:pPr lvl="1"/>
            <a:r>
              <a:rPr/>
              <a:t>Using tools built by others (</a:t>
            </a:r>
            <a:r>
              <a:rPr i="1"/>
              <a:t>packages</a:t>
            </a:r>
            <a:r>
              <a:rPr/>
              <a:t>).</a:t>
            </a:r>
          </a:p>
          <a:p>
            <a:pPr lvl="1"/>
            <a:r>
              <a:rPr/>
              <a:t>Bringing in real data (</a:t>
            </a:r>
            <a:r>
              <a:rPr i="1"/>
              <a:t>importing &amp; inspecting</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At the end of this session, you will be able to…</a:t>
            </a:r>
          </a:p>
          <a:p>
            <a:pPr lvl="0"/>
            <a:r>
              <a:rPr b="1"/>
              <a:t>Identify</a:t>
            </a:r>
            <a:r>
              <a:rPr/>
              <a:t> and </a:t>
            </a:r>
            <a:r>
              <a:rPr b="1"/>
              <a:t>set</a:t>
            </a:r>
            <a:r>
              <a:rPr/>
              <a:t> the correct working directory on your computer</a:t>
            </a:r>
          </a:p>
          <a:p>
            <a:pPr lvl="0"/>
            <a:r>
              <a:rPr b="1"/>
              <a:t>Install</a:t>
            </a:r>
            <a:r>
              <a:rPr/>
              <a:t> and </a:t>
            </a:r>
            <a:r>
              <a:rPr b="1"/>
              <a:t>load</a:t>
            </a:r>
            <a:r>
              <a:rPr/>
              <a:t> R packages to extend R’s functionality</a:t>
            </a:r>
          </a:p>
          <a:p>
            <a:pPr lvl="0"/>
            <a:r>
              <a:rPr b="1"/>
              <a:t>Import</a:t>
            </a:r>
            <a:r>
              <a:rPr/>
              <a:t> external data into the R environment</a:t>
            </a:r>
          </a:p>
          <a:p>
            <a:pPr lvl="0"/>
            <a:r>
              <a:rPr b="1"/>
              <a:t>Inspect</a:t>
            </a:r>
            <a:r>
              <a:rPr/>
              <a:t> data structures and </a:t>
            </a:r>
            <a:r>
              <a:rPr b="1"/>
              <a:t>extract</a:t>
            </a:r>
            <a:r>
              <a:rPr/>
              <a:t> specific columns</a:t>
            </a:r>
          </a:p>
          <a:p>
            <a:pPr lvl="0"/>
            <a:r>
              <a:rPr b="1"/>
              <a:t>Compute</a:t>
            </a:r>
            <a:r>
              <a:rPr/>
              <a:t> basic statistical summaries on a dataset</a:t>
            </a:r>
          </a:p>
          <a:p>
            <a:pPr lvl="0"/>
            <a:r>
              <a:rPr b="1"/>
              <a:t>Visualize</a:t>
            </a:r>
            <a:r>
              <a:rPr/>
              <a:t> data distributions using simple histograms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a:t>
            </a:r>
          </a:p>
        </p:txBody>
      </p:sp>
      <p:sp>
        <p:nvSpPr>
          <p:cNvPr id="3" name="Content Placeholder 2"/>
          <p:cNvSpPr>
            <a:spLocks noGrp="1"/>
          </p:cNvSpPr>
          <p:nvPr>
            <p:ph idx="1"/>
          </p:nvPr>
        </p:nvSpPr>
        <p:spPr/>
        <p:txBody>
          <a:bodyPr/>
          <a:lstStyle/>
          <a:p>
            <a:pPr lvl="0"/>
            <a:r>
              <a:rPr b="1"/>
              <a:t>Working directory</a:t>
            </a:r>
          </a:p>
          <a:p>
            <a:pPr lvl="0"/>
            <a:r>
              <a:rPr b="1"/>
              <a:t>Package</a:t>
            </a:r>
          </a:p>
          <a:p>
            <a:pPr lvl="0"/>
            <a:r>
              <a:rPr b="1"/>
              <a:t>Dataframe</a:t>
            </a:r>
          </a:p>
          <a:p>
            <a:pPr lvl="0"/>
            <a:r>
              <a:rPr b="1"/>
              <a:t>Subsetting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a:t>
            </a:r>
          </a:p>
        </p:txBody>
      </p:sp>
      <p:sp>
        <p:nvSpPr>
          <p:cNvPr id="3" name="Content Placeholder 2"/>
          <p:cNvSpPr>
            <a:spLocks noGrp="1"/>
          </p:cNvSpPr>
          <p:nvPr>
            <p:ph idx="1"/>
          </p:nvPr>
        </p:nvSpPr>
        <p:spPr/>
        <p:txBody>
          <a:bodyPr/>
          <a:lstStyle/>
          <a:p>
            <a:pPr lvl="0"/>
            <a:r>
              <a:rPr b="1"/>
              <a:t>Working directory</a:t>
            </a:r>
            <a:r>
              <a:rPr/>
              <a:t>: The default folder on your computer where R looks for files to read and where it saves your output.</a:t>
            </a:r>
          </a:p>
          <a:p>
            <a:pPr lvl="0"/>
            <a:r>
              <a:rPr b="1"/>
              <a:t>Package</a:t>
            </a:r>
            <a:r>
              <a:rPr/>
              <a:t>: A collection of additional R functions, data, and code that extends the basic capabilities of R.</a:t>
            </a:r>
          </a:p>
          <a:p>
            <a:pPr lvl="0"/>
            <a:r>
              <a:rPr b="1"/>
              <a:t>Dataframe</a:t>
            </a:r>
            <a:r>
              <a:rPr/>
              <a:t>: A table-like structure in R where rows represent observations and columns represent variables.</a:t>
            </a:r>
          </a:p>
          <a:p>
            <a:pPr lvl="0"/>
            <a:r>
              <a:rPr b="1"/>
              <a:t>Subsetting</a:t>
            </a:r>
            <a:r>
              <a:rPr/>
              <a:t>: The process of extracting a specific portion of a dataset, such as selecting specific columns or filtering rows.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working directory</a:t>
            </a:r>
          </a:p>
        </p:txBody>
      </p:sp>
      <p:pic>
        <p:nvPicPr>
          <p:cNvPr descr="images/folder-icon.png" id="0" name="Picture 1"/>
          <p:cNvPicPr>
            <a:picLocks noGrp="1" noChangeAspect="1"/>
          </p:cNvPicPr>
          <p:nvPr/>
        </p:nvPicPr>
        <p:blipFill>
          <a:blip r:embed="rId2"/>
          <a:stretch>
            <a:fillRect/>
          </a:stretch>
        </p:blipFill>
        <p:spPr bwMode="auto">
          <a:xfrm>
            <a:off x="2717800" y="1193800"/>
            <a:ext cx="37084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t>
            </a:r>
            <a:r>
              <a:rPr i="1"/>
              <a:t>is</a:t>
            </a:r>
            <a:r>
              <a:rPr/>
              <a:t> the working directory?</a:t>
            </a:r>
          </a:p>
        </p:txBody>
      </p:sp>
      <p:sp>
        <p:nvSpPr>
          <p:cNvPr id="3" name="Content Placeholder 2"/>
          <p:cNvSpPr>
            <a:spLocks noGrp="1"/>
          </p:cNvSpPr>
          <p:nvPr>
            <p:ph idx="1"/>
          </p:nvPr>
        </p:nvSpPr>
        <p:spPr/>
        <p:txBody>
          <a:bodyPr/>
          <a:lstStyle/>
          <a:p>
            <a:pPr lvl="0"/>
            <a:r>
              <a:rPr/>
              <a:t>The </a:t>
            </a:r>
            <a:r>
              <a:rPr b="1"/>
              <a:t>working directory (WD)</a:t>
            </a:r>
            <a:r>
              <a:rPr/>
              <a:t> is the default folder on your computer.</a:t>
            </a:r>
          </a:p>
          <a:p>
            <a:pPr lvl="1"/>
            <a:r>
              <a:rPr/>
              <a:t>It is the </a:t>
            </a:r>
            <a:r>
              <a:rPr i="1"/>
              <a:t>location where R looks for files to read</a:t>
            </a:r>
            <a:r>
              <a:rPr/>
              <a:t>.</a:t>
            </a:r>
          </a:p>
          <a:p>
            <a:pPr lvl="1"/>
            <a:r>
              <a:rPr/>
              <a:t>It is the </a:t>
            </a:r>
            <a:r>
              <a:rPr i="1"/>
              <a:t>location where R saves files</a:t>
            </a:r>
            <a:r>
              <a:rPr/>
              <a:t> you “produce” (e.g., plots, exported data).</a:t>
            </a:r>
          </a:p>
          <a:p>
            <a:pPr lvl="0"/>
            <a:r>
              <a:rPr b="1"/>
              <a:t>Rule:</a:t>
            </a:r>
            <a:r>
              <a:rPr/>
              <a:t> Always verify your working directory before beginning an analysis to get an idea in which environment you are in.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Setting the working directory (I)</a:t>
            </a:r>
          </a:p>
        </p:txBody>
      </p:sp>
      <p:sp>
        <p:nvSpPr>
          <p:cNvPr id="4" name="Text Placeholder 3"/>
          <p:cNvSpPr>
            <a:spLocks noGrp="1"/>
          </p:cNvSpPr>
          <p:nvPr>
            <p:ph idx="2" sz="half" type="body"/>
          </p:nvPr>
        </p:nvSpPr>
        <p:spPr/>
        <p:txBody>
          <a:bodyPr/>
          <a:lstStyle/>
          <a:p>
            <a:pPr lvl="0" indent="0" marL="1270000">
              <a:buNone/>
            </a:pPr>
            <a:r>
              <a:rPr sz="2000"/>
              <a:t>Method 1: Using the top menu bar in RStudio</a:t>
            </a:r>
          </a:p>
          <a:p>
            <a:pPr lvl="0" indent="-342900" marL="342900">
              <a:buAutoNum type="arabicPeriod"/>
            </a:pPr>
            <a:r>
              <a:rPr/>
              <a:t>Click </a:t>
            </a:r>
            <a:r>
              <a:rPr b="1"/>
              <a:t>Session</a:t>
            </a:r>
          </a:p>
          <a:p>
            <a:pPr lvl="0" indent="-342900" marL="342900">
              <a:buAutoNum type="arabicPeriod"/>
            </a:pPr>
            <a:r>
              <a:rPr/>
              <a:t>Hover over </a:t>
            </a:r>
            <a:r>
              <a:rPr b="1"/>
              <a:t>Set Working Directory</a:t>
            </a:r>
          </a:p>
          <a:p>
            <a:pPr lvl="0" indent="-342900" marL="342900">
              <a:buAutoNum type="arabicPeriod"/>
            </a:pPr>
            <a:r>
              <a:rPr/>
              <a:t>Select </a:t>
            </a:r>
            <a:r>
              <a:rPr b="1"/>
              <a:t>Choose Directory…</a:t>
            </a:r>
          </a:p>
          <a:p>
            <a:pPr lvl="0" indent="-342900" marL="342900">
              <a:buAutoNum type="arabicPeriod"/>
            </a:pPr>
            <a:r>
              <a:rPr/>
              <a:t>Navigate to your desired folder and click </a:t>
            </a:r>
            <a:r>
              <a:rPr b="1"/>
              <a:t>Open</a:t>
            </a:r>
            <a:r>
              <a:rPr/>
              <a:t>.</a:t>
            </a:r>
          </a:p>
        </p:txBody>
      </p:sp>
      <p:pic>
        <p:nvPicPr>
          <p:cNvPr descr="images/wd_session_menu.png" id="0" name="Picture 1"/>
          <p:cNvPicPr>
            <a:picLocks noGrp="1" noChangeAspect="1"/>
          </p:cNvPicPr>
          <p:nvPr/>
        </p:nvPicPr>
        <p:blipFill>
          <a:blip r:embed="rId2"/>
          <a:stretch>
            <a:fillRect/>
          </a:stretch>
        </p:blipFill>
        <p:spPr bwMode="auto">
          <a:xfrm>
            <a:off x="3568700" y="990600"/>
            <a:ext cx="5105400" cy="28194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Open RStudio on your own machines</a:t>
            </a:r>
            <a:r>
              <a:rPr/>
              <a:t>. We will use it for later exercises.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Setting the working directory (II)</a:t>
            </a:r>
          </a:p>
        </p:txBody>
      </p:sp>
      <p:sp>
        <p:nvSpPr>
          <p:cNvPr id="4" name="Text Placeholder 3"/>
          <p:cNvSpPr>
            <a:spLocks noGrp="1"/>
          </p:cNvSpPr>
          <p:nvPr>
            <p:ph idx="2" sz="half" type="body"/>
          </p:nvPr>
        </p:nvSpPr>
        <p:spPr/>
        <p:txBody>
          <a:bodyPr/>
          <a:lstStyle/>
          <a:p>
            <a:pPr lvl="0" indent="0" marL="1270000">
              <a:buNone/>
            </a:pPr>
            <a:r>
              <a:rPr sz="2000"/>
              <a:t>Method 2: Using the output pane (bottom right in default RStudio layout)</a:t>
            </a:r>
          </a:p>
          <a:p>
            <a:pPr lvl="0" indent="-342900" marL="342900">
              <a:buAutoNum type="arabicPeriod"/>
            </a:pPr>
            <a:r>
              <a:rPr/>
              <a:t>Navigate to your desired folder in the </a:t>
            </a:r>
            <a:r>
              <a:rPr b="1"/>
              <a:t>output</a:t>
            </a:r>
            <a:r>
              <a:rPr/>
              <a:t> pane.</a:t>
            </a:r>
          </a:p>
          <a:p>
            <a:pPr lvl="0" indent="-342900" marL="342900">
              <a:buAutoNum type="arabicPeriod"/>
            </a:pPr>
            <a:r>
              <a:rPr/>
              <a:t>Click the </a:t>
            </a:r>
            <a:r>
              <a:rPr b="1"/>
              <a:t>More</a:t>
            </a:r>
            <a:r>
              <a:rPr/>
              <a:t> button (gear icon).</a:t>
            </a:r>
          </a:p>
          <a:p>
            <a:pPr lvl="0" indent="-342900" marL="342900">
              <a:buAutoNum type="arabicPeriod"/>
            </a:pPr>
            <a:r>
              <a:rPr/>
              <a:t>Select </a:t>
            </a:r>
            <a:r>
              <a:rPr b="1"/>
              <a:t>Set As Working Directory</a:t>
            </a:r>
            <a:r>
              <a:rPr/>
              <a:t>.</a:t>
            </a:r>
          </a:p>
        </p:txBody>
      </p:sp>
      <p:pic>
        <p:nvPicPr>
          <p:cNvPr descr="images/wd_files_pane.png" id="0" name="Picture 1"/>
          <p:cNvPicPr>
            <a:picLocks noGrp="1" noChangeAspect="1"/>
          </p:cNvPicPr>
          <p:nvPr/>
        </p:nvPicPr>
        <p:blipFill>
          <a:blip r:embed="rId3"/>
          <a:stretch>
            <a:fillRect/>
          </a:stretch>
        </p:blipFill>
        <p:spPr bwMode="auto">
          <a:xfrm>
            <a:off x="3568700" y="1168400"/>
            <a:ext cx="5105400" cy="24384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Checking the working directory</a:t>
            </a:r>
          </a:p>
        </p:txBody>
      </p:sp>
      <p:sp>
        <p:nvSpPr>
          <p:cNvPr id="4" name="Text Placeholder 3"/>
          <p:cNvSpPr>
            <a:spLocks noGrp="1"/>
          </p:cNvSpPr>
          <p:nvPr>
            <p:ph idx="2" sz="half" type="body"/>
          </p:nvPr>
        </p:nvSpPr>
        <p:spPr/>
        <p:txBody>
          <a:bodyPr/>
          <a:lstStyle/>
          <a:p>
            <a:pPr lvl="0" indent="0" marL="0">
              <a:buNone/>
            </a:pPr>
            <a:r>
              <a:rPr/>
              <a:t>Verify the current working directory by looking at the top of the </a:t>
            </a:r>
            <a:r>
              <a:rPr b="1"/>
              <a:t>console</a:t>
            </a:r>
            <a:r>
              <a:rPr/>
              <a:t> pane (bottom left):</a:t>
            </a:r>
          </a:p>
        </p:txBody>
      </p:sp>
      <p:pic>
        <p:nvPicPr>
          <p:cNvPr descr="images/wd_console_top.png" id="0" name="Picture 1"/>
          <p:cNvPicPr>
            <a:picLocks noGrp="1" noChangeAspect="1"/>
          </p:cNvPicPr>
          <p:nvPr/>
        </p:nvPicPr>
        <p:blipFill>
          <a:blip r:embed="rId2"/>
          <a:stretch>
            <a:fillRect/>
          </a:stretch>
        </p:blipFill>
        <p:spPr bwMode="auto">
          <a:xfrm>
            <a:off x="3568700" y="1257300"/>
            <a:ext cx="5105400" cy="22606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Tip</a:t>
            </a:r>
          </a:p>
          <a:p>
            <a:pPr lvl="0" indent="0" marL="1270000">
              <a:buNone/>
            </a:pPr>
            <a:r>
              <a:rPr sz="2000"/>
              <a:t>Alternatively, type </a:t>
            </a:r>
            <a:r>
              <a:rPr sz="2000">
                <a:latin typeface="Courier"/>
              </a:rPr>
              <a:t>getwd()</a:t>
            </a:r>
            <a:r>
              <a:rPr sz="2000"/>
              <a:t> in the console and press Enter to print the exact working directory path.</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1</a:t>
            </a:r>
          </a:p>
        </p:txBody>
      </p:sp>
      <p:sp>
        <p:nvSpPr>
          <p:cNvPr id="3" name="Content Placeholder 2"/>
          <p:cNvSpPr>
            <a:spLocks noGrp="1"/>
          </p:cNvSpPr>
          <p:nvPr>
            <p:ph idx="1"/>
          </p:nvPr>
        </p:nvSpPr>
        <p:spPr/>
        <p:txBody>
          <a:bodyPr/>
          <a:lstStyle/>
          <a:p>
            <a:pPr lvl="0" indent="0" marL="0">
              <a:buNone/>
            </a:pPr>
            <a:r>
              <a:rPr b="1"/>
              <a:t>Setting the working directory</a:t>
            </a:r>
          </a:p>
          <a:p>
            <a:pPr lvl="0"/>
            <a:r>
              <a:rPr/>
              <a:t>☐ Generate a new folder for this session’s files</a:t>
            </a:r>
          </a:p>
          <a:p>
            <a:pPr lvl="0"/>
            <a:r>
              <a:rPr/>
              <a:t>☐ Open RStudio</a:t>
            </a:r>
          </a:p>
          <a:p>
            <a:pPr lvl="0"/>
            <a:r>
              <a:rPr/>
              <a:t>☐ In RStudio, set the new folder as your working directory using </a:t>
            </a:r>
            <a:r>
              <a:rPr i="1"/>
              <a:t>either</a:t>
            </a:r>
            <a:r>
              <a:rPr/>
              <a:t> Method 1 or Method 2</a:t>
            </a:r>
          </a:p>
          <a:p>
            <a:pPr lvl="0"/>
            <a:r>
              <a:rPr/>
              <a:t>☐ Verify that the correct path is displayed at the top of your console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Packages</a:t>
            </a:r>
          </a:p>
        </p:txBody>
      </p:sp>
      <p:pic>
        <p:nvPicPr>
          <p:cNvPr descr="images/packages.png" id="0" name="Picture 1"/>
          <p:cNvPicPr>
            <a:picLocks noGrp="1" noChangeAspect="1"/>
          </p:cNvPicPr>
          <p:nvPr/>
        </p:nvPicPr>
        <p:blipFill>
          <a:blip r:embed="rId2"/>
          <a:stretch>
            <a:fillRect/>
          </a:stretch>
        </p:blipFill>
        <p:spPr bwMode="auto">
          <a:xfrm>
            <a:off x="2832100" y="1193800"/>
            <a:ext cx="34671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packages?</a:t>
            </a:r>
          </a:p>
        </p:txBody>
      </p:sp>
      <p:sp>
        <p:nvSpPr>
          <p:cNvPr id="3" name="Content Placeholder 2"/>
          <p:cNvSpPr>
            <a:spLocks noGrp="1"/>
          </p:cNvSpPr>
          <p:nvPr>
            <p:ph idx="1"/>
          </p:nvPr>
        </p:nvSpPr>
        <p:spPr/>
        <p:txBody>
          <a:bodyPr/>
          <a:lstStyle/>
          <a:p>
            <a:pPr lvl="0"/>
            <a:r>
              <a:rPr/>
              <a:t>R comes with many built-in functions (</a:t>
            </a:r>
            <a:r>
              <a:rPr b="1"/>
              <a:t>Base R</a:t>
            </a:r>
            <a:r>
              <a:rPr/>
              <a:t>)</a:t>
            </a:r>
          </a:p>
          <a:p>
            <a:pPr lvl="0"/>
            <a:r>
              <a:rPr b="1"/>
              <a:t>Packages</a:t>
            </a:r>
            <a:r>
              <a:rPr/>
              <a:t> provide thousands of additional, specialized functions</a:t>
            </a:r>
          </a:p>
          <a:p>
            <a:pPr lvl="0"/>
            <a:r>
              <a:rPr/>
              <a:t>They are created and shared by the R community to extend functionality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Installing packages</a:t>
            </a:r>
          </a:p>
        </p:txBody>
      </p:sp>
      <p:sp>
        <p:nvSpPr>
          <p:cNvPr id="4" name="Text Placeholder 3"/>
          <p:cNvSpPr>
            <a:spLocks noGrp="1"/>
          </p:cNvSpPr>
          <p:nvPr>
            <p:ph idx="2" sz="half" type="body"/>
          </p:nvPr>
        </p:nvSpPr>
        <p:spPr/>
        <p:txBody>
          <a:bodyPr/>
          <a:lstStyle/>
          <a:p>
            <a:pPr lvl="0"/>
            <a:r>
              <a:rPr/>
              <a:t>Packages must be </a:t>
            </a:r>
            <a:r>
              <a:rPr b="1"/>
              <a:t>installed once</a:t>
            </a:r>
            <a:r>
              <a:rPr/>
              <a:t> (</a:t>
            </a:r>
            <a:r>
              <a:rPr i="1"/>
              <a:t>or after updating R</a:t>
            </a:r>
            <a:r>
              <a:rPr/>
              <a:t>).</a:t>
            </a:r>
          </a:p>
          <a:p>
            <a:pPr lvl="0"/>
            <a:r>
              <a:rPr/>
              <a:t>Use the </a:t>
            </a:r>
            <a:r>
              <a:rPr>
                <a:latin typeface="Courier"/>
              </a:rPr>
              <a:t>install.packages()</a:t>
            </a:r>
            <a:r>
              <a:rPr/>
              <a:t> function. The package name must be in quotation marks.</a:t>
            </a:r>
          </a:p>
          <a:p>
            <a:pPr lvl="0" indent="0">
              <a:buNone/>
            </a:pPr>
            <a:r>
              <a:rPr>
                <a:solidFill>
                  <a:srgbClr val="4758AB"/>
                </a:solidFill>
                <a:latin typeface="Courier"/>
              </a:rPr>
              <a:t>install.packages</a:t>
            </a:r>
            <a:r>
              <a:rPr>
                <a:solidFill>
                  <a:srgbClr val="003B4F"/>
                </a:solidFill>
                <a:latin typeface="Courier"/>
              </a:rPr>
              <a:t>(</a:t>
            </a:r>
            <a:r>
              <a:rPr>
                <a:solidFill>
                  <a:srgbClr val="20794D"/>
                </a:solidFill>
                <a:latin typeface="Courier"/>
              </a:rPr>
              <a:t>"haven"</a:t>
            </a:r>
            <a:r>
              <a:rPr>
                <a:solidFill>
                  <a:srgbClr val="003B4F"/>
                </a:solidFill>
                <a:latin typeface="Courier"/>
              </a:rPr>
              <a:t>)</a:t>
            </a:r>
          </a:p>
          <a:p>
            <a:pPr lvl="0"/>
            <a:r>
              <a:rPr/>
              <a:t>Alternatively: Use the </a:t>
            </a:r>
            <a:r>
              <a:rPr b="1"/>
              <a:t>Packages</a:t>
            </a:r>
            <a:r>
              <a:rPr/>
              <a:t> tab in the </a:t>
            </a:r>
            <a:r>
              <a:rPr b="1"/>
              <a:t>output</a:t>
            </a:r>
            <a:r>
              <a:rPr/>
              <a:t> pane (bottom right) of RStudio and click </a:t>
            </a:r>
            <a:r>
              <a:rPr b="1"/>
              <a:t>Install</a:t>
            </a:r>
            <a:r>
              <a:rPr/>
              <a:t>.</a:t>
            </a:r>
          </a:p>
        </p:txBody>
      </p:sp>
      <p:pic>
        <p:nvPicPr>
          <p:cNvPr descr="images/packages_install_pane.png" id="0" name="Picture 1"/>
          <p:cNvPicPr>
            <a:picLocks noGrp="1" noChangeAspect="1"/>
          </p:cNvPicPr>
          <p:nvPr/>
        </p:nvPicPr>
        <p:blipFill>
          <a:blip r:embed="rId3"/>
          <a:stretch>
            <a:fillRect/>
          </a:stretch>
        </p:blipFill>
        <p:spPr bwMode="auto">
          <a:xfrm>
            <a:off x="3568700" y="1181100"/>
            <a:ext cx="5105400" cy="24130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Loading packages</a:t>
            </a:r>
          </a:p>
        </p:txBody>
      </p:sp>
      <p:sp>
        <p:nvSpPr>
          <p:cNvPr id="3" name="Content Placeholder 2"/>
          <p:cNvSpPr>
            <a:spLocks noGrp="1"/>
          </p:cNvSpPr>
          <p:nvPr>
            <p:ph idx="1"/>
          </p:nvPr>
        </p:nvSpPr>
        <p:spPr/>
        <p:txBody>
          <a:bodyPr/>
          <a:lstStyle/>
          <a:p>
            <a:pPr lvl="0"/>
            <a:r>
              <a:rPr/>
              <a:t>Once installed, a package must be </a:t>
            </a:r>
            <a:r>
              <a:rPr b="1"/>
              <a:t>loaded every time</a:t>
            </a:r>
            <a:r>
              <a:rPr/>
              <a:t> you open a new R session.</a:t>
            </a:r>
          </a:p>
          <a:p>
            <a:pPr lvl="0"/>
            <a:r>
              <a:rPr/>
              <a:t>Use the </a:t>
            </a:r>
            <a:r>
              <a:rPr>
                <a:latin typeface="Courier"/>
              </a:rPr>
              <a:t>library()</a:t>
            </a:r>
            <a:r>
              <a:rPr/>
              <a:t> function. Quotation marks are not required here.</a:t>
            </a:r>
          </a:p>
          <a:p>
            <a:pPr lvl="0" indent="0">
              <a:buNone/>
            </a:pPr>
            <a:r>
              <a:rPr>
                <a:solidFill>
                  <a:srgbClr val="4758AB"/>
                </a:solidFill>
                <a:latin typeface="Courier"/>
              </a:rPr>
              <a:t>library</a:t>
            </a:r>
            <a:r>
              <a:rPr>
                <a:solidFill>
                  <a:srgbClr val="003B4F"/>
                </a:solidFill>
                <a:latin typeface="Courier"/>
              </a:rPr>
              <a:t>(haven)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2</a:t>
            </a:r>
          </a:p>
        </p:txBody>
      </p:sp>
      <p:sp>
        <p:nvSpPr>
          <p:cNvPr id="3" name="Content Placeholder 2"/>
          <p:cNvSpPr>
            <a:spLocks noGrp="1"/>
          </p:cNvSpPr>
          <p:nvPr>
            <p:ph idx="1"/>
          </p:nvPr>
        </p:nvSpPr>
        <p:spPr/>
        <p:txBody>
          <a:bodyPr/>
          <a:lstStyle/>
          <a:p>
            <a:pPr lvl="0" indent="0" marL="0">
              <a:buNone/>
            </a:pPr>
            <a:r>
              <a:rPr b="1"/>
              <a:t>Packages</a:t>
            </a:r>
          </a:p>
          <a:p>
            <a:pPr lvl="0"/>
            <a:r>
              <a:rPr/>
              <a:t>☐ In your working directory, create a new R Script with </a:t>
            </a:r>
            <a:r>
              <a:rPr>
                <a:latin typeface="Courier"/>
              </a:rPr>
              <a:t>File &gt; New File &gt; R SCript</a:t>
            </a:r>
          </a:p>
          <a:p>
            <a:pPr lvl="0"/>
            <a:r>
              <a:rPr/>
              <a:t>☐ Install the package </a:t>
            </a:r>
            <a:r>
              <a:rPr>
                <a:latin typeface="Courier"/>
              </a:rPr>
              <a:t>haven</a:t>
            </a:r>
            <a:r>
              <a:rPr/>
              <a:t>. This package is useful for reading in data files from other software like SPSS, Stata, and SAS.</a:t>
            </a:r>
          </a:p>
          <a:p>
            <a:pPr lvl="0"/>
            <a:r>
              <a:rPr/>
              <a:t>☐ Load the package </a:t>
            </a:r>
            <a:r>
              <a:rPr>
                <a:latin typeface="Courier"/>
              </a:rPr>
              <a:t>haven</a:t>
            </a:r>
            <a:r>
              <a:rPr/>
              <a:t> so it is ready to use in your current session.</a:t>
            </a:r>
          </a:p>
          <a:p>
            <a:pPr lvl="0"/>
            <a:r>
              <a:rPr/>
              <a:t>☐ Add the command to install and load the package to your R script.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2: Solution</a:t>
            </a:r>
          </a:p>
        </p:txBody>
      </p:sp>
      <p:sp>
        <p:nvSpPr>
          <p:cNvPr id="3" name="Content Placeholder 2"/>
          <p:cNvSpPr>
            <a:spLocks noGrp="1"/>
          </p:cNvSpPr>
          <p:nvPr>
            <p:ph idx="1"/>
          </p:nvPr>
        </p:nvSpPr>
        <p:spPr/>
        <p:txBody>
          <a:bodyPr/>
          <a:lstStyle/>
          <a:p>
            <a:pPr lvl="0" indent="0" marL="0">
              <a:buNone/>
            </a:pPr>
            <a:r>
              <a:rPr/>
              <a:t>This is what you should add to your R script:</a:t>
            </a:r>
          </a:p>
          <a:p>
            <a:pPr lvl="0" indent="0">
              <a:buNone/>
            </a:pPr>
            <a:r>
              <a:rPr>
                <a:solidFill>
                  <a:srgbClr val="5E5E5E"/>
                </a:solidFill>
                <a:latin typeface="Courier"/>
              </a:rPr>
              <a:t># 1. Install the package (run only once)</a:t>
            </a:r>
            <a:br/>
            <a:r>
              <a:rPr>
                <a:solidFill>
                  <a:srgbClr val="4758AB"/>
                </a:solidFill>
                <a:latin typeface="Courier"/>
              </a:rPr>
              <a:t>install.packages</a:t>
            </a:r>
            <a:r>
              <a:rPr>
                <a:solidFill>
                  <a:srgbClr val="003B4F"/>
                </a:solidFill>
                <a:latin typeface="Courier"/>
              </a:rPr>
              <a:t>(</a:t>
            </a:r>
            <a:r>
              <a:rPr>
                <a:solidFill>
                  <a:srgbClr val="20794D"/>
                </a:solidFill>
                <a:latin typeface="Courier"/>
              </a:rPr>
              <a:t>"haven"</a:t>
            </a:r>
            <a:r>
              <a:rPr>
                <a:solidFill>
                  <a:srgbClr val="003B4F"/>
                </a:solidFill>
                <a:latin typeface="Courier"/>
              </a:rPr>
              <a:t>)</a:t>
            </a:r>
            <a:br/>
            <a:br/>
            <a:r>
              <a:rPr>
                <a:solidFill>
                  <a:srgbClr val="5E5E5E"/>
                </a:solidFill>
                <a:latin typeface="Courier"/>
              </a:rPr>
              <a:t># 2. Load the package (run every session)</a:t>
            </a:r>
            <a:br/>
            <a:r>
              <a:rPr>
                <a:solidFill>
                  <a:srgbClr val="4758AB"/>
                </a:solidFill>
                <a:latin typeface="Courier"/>
              </a:rPr>
              <a:t>library</a:t>
            </a:r>
            <a:r>
              <a:rPr>
                <a:solidFill>
                  <a:srgbClr val="003B4F"/>
                </a:solidFill>
                <a:latin typeface="Courier"/>
              </a:rPr>
              <a:t>(haven)</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Getting started with data</a:t>
            </a:r>
          </a:p>
        </p:txBody>
      </p:sp>
      <p:pic>
        <p:nvPicPr>
          <p:cNvPr descr="images/data-icon.png" id="0" name="Picture 1"/>
          <p:cNvPicPr>
            <a:picLocks noGrp="1" noChangeAspect="1"/>
          </p:cNvPicPr>
          <p:nvPr/>
        </p:nvPicPr>
        <p:blipFill>
          <a:blip r:embed="rId2"/>
          <a:stretch>
            <a:fillRect/>
          </a:stretch>
        </p:blipFill>
        <p:spPr bwMode="auto">
          <a:xfrm>
            <a:off x="2781300" y="1193800"/>
            <a:ext cx="35687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Preparation to work with data</a:t>
            </a:r>
          </a:p>
        </p:txBody>
      </p:sp>
      <p:sp>
        <p:nvSpPr>
          <p:cNvPr id="3" name="Content Placeholder 2"/>
          <p:cNvSpPr>
            <a:spLocks noGrp="1"/>
          </p:cNvSpPr>
          <p:nvPr>
            <p:ph idx="1"/>
          </p:nvPr>
        </p:nvSpPr>
        <p:spPr/>
        <p:txBody>
          <a:bodyPr/>
          <a:lstStyle/>
          <a:p>
            <a:pPr lvl="0"/>
            <a:r>
              <a:rPr/>
              <a:t>To start analyzing data, we first need to download it to our local machine.</a:t>
            </a:r>
          </a:p>
          <a:p>
            <a:pPr lvl="0"/>
            <a:r>
              <a:rPr/>
              <a:t>Click </a:t>
            </a:r>
            <a:r>
              <a:rPr b="1">
                <a:hlinkClick r:id="rId3"/>
              </a:rPr>
              <a:t>here</a:t>
            </a:r>
            <a:r>
              <a:rPr/>
              <a:t> to download the </a:t>
            </a:r>
            <a:r>
              <a:rPr>
                <a:latin typeface="Courier"/>
              </a:rPr>
              <a:t>characters.rds</a:t>
            </a:r>
            <a:r>
              <a:rPr/>
              <a:t> file use the link below.</a:t>
            </a:r>
          </a:p>
          <a:p>
            <a:pPr lvl="0" indent="0" marL="0">
              <a:buNone/>
            </a:pPr>
            <a:r>
              <a:rPr>
                <a:hlinkClick r:id="rId4"/>
              </a:rPr>
              <a:t>https://github.com/nickhaf/r_tutorial/tree/main/raw_data</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3</a:t>
            </a:r>
          </a:p>
        </p:txBody>
      </p:sp>
      <p:sp>
        <p:nvSpPr>
          <p:cNvPr id="3" name="Content Placeholder 2"/>
          <p:cNvSpPr>
            <a:spLocks noGrp="1"/>
          </p:cNvSpPr>
          <p:nvPr>
            <p:ph idx="1"/>
          </p:nvPr>
        </p:nvSpPr>
        <p:spPr/>
        <p:txBody>
          <a:bodyPr/>
          <a:lstStyle/>
          <a:p>
            <a:pPr lvl="0" indent="0" marL="0">
              <a:buNone/>
            </a:pPr>
            <a:r>
              <a:rPr b="1"/>
              <a:t>Setting up the data</a:t>
            </a:r>
          </a:p>
          <a:p>
            <a:pPr lvl="0"/>
            <a:r>
              <a:rPr/>
              <a:t>☐ Download the dataset </a:t>
            </a:r>
            <a:r>
              <a:rPr>
                <a:latin typeface="Courier"/>
              </a:rPr>
              <a:t>characters.rds</a:t>
            </a:r>
            <a:r>
              <a:rPr/>
              <a:t> using the link from the previous slide or click </a:t>
            </a:r>
            <a:r>
              <a:rPr>
                <a:hlinkClick r:id="rId3"/>
              </a:rPr>
              <a:t>here</a:t>
            </a:r>
          </a:p>
          <a:p>
            <a:pPr lvl="0"/>
            <a:r>
              <a:rPr/>
              <a:t>☐ Move the dataset into </a:t>
            </a:r>
            <a:r>
              <a:rPr b="1"/>
              <a:t>your working directory</a:t>
            </a:r>
          </a:p>
          <a:p>
            <a:pPr lvl="0"/>
            <a:r>
              <a:rPr/>
              <a:t>☐ Verify your working directory once more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Loading data into R</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Once your </a:t>
                </a:r>
                <a:r>
                  <a:rPr b="1"/>
                  <a:t>working directory is set</a:t>
                </a:r>
                <a:r>
                  <a:rPr/>
                  <a:t>, you can </a:t>
                </a:r>
                <a:r>
                  <a:rPr b="1"/>
                  <a:t>load your data</a:t>
                </a:r>
                <a:r>
                  <a:rPr/>
                  <a:t> into RStudio. Check the file extension:</a:t>
                </a:r>
              </a:p>
              <a:p>
                <a:pPr lvl="0"/>
                <a:r>
                  <a:rPr b="1">
                    <a:latin typeface="Courier"/>
                  </a:rPr>
                  <a:t>.rds</a:t>
                </a:r>
                <a:r>
                  <a:rPr b="1"/>
                  <a:t> files:</a:t>
                </a:r>
                <a:r>
                  <a:rPr/>
                  <a:t> R’s native data format. We use the </a:t>
                </a:r>
                <a:r>
                  <a:rPr>
                    <a:latin typeface="Courier"/>
                  </a:rPr>
                  <a:t>readRDS()</a:t>
                </a:r>
                <a:r>
                  <a:rPr/>
                  <a:t> function to load them.</a:t>
                </a:r>
              </a:p>
              <a:p>
                <a:pPr lvl="0"/>
                <a:r>
                  <a:rPr b="1">
                    <a:latin typeface="Courier"/>
                  </a:rPr>
                  <a:t>.csv</a:t>
                </a:r>
                <a:r>
                  <a:rPr b="1"/>
                  <a:t> files:</a:t>
                </a:r>
                <a:r>
                  <a:rPr/>
                  <a:t> The most common text-based data format. Usually loaded with functions from the </a:t>
                </a:r>
                <a:r>
                  <a:rPr>
                    <a:latin typeface="Courier"/>
                  </a:rPr>
                  <a:t>readr</a:t>
                </a:r>
                <a:r>
                  <a:rPr/>
                  <a:t> package.</a:t>
                </a:r>
              </a:p>
              <a:p>
                <a:pPr lvl="0"/>
                <a:r>
                  <a:rPr b="1"/>
                  <a:t>Other formats (SPSS, Excel, SAS):</a:t>
                </a:r>
                <a:r>
                  <a:rPr/>
                  <a:t> Require specific packages (e.g., the </a:t>
                </a:r>
                <a:r>
                  <a:rPr>
                    <a:latin typeface="Courier"/>
                  </a:rPr>
                  <a:t>haven</a:t>
                </a:r>
                <a:r>
                  <a:rPr/>
                  <a:t> package you installed earlier!).</a:t>
                </a:r>
              </a:p>
              <a:p>
                <a:pPr lvl="0" indent="0" marL="1270000">
                  <a:buNone/>
                </a:pPr>
                <a:r>
                  <a:rPr sz="2000" b="1"/>
                  <a:t>Point-and-Click Import</a:t>
                </a:r>
              </a:p>
              <a:p>
                <a:pPr lvl="0" indent="0" marL="1270000">
                  <a:buNone/>
                </a:pPr>
                <a:r>
                  <a:rPr sz="2000"/>
                  <a:t>You don’t always have to write the code from scratch! You can go to </a:t>
                </a:r>
                <a:r>
                  <a:rPr sz="2000" b="1"/>
                  <a:t>File </a:t>
                </a:r>
                <a14:m>
                  <m:oMath xmlns:m="http://schemas.openxmlformats.org/officeDocument/2006/math">
                    <m:r>
                      <m:rPr>
                        <m:sty m:val="p"/>
                      </m:rPr>
                      <m:t>→</m:t>
                    </m:r>
                  </m:oMath>
                </a14:m>
                <a:r>
                  <a:rPr sz="2000" b="1"/>
                  <a:t> Import Dataset</a:t>
                </a:r>
                <a:r>
                  <a:rPr sz="2000"/>
                  <a:t> in the top menu to point-and-click your way through the import process. RStudio will even generate the correct code for you.</a:t>
                </a:r>
              </a:p>
            </p:txBody>
          </p:sp>
        </mc:Choice>
      </mc:AlternateContent>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4</a:t>
            </a:r>
          </a:p>
        </p:txBody>
      </p:sp>
      <p:sp>
        <p:nvSpPr>
          <p:cNvPr id="3" name="Content Placeholder 2"/>
          <p:cNvSpPr>
            <a:spLocks noGrp="1"/>
          </p:cNvSpPr>
          <p:nvPr>
            <p:ph idx="1"/>
          </p:nvPr>
        </p:nvSpPr>
        <p:spPr/>
        <p:txBody>
          <a:bodyPr/>
          <a:lstStyle/>
          <a:p>
            <a:pPr lvl="0" indent="0" marL="0">
              <a:buNone/>
            </a:pPr>
            <a:r>
              <a:rPr b="1"/>
              <a:t>Loading the data</a:t>
            </a:r>
          </a:p>
          <a:p>
            <a:pPr lvl="0"/>
            <a:r>
              <a:rPr/>
              <a:t>☐ In your R script, create a new section using a comment (e.g., </a:t>
            </a:r>
            <a:r>
              <a:rPr>
                <a:latin typeface="Courier"/>
              </a:rPr>
              <a:t># Loading Data</a:t>
            </a:r>
            <a:r>
              <a:rPr/>
              <a:t>).</a:t>
            </a:r>
          </a:p>
          <a:p>
            <a:pPr lvl="0"/>
            <a:r>
              <a:rPr/>
              <a:t>☐ Use the </a:t>
            </a:r>
            <a:r>
              <a:rPr>
                <a:latin typeface="Courier"/>
              </a:rPr>
              <a:t>readRDS()</a:t>
            </a:r>
            <a:r>
              <a:rPr/>
              <a:t> function to read the </a:t>
            </a:r>
            <a:r>
              <a:rPr>
                <a:latin typeface="Courier"/>
              </a:rPr>
              <a:t>characters.rds</a:t>
            </a:r>
            <a:r>
              <a:rPr/>
              <a:t> file. Remember to put the file name in quotation marks!</a:t>
            </a:r>
          </a:p>
          <a:p>
            <a:pPr lvl="0"/>
            <a:r>
              <a:rPr/>
              <a:t>☐ </a:t>
            </a:r>
            <a:r>
              <a:rPr b="1"/>
              <a:t>Assign</a:t>
            </a:r>
            <a:r>
              <a:rPr/>
              <a:t> the output of this function to a new object called </a:t>
            </a:r>
            <a:r>
              <a:rPr>
                <a:latin typeface="Courier"/>
              </a:rPr>
              <a:t>characters</a:t>
            </a:r>
            <a:r>
              <a:rPr/>
              <a:t>.</a:t>
            </a:r>
          </a:p>
          <a:p>
            <a:pPr lvl="0"/>
            <a:r>
              <a:rPr/>
              <a:t>☐ Run the code and check your Environment pane.</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4: Solutions</a:t>
            </a:r>
          </a:p>
        </p:txBody>
      </p:sp>
      <p:sp>
        <p:nvSpPr>
          <p:cNvPr id="3" name="Content Placeholder 2"/>
          <p:cNvSpPr>
            <a:spLocks noGrp="1"/>
          </p:cNvSpPr>
          <p:nvPr>
            <p:ph idx="1"/>
          </p:nvPr>
        </p:nvSpPr>
        <p:spPr/>
        <p:txBody>
          <a:bodyPr/>
          <a:lstStyle/>
          <a:p>
            <a:pPr lvl="0" indent="0" marL="0">
              <a:buNone/>
            </a:pPr>
            <a:r>
              <a:rPr/>
              <a:t>This is what you should add to your R script:</a:t>
            </a:r>
          </a:p>
          <a:p>
            <a:pPr lvl="0" indent="0">
              <a:buNone/>
            </a:pPr>
            <a:r>
              <a:rPr>
                <a:solidFill>
                  <a:srgbClr val="5E5E5E"/>
                </a:solidFill>
                <a:latin typeface="Courier"/>
              </a:rPr>
              <a:t># Loading Data</a:t>
            </a:r>
            <a:br/>
            <a:r>
              <a:rPr>
                <a:solidFill>
                  <a:srgbClr val="003B4F"/>
                </a:solidFill>
                <a:latin typeface="Courier"/>
              </a:rPr>
              <a:t>characters &lt;- </a:t>
            </a:r>
            <a:r>
              <a:rPr>
                <a:solidFill>
                  <a:srgbClr val="4758AB"/>
                </a:solidFill>
                <a:latin typeface="Courier"/>
              </a:rPr>
              <a:t>readRDS</a:t>
            </a:r>
            <a:r>
              <a:rPr>
                <a:solidFill>
                  <a:srgbClr val="003B4F"/>
                </a:solidFill>
                <a:latin typeface="Courier"/>
              </a:rPr>
              <a:t>(</a:t>
            </a:r>
            <a:r>
              <a:rPr>
                <a:solidFill>
                  <a:srgbClr val="20794D"/>
                </a:solidFill>
                <a:latin typeface="Courier"/>
              </a:rPr>
              <a:t>"characters.rds"</a:t>
            </a:r>
            <a:r>
              <a:rPr>
                <a:solidFill>
                  <a:srgbClr val="003B4F"/>
                </a:solidFill>
                <a:latin typeface="Courier"/>
              </a:rPr>
              <a: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Inspecting data structures</a:t>
            </a:r>
          </a:p>
        </p:txBody>
      </p:sp>
      <p:sp>
        <p:nvSpPr>
          <p:cNvPr id="3" name="Content Placeholder 2"/>
          <p:cNvSpPr>
            <a:spLocks noGrp="1"/>
          </p:cNvSpPr>
          <p:nvPr>
            <p:ph idx="1"/>
          </p:nvPr>
        </p:nvSpPr>
        <p:spPr/>
        <p:txBody>
          <a:bodyPr/>
          <a:lstStyle/>
          <a:p>
            <a:pPr lvl="0" indent="0" marL="0">
              <a:buNone/>
            </a:pPr>
            <a:r>
              <a:rPr/>
              <a:t>Before analyzing data, you must </a:t>
            </a:r>
            <a:r>
              <a:rPr b="1"/>
              <a:t>familiarize yourself</a:t>
            </a:r>
            <a:r>
              <a:rPr/>
              <a:t> with its </a:t>
            </a:r>
            <a:r>
              <a:rPr b="1"/>
              <a:t>structure</a:t>
            </a:r>
            <a:r>
              <a:rPr/>
              <a:t>. Built-in functions allow you to verify variables and data types:</a:t>
            </a:r>
          </a:p>
          <a:p>
            <a:pPr lvl="0"/>
            <a:r>
              <a:rPr b="1">
                <a:latin typeface="Courier"/>
              </a:rPr>
              <a:t>names()</a:t>
            </a:r>
            <a:r>
              <a:rPr/>
              <a:t>: Returns the column names.</a:t>
            </a:r>
          </a:p>
          <a:p>
            <a:pPr lvl="0"/>
            <a:r>
              <a:rPr b="1">
                <a:latin typeface="Courier"/>
              </a:rPr>
              <a:t>str()</a:t>
            </a:r>
            <a:r>
              <a:rPr/>
              <a:t>: Displays the internal structure (number of rows/columns, data types, and the first few values of each variable).</a:t>
            </a:r>
          </a:p>
          <a:p>
            <a:pPr lvl="0"/>
            <a:r>
              <a:rPr b="1">
                <a:latin typeface="Courier"/>
              </a:rPr>
              <a:t>head()</a:t>
            </a:r>
            <a:r>
              <a:rPr/>
              <a:t>: Returns the first six rows of the dataset for a quick preview.</a:t>
            </a:r>
          </a:p>
          <a:p>
            <a:pPr lvl="0"/>
            <a:r>
              <a:rPr b="1">
                <a:latin typeface="Courier"/>
              </a:rPr>
              <a:t>summary()</a:t>
            </a:r>
            <a:r>
              <a:rPr/>
              <a:t>: Provides a brief statistical summary of each variable (adapts output based on data type).</a:t>
            </a:r>
          </a:p>
          <a:p>
            <a:pPr lvl="0" indent="0" marL="1270000">
              <a:buNone/>
            </a:pPr>
            <a:r>
              <a:rPr sz="2000" b="1"/>
              <a:t>Codebooks</a:t>
            </a:r>
          </a:p>
          <a:p>
            <a:pPr lvl="0" indent="0" marL="1270000">
              <a:buNone/>
            </a:pPr>
            <a:r>
              <a:rPr sz="2000"/>
              <a:t>Variable names are often abbreviated. It is highly advisable to use a </a:t>
            </a:r>
            <a:r>
              <a:rPr sz="2000" b="1"/>
              <a:t>codebook</a:t>
            </a:r>
            <a:r>
              <a:rPr sz="2000"/>
              <a:t> for precise definitions. Check out our training material on data dictionaries: </a:t>
            </a:r>
            <a:r>
              <a:rPr sz="2000">
                <a:hlinkClick r:id="rId3"/>
              </a:rPr>
              <a:t>https://lmu-osc.github.io/data-documentation-validation-R/02-data-dictionaries/page1.html</a:t>
            </a:r>
            <a:r>
              <a:rPr sz="2000"/>
              <a:t> to learn more!</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5</a:t>
            </a:r>
          </a:p>
        </p:txBody>
      </p:sp>
      <p:sp>
        <p:nvSpPr>
          <p:cNvPr id="3" name="Content Placeholder 2"/>
          <p:cNvSpPr>
            <a:spLocks noGrp="1"/>
          </p:cNvSpPr>
          <p:nvPr>
            <p:ph idx="1"/>
          </p:nvPr>
        </p:nvSpPr>
        <p:spPr/>
        <p:txBody>
          <a:bodyPr/>
          <a:lstStyle/>
          <a:p>
            <a:pPr lvl="0" indent="0" marL="0">
              <a:buNone/>
            </a:pPr>
            <a:r>
              <a:rPr b="1"/>
              <a:t>Inspecting the dataset</a:t>
            </a:r>
          </a:p>
          <a:p>
            <a:pPr lvl="0"/>
            <a:r>
              <a:rPr/>
              <a:t>☐ Add a new comment in your R script (e.g., </a:t>
            </a:r>
            <a:r>
              <a:rPr>
                <a:latin typeface="Courier"/>
              </a:rPr>
              <a:t># Inspecting Data</a:t>
            </a:r>
            <a:r>
              <a:rPr/>
              <a:t>).</a:t>
            </a:r>
          </a:p>
          <a:p>
            <a:pPr lvl="0"/>
            <a:r>
              <a:rPr/>
              <a:t>☐ Run </a:t>
            </a:r>
            <a:r>
              <a:rPr>
                <a:latin typeface="Courier"/>
              </a:rPr>
              <a:t>names(characters)</a:t>
            </a:r>
            <a:r>
              <a:rPr/>
              <a:t>.</a:t>
            </a:r>
          </a:p>
          <a:p>
            <a:pPr lvl="0"/>
            <a:r>
              <a:rPr/>
              <a:t>☐ Run </a:t>
            </a:r>
            <a:r>
              <a:rPr>
                <a:latin typeface="Courier"/>
              </a:rPr>
              <a:t>str(characters)</a:t>
            </a:r>
            <a:r>
              <a:rPr/>
              <a:t>.</a:t>
            </a:r>
          </a:p>
          <a:p>
            <a:pPr lvl="0"/>
            <a:r>
              <a:rPr/>
              <a:t>☐ Run </a:t>
            </a:r>
            <a:r>
              <a:rPr>
                <a:latin typeface="Courier"/>
              </a:rPr>
              <a:t>head(characters)</a:t>
            </a:r>
            <a:r>
              <a:rPr/>
              <a:t>.</a:t>
            </a:r>
          </a:p>
          <a:p>
            <a:pPr lvl="0"/>
            <a:r>
              <a:rPr/>
              <a:t>☐ Run </a:t>
            </a:r>
            <a:r>
              <a:rPr>
                <a:latin typeface="Courier"/>
              </a:rPr>
              <a:t>summary(characters)</a:t>
            </a:r>
            <a:r>
              <a:rPr/>
              <a:t>.</a:t>
            </a:r>
          </a:p>
          <a:p>
            <a:pPr lvl="0" indent="0" marL="0">
              <a:buNone/>
            </a:pPr>
            <a:r>
              <a:rPr b="1"/>
              <a:t>Question:</a:t>
            </a:r>
            <a:r>
              <a:rPr/>
              <a:t> Based on the console outputs, can you guess what the data in this dataset is about?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5: Solutions</a:t>
            </a:r>
          </a:p>
        </p:txBody>
      </p:sp>
      <p:sp>
        <p:nvSpPr>
          <p:cNvPr id="3" name="Content Placeholder 2"/>
          <p:cNvSpPr>
            <a:spLocks noGrp="1"/>
          </p:cNvSpPr>
          <p:nvPr>
            <p:ph idx="1"/>
          </p:nvPr>
        </p:nvSpPr>
        <p:spPr/>
        <p:txBody>
          <a:bodyPr/>
          <a:lstStyle/>
          <a:p>
            <a:pPr lvl="0" indent="0" marL="0">
              <a:buNone/>
            </a:pPr>
            <a:r>
              <a:rPr/>
              <a:t>This is what you should add to your R script:</a:t>
            </a:r>
          </a:p>
          <a:p>
            <a:pPr lvl="0" indent="0">
              <a:buNone/>
            </a:pPr>
            <a:r>
              <a:rPr>
                <a:solidFill>
                  <a:srgbClr val="5E5E5E"/>
                </a:solidFill>
                <a:latin typeface="Courier"/>
              </a:rPr>
              <a:t># Inspecting Data</a:t>
            </a:r>
            <a:br/>
            <a:r>
              <a:rPr>
                <a:solidFill>
                  <a:srgbClr val="4758AB"/>
                </a:solidFill>
                <a:latin typeface="Courier"/>
              </a:rPr>
              <a:t>names</a:t>
            </a:r>
            <a:r>
              <a:rPr>
                <a:solidFill>
                  <a:srgbClr val="003B4F"/>
                </a:solidFill>
                <a:latin typeface="Courier"/>
              </a:rPr>
              <a:t>(characters)</a:t>
            </a:r>
            <a:br/>
            <a:r>
              <a:rPr>
                <a:solidFill>
                  <a:srgbClr val="4758AB"/>
                </a:solidFill>
                <a:latin typeface="Courier"/>
              </a:rPr>
              <a:t>str</a:t>
            </a:r>
            <a:r>
              <a:rPr>
                <a:solidFill>
                  <a:srgbClr val="003B4F"/>
                </a:solidFill>
                <a:latin typeface="Courier"/>
              </a:rPr>
              <a:t>(characters)</a:t>
            </a:r>
            <a:br/>
            <a:r>
              <a:rPr>
                <a:solidFill>
                  <a:srgbClr val="4758AB"/>
                </a:solidFill>
                <a:latin typeface="Courier"/>
              </a:rPr>
              <a:t>head</a:t>
            </a:r>
            <a:r>
              <a:rPr>
                <a:solidFill>
                  <a:srgbClr val="003B4F"/>
                </a:solidFill>
                <a:latin typeface="Courier"/>
              </a:rPr>
              <a:t>(characters)</a:t>
            </a:r>
            <a:br/>
            <a:r>
              <a:rPr>
                <a:solidFill>
                  <a:srgbClr val="4758AB"/>
                </a:solidFill>
                <a:latin typeface="Courier"/>
              </a:rPr>
              <a:t>summary</a:t>
            </a:r>
            <a:r>
              <a:rPr>
                <a:solidFill>
                  <a:srgbClr val="003B4F"/>
                </a:solidFill>
                <a:latin typeface="Courier"/>
              </a:rPr>
              <a:t>(characters)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Pre-break quiz</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What is the primary purpose of the Working Directory in RStudio?</a:t>
            </a:r>
          </a:p>
          <a:p>
            <a:pPr lvl="0" indent="-342900" marL="342900">
              <a:buAutoNum type="alphaLcPeriod"/>
            </a:pPr>
            <a:r>
              <a:rPr/>
              <a:t>It is the only folder where you are allowed to install R.</a:t>
            </a:r>
          </a:p>
          <a:p>
            <a:pPr lvl="0" indent="-342900" marL="342900">
              <a:buAutoNum type="alphaLcPeriod"/>
            </a:pPr>
            <a:r>
              <a:rPr/>
              <a:t>It is the default folder where R looks for files to read and saves outputs.</a:t>
            </a:r>
          </a:p>
          <a:p>
            <a:pPr lvl="0" indent="-342900" marL="342900">
              <a:buAutoNum type="alphaLcPeriod"/>
            </a:pPr>
            <a:r>
              <a:rPr/>
              <a:t>It is a specific R package used for data manipulation.</a:t>
            </a:r>
          </a:p>
          <a:p>
            <a:pPr lvl="0" indent="-342900" marL="342900">
              <a:buAutoNum type="alphaLcPeriod"/>
            </a:pPr>
            <a:r>
              <a:rPr/>
              <a:t>It is the console pane where R executes commands.</a:t>
            </a:r>
          </a:p>
          <a:p>
            <a:pPr lvl="0" indent="0" marL="0">
              <a:spcBef>
                <a:spcPts val="3000"/>
              </a:spcBef>
              <a:buNone/>
            </a:pPr>
            <a:r>
              <a:rPr b="1"/>
              <a:t>Question 2</a:t>
            </a:r>
          </a:p>
          <a:p>
            <a:pPr lvl="0" indent="0" marL="0">
              <a:buNone/>
            </a:pPr>
            <a:r>
              <a:rPr b="1"/>
              <a:t>Which function is used to load an already installed package into your current R session?</a:t>
            </a:r>
          </a:p>
          <a:p>
            <a:pPr lvl="0" indent="-342900" marL="342900">
              <a:buAutoNum type="alphaLcPeriod"/>
            </a:pPr>
            <a:r>
              <a:rPr>
                <a:latin typeface="Courier"/>
              </a:rPr>
              <a:t>install.packages()</a:t>
            </a:r>
          </a:p>
          <a:p>
            <a:pPr lvl="0" indent="-342900" marL="342900">
              <a:buAutoNum type="alphaLcPeriod"/>
            </a:pPr>
            <a:r>
              <a:rPr>
                <a:latin typeface="Courier"/>
              </a:rPr>
              <a:t>load.package()</a:t>
            </a:r>
          </a:p>
          <a:p>
            <a:pPr lvl="0" indent="-342900" marL="342900">
              <a:buAutoNum type="alphaLcPeriod"/>
            </a:pPr>
            <a:r>
              <a:rPr>
                <a:latin typeface="Courier"/>
              </a:rPr>
              <a:t>open()</a:t>
            </a:r>
          </a:p>
          <a:p>
            <a:pPr lvl="0" indent="-342900" marL="342900">
              <a:buAutoNum type="alphaLcPeriod"/>
            </a:pPr>
            <a:r>
              <a:rPr>
                <a:latin typeface="Courier"/>
              </a:rPr>
              <a:t>library()</a:t>
            </a:r>
          </a:p>
          <a:p>
            <a:pPr lvl="0" indent="0" marL="0">
              <a:spcBef>
                <a:spcPts val="3000"/>
              </a:spcBef>
              <a:buNone/>
            </a:pPr>
            <a:r>
              <a:rPr b="1"/>
              <a:t>Question 3</a:t>
            </a:r>
          </a:p>
          <a:p>
            <a:pPr lvl="0" indent="0" marL="0">
              <a:buNone/>
            </a:pPr>
            <a:r>
              <a:rPr b="1"/>
              <a:t>Which command correctly loads an .rds file named </a:t>
            </a:r>
            <a:r>
              <a:rPr b="1">
                <a:latin typeface="Courier"/>
              </a:rPr>
              <a:t>characters.rds</a:t>
            </a:r>
            <a:r>
              <a:rPr b="1"/>
              <a:t> into an object named </a:t>
            </a:r>
            <a:r>
              <a:rPr b="1">
                <a:latin typeface="Courier"/>
              </a:rPr>
              <a:t>my_data</a:t>
            </a:r>
            <a:r>
              <a:rPr b="1"/>
              <a:t>?</a:t>
            </a:r>
          </a:p>
          <a:p>
            <a:pPr lvl="0" indent="-342900" marL="342900">
              <a:buAutoNum type="alphaLcPeriod"/>
            </a:pPr>
            <a:r>
              <a:rPr>
                <a:latin typeface="Courier"/>
              </a:rPr>
              <a:t>my_data &lt;- readRDS("characters.rds")</a:t>
            </a:r>
          </a:p>
          <a:p>
            <a:pPr lvl="0" indent="-342900" marL="342900">
              <a:buAutoNum type="alphaLcPeriod"/>
            </a:pPr>
            <a:r>
              <a:rPr>
                <a:latin typeface="Courier"/>
              </a:rPr>
              <a:t>readRDS &lt;- my_data("characters.rds")</a:t>
            </a:r>
          </a:p>
          <a:p>
            <a:pPr lvl="0" indent="-342900" marL="342900">
              <a:buAutoNum type="alphaLcPeriod"/>
            </a:pPr>
            <a:r>
              <a:rPr>
                <a:latin typeface="Courier"/>
              </a:rPr>
              <a:t>my_data == readRDS("characters.rds")</a:t>
            </a:r>
          </a:p>
          <a:p>
            <a:pPr lvl="0" indent="-342900" marL="342900">
              <a:buAutoNum type="alphaLcPeriod"/>
            </a:pPr>
            <a:r>
              <a:rPr>
                <a:latin typeface="Courier"/>
              </a:rPr>
              <a:t>my_data &lt;- read_csv("characters.rds")</a:t>
            </a:r>
          </a:p>
          <a:p>
            <a:pPr lvl="0" indent="0" marL="0">
              <a:spcBef>
                <a:spcPts val="3000"/>
              </a:spcBef>
              <a:buNone/>
            </a:pPr>
            <a:r>
              <a:rPr b="1"/>
              <a:t>Question 4</a:t>
            </a:r>
          </a:p>
          <a:p>
            <a:pPr lvl="0" indent="0" marL="0">
              <a:buNone/>
            </a:pPr>
            <a:r>
              <a:rPr b="1"/>
              <a:t>Which function provides the internal structure of a dataset, including the number of rows/columns and the data types of each variable?</a:t>
            </a:r>
          </a:p>
          <a:p>
            <a:pPr lvl="0" indent="-342900" marL="342900">
              <a:buAutoNum type="alphaLcPeriod"/>
            </a:pPr>
            <a:r>
              <a:rPr>
                <a:latin typeface="Courier"/>
              </a:rPr>
              <a:t>names()</a:t>
            </a:r>
          </a:p>
          <a:p>
            <a:pPr lvl="0" indent="-342900" marL="342900">
              <a:buAutoNum type="alphaLcPeriod"/>
            </a:pPr>
            <a:r>
              <a:rPr>
                <a:latin typeface="Courier"/>
              </a:rPr>
              <a:t>head()</a:t>
            </a:r>
          </a:p>
          <a:p>
            <a:pPr lvl="0" indent="-342900" marL="342900">
              <a:buAutoNum type="alphaLcPeriod"/>
            </a:pPr>
            <a:r>
              <a:rPr>
                <a:latin typeface="Courier"/>
              </a:rPr>
              <a:t>summary()</a:t>
            </a:r>
          </a:p>
          <a:p>
            <a:pPr lvl="0" indent="-342900" marL="342900">
              <a:buAutoNum type="alphaLcPeriod"/>
            </a:pPr>
            <a:r>
              <a:rPr>
                <a:latin typeface="Courier"/>
              </a:rPr>
              <a:t>str()</a:t>
            </a:r>
          </a:p>
          <a:p>
            <a:pPr lvl="0" indent="0" marL="0">
              <a:spcBef>
                <a:spcPts val="3000"/>
              </a:spcBef>
              <a:buNone/>
            </a:pPr>
            <a:r>
              <a:rPr b="1"/>
              <a:t>Question 5</a:t>
            </a:r>
          </a:p>
          <a:p>
            <a:pPr lvl="0" indent="0" marL="0">
              <a:buNone/>
            </a:pPr>
            <a:r>
              <a:rPr b="1"/>
              <a:t>What does the </a:t>
            </a:r>
            <a:r>
              <a:rPr b="1">
                <a:latin typeface="Courier"/>
              </a:rPr>
              <a:t>head()</a:t>
            </a:r>
            <a:r>
              <a:rPr b="1"/>
              <a:t> function output when applied to a dataset?</a:t>
            </a:r>
          </a:p>
          <a:p>
            <a:pPr lvl="0" indent="-342900" marL="342900">
              <a:buAutoNum type="alphaLcPeriod"/>
            </a:pPr>
            <a:r>
              <a:rPr/>
              <a:t>The column names of the dataset.</a:t>
            </a:r>
          </a:p>
          <a:p>
            <a:pPr lvl="0" indent="-342900" marL="342900">
              <a:buAutoNum type="alphaLcPeriod"/>
            </a:pPr>
            <a:r>
              <a:rPr/>
              <a:t>The first six rows of the dataset.</a:t>
            </a:r>
          </a:p>
          <a:p>
            <a:pPr lvl="0" indent="-342900" marL="342900">
              <a:buAutoNum type="alphaLcPeriod"/>
            </a:pPr>
            <a:r>
              <a:rPr/>
              <a:t>A statistical summary of the numeric variables.</a:t>
            </a:r>
          </a:p>
          <a:p>
            <a:pPr lvl="0" indent="-342900" marL="342900">
              <a:buAutoNum type="alphaLcPeriod"/>
            </a:pPr>
            <a:r>
              <a:rPr/>
              <a:t>The total number of variables in the dataset.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Break! 15 minutes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Post-break quiz discussion</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exploration</a:t>
            </a:r>
          </a:p>
        </p:txBody>
      </p:sp>
      <p:pic>
        <p:nvPicPr>
          <p:cNvPr descr="images/magnifying-glass-icon.png" id="0" name="Picture 1"/>
          <p:cNvPicPr>
            <a:picLocks noGrp="1" noChangeAspect="1"/>
          </p:cNvPicPr>
          <p:nvPr/>
        </p:nvPicPr>
        <p:blipFill>
          <a:blip r:embed="rId2"/>
          <a:stretch>
            <a:fillRect/>
          </a:stretch>
        </p:blipFill>
        <p:spPr bwMode="auto">
          <a:xfrm>
            <a:off x="2463800" y="1193800"/>
            <a:ext cx="4216400" cy="33909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Accessing and subsetting columns</a:t>
            </a:r>
          </a:p>
        </p:txBody>
      </p:sp>
      <p:sp>
        <p:nvSpPr>
          <p:cNvPr id="3" name="Content Placeholder 2"/>
          <p:cNvSpPr>
            <a:spLocks noGrp="1"/>
          </p:cNvSpPr>
          <p:nvPr>
            <p:ph idx="1"/>
          </p:nvPr>
        </p:nvSpPr>
        <p:spPr/>
        <p:txBody>
          <a:bodyPr/>
          <a:lstStyle/>
          <a:p>
            <a:pPr lvl="0" indent="0" marL="0">
              <a:buNone/>
            </a:pPr>
            <a:r>
              <a:rPr/>
              <a:t>As discussed in </a:t>
            </a:r>
            <a:r>
              <a:rPr b="1"/>
              <a:t>Part I</a:t>
            </a:r>
            <a:r>
              <a:rPr/>
              <a:t>, we can use </a:t>
            </a:r>
            <a:r>
              <a:rPr b="1"/>
              <a:t>indexing tools</a:t>
            </a:r>
            <a:r>
              <a:rPr/>
              <a:t> (</a:t>
            </a:r>
            <a:r>
              <a:rPr>
                <a:latin typeface="Courier"/>
              </a:rPr>
              <a:t>$</a:t>
            </a:r>
            <a:r>
              <a:rPr/>
              <a:t> and </a:t>
            </a:r>
            <a:r>
              <a:rPr>
                <a:latin typeface="Courier"/>
              </a:rPr>
              <a:t>[]</a:t>
            </a:r>
            <a:r>
              <a:rPr/>
              <a:t>) to access specific parts of our data. In real-world analysis, we apply this to </a:t>
            </a:r>
            <a:r>
              <a:rPr b="1"/>
              <a:t>extract entirely new subsets</a:t>
            </a:r>
            <a:r>
              <a:rPr/>
              <a:t>.</a:t>
            </a:r>
          </a:p>
          <a:p>
            <a:pPr lvl="0"/>
            <a:r>
              <a:rPr b="1"/>
              <a:t>Accessing a column:</a:t>
            </a:r>
            <a:r>
              <a:rPr/>
              <a:t> Just like in Part I, use the </a:t>
            </a:r>
            <a:r>
              <a:rPr>
                <a:latin typeface="Courier"/>
              </a:rPr>
              <a:t>$</a:t>
            </a:r>
            <a:r>
              <a:rPr/>
              <a:t> operator to isolate a single variable (e.g., </a:t>
            </a:r>
            <a:r>
              <a:rPr>
                <a:latin typeface="Courier"/>
              </a:rPr>
              <a:t>characters$uni_name</a:t>
            </a:r>
            <a:r>
              <a:rPr/>
              <a:t>).</a:t>
            </a:r>
          </a:p>
          <a:p>
            <a:pPr lvl="0"/>
            <a:r>
              <a:rPr b="1"/>
              <a:t>Filtering rows:</a:t>
            </a:r>
            <a:r>
              <a:rPr/>
              <a:t> Use </a:t>
            </a:r>
            <a:r>
              <a:rPr>
                <a:latin typeface="Courier"/>
              </a:rPr>
              <a:t>dataframe[condition, ]</a:t>
            </a:r>
            <a:r>
              <a:rPr/>
              <a:t> to select specific rows while keeping all columns.</a:t>
            </a:r>
          </a:p>
          <a:p>
            <a:pPr lvl="0"/>
            <a:r>
              <a:rPr b="1"/>
              <a:t>Logical operators:</a:t>
            </a:r>
            <a:r>
              <a:rPr/>
              <a:t> Build conditions using </a:t>
            </a:r>
            <a:r>
              <a:rPr>
                <a:latin typeface="Courier"/>
              </a:rPr>
              <a:t>==</a:t>
            </a:r>
            <a:r>
              <a:rPr/>
              <a:t> (checks for exact equality) and </a:t>
            </a:r>
            <a:r>
              <a:rPr>
                <a:latin typeface="Courier"/>
              </a:rPr>
              <a:t>|</a:t>
            </a:r>
            <a:r>
              <a:rPr/>
              <a:t> (logical OR, meaning either condition can be true).</a:t>
            </a:r>
          </a:p>
          <a:p>
            <a:pPr lvl="0"/>
            <a:r>
              <a:rPr b="1"/>
              <a:t>Preserving data:</a:t>
            </a:r>
            <a:r>
              <a:rPr/>
              <a:t> Always assign your subset to a </a:t>
            </a:r>
            <a:r>
              <a:rPr b="1"/>
              <a:t>new object</a:t>
            </a:r>
            <a:r>
              <a:rPr/>
              <a:t> (e.g., </a:t>
            </a:r>
            <a:r>
              <a:rPr>
                <a:latin typeface="Courier"/>
              </a:rPr>
              <a:t>relevant_data &lt;- ...</a:t>
            </a:r>
            <a:r>
              <a:rPr/>
              <a:t>). Overwriting the original object deletes your raw data from the environment.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6</a:t>
            </a:r>
          </a:p>
        </p:txBody>
      </p:sp>
      <p:sp>
        <p:nvSpPr>
          <p:cNvPr id="3" name="Content Placeholder 2"/>
          <p:cNvSpPr>
            <a:spLocks noGrp="1"/>
          </p:cNvSpPr>
          <p:nvPr>
            <p:ph idx="1"/>
          </p:nvPr>
        </p:nvSpPr>
        <p:spPr/>
        <p:txBody>
          <a:bodyPr/>
          <a:lstStyle/>
          <a:p>
            <a:pPr lvl="0" indent="0" marL="0">
              <a:buNone/>
            </a:pPr>
            <a:r>
              <a:rPr b="1"/>
              <a:t>Subsetting by conditions</a:t>
            </a:r>
          </a:p>
          <a:p>
            <a:pPr lvl="0"/>
            <a:r>
              <a:rPr/>
              <a:t>☐ Create a new section in your R script using a comment.</a:t>
            </a:r>
          </a:p>
          <a:p>
            <a:pPr lvl="0"/>
            <a:r>
              <a:rPr/>
              <a:t>☐ Apply your indexing knowledge from Part I to filter the rows of the </a:t>
            </a:r>
            <a:r>
              <a:rPr>
                <a:latin typeface="Courier"/>
              </a:rPr>
              <a:t>characters</a:t>
            </a:r>
            <a:r>
              <a:rPr/>
              <a:t> data frame to include only observations where the </a:t>
            </a:r>
            <a:r>
              <a:rPr>
                <a:latin typeface="Courier"/>
              </a:rPr>
              <a:t>uni_name</a:t>
            </a:r>
            <a:r>
              <a:rPr/>
              <a:t> is exactly </a:t>
            </a:r>
            <a:r>
              <a:rPr>
                <a:latin typeface="Courier"/>
              </a:rPr>
              <a:t>"Brooklyn Nine-Nine"</a:t>
            </a:r>
            <a:r>
              <a:rPr/>
              <a:t> </a:t>
            </a:r>
            <a:r>
              <a:rPr b="1"/>
              <a:t>OR</a:t>
            </a:r>
            <a:r>
              <a:rPr/>
              <a:t> </a:t>
            </a:r>
            <a:r>
              <a:rPr>
                <a:latin typeface="Courier"/>
              </a:rPr>
              <a:t>"Community"</a:t>
            </a:r>
            <a:r>
              <a:rPr/>
              <a:t>.</a:t>
            </a:r>
          </a:p>
          <a:p>
            <a:pPr lvl="0"/>
            <a:r>
              <a:rPr/>
              <a:t>☐ Assign this subset to a new object named </a:t>
            </a:r>
            <a:r>
              <a:rPr>
                <a:latin typeface="Courier"/>
              </a:rPr>
              <a:t>relevant_data</a:t>
            </a:r>
            <a:r>
              <a:rPr/>
              <a:t>.</a:t>
            </a:r>
          </a:p>
          <a:p>
            <a:pPr lvl="0"/>
            <a:r>
              <a:rPr/>
              <a:t>☐ Run the code, then use the </a:t>
            </a:r>
            <a:r>
              <a:rPr>
                <a:latin typeface="Courier"/>
              </a:rPr>
              <a:t>table()</a:t>
            </a:r>
            <a:r>
              <a:rPr/>
              <a:t> function on </a:t>
            </a:r>
            <a:r>
              <a:rPr>
                <a:latin typeface="Courier"/>
              </a:rPr>
              <a:t>relevant_data$uni_name</a:t>
            </a:r>
            <a:r>
              <a:rPr/>
              <a:t> to check how many characters from each show are in your new subset.</a:t>
            </a:r>
          </a:p>
          <a:p>
            <a:pPr lvl="0" indent="0" marL="1270000">
              <a:buNone/>
            </a:pPr>
            <a:r>
              <a:rPr sz="2000" b="1"/>
              <a:t>Syntax Hint</a:t>
            </a:r>
          </a:p>
          <a:p>
            <a:pPr lvl="0" indent="0" marL="1270000">
              <a:buNone/>
            </a:pPr>
            <a:r>
              <a:rPr sz="2000"/>
              <a:t>Remember to specify the data frame for each condition (e.g., </a:t>
            </a:r>
            <a:r>
              <a:rPr sz="2000">
                <a:latin typeface="Courier"/>
              </a:rPr>
              <a:t>data$column == "A" | data$column == "B"</a:t>
            </a:r>
            <a:r>
              <a:rPr sz="2000"/>
              <a: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6: Solutions</a:t>
            </a:r>
          </a:p>
        </p:txBody>
      </p:sp>
      <p:sp>
        <p:nvSpPr>
          <p:cNvPr id="3" name="Content Placeholder 2"/>
          <p:cNvSpPr>
            <a:spLocks noGrp="1"/>
          </p:cNvSpPr>
          <p:nvPr>
            <p:ph idx="1"/>
          </p:nvPr>
        </p:nvSpPr>
        <p:spPr/>
        <p:txBody>
          <a:bodyPr/>
          <a:lstStyle/>
          <a:p>
            <a:pPr lvl="0" indent="0" marL="0">
              <a:buNone/>
            </a:pPr>
            <a:r>
              <a:rPr/>
              <a:t>This is an example of what you could have added to your R script:</a:t>
            </a:r>
          </a:p>
          <a:p>
            <a:pPr lvl="0" indent="0">
              <a:buNone/>
            </a:pPr>
            <a:r>
              <a:rPr>
                <a:solidFill>
                  <a:srgbClr val="5E5E5E"/>
                </a:solidFill>
                <a:latin typeface="Courier"/>
              </a:rPr>
              <a:t># Accessing and subsetting columns</a:t>
            </a:r>
            <a:br/>
            <a:r>
              <a:rPr>
                <a:solidFill>
                  <a:srgbClr val="003B4F"/>
                </a:solidFill>
                <a:latin typeface="Courier"/>
              </a:rPr>
              <a:t>relevant_data &lt;- characters[characters</a:t>
            </a:r>
            <a:r>
              <a:rPr>
                <a:solidFill>
                  <a:srgbClr val="5E5E5E"/>
                </a:solidFill>
                <a:latin typeface="Courier"/>
              </a:rPr>
              <a:t>$</a:t>
            </a:r>
            <a:r>
              <a:rPr>
                <a:solidFill>
                  <a:srgbClr val="003B4F"/>
                </a:solidFill>
                <a:latin typeface="Courier"/>
              </a:rPr>
              <a:t>uni_name </a:t>
            </a:r>
            <a:r>
              <a:rPr>
                <a:solidFill>
                  <a:srgbClr val="5E5E5E"/>
                </a:solidFill>
                <a:latin typeface="Courier"/>
              </a:rPr>
              <a:t>==</a:t>
            </a:r>
            <a:r>
              <a:rPr>
                <a:solidFill>
                  <a:srgbClr val="003B4F"/>
                </a:solidFill>
                <a:latin typeface="Courier"/>
              </a:rPr>
              <a:t> </a:t>
            </a:r>
            <a:r>
              <a:rPr>
                <a:solidFill>
                  <a:srgbClr val="20794D"/>
                </a:solidFill>
                <a:latin typeface="Courier"/>
              </a:rPr>
              <a:t>"Brooklyn Nine-Nine"</a:t>
            </a:r>
            <a:r>
              <a:rPr>
                <a:solidFill>
                  <a:srgbClr val="003B4F"/>
                </a:solidFill>
                <a:latin typeface="Courier"/>
              </a:rPr>
              <a:t> </a:t>
            </a:r>
            <a:r>
              <a:rPr>
                <a:solidFill>
                  <a:srgbClr val="5E5E5E"/>
                </a:solidFill>
                <a:latin typeface="Courier"/>
              </a:rPr>
              <a:t>|</a:t>
            </a:r>
            <a:br/>
            <a:r>
              <a:rPr>
                <a:solidFill>
                  <a:srgbClr val="003B4F"/>
                </a:solidFill>
                <a:latin typeface="Courier"/>
              </a:rPr>
              <a:t>    characters</a:t>
            </a:r>
            <a:r>
              <a:rPr>
                <a:solidFill>
                  <a:srgbClr val="5E5E5E"/>
                </a:solidFill>
                <a:latin typeface="Courier"/>
              </a:rPr>
              <a:t>$</a:t>
            </a:r>
            <a:r>
              <a:rPr>
                <a:solidFill>
                  <a:srgbClr val="003B4F"/>
                </a:solidFill>
                <a:latin typeface="Courier"/>
              </a:rPr>
              <a:t>uni_name </a:t>
            </a:r>
            <a:r>
              <a:rPr>
                <a:solidFill>
                  <a:srgbClr val="5E5E5E"/>
                </a:solidFill>
                <a:latin typeface="Courier"/>
              </a:rPr>
              <a:t>==</a:t>
            </a:r>
            <a:r>
              <a:rPr>
                <a:solidFill>
                  <a:srgbClr val="003B4F"/>
                </a:solidFill>
                <a:latin typeface="Courier"/>
              </a:rPr>
              <a:t> </a:t>
            </a:r>
            <a:r>
              <a:rPr>
                <a:solidFill>
                  <a:srgbClr val="20794D"/>
                </a:solidFill>
                <a:latin typeface="Courier"/>
              </a:rPr>
              <a:t>"Community"</a:t>
            </a:r>
            <a:r>
              <a:rPr>
                <a:solidFill>
                  <a:srgbClr val="003B4F"/>
                </a:solidFill>
                <a:latin typeface="Courier"/>
              </a:rPr>
              <a:t>, ]</a:t>
            </a:r>
            <a:br/>
            <a:br/>
            <a:r>
              <a:rPr>
                <a:solidFill>
                  <a:srgbClr val="5E5E5E"/>
                </a:solidFill>
                <a:latin typeface="Courier"/>
              </a:rPr>
              <a:t># Verify the subset</a:t>
            </a:r>
            <a:br/>
            <a:r>
              <a:rPr>
                <a:solidFill>
                  <a:srgbClr val="4758AB"/>
                </a:solidFill>
                <a:latin typeface="Courier"/>
              </a:rPr>
              <a:t>table</a:t>
            </a:r>
            <a:r>
              <a:rPr>
                <a:solidFill>
                  <a:srgbClr val="003B4F"/>
                </a:solidFill>
                <a:latin typeface="Courier"/>
              </a:rPr>
              <a:t>(relevant_data</a:t>
            </a:r>
            <a:r>
              <a:rPr>
                <a:solidFill>
                  <a:srgbClr val="5E5E5E"/>
                </a:solidFill>
                <a:latin typeface="Courier"/>
              </a:rPr>
              <a:t>$</a:t>
            </a:r>
            <a:r>
              <a:rPr>
                <a:solidFill>
                  <a:srgbClr val="003B4F"/>
                </a:solidFill>
                <a:latin typeface="Courier"/>
              </a:rPr>
              <a:t>uni_name)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Basic summary functions</a:t>
            </a:r>
          </a:p>
        </p:txBody>
      </p:sp>
      <p:sp>
        <p:nvSpPr>
          <p:cNvPr id="3" name="Content Placeholder 2"/>
          <p:cNvSpPr>
            <a:spLocks noGrp="1"/>
          </p:cNvSpPr>
          <p:nvPr>
            <p:ph idx="1"/>
          </p:nvPr>
        </p:nvSpPr>
        <p:spPr/>
        <p:txBody>
          <a:bodyPr/>
          <a:lstStyle/>
          <a:p>
            <a:pPr lvl="0" indent="0" marL="0">
              <a:buNone/>
            </a:pPr>
            <a:r>
              <a:rPr/>
              <a:t>After isolating the relevant data, we can </a:t>
            </a:r>
            <a:r>
              <a:rPr b="1"/>
              <a:t>compute descriptive statistics</a:t>
            </a:r>
            <a:r>
              <a:rPr/>
              <a:t> for specific variables.</a:t>
            </a:r>
          </a:p>
          <a:p>
            <a:pPr lvl="0"/>
            <a:r>
              <a:rPr b="1"/>
              <a:t>Numeric variables:</a:t>
            </a:r>
            <a:r>
              <a:rPr/>
              <a:t> We can apply functions like </a:t>
            </a:r>
            <a:r>
              <a:rPr>
                <a:latin typeface="Courier"/>
              </a:rPr>
              <a:t>mean()</a:t>
            </a:r>
            <a:r>
              <a:rPr/>
              <a:t> or </a:t>
            </a:r>
            <a:r>
              <a:rPr>
                <a:latin typeface="Courier"/>
              </a:rPr>
              <a:t>sd()</a:t>
            </a:r>
            <a:r>
              <a:rPr/>
              <a:t> to a single column using the </a:t>
            </a:r>
            <a:r>
              <a:rPr>
                <a:latin typeface="Courier"/>
              </a:rPr>
              <a:t>$</a:t>
            </a:r>
            <a:r>
              <a:rPr/>
              <a:t> operator (e.g., </a:t>
            </a:r>
            <a:r>
              <a:rPr>
                <a:latin typeface="Courier"/>
              </a:rPr>
              <a:t>mean(data$column)</a:t>
            </a:r>
            <a:r>
              <a:rPr/>
              <a:t>).</a:t>
            </a:r>
          </a:p>
          <a:p>
            <a:pPr lvl="0"/>
            <a:r>
              <a:rPr b="1"/>
              <a:t>Categorical variables:</a:t>
            </a:r>
            <a:r>
              <a:rPr/>
              <a:t> We can use the </a:t>
            </a:r>
            <a:r>
              <a:rPr>
                <a:latin typeface="Courier"/>
              </a:rPr>
              <a:t>table()</a:t>
            </a:r>
            <a:r>
              <a:rPr/>
              <a:t> function to count the frequency of specific text or factor values.</a:t>
            </a:r>
          </a:p>
          <a:p>
            <a:pPr lvl="0"/>
            <a:r>
              <a:rPr b="1"/>
              <a:t>Combined operations:</a:t>
            </a:r>
            <a:r>
              <a:rPr/>
              <a:t> We can subset rows and select a specific column simultaneously within a function using </a:t>
            </a:r>
            <a:r>
              <a:rPr>
                <a:latin typeface="Courier"/>
              </a:rPr>
              <a:t>dataframe[condition, "column_name"]</a:t>
            </a:r>
            <a:r>
              <a:rPr/>
              <a: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7</a:t>
            </a:r>
          </a:p>
        </p:txBody>
      </p:sp>
      <p:sp>
        <p:nvSpPr>
          <p:cNvPr id="3" name="Content Placeholder 2"/>
          <p:cNvSpPr>
            <a:spLocks noGrp="1"/>
          </p:cNvSpPr>
          <p:nvPr>
            <p:ph idx="1"/>
          </p:nvPr>
        </p:nvSpPr>
        <p:spPr/>
        <p:txBody>
          <a:bodyPr/>
          <a:lstStyle/>
          <a:p>
            <a:pPr lvl="0" indent="0" marL="0">
              <a:buNone/>
            </a:pPr>
            <a:r>
              <a:rPr b="1"/>
              <a:t>Comparing group means</a:t>
            </a:r>
          </a:p>
          <a:p>
            <a:pPr lvl="0"/>
            <a:r>
              <a:rPr/>
              <a:t>☐ Add a new section in your script using a comment.</a:t>
            </a:r>
          </a:p>
          <a:p>
            <a:pPr lvl="0"/>
            <a:r>
              <a:rPr/>
              <a:t>☐ Calculate the overall </a:t>
            </a:r>
            <a:r>
              <a:rPr>
                <a:latin typeface="Courier"/>
              </a:rPr>
              <a:t>mean()</a:t>
            </a:r>
            <a:r>
              <a:rPr/>
              <a:t> and standard deviation (</a:t>
            </a:r>
            <a:r>
              <a:rPr>
                <a:latin typeface="Courier"/>
              </a:rPr>
              <a:t>sd()</a:t>
            </a:r>
            <a:r>
              <a:rPr/>
              <a:t>) of the </a:t>
            </a:r>
            <a:r>
              <a:rPr>
                <a:latin typeface="Courier"/>
              </a:rPr>
              <a:t>notability</a:t>
            </a:r>
            <a:r>
              <a:rPr/>
              <a:t> column in the </a:t>
            </a:r>
            <a:r>
              <a:rPr>
                <a:latin typeface="Courier"/>
              </a:rPr>
              <a:t>relevant_data</a:t>
            </a:r>
            <a:r>
              <a:rPr/>
              <a:t> object.</a:t>
            </a:r>
          </a:p>
          <a:p>
            <a:pPr lvl="0"/>
            <a:r>
              <a:rPr/>
              <a:t>☐ Calculate the mean notability exclusively for </a:t>
            </a:r>
            <a:r>
              <a:rPr>
                <a:latin typeface="Courier"/>
              </a:rPr>
              <a:t>"Brooklyn Nine-Nine"</a:t>
            </a:r>
            <a:r>
              <a:rPr/>
              <a:t> characters.</a:t>
            </a:r>
          </a:p>
          <a:p>
            <a:pPr lvl="0"/>
            <a:r>
              <a:rPr/>
              <a:t>☐ Calculate the mean notability exclusively for </a:t>
            </a:r>
            <a:r>
              <a:rPr>
                <a:latin typeface="Courier"/>
              </a:rPr>
              <a:t>"Community"</a:t>
            </a:r>
            <a:r>
              <a:rPr/>
              <a:t> characters.</a:t>
            </a:r>
          </a:p>
          <a:p>
            <a:pPr lvl="0" indent="0" marL="0">
              <a:buNone/>
            </a:pPr>
            <a:r>
              <a:rPr b="1"/>
              <a:t>Question:</a:t>
            </a:r>
            <a:r>
              <a:rPr/>
              <a:t> Which show features characters with a higher average notability?</a:t>
            </a:r>
          </a:p>
          <a:p>
            <a:pPr lvl="0" indent="0" marL="1270000">
              <a:buNone/>
            </a:pPr>
            <a:r>
              <a:rPr sz="2000" b="1"/>
              <a:t>Syntax Hint</a:t>
            </a:r>
          </a:p>
          <a:p>
            <a:pPr lvl="0" indent="0" marL="1270000">
              <a:buNone/>
            </a:pPr>
            <a:r>
              <a:rPr sz="2000"/>
              <a:t>To compute the mean for a subgroup, place the row condition before the comma, and the target column name after the comma: </a:t>
            </a:r>
            <a:r>
              <a:rPr sz="2000">
                <a:latin typeface="Courier"/>
              </a:rPr>
              <a:t>mean(data[condition, "column_name"])</a:t>
            </a:r>
            <a:r>
              <a:rPr sz="2000"/>
              <a:t>.</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7: Solutions</a:t>
            </a:r>
          </a:p>
        </p:txBody>
      </p:sp>
      <p:sp>
        <p:nvSpPr>
          <p:cNvPr id="3" name="Content Placeholder 2"/>
          <p:cNvSpPr>
            <a:spLocks noGrp="1"/>
          </p:cNvSpPr>
          <p:nvPr>
            <p:ph idx="1"/>
          </p:nvPr>
        </p:nvSpPr>
        <p:spPr/>
        <p:txBody>
          <a:bodyPr/>
          <a:lstStyle/>
          <a:p>
            <a:pPr lvl="0" indent="0" marL="0">
              <a:buNone/>
            </a:pPr>
            <a:r>
              <a:rPr/>
              <a:t>This is an example of what you could have added to your R script:</a:t>
            </a:r>
          </a:p>
          <a:p>
            <a:pPr lvl="0" indent="0">
              <a:buNone/>
            </a:pPr>
            <a:r>
              <a:rPr>
                <a:solidFill>
                  <a:srgbClr val="5E5E5E"/>
                </a:solidFill>
                <a:latin typeface="Courier"/>
              </a:rPr>
              <a:t># Basic summary functions</a:t>
            </a:r>
            <a:br/>
            <a:r>
              <a:rPr>
                <a:solidFill>
                  <a:srgbClr val="4758AB"/>
                </a:solidFill>
                <a:latin typeface="Courier"/>
              </a:rPr>
              <a:t>mean</a:t>
            </a:r>
            <a:r>
              <a:rPr>
                <a:solidFill>
                  <a:srgbClr val="003B4F"/>
                </a:solidFill>
                <a:latin typeface="Courier"/>
              </a:rPr>
              <a:t>(relevant_data</a:t>
            </a:r>
            <a:r>
              <a:rPr>
                <a:solidFill>
                  <a:srgbClr val="5E5E5E"/>
                </a:solidFill>
                <a:latin typeface="Courier"/>
              </a:rPr>
              <a:t>$</a:t>
            </a:r>
            <a:r>
              <a:rPr>
                <a:solidFill>
                  <a:srgbClr val="003B4F"/>
                </a:solidFill>
                <a:latin typeface="Courier"/>
              </a:rPr>
              <a:t>notability)</a:t>
            </a:r>
            <a:br/>
            <a:r>
              <a:rPr>
                <a:solidFill>
                  <a:srgbClr val="4758AB"/>
                </a:solidFill>
                <a:latin typeface="Courier"/>
              </a:rPr>
              <a:t>sd</a:t>
            </a:r>
            <a:r>
              <a:rPr>
                <a:solidFill>
                  <a:srgbClr val="003B4F"/>
                </a:solidFill>
                <a:latin typeface="Courier"/>
              </a:rPr>
              <a:t>(relevant_data</a:t>
            </a:r>
            <a:r>
              <a:rPr>
                <a:solidFill>
                  <a:srgbClr val="5E5E5E"/>
                </a:solidFill>
                <a:latin typeface="Courier"/>
              </a:rPr>
              <a:t>$</a:t>
            </a:r>
            <a:r>
              <a:rPr>
                <a:solidFill>
                  <a:srgbClr val="003B4F"/>
                </a:solidFill>
                <a:latin typeface="Courier"/>
              </a:rPr>
              <a:t>notability)</a:t>
            </a:r>
            <a:br/>
            <a:br/>
            <a:r>
              <a:rPr>
                <a:solidFill>
                  <a:srgbClr val="5E5E5E"/>
                </a:solidFill>
                <a:latin typeface="Courier"/>
              </a:rPr>
              <a:t># Mean notability for Brooklyn Nine-Nine</a:t>
            </a:r>
            <a:br/>
            <a:r>
              <a:rPr>
                <a:solidFill>
                  <a:srgbClr val="4758AB"/>
                </a:solidFill>
                <a:latin typeface="Courier"/>
              </a:rPr>
              <a:t>mean</a:t>
            </a:r>
            <a:r>
              <a:rPr>
                <a:solidFill>
                  <a:srgbClr val="003B4F"/>
                </a:solidFill>
                <a:latin typeface="Courier"/>
              </a:rPr>
              <a:t>(relevant_data[relevant_data</a:t>
            </a:r>
            <a:r>
              <a:rPr>
                <a:solidFill>
                  <a:srgbClr val="5E5E5E"/>
                </a:solidFill>
                <a:latin typeface="Courier"/>
              </a:rPr>
              <a:t>$</a:t>
            </a:r>
            <a:r>
              <a:rPr>
                <a:solidFill>
                  <a:srgbClr val="003B4F"/>
                </a:solidFill>
                <a:latin typeface="Courier"/>
              </a:rPr>
              <a:t>uni_name </a:t>
            </a:r>
            <a:r>
              <a:rPr>
                <a:solidFill>
                  <a:srgbClr val="5E5E5E"/>
                </a:solidFill>
                <a:latin typeface="Courier"/>
              </a:rPr>
              <a:t>==</a:t>
            </a:r>
            <a:r>
              <a:rPr>
                <a:solidFill>
                  <a:srgbClr val="003B4F"/>
                </a:solidFill>
                <a:latin typeface="Courier"/>
              </a:rPr>
              <a:t> </a:t>
            </a:r>
            <a:r>
              <a:rPr>
                <a:solidFill>
                  <a:srgbClr val="20794D"/>
                </a:solidFill>
                <a:latin typeface="Courier"/>
              </a:rPr>
              <a:t>"Brooklyn Nine-Nine"</a:t>
            </a:r>
            <a:r>
              <a:rPr>
                <a:solidFill>
                  <a:srgbClr val="003B4F"/>
                </a:solidFill>
                <a:latin typeface="Courier"/>
              </a:rPr>
              <a:t>, </a:t>
            </a:r>
            <a:r>
              <a:rPr>
                <a:solidFill>
                  <a:srgbClr val="20794D"/>
                </a:solidFill>
                <a:latin typeface="Courier"/>
              </a:rPr>
              <a:t>"notability"</a:t>
            </a:r>
            <a:r>
              <a:rPr>
                <a:solidFill>
                  <a:srgbClr val="003B4F"/>
                </a:solidFill>
                <a:latin typeface="Courier"/>
              </a:rPr>
              <a:t>])</a:t>
            </a:r>
            <a:br/>
            <a:br/>
            <a:r>
              <a:rPr>
                <a:solidFill>
                  <a:srgbClr val="5E5E5E"/>
                </a:solidFill>
                <a:latin typeface="Courier"/>
              </a:rPr>
              <a:t># Mean notability for Community</a:t>
            </a:r>
            <a:br/>
            <a:r>
              <a:rPr>
                <a:solidFill>
                  <a:srgbClr val="4758AB"/>
                </a:solidFill>
                <a:latin typeface="Courier"/>
              </a:rPr>
              <a:t>mean</a:t>
            </a:r>
            <a:r>
              <a:rPr>
                <a:solidFill>
                  <a:srgbClr val="003B4F"/>
                </a:solidFill>
                <a:latin typeface="Courier"/>
              </a:rPr>
              <a:t>(relevant_data[relevant_data</a:t>
            </a:r>
            <a:r>
              <a:rPr>
                <a:solidFill>
                  <a:srgbClr val="5E5E5E"/>
                </a:solidFill>
                <a:latin typeface="Courier"/>
              </a:rPr>
              <a:t>$</a:t>
            </a:r>
            <a:r>
              <a:rPr>
                <a:solidFill>
                  <a:srgbClr val="003B4F"/>
                </a:solidFill>
                <a:latin typeface="Courier"/>
              </a:rPr>
              <a:t>uni_name </a:t>
            </a:r>
            <a:r>
              <a:rPr>
                <a:solidFill>
                  <a:srgbClr val="5E5E5E"/>
                </a:solidFill>
                <a:latin typeface="Courier"/>
              </a:rPr>
              <a:t>==</a:t>
            </a:r>
            <a:r>
              <a:rPr>
                <a:solidFill>
                  <a:srgbClr val="003B4F"/>
                </a:solidFill>
                <a:latin typeface="Courier"/>
              </a:rPr>
              <a:t> </a:t>
            </a:r>
            <a:r>
              <a:rPr>
                <a:solidFill>
                  <a:srgbClr val="20794D"/>
                </a:solidFill>
                <a:latin typeface="Courier"/>
              </a:rPr>
              <a:t>"Community"</a:t>
            </a:r>
            <a:r>
              <a:rPr>
                <a:solidFill>
                  <a:srgbClr val="003B4F"/>
                </a:solidFill>
                <a:latin typeface="Courier"/>
              </a:rPr>
              <a:t>, </a:t>
            </a:r>
            <a:r>
              <a:rPr>
                <a:solidFill>
                  <a:srgbClr val="20794D"/>
                </a:solidFill>
                <a:latin typeface="Courier"/>
              </a:rPr>
              <a:t>"notability"</a:t>
            </a:r>
            <a:r>
              <a:rPr>
                <a:solidFill>
                  <a:srgbClr val="003B4F"/>
                </a:solidFill>
                <a:latin typeface="Courier"/>
              </a:rPr>
              <a:t>])</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Simple plotting: Histograms</a:t>
            </a:r>
          </a:p>
        </p:txBody>
      </p:sp>
      <p:sp>
        <p:nvSpPr>
          <p:cNvPr id="3" name="Content Placeholder 2"/>
          <p:cNvSpPr>
            <a:spLocks noGrp="1"/>
          </p:cNvSpPr>
          <p:nvPr>
            <p:ph idx="1"/>
          </p:nvPr>
        </p:nvSpPr>
        <p:spPr/>
        <p:txBody>
          <a:bodyPr/>
          <a:lstStyle/>
          <a:p>
            <a:pPr lvl="0" indent="0" marL="0">
              <a:buNone/>
            </a:pPr>
            <a:r>
              <a:rPr/>
              <a:t>Beyond calculating numbers, we can </a:t>
            </a:r>
            <a:r>
              <a:rPr b="1"/>
              <a:t>visualize our data</a:t>
            </a:r>
            <a:r>
              <a:rPr/>
              <a:t> to gain insights quickly. A great starting point for numeric data is a </a:t>
            </a:r>
            <a:r>
              <a:rPr b="1"/>
              <a:t>histogram</a:t>
            </a:r>
            <a:r>
              <a:rPr/>
              <a:t>.</a:t>
            </a:r>
          </a:p>
          <a:p>
            <a:pPr lvl="0"/>
            <a:r>
              <a:rPr b="1"/>
              <a:t>Visualizing distributions:</a:t>
            </a:r>
            <a:r>
              <a:rPr/>
              <a:t> A histogram groups numeric data into “bins” and shows the frequency (or count) of values falling into each bin.</a:t>
            </a:r>
          </a:p>
          <a:p>
            <a:pPr lvl="0"/>
            <a:r>
              <a:rPr b="1"/>
              <a:t>The </a:t>
            </a:r>
            <a:r>
              <a:rPr b="1">
                <a:latin typeface="Courier"/>
              </a:rPr>
              <a:t>hist()</a:t>
            </a:r>
            <a:r>
              <a:rPr b="1"/>
              <a:t> function:</a:t>
            </a:r>
            <a:r>
              <a:rPr/>
              <a:t> We apply this function directly to a numeric vector to generate a plot in the bottom-right </a:t>
            </a:r>
            <a:r>
              <a:rPr b="1"/>
              <a:t>Plots</a:t>
            </a:r>
            <a:r>
              <a:rPr/>
              <a:t> pane of RStudio.</a:t>
            </a:r>
          </a:p>
          <a:p>
            <a:pPr lvl="0"/>
            <a:r>
              <a:rPr b="1"/>
              <a:t>Customizing plots:</a:t>
            </a:r>
            <a:r>
              <a:rPr/>
              <a:t> You can add arguments like </a:t>
            </a:r>
            <a:r>
              <a:rPr>
                <a:latin typeface="Courier"/>
              </a:rPr>
              <a:t>main</a:t>
            </a:r>
            <a:r>
              <a:rPr/>
              <a:t> for the title and </a:t>
            </a:r>
            <a:r>
              <a:rPr>
                <a:latin typeface="Courier"/>
              </a:rPr>
              <a:t>xlab</a:t>
            </a:r>
            <a:r>
              <a:rPr/>
              <a:t> for the x-axis label to make your plots easier to read.</a:t>
            </a:r>
          </a:p>
          <a:p>
            <a:pPr lvl="0"/>
            <a:r>
              <a:rPr b="1"/>
              <a:t>Why it matters:</a:t>
            </a:r>
            <a:r>
              <a:rPr/>
              <a:t> While means and standard deviations tell us the average, a histogram shows us the actual shape of the data (e.g., are most values clustered in the middle, or skewed to one side?).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8</a:t>
            </a:r>
          </a:p>
        </p:txBody>
      </p:sp>
      <p:sp>
        <p:nvSpPr>
          <p:cNvPr id="3" name="Content Placeholder 2"/>
          <p:cNvSpPr>
            <a:spLocks noGrp="1"/>
          </p:cNvSpPr>
          <p:nvPr>
            <p:ph idx="1"/>
          </p:nvPr>
        </p:nvSpPr>
        <p:spPr/>
        <p:txBody>
          <a:bodyPr/>
          <a:lstStyle/>
          <a:p>
            <a:pPr lvl="0" indent="0" marL="0">
              <a:buNone/>
            </a:pPr>
            <a:r>
              <a:rPr b="1"/>
              <a:t>Visualizing distributions</a:t>
            </a:r>
          </a:p>
          <a:p>
            <a:pPr lvl="0"/>
            <a:r>
              <a:rPr/>
              <a:t>☐ Add a new section in your script using a comment.</a:t>
            </a:r>
          </a:p>
          <a:p>
            <a:pPr lvl="0"/>
            <a:r>
              <a:rPr/>
              <a:t>☐ Copy and run the hint below to allow two plots to be shown side-by-side.</a:t>
            </a:r>
          </a:p>
          <a:p>
            <a:pPr lvl="0"/>
            <a:r>
              <a:rPr/>
              <a:t>☐ Create a histogram (</a:t>
            </a:r>
            <a:r>
              <a:rPr>
                <a:latin typeface="Courier"/>
              </a:rPr>
              <a:t>hist()</a:t>
            </a:r>
            <a:r>
              <a:rPr/>
              <a:t>) showing the </a:t>
            </a:r>
            <a:r>
              <a:rPr>
                <a:latin typeface="Courier"/>
              </a:rPr>
              <a:t>notability</a:t>
            </a:r>
            <a:r>
              <a:rPr/>
              <a:t> of </a:t>
            </a:r>
            <a:r>
              <a:rPr>
                <a:latin typeface="Courier"/>
              </a:rPr>
              <a:t>"Brooklyn Nine-Nine"</a:t>
            </a:r>
            <a:r>
              <a:rPr/>
              <a:t> characters.</a:t>
            </a:r>
          </a:p>
          <a:p>
            <a:pPr lvl="0"/>
            <a:r>
              <a:rPr/>
              <a:t>☐ Create a second histogram showing the </a:t>
            </a:r>
            <a:r>
              <a:rPr>
                <a:latin typeface="Courier"/>
              </a:rPr>
              <a:t>notability</a:t>
            </a:r>
            <a:r>
              <a:rPr/>
              <a:t> of </a:t>
            </a:r>
            <a:r>
              <a:rPr>
                <a:latin typeface="Courier"/>
              </a:rPr>
              <a:t>"Community"</a:t>
            </a:r>
            <a:r>
              <a:rPr/>
              <a:t> characters.</a:t>
            </a:r>
          </a:p>
          <a:p>
            <a:pPr lvl="0" indent="0" marL="0">
              <a:buNone/>
            </a:pPr>
            <a:r>
              <a:rPr b="1"/>
              <a:t>Question:</a:t>
            </a:r>
            <a:r>
              <a:rPr/>
              <a:t> By looking at the plots, how do the distributions of the two shows compare?</a:t>
            </a:r>
          </a:p>
          <a:p>
            <a:pPr lvl="0" indent="0" marL="1270000">
              <a:buNone/>
            </a:pPr>
            <a:r>
              <a:rPr sz="2000" b="1"/>
              <a:t>Side-by-side plots hint</a:t>
            </a:r>
          </a:p>
          <a:p>
            <a:pPr lvl="0" indent="0" marL="1270000">
              <a:buNone/>
            </a:pPr>
            <a:r>
              <a:rPr sz="2000"/>
              <a:t>Run </a:t>
            </a:r>
            <a:r>
              <a:rPr sz="2000">
                <a:latin typeface="Courier"/>
              </a:rPr>
              <a:t>par(mfrow = c(1, 2))</a:t>
            </a:r>
            <a:r>
              <a:rPr sz="2000"/>
              <a:t> </a:t>
            </a:r>
            <a:r>
              <a:rPr sz="2000" i="1"/>
              <a:t>before</a:t>
            </a:r>
            <a:r>
              <a:rPr sz="2000"/>
              <a:t> creating your histograms. This tells R to split the plotting window into 1 row and 2 columns so we can easily compare both graphs next to each other!</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8: Solutions</a:t>
            </a:r>
          </a:p>
        </p:txBody>
      </p:sp>
      <p:sp>
        <p:nvSpPr>
          <p:cNvPr id="3" name="Content Placeholder 2"/>
          <p:cNvSpPr>
            <a:spLocks noGrp="1"/>
          </p:cNvSpPr>
          <p:nvPr>
            <p:ph idx="1"/>
          </p:nvPr>
        </p:nvSpPr>
        <p:spPr/>
        <p:txBody>
          <a:bodyPr/>
          <a:lstStyle/>
          <a:p>
            <a:pPr lvl="0" indent="0" marL="0">
              <a:buNone/>
            </a:pPr>
            <a:r>
              <a:rPr/>
              <a:t>This is an example of what you could have added to your R script:</a:t>
            </a:r>
          </a:p>
          <a:p>
            <a:pPr lvl="0" indent="0">
              <a:buNone/>
            </a:pPr>
            <a:r>
              <a:rPr>
                <a:solidFill>
                  <a:srgbClr val="5E5E5E"/>
                </a:solidFill>
                <a:latin typeface="Courier"/>
              </a:rPr>
              <a:t># Simple Plotting / Histograms</a:t>
            </a:r>
            <a:br/>
            <a:br/>
            <a:r>
              <a:rPr>
                <a:solidFill>
                  <a:srgbClr val="5E5E5E"/>
                </a:solidFill>
                <a:latin typeface="Courier"/>
              </a:rPr>
              <a:t># Set up the plotting area to show 2 plots side-by-side</a:t>
            </a:r>
            <a:b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2</a:t>
            </a:r>
            <a:r>
              <a:rPr>
                <a:solidFill>
                  <a:srgbClr val="003B4F"/>
                </a:solidFill>
                <a:latin typeface="Courier"/>
              </a:rPr>
              <a:t>))</a:t>
            </a:r>
            <a:br/>
            <a:br/>
            <a:r>
              <a:rPr>
                <a:solidFill>
                  <a:srgbClr val="5E5E5E"/>
                </a:solidFill>
                <a:latin typeface="Courier"/>
              </a:rPr>
              <a:t># Histogram for Brooklyn Nine-Nine</a:t>
            </a:r>
            <a:br/>
            <a:r>
              <a:rPr>
                <a:solidFill>
                  <a:srgbClr val="4758AB"/>
                </a:solidFill>
                <a:latin typeface="Courier"/>
              </a:rPr>
              <a:t>hist</a:t>
            </a:r>
            <a:r>
              <a:rPr>
                <a:solidFill>
                  <a:srgbClr val="003B4F"/>
                </a:solidFill>
                <a:latin typeface="Courier"/>
              </a:rPr>
              <a:t>(relevant_data[relevant_data</a:t>
            </a:r>
            <a:r>
              <a:rPr>
                <a:solidFill>
                  <a:srgbClr val="5E5E5E"/>
                </a:solidFill>
                <a:latin typeface="Courier"/>
              </a:rPr>
              <a:t>$</a:t>
            </a:r>
            <a:r>
              <a:rPr>
                <a:solidFill>
                  <a:srgbClr val="003B4F"/>
                </a:solidFill>
                <a:latin typeface="Courier"/>
              </a:rPr>
              <a:t>uni_name </a:t>
            </a:r>
            <a:r>
              <a:rPr>
                <a:solidFill>
                  <a:srgbClr val="5E5E5E"/>
                </a:solidFill>
                <a:latin typeface="Courier"/>
              </a:rPr>
              <a:t>==</a:t>
            </a:r>
            <a:r>
              <a:rPr>
                <a:solidFill>
                  <a:srgbClr val="003B4F"/>
                </a:solidFill>
                <a:latin typeface="Courier"/>
              </a:rPr>
              <a:t> </a:t>
            </a:r>
            <a:r>
              <a:rPr>
                <a:solidFill>
                  <a:srgbClr val="20794D"/>
                </a:solidFill>
                <a:latin typeface="Courier"/>
              </a:rPr>
              <a:t>"Brooklyn Nine-Nine"</a:t>
            </a:r>
            <a:r>
              <a:rPr>
                <a:solidFill>
                  <a:srgbClr val="003B4F"/>
                </a:solidFill>
                <a:latin typeface="Courier"/>
              </a:rPr>
              <a:t>, </a:t>
            </a:r>
            <a:r>
              <a:rPr>
                <a:solidFill>
                  <a:srgbClr val="20794D"/>
                </a:solidFill>
                <a:latin typeface="Courier"/>
              </a:rPr>
              <a:t>"notability"</a:t>
            </a:r>
            <a:r>
              <a:rPr>
                <a:solidFill>
                  <a:srgbClr val="003B4F"/>
                </a:solidFill>
                <a:latin typeface="Courier"/>
              </a:rPr>
              <a:t>],</a:t>
            </a:r>
            <a:b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"Brooklyn Nine-Nine"</a:t>
            </a:r>
            <a:r>
              <a:rPr>
                <a:solidFill>
                  <a:srgbClr val="003B4F"/>
                </a:solidFill>
                <a:latin typeface="Courier"/>
              </a:rPr>
              <a:t>,</a:t>
            </a:r>
            <a:br/>
            <a:r>
              <a:rPr>
                <a:solidFill>
                  <a:srgbClr val="003B4F"/>
                </a:solidFill>
                <a:latin typeface="Courier"/>
              </a:rPr>
              <a:t>    </a:t>
            </a:r>
            <a:r>
              <a:rPr>
                <a:solidFill>
                  <a:srgbClr val="657422"/>
                </a:solidFill>
                <a:latin typeface="Courier"/>
              </a:rPr>
              <a:t>xlab =</a:t>
            </a:r>
            <a:r>
              <a:rPr>
                <a:solidFill>
                  <a:srgbClr val="003B4F"/>
                </a:solidFill>
                <a:latin typeface="Courier"/>
              </a:rPr>
              <a:t> </a:t>
            </a:r>
            <a:r>
              <a:rPr>
                <a:solidFill>
                  <a:srgbClr val="20794D"/>
                </a:solidFill>
                <a:latin typeface="Courier"/>
              </a:rPr>
              <a:t>"Notability"</a:t>
            </a:r>
            <a:br/>
            <a:r>
              <a:rPr>
                <a:solidFill>
                  <a:srgbClr val="003B4F"/>
                </a:solidFill>
                <a:latin typeface="Courier"/>
              </a:rPr>
              <a:t>)</a:t>
            </a:r>
            <a:br/>
            <a:br/>
            <a:r>
              <a:rPr>
                <a:solidFill>
                  <a:srgbClr val="5E5E5E"/>
                </a:solidFill>
                <a:latin typeface="Courier"/>
              </a:rPr>
              <a:t># Histogram for Community</a:t>
            </a:r>
            <a:br/>
            <a:r>
              <a:rPr>
                <a:solidFill>
                  <a:srgbClr val="4758AB"/>
                </a:solidFill>
                <a:latin typeface="Courier"/>
              </a:rPr>
              <a:t>hist</a:t>
            </a:r>
            <a:r>
              <a:rPr>
                <a:solidFill>
                  <a:srgbClr val="003B4F"/>
                </a:solidFill>
                <a:latin typeface="Courier"/>
              </a:rPr>
              <a:t>(relevant_data[relevant_data</a:t>
            </a:r>
            <a:r>
              <a:rPr>
                <a:solidFill>
                  <a:srgbClr val="5E5E5E"/>
                </a:solidFill>
                <a:latin typeface="Courier"/>
              </a:rPr>
              <a:t>$</a:t>
            </a:r>
            <a:r>
              <a:rPr>
                <a:solidFill>
                  <a:srgbClr val="003B4F"/>
                </a:solidFill>
                <a:latin typeface="Courier"/>
              </a:rPr>
              <a:t>uni_name </a:t>
            </a:r>
            <a:r>
              <a:rPr>
                <a:solidFill>
                  <a:srgbClr val="5E5E5E"/>
                </a:solidFill>
                <a:latin typeface="Courier"/>
              </a:rPr>
              <a:t>==</a:t>
            </a:r>
            <a:r>
              <a:rPr>
                <a:solidFill>
                  <a:srgbClr val="003B4F"/>
                </a:solidFill>
                <a:latin typeface="Courier"/>
              </a:rPr>
              <a:t> </a:t>
            </a:r>
            <a:r>
              <a:rPr>
                <a:solidFill>
                  <a:srgbClr val="20794D"/>
                </a:solidFill>
                <a:latin typeface="Courier"/>
              </a:rPr>
              <a:t>"Community"</a:t>
            </a:r>
            <a:r>
              <a:rPr>
                <a:solidFill>
                  <a:srgbClr val="003B4F"/>
                </a:solidFill>
                <a:latin typeface="Courier"/>
              </a:rPr>
              <a:t>, </a:t>
            </a:r>
            <a:r>
              <a:rPr>
                <a:solidFill>
                  <a:srgbClr val="20794D"/>
                </a:solidFill>
                <a:latin typeface="Courier"/>
              </a:rPr>
              <a:t>"notability"</a:t>
            </a:r>
            <a:r>
              <a:rPr>
                <a:solidFill>
                  <a:srgbClr val="003B4F"/>
                </a:solidFill>
                <a:latin typeface="Courier"/>
              </a:rPr>
              <a:t>],</a:t>
            </a:r>
            <a:b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"Community"</a:t>
            </a:r>
            <a:r>
              <a:rPr>
                <a:solidFill>
                  <a:srgbClr val="003B4F"/>
                </a:solidFill>
                <a:latin typeface="Courier"/>
              </a:rPr>
              <a:t>,</a:t>
            </a:r>
            <a:br/>
            <a:r>
              <a:rPr>
                <a:solidFill>
                  <a:srgbClr val="003B4F"/>
                </a:solidFill>
                <a:latin typeface="Courier"/>
              </a:rPr>
              <a:t>    </a:t>
            </a:r>
            <a:r>
              <a:rPr>
                <a:solidFill>
                  <a:srgbClr val="657422"/>
                </a:solidFill>
                <a:latin typeface="Courier"/>
              </a:rPr>
              <a:t>xlab =</a:t>
            </a:r>
            <a:r>
              <a:rPr>
                <a:solidFill>
                  <a:srgbClr val="003B4F"/>
                </a:solidFill>
                <a:latin typeface="Courier"/>
              </a:rPr>
              <a:t> </a:t>
            </a:r>
            <a:r>
              <a:rPr>
                <a:solidFill>
                  <a:srgbClr val="20794D"/>
                </a:solidFill>
                <a:latin typeface="Courier"/>
              </a:rPr>
              <a:t>"Notability"</a:t>
            </a:r>
            <a:br/>
            <a:r>
              <a:rPr>
                <a:solidFill>
                  <a:srgbClr val="003B4F"/>
                </a:solidFill>
                <a:latin typeface="Courier"/>
              </a:rPr>
              <a:t>)</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8: R output</a:t>
            </a:r>
          </a:p>
        </p:txBody>
      </p:sp>
      <p:pic>
        <p:nvPicPr>
          <p:cNvPr descr="images/notability_histograms.png" id="0" name="Picture 1"/>
          <p:cNvPicPr>
            <a:picLocks noGrp="1" noChangeAspect="1"/>
          </p:cNvPicPr>
          <p:nvPr/>
        </p:nvPicPr>
        <p:blipFill>
          <a:blip r:embed="rId3"/>
          <a:stretch>
            <a:fillRect/>
          </a:stretch>
        </p:blipFill>
        <p:spPr bwMode="auto">
          <a:xfrm>
            <a:off x="1181100" y="1193800"/>
            <a:ext cx="6781800" cy="33909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practices and context</a:t>
            </a:r>
          </a:p>
        </p:txBody>
      </p:sp>
      <p:pic>
        <p:nvPicPr>
          <p:cNvPr descr="images/light-icon.png" id="0" name="Picture 1"/>
          <p:cNvPicPr>
            <a:picLocks noGrp="1" noChangeAspect="1"/>
          </p:cNvPicPr>
          <p:nvPr/>
        </p:nvPicPr>
        <p:blipFill>
          <a:blip r:embed="rId2"/>
          <a:stretch>
            <a:fillRect/>
          </a:stretch>
        </p:blipFill>
        <p:spPr bwMode="auto">
          <a:xfrm>
            <a:off x="3263900" y="1193800"/>
            <a:ext cx="2616200" cy="33909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Common mistakes and troubleshooting</a:t>
            </a:r>
          </a:p>
        </p:txBody>
      </p:sp>
      <p:sp>
        <p:nvSpPr>
          <p:cNvPr id="3" name="Content Placeholder 2"/>
          <p:cNvSpPr>
            <a:spLocks noGrp="1"/>
          </p:cNvSpPr>
          <p:nvPr>
            <p:ph idx="1"/>
          </p:nvPr>
        </p:nvSpPr>
        <p:spPr/>
        <p:txBody>
          <a:bodyPr/>
          <a:lstStyle/>
          <a:p>
            <a:pPr lvl="0" indent="0" marL="0">
              <a:buNone/>
            </a:pPr>
            <a:r>
              <a:rPr/>
              <a:t>Errors are a </a:t>
            </a:r>
            <a:r>
              <a:rPr b="1"/>
              <a:t>normal part of programming</a:t>
            </a:r>
            <a:r>
              <a:rPr/>
              <a:t>. When R throws an error, check for these common culprits first:</a:t>
            </a:r>
          </a:p>
          <a:p>
            <a:pPr lvl="0"/>
            <a:r>
              <a:rPr b="1"/>
              <a:t>Wrong capitalization:</a:t>
            </a:r>
            <a:r>
              <a:rPr/>
              <a:t> R is strictly case-sensitive. </a:t>
            </a:r>
            <a:r>
              <a:rPr>
                <a:latin typeface="Courier"/>
              </a:rPr>
              <a:t>Characters</a:t>
            </a:r>
            <a:r>
              <a:rPr/>
              <a:t> is not the same as </a:t>
            </a:r>
            <a:r>
              <a:rPr>
                <a:latin typeface="Courier"/>
              </a:rPr>
              <a:t>characters</a:t>
            </a:r>
            <a:r>
              <a:rPr/>
              <a:t>.</a:t>
            </a:r>
          </a:p>
          <a:p>
            <a:pPr lvl="0"/>
            <a:r>
              <a:rPr b="1"/>
              <a:t>Forgetting quotation marks:</a:t>
            </a:r>
            <a:r>
              <a:rPr/>
              <a:t> Text values and file names must be wrapped in quotes (e.g., </a:t>
            </a:r>
            <a:r>
              <a:rPr>
                <a:latin typeface="Courier"/>
              </a:rPr>
              <a:t>"Community"</a:t>
            </a:r>
            <a:r>
              <a:rPr/>
              <a:t>, not </a:t>
            </a:r>
            <a:r>
              <a:rPr>
                <a:latin typeface="Courier"/>
              </a:rPr>
              <a:t>Community</a:t>
            </a:r>
            <a:r>
              <a:rPr/>
              <a:t>).</a:t>
            </a:r>
          </a:p>
          <a:p>
            <a:pPr lvl="0"/>
            <a:r>
              <a:rPr b="1"/>
              <a:t>Other typos:</a:t>
            </a:r>
            <a:r>
              <a:rPr/>
              <a:t> A missing comma, an unclosed parenthesis, or spelling </a:t>
            </a:r>
            <a:r>
              <a:rPr>
                <a:latin typeface="Courier"/>
              </a:rPr>
              <a:t>notablity</a:t>
            </a:r>
            <a:r>
              <a:rPr/>
              <a:t> instead of </a:t>
            </a:r>
            <a:r>
              <a:rPr>
                <a:latin typeface="Courier"/>
              </a:rPr>
              <a:t>notability</a:t>
            </a:r>
            <a:r>
              <a:rPr/>
              <a:t> will cause failures.</a:t>
            </a:r>
          </a:p>
          <a:p>
            <a:pPr lvl="0"/>
            <a:r>
              <a:rPr b="1"/>
              <a:t>Assignment issues:</a:t>
            </a:r>
            <a:r>
              <a:rPr/>
              <a:t> Ensure the assignment arrow (</a:t>
            </a:r>
            <a:r>
              <a:rPr>
                <a:latin typeface="Courier"/>
              </a:rPr>
              <a:t>&lt;-</a:t>
            </a:r>
            <a:r>
              <a:rPr/>
              <a:t>) points to the object name on the left, and check if you accidentally overwrote your data.</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9: Spot the errors</a:t>
            </a:r>
          </a:p>
        </p:txBody>
      </p:sp>
      <p:sp>
        <p:nvSpPr>
          <p:cNvPr id="3" name="Content Placeholder 2"/>
          <p:cNvSpPr>
            <a:spLocks noGrp="1"/>
          </p:cNvSpPr>
          <p:nvPr>
            <p:ph idx="1"/>
          </p:nvPr>
        </p:nvSpPr>
        <p:spPr/>
        <p:txBody>
          <a:bodyPr/>
          <a:lstStyle/>
          <a:p>
            <a:pPr lvl="0" indent="0" marL="0">
              <a:buNone/>
            </a:pPr>
            <a:r>
              <a:rPr/>
              <a:t>What is wrong with the following lines of code?</a:t>
            </a:r>
          </a:p>
          <a:p>
            <a:pPr lvl="0" indent="0" marL="0">
              <a:buNone/>
            </a:pPr>
          </a:p>
          <a:p>
            <a:pPr lvl="0" indent="0">
              <a:buNone/>
            </a:pPr>
            <a:r>
              <a:rPr>
                <a:solidFill>
                  <a:srgbClr val="5E5E5E"/>
                </a:solidFill>
                <a:latin typeface="Courier"/>
              </a:rPr>
              <a:t># 1. Loading data</a:t>
            </a:r>
            <a:br/>
            <a:r>
              <a:rPr>
                <a:solidFill>
                  <a:srgbClr val="003B4F"/>
                </a:solidFill>
                <a:latin typeface="Courier"/>
              </a:rPr>
              <a:t>my_data &lt;- </a:t>
            </a:r>
            <a:r>
              <a:rPr>
                <a:solidFill>
                  <a:srgbClr val="4758AB"/>
                </a:solidFill>
                <a:latin typeface="Courier"/>
              </a:rPr>
              <a:t>readRDS</a:t>
            </a:r>
            <a:r>
              <a:rPr>
                <a:solidFill>
                  <a:srgbClr val="003B4F"/>
                </a:solidFill>
                <a:latin typeface="Courier"/>
              </a:rPr>
              <a:t>(characters.rds)</a:t>
            </a:r>
            <a:br/>
            <a:br/>
            <a:r>
              <a:rPr>
                <a:solidFill>
                  <a:srgbClr val="5E5E5E"/>
                </a:solidFill>
                <a:latin typeface="Courier"/>
              </a:rPr>
              <a:t># 2. Calculating a mean</a:t>
            </a:r>
            <a:br/>
            <a:r>
              <a:rPr>
                <a:solidFill>
                  <a:srgbClr val="4758AB"/>
                </a:solidFill>
                <a:latin typeface="Courier"/>
              </a:rPr>
              <a:t>Mean</a:t>
            </a:r>
            <a:r>
              <a:rPr>
                <a:solidFill>
                  <a:srgbClr val="003B4F"/>
                </a:solidFill>
                <a:latin typeface="Courier"/>
              </a:rPr>
              <a:t>(my_data</a:t>
            </a:r>
            <a:r>
              <a:rPr>
                <a:solidFill>
                  <a:srgbClr val="5E5E5E"/>
                </a:solidFill>
                <a:latin typeface="Courier"/>
              </a:rPr>
              <a:t>$</a:t>
            </a:r>
            <a:r>
              <a:rPr>
                <a:solidFill>
                  <a:srgbClr val="003B4F"/>
                </a:solidFill>
                <a:latin typeface="Courier"/>
              </a:rPr>
              <a:t>notability)</a:t>
            </a:r>
            <a:br/>
            <a:br/>
            <a:r>
              <a:rPr>
                <a:solidFill>
                  <a:srgbClr val="5E5E5E"/>
                </a:solidFill>
                <a:latin typeface="Courier"/>
              </a:rPr>
              <a:t># 3. Subsetting</a:t>
            </a:r>
            <a:br/>
            <a:r>
              <a:rPr>
                <a:solidFill>
                  <a:srgbClr val="003B4F"/>
                </a:solidFill>
                <a:latin typeface="Courier"/>
              </a:rPr>
              <a:t>brooklyn_data &lt;- my_data[my_data</a:t>
            </a:r>
            <a:r>
              <a:rPr>
                <a:solidFill>
                  <a:srgbClr val="5E5E5E"/>
                </a:solidFill>
                <a:latin typeface="Courier"/>
              </a:rPr>
              <a:t>$</a:t>
            </a:r>
            <a:r>
              <a:rPr>
                <a:solidFill>
                  <a:srgbClr val="003B4F"/>
                </a:solidFill>
                <a:latin typeface="Courier"/>
              </a:rPr>
              <a:t>uni_name </a:t>
            </a:r>
            <a:r>
              <a:rPr>
                <a:solidFill>
                  <a:srgbClr val="5E5E5E"/>
                </a:solidFill>
                <a:latin typeface="Courier"/>
              </a:rPr>
              <a:t>==</a:t>
            </a:r>
            <a:r>
              <a:rPr>
                <a:solidFill>
                  <a:srgbClr val="003B4F"/>
                </a:solidFill>
                <a:latin typeface="Courier"/>
              </a:rPr>
              <a:t> Brooklyn Nine</a:t>
            </a:r>
            <a:r>
              <a:rPr>
                <a:solidFill>
                  <a:srgbClr val="5E5E5E"/>
                </a:solidFill>
                <a:latin typeface="Courier"/>
              </a:rPr>
              <a:t>-</a:t>
            </a:r>
            <a:r>
              <a:rPr>
                <a:solidFill>
                  <a:srgbClr val="003B4F"/>
                </a:solidFill>
                <a:latin typeface="Courier"/>
              </a:rPr>
              <a:t>Nine]</a:t>
            </a:r>
          </a:p>
          <a:p>
            <a:pPr lvl="0" indent="0" marL="0">
              <a:buNone/>
            </a:pPr>
            <a:r>
              <a:rPr/>
              <a:t>Write your correctd version into your R script.</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9: Solutions</a:t>
            </a:r>
          </a:p>
        </p:txBody>
      </p:sp>
      <p:sp>
        <p:nvSpPr>
          <p:cNvPr id="3" name="Content Placeholder 2"/>
          <p:cNvSpPr>
            <a:spLocks noGrp="1"/>
          </p:cNvSpPr>
          <p:nvPr>
            <p:ph idx="1"/>
          </p:nvPr>
        </p:nvSpPr>
        <p:spPr/>
        <p:txBody>
          <a:bodyPr/>
          <a:lstStyle/>
          <a:p>
            <a:pPr lvl="0" indent="0" marL="0">
              <a:buNone/>
            </a:pPr>
            <a:r>
              <a:rPr/>
              <a:t>Some possible corrections of the previous code:</a:t>
            </a:r>
          </a:p>
          <a:p>
            <a:pPr lvl="0" indent="0">
              <a:buNone/>
            </a:pPr>
            <a:r>
              <a:rPr>
                <a:solidFill>
                  <a:srgbClr val="5E5E5E"/>
                </a:solidFill>
                <a:latin typeface="Courier"/>
              </a:rPr>
              <a:t># 1. Loading data</a:t>
            </a:r>
            <a:br/>
            <a:r>
              <a:rPr>
                <a:solidFill>
                  <a:srgbClr val="003B4F"/>
                </a:solidFill>
                <a:latin typeface="Courier"/>
              </a:rPr>
              <a:t>my_data &lt;- </a:t>
            </a:r>
            <a:r>
              <a:rPr>
                <a:solidFill>
                  <a:srgbClr val="4758AB"/>
                </a:solidFill>
                <a:latin typeface="Courier"/>
              </a:rPr>
              <a:t>readRDS</a:t>
            </a:r>
            <a:r>
              <a:rPr>
                <a:solidFill>
                  <a:srgbClr val="003B4F"/>
                </a:solidFill>
                <a:latin typeface="Courier"/>
              </a:rPr>
              <a:t>(</a:t>
            </a:r>
            <a:r>
              <a:rPr>
                <a:solidFill>
                  <a:srgbClr val="20794D"/>
                </a:solidFill>
                <a:latin typeface="Courier"/>
              </a:rPr>
              <a:t>"characters.rds"</a:t>
            </a:r>
            <a:r>
              <a:rPr>
                <a:solidFill>
                  <a:srgbClr val="003B4F"/>
                </a:solidFill>
                <a:latin typeface="Courier"/>
              </a:rPr>
              <a:t>)</a:t>
            </a:r>
            <a:br/>
            <a:br/>
            <a:r>
              <a:rPr>
                <a:solidFill>
                  <a:srgbClr val="5E5E5E"/>
                </a:solidFill>
                <a:latin typeface="Courier"/>
              </a:rPr>
              <a:t># 2. Calculating a mean</a:t>
            </a:r>
            <a:br/>
            <a:r>
              <a:rPr>
                <a:solidFill>
                  <a:srgbClr val="4758AB"/>
                </a:solidFill>
                <a:latin typeface="Courier"/>
              </a:rPr>
              <a:t>mean</a:t>
            </a:r>
            <a:r>
              <a:rPr>
                <a:solidFill>
                  <a:srgbClr val="003B4F"/>
                </a:solidFill>
                <a:latin typeface="Courier"/>
              </a:rPr>
              <a:t>(my_data</a:t>
            </a:r>
            <a:r>
              <a:rPr>
                <a:solidFill>
                  <a:srgbClr val="5E5E5E"/>
                </a:solidFill>
                <a:latin typeface="Courier"/>
              </a:rPr>
              <a:t>$</a:t>
            </a:r>
            <a:r>
              <a:rPr>
                <a:solidFill>
                  <a:srgbClr val="003B4F"/>
                </a:solidFill>
                <a:latin typeface="Courier"/>
              </a:rPr>
              <a:t>notability)</a:t>
            </a:r>
            <a:br/>
            <a:br/>
            <a:r>
              <a:rPr>
                <a:solidFill>
                  <a:srgbClr val="5E5E5E"/>
                </a:solidFill>
                <a:latin typeface="Courier"/>
              </a:rPr>
              <a:t># 3. Subsetting</a:t>
            </a:r>
            <a:br/>
            <a:r>
              <a:rPr>
                <a:solidFill>
                  <a:srgbClr val="003B4F"/>
                </a:solidFill>
                <a:latin typeface="Courier"/>
              </a:rPr>
              <a:t>brooklyn_data &lt;- my_data[my_data</a:t>
            </a:r>
            <a:r>
              <a:rPr>
                <a:solidFill>
                  <a:srgbClr val="5E5E5E"/>
                </a:solidFill>
                <a:latin typeface="Courier"/>
              </a:rPr>
              <a:t>$</a:t>
            </a:r>
            <a:r>
              <a:rPr>
                <a:solidFill>
                  <a:srgbClr val="003B4F"/>
                </a:solidFill>
                <a:latin typeface="Courier"/>
              </a:rPr>
              <a:t>uni_name </a:t>
            </a:r>
            <a:r>
              <a:rPr>
                <a:solidFill>
                  <a:srgbClr val="5E5E5E"/>
                </a:solidFill>
                <a:latin typeface="Courier"/>
              </a:rPr>
              <a:t>==</a:t>
            </a:r>
            <a:r>
              <a:rPr>
                <a:solidFill>
                  <a:srgbClr val="003B4F"/>
                </a:solidFill>
                <a:latin typeface="Courier"/>
              </a:rPr>
              <a:t> </a:t>
            </a:r>
            <a:r>
              <a:rPr>
                <a:solidFill>
                  <a:srgbClr val="20794D"/>
                </a:solidFill>
                <a:latin typeface="Courier"/>
              </a:rPr>
              <a:t>"Brooklyn Nine-Nine"</a:t>
            </a:r>
            <a:r>
              <a:rPr>
                <a:solidFill>
                  <a:srgbClr val="003B4F"/>
                </a:solidFill>
                <a:latin typeface="Courier"/>
              </a:rPr>
              <a:t>, ]</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Big Picture: R in data science</a:t>
            </a:r>
          </a:p>
        </p:txBody>
      </p:sp>
      <p:sp>
        <p:nvSpPr>
          <p:cNvPr id="3" name="Content Placeholder 2"/>
          <p:cNvSpPr>
            <a:spLocks noGrp="1"/>
          </p:cNvSpPr>
          <p:nvPr>
            <p:ph idx="1"/>
          </p:nvPr>
        </p:nvSpPr>
        <p:spPr/>
        <p:txBody>
          <a:bodyPr/>
          <a:lstStyle/>
          <a:p>
            <a:pPr lvl="0" indent="0" marL="0">
              <a:buNone/>
            </a:pPr>
            <a:r>
              <a:rPr/>
              <a:t>Today, you </a:t>
            </a:r>
            <a:r>
              <a:rPr b="1"/>
              <a:t>learned the foundational skills of data handling</a:t>
            </a:r>
            <a:r>
              <a:rPr/>
              <a:t>.</a:t>
            </a:r>
          </a:p>
          <a:p>
            <a:pPr lvl="0"/>
            <a:r>
              <a:rPr b="1"/>
              <a:t>Import:</a:t>
            </a:r>
            <a:r>
              <a:rPr/>
              <a:t> Reading data from various sources (e.g., </a:t>
            </a:r>
            <a:r>
              <a:rPr>
                <a:latin typeface="Courier"/>
              </a:rPr>
              <a:t>.rds</a:t>
            </a:r>
            <a:r>
              <a:rPr/>
              <a:t>, </a:t>
            </a:r>
            <a:r>
              <a:rPr>
                <a:latin typeface="Courier"/>
              </a:rPr>
              <a:t>.csv</a:t>
            </a:r>
            <a:r>
              <a:rPr/>
              <a:t>, Excel). </a:t>
            </a:r>
            <a:r>
              <a:rPr i="1"/>
              <a:t>(We did this!)</a:t>
            </a:r>
          </a:p>
          <a:p>
            <a:pPr lvl="0"/>
            <a:r>
              <a:rPr b="1"/>
              <a:t>Wrangle and transform:</a:t>
            </a:r>
            <a:r>
              <a:rPr/>
              <a:t> Subsetting, cleaning, and reshaping data to fit your needs. </a:t>
            </a:r>
            <a:r>
              <a:rPr i="1"/>
              <a:t>(We did this!)</a:t>
            </a:r>
          </a:p>
          <a:p>
            <a:pPr lvl="0"/>
            <a:r>
              <a:rPr b="1"/>
              <a:t>Visualize:</a:t>
            </a:r>
            <a:r>
              <a:rPr/>
              <a:t> Creating plots to understand distributions and patterns. </a:t>
            </a:r>
            <a:r>
              <a:rPr i="1"/>
              <a:t>(We did this!)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Looking to the future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Import </a:t>
                </a:r>
                <a14:m>
                  <m:oMath xmlns:m="http://schemas.openxmlformats.org/officeDocument/2006/math">
                    <m:r>
                      <m:rPr>
                        <m:sty m:val="p"/>
                      </m:rPr>
                      <m:t>→</m:t>
                    </m:r>
                  </m:oMath>
                </a14:m>
                <a:r>
                  <a:rPr/>
                  <a:t> Tidy / (</a:t>
                </a:r>
                <a:r>
                  <a:rPr i="1"/>
                  <a:t>Part I</a:t>
                </a:r>
                <a:r>
                  <a:rPr/>
                  <a:t>)  Transform </a:t>
                </a:r>
                <a14:m>
                  <m:oMath xmlns:m="http://schemas.openxmlformats.org/officeDocument/2006/math">
                    <m:r>
                      <m:rPr>
                        <m:sty m:val="p"/>
                      </m:rPr>
                      <m:t>→</m:t>
                    </m:r>
                  </m:oMath>
                </a14:m>
                <a:r>
                  <a:rPr/>
                  <a:t> Visualize / (</a:t>
                </a:r>
                <a:r>
                  <a:rPr i="1"/>
                  <a:t>Part II</a:t>
                </a:r>
                <a:r>
                  <a:rPr/>
                  <a:t>)  Model </a:t>
                </a:r>
                <a14:m>
                  <m:oMath xmlns:m="http://schemas.openxmlformats.org/officeDocument/2006/math">
                    <m:r>
                      <m:rPr>
                        <m:sty m:val="p"/>
                      </m:rPr>
                      <m:t>→</m:t>
                    </m:r>
                  </m:oMath>
                </a14:m>
                <a:r>
                  <a:rPr/>
                  <a:t> Communicate</a:t>
                </a:r>
              </a:p>
              <a:p>
                <a:pPr lvl="0" indent="0" marL="0">
                  <a:buNone/>
                </a:pPr>
                <a:r>
                  <a:rPr b="1"/>
                  <a:t>Building up</a:t>
                </a:r>
                <a:r>
                  <a:rPr/>
                  <a:t> on your data handling skills in the future …</a:t>
                </a:r>
              </a:p>
              <a:p>
                <a:pPr lvl="0"/>
                <a:r>
                  <a:rPr b="1"/>
                  <a:t>Model:</a:t>
                </a:r>
                <a:r>
                  <a:rPr/>
                  <a:t> Running complex statistical analyses and machine learning algorithms.</a:t>
                </a:r>
              </a:p>
              <a:p>
                <a:pPr lvl="0"/>
                <a:r>
                  <a:rPr b="1"/>
                  <a:t>Communicate:</a:t>
                </a:r>
                <a:r>
                  <a:rPr/>
                  <a:t> Generating automated reports, interactive dashboards, or even </a:t>
                </a:r>
                <a:r>
                  <a:rPr b="1"/>
                  <a:t>these exact presentation slides</a:t>
                </a:r>
                <a:r>
                  <a:rPr/>
                  <a:t> using Quarto/RMarkdown!</a:t>
                </a:r>
              </a:p>
              <a:p>
                <a:pPr lvl="0" indent="0" marL="0">
                  <a:buNone/>
                </a:pPr>
                <a:r>
                  <a:rPr/>
                  <a:t>Sneak peak of writing interactive reports and scientific manuscripts in Quarto for more experienced researchers: </a:t>
                </a:r>
                <a:r>
                  <a:rPr>
                    <a:hlinkClick r:id="rId3"/>
                  </a:rPr>
                  <a:t>https://lmu-osc.github.io/introduction-to-Quarto/</a:t>
                </a:r>
              </a:p>
            </p:txBody>
          </p:sp>
        </mc:Choice>
      </mc:AlternateContent>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power of R: What could be next…?</a:t>
            </a:r>
          </a:p>
        </p:txBody>
      </p:sp>
      <p:sp>
        <p:nvSpPr>
          <p:cNvPr id="3" name="Content Placeholder 2"/>
          <p:cNvSpPr>
            <a:spLocks noGrp="1"/>
          </p:cNvSpPr>
          <p:nvPr>
            <p:ph idx="1"/>
          </p:nvPr>
        </p:nvSpPr>
        <p:spPr/>
        <p:txBody>
          <a:bodyPr/>
          <a:lstStyle/>
          <a:p>
            <a:pPr lvl="0" indent="0" marL="0">
              <a:buNone/>
            </a:pPr>
            <a:r>
              <a:rPr/>
              <a:t>Mastering the basics opens the door to highly </a:t>
            </a:r>
            <a:r>
              <a:rPr b="1"/>
              <a:t>advanced, publication-ready tools</a:t>
            </a:r>
            <a:r>
              <a:rPr/>
              <a:t>:</a:t>
            </a:r>
          </a:p>
          <a:p>
            <a:pPr lvl="0"/>
            <a:r>
              <a:rPr b="1"/>
              <a:t>Advanced visualizations:</a:t>
            </a:r>
            <a:r>
              <a:rPr/>
              <a:t> Packages like </a:t>
            </a:r>
            <a:r>
              <a:rPr>
                <a:hlinkClick r:id="rId3"/>
                <a:latin typeface="Courier"/>
              </a:rPr>
              <a:t>ggplot2</a:t>
            </a:r>
            <a:r>
              <a:rPr/>
              <a:t> </a:t>
            </a:r>
            <a:r>
              <a:rPr>
                <a:hlinkClick r:id="rId4"/>
              </a:rPr>
              <a:t>https://ggplot2.tidyverse.org/</a:t>
            </a:r>
            <a:r>
              <a:rPr/>
              <a:t> allow you to create stunning, highly customized graphics</a:t>
            </a:r>
          </a:p>
          <a:p>
            <a:pPr lvl="0"/>
            <a:r>
              <a:rPr b="1"/>
              <a:t>Interactivity:</a:t>
            </a:r>
            <a:r>
              <a:rPr/>
              <a:t> Packages like </a:t>
            </a:r>
            <a:r>
              <a:rPr>
                <a:hlinkClick r:id="rId5"/>
                <a:latin typeface="Courier"/>
              </a:rPr>
              <a:t>shiny</a:t>
            </a:r>
            <a:r>
              <a:rPr/>
              <a:t> </a:t>
            </a:r>
            <a:r>
              <a:rPr>
                <a:hlinkClick r:id="rId6"/>
              </a:rPr>
              <a:t>https://shiny.posit.co/</a:t>
            </a:r>
            <a:r>
              <a:rPr/>
              <a:t> let you build interactive web applications for your data</a:t>
            </a:r>
          </a:p>
          <a:p>
            <a:pPr lvl="0"/>
            <a:r>
              <a:rPr b="1"/>
              <a:t>Reproducibility:</a:t>
            </a:r>
            <a:r>
              <a:rPr/>
              <a:t> By scripting your analysis, anyone (including future you) can re-run your exact steps with zero guesswork</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Final words (of wisdom)</a:t>
            </a:r>
          </a:p>
        </p:txBody>
      </p:sp>
      <p:sp>
        <p:nvSpPr>
          <p:cNvPr id="3" name="Content Placeholder 2"/>
          <p:cNvSpPr>
            <a:spLocks noGrp="1"/>
          </p:cNvSpPr>
          <p:nvPr>
            <p:ph idx="1"/>
          </p:nvPr>
        </p:nvSpPr>
        <p:spPr/>
        <p:txBody>
          <a:bodyPr/>
          <a:lstStyle/>
          <a:p>
            <a:pPr lvl="0" indent="0" marL="0">
              <a:buNone/>
            </a:pPr>
            <a:r>
              <a:rPr/>
              <a:t>Learning R is exactly like learning a new language. It </a:t>
            </a:r>
            <a:r>
              <a:rPr b="1"/>
              <a:t>takes time, practice, and patience</a:t>
            </a:r>
            <a:r>
              <a:rPr/>
              <a:t>.</a:t>
            </a:r>
          </a:p>
          <a:p>
            <a:pPr lvl="0"/>
            <a:r>
              <a:rPr b="1"/>
              <a:t>Syntax errors are normal:</a:t>
            </a:r>
            <a:r>
              <a:rPr/>
              <a:t> Even advanced programmers make typos and get error messages every single day.</a:t>
            </a:r>
          </a:p>
          <a:p>
            <a:pPr lvl="0"/>
            <a:r>
              <a:rPr b="1"/>
              <a:t>AI is a helpful tool:</a:t>
            </a:r>
            <a:r>
              <a:rPr/>
              <a:t> Using AI to write code, navigate complex documentation, or troubleshoot errors is becoming increasingly widespread. However, the foundational understanding you built today is essential to verify and adapt the output.</a:t>
            </a:r>
          </a:p>
          <a:p>
            <a:pPr lvl="0"/>
            <a:r>
              <a:rPr b="1"/>
              <a:t>Keep practicing:</a:t>
            </a:r>
            <a:r>
              <a:rPr/>
              <a:t> Save the script you wrote today and use it as a cheat sheet for your next projects.</a:t>
            </a:r>
          </a:p>
          <a:p>
            <a:pPr lvl="0" indent="0" marL="0">
              <a:buNone/>
            </a:pPr>
            <a:r>
              <a:rPr/>
              <a:t>Great job today!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Using AI as a coding assistant</a:t>
            </a:r>
          </a:p>
        </p:txBody>
      </p:sp>
      <p:sp>
        <p:nvSpPr>
          <p:cNvPr id="3" name="Content Placeholder 2"/>
          <p:cNvSpPr>
            <a:spLocks noGrp="1"/>
          </p:cNvSpPr>
          <p:nvPr>
            <p:ph idx="1"/>
          </p:nvPr>
        </p:nvSpPr>
        <p:spPr/>
        <p:txBody>
          <a:bodyPr/>
          <a:lstStyle/>
          <a:p>
            <a:pPr lvl="0" indent="0" marL="0">
              <a:buNone/>
            </a:pPr>
            <a:r>
              <a:rPr/>
              <a:t>AI tools can hinder or help your learning progress - </a:t>
            </a:r>
            <a:r>
              <a:rPr b="1"/>
              <a:t>do not outsource the thinking</a:t>
            </a:r>
            <a:r>
              <a:rPr/>
              <a:t>!   </a:t>
            </a:r>
            <a:r>
              <a:rPr b="1"/>
              <a:t>If you do not know what you did, you cannot evaluate or explain the output, defeating the point of credible research.</a:t>
            </a:r>
          </a:p>
          <a:p>
            <a:pPr lvl="0"/>
            <a:r>
              <a:rPr b="1"/>
              <a:t>Verify everything:</a:t>
            </a:r>
            <a:r>
              <a:rPr/>
              <a:t> AI can hallucinate or suggest outdated functions. You must still read, understand, evaluate and test the code it generates. For this, you must also </a:t>
            </a:r>
            <a:r>
              <a:rPr b="1"/>
              <a:t>know what questions to ask</a:t>
            </a:r>
            <a:r>
              <a:rPr/>
              <a:t>!</a:t>
            </a:r>
          </a:p>
          <a:p>
            <a:pPr lvl="0"/>
            <a:r>
              <a:rPr b="1"/>
              <a:t>Data privacy is critical:</a:t>
            </a:r>
            <a:r>
              <a:rPr/>
              <a:t> Never paste sensitive, personal, or unpublished research data into public AI chatbots!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messages</a:t>
            </a:r>
          </a:p>
        </p:txBody>
      </p:sp>
      <p:sp>
        <p:nvSpPr>
          <p:cNvPr id="3" name="Content Placeholder 2"/>
          <p:cNvSpPr>
            <a:spLocks noGrp="1"/>
          </p:cNvSpPr>
          <p:nvPr>
            <p:ph idx="1"/>
          </p:nvPr>
        </p:nvSpPr>
        <p:spPr/>
        <p:txBody>
          <a:bodyPr/>
          <a:lstStyle/>
          <a:p>
            <a:pPr lvl="0"/>
            <a:r>
              <a:rPr/>
              <a:t>Working directories and packages → </a:t>
            </a:r>
            <a:r>
              <a:rPr b="1"/>
              <a:t>essential prerequisites</a:t>
            </a:r>
            <a:r>
              <a:rPr/>
              <a:t> for accessing files and expanding R’s capabilities.</a:t>
            </a:r>
          </a:p>
          <a:p>
            <a:pPr lvl="0"/>
            <a:r>
              <a:rPr/>
              <a:t>Subsetting data → allows you to </a:t>
            </a:r>
            <a:r>
              <a:rPr b="1"/>
              <a:t>filter and isolate</a:t>
            </a:r>
            <a:r>
              <a:rPr/>
              <a:t> the exact observations you need for your analysis.</a:t>
            </a:r>
          </a:p>
          <a:p>
            <a:pPr lvl="0"/>
            <a:r>
              <a:rPr/>
              <a:t>Summary functions and visualizations → provide a </a:t>
            </a:r>
            <a:r>
              <a:rPr b="1"/>
              <a:t>quick and comprehensive understanding</a:t>
            </a:r>
            <a:r>
              <a:rPr/>
              <a:t> of your data structures and distributions.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 Check-in</a:t>
            </a:r>
          </a:p>
        </p:txBody>
      </p:sp>
      <p:sp>
        <p:nvSpPr>
          <p:cNvPr id="3" name="Content Placeholder 2"/>
          <p:cNvSpPr>
            <a:spLocks noGrp="1"/>
          </p:cNvSpPr>
          <p:nvPr>
            <p:ph idx="1"/>
          </p:nvPr>
        </p:nvSpPr>
        <p:spPr/>
        <p:txBody>
          <a:bodyPr/>
          <a:lstStyle/>
          <a:p>
            <a:pPr lvl="0" indent="0" marL="0">
              <a:buNone/>
            </a:pPr>
            <a:r>
              <a:rPr/>
              <a:t>At the end of this session, you should now be able to…</a:t>
            </a:r>
          </a:p>
          <a:p>
            <a:pPr lvl="0"/>
            <a:r>
              <a:rPr/>
              <a:t>☐ </a:t>
            </a:r>
            <a:r>
              <a:rPr b="1"/>
              <a:t>Identify</a:t>
            </a:r>
            <a:r>
              <a:rPr/>
              <a:t> and set the correct Working Directory on your computer</a:t>
            </a:r>
          </a:p>
          <a:p>
            <a:pPr lvl="0"/>
            <a:r>
              <a:rPr/>
              <a:t>☐ </a:t>
            </a:r>
            <a:r>
              <a:rPr b="1"/>
              <a:t>Install</a:t>
            </a:r>
            <a:r>
              <a:rPr/>
              <a:t> and </a:t>
            </a:r>
            <a:r>
              <a:rPr b="1"/>
              <a:t>load</a:t>
            </a:r>
            <a:r>
              <a:rPr/>
              <a:t> R packages to extend R’s functionality</a:t>
            </a:r>
          </a:p>
          <a:p>
            <a:pPr lvl="0"/>
            <a:r>
              <a:rPr/>
              <a:t>☐ </a:t>
            </a:r>
            <a:r>
              <a:rPr b="1"/>
              <a:t>Import</a:t>
            </a:r>
            <a:r>
              <a:rPr/>
              <a:t> external data into the R environment</a:t>
            </a:r>
          </a:p>
          <a:p>
            <a:pPr lvl="0"/>
            <a:r>
              <a:rPr/>
              <a:t>☐ </a:t>
            </a:r>
            <a:r>
              <a:rPr b="1"/>
              <a:t>Inspect</a:t>
            </a:r>
            <a:r>
              <a:rPr/>
              <a:t> data structures and </a:t>
            </a:r>
            <a:r>
              <a:rPr b="1"/>
              <a:t>extract</a:t>
            </a:r>
            <a:r>
              <a:rPr/>
              <a:t> specific columns</a:t>
            </a:r>
          </a:p>
          <a:p>
            <a:pPr lvl="0"/>
            <a:r>
              <a:rPr/>
              <a:t>☐ </a:t>
            </a:r>
            <a:r>
              <a:rPr b="1"/>
              <a:t>Compute</a:t>
            </a:r>
            <a:r>
              <a:rPr/>
              <a:t> basic statistical summaries on a dataset</a:t>
            </a:r>
          </a:p>
          <a:p>
            <a:pPr lvl="0"/>
            <a:r>
              <a:rPr/>
              <a:t>☐ </a:t>
            </a:r>
            <a:r>
              <a:rPr b="1"/>
              <a:t>Visualize</a:t>
            </a:r>
            <a:r>
              <a:rPr/>
              <a:t> data distributions using simple histograms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Looking into the future</a:t>
            </a:r>
          </a:p>
        </p:txBody>
      </p:sp>
      <p:sp>
        <p:nvSpPr>
          <p:cNvPr id="3" name="Content Placeholder 2"/>
          <p:cNvSpPr>
            <a:spLocks noGrp="1"/>
          </p:cNvSpPr>
          <p:nvPr>
            <p:ph idx="1"/>
          </p:nvPr>
        </p:nvSpPr>
        <p:spPr/>
        <p:txBody>
          <a:bodyPr/>
          <a:lstStyle/>
          <a:p>
            <a:pPr lvl="0" indent="-342900" marL="342900">
              <a:buAutoNum type="arabicPeriod"/>
            </a:pPr>
            <a:r>
              <a:rPr b="1"/>
              <a:t>Take a minute to think about the following questions, first for yourself, then in a pair:</a:t>
            </a:r>
          </a:p>
          <a:p>
            <a:pPr lvl="0"/>
            <a:r>
              <a:rPr/>
              <a:t>Can you identify some </a:t>
            </a:r>
            <a:r>
              <a:rPr b="1"/>
              <a:t>practical benefits</a:t>
            </a:r>
            <a:r>
              <a:rPr/>
              <a:t> of using R/RStudio?</a:t>
            </a:r>
          </a:p>
          <a:p>
            <a:pPr lvl="0"/>
            <a:r>
              <a:rPr/>
              <a:t>What </a:t>
            </a:r>
            <a:r>
              <a:rPr b="1"/>
              <a:t>obstacles</a:t>
            </a:r>
            <a:r>
              <a:rPr/>
              <a:t> do you anticipate in using it consistently?</a:t>
            </a:r>
          </a:p>
          <a:p>
            <a:pPr lvl="0"/>
            <a:r>
              <a:rPr/>
              <a:t>How can R/RStudio support you in your </a:t>
            </a:r>
            <a:r>
              <a:rPr b="1"/>
              <a:t>upcoming projects</a:t>
            </a:r>
            <a:r>
              <a:rPr/>
              <a:t>?</a:t>
            </a:r>
          </a:p>
          <a:p>
            <a:pPr lvl="0" indent="-342900" marL="342900">
              <a:buAutoNum startAt="2" type="arabicPeriod"/>
            </a:pPr>
            <a:r>
              <a:rPr b="1"/>
              <a:t>Share your thoughts with the group.</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Assignment: Consolidating what you learned</a:t>
            </a:r>
          </a:p>
        </p:txBody>
      </p:sp>
      <p:sp>
        <p:nvSpPr>
          <p:cNvPr id="3" name="Content Placeholder 2"/>
          <p:cNvSpPr>
            <a:spLocks noGrp="1"/>
          </p:cNvSpPr>
          <p:nvPr>
            <p:ph idx="1"/>
          </p:nvPr>
        </p:nvSpPr>
        <p:spPr/>
        <p:txBody>
          <a:bodyPr/>
          <a:lstStyle/>
          <a:p>
            <a:pPr lvl="0" indent="0" marL="0">
              <a:buNone/>
            </a:pPr>
            <a:r>
              <a:rPr b="1"/>
              <a:t>Create an R script that applies the data handling skills covered today</a:t>
            </a:r>
          </a:p>
          <a:p>
            <a:pPr lvl="0"/>
            <a:r>
              <a:rPr/>
              <a:t>Set your Working Directory and load the </a:t>
            </a:r>
            <a:r>
              <a:rPr>
                <a:latin typeface="Courier"/>
              </a:rPr>
              <a:t>characters.rds</a:t>
            </a:r>
            <a:r>
              <a:rPr/>
              <a:t> dataset.</a:t>
            </a:r>
          </a:p>
          <a:p>
            <a:pPr lvl="0"/>
            <a:r>
              <a:rPr/>
              <a:t>Create a new subset of the data using a logical condition of your choice (e.g., a different show).</a:t>
            </a:r>
          </a:p>
          <a:p>
            <a:pPr lvl="0"/>
            <a:r>
              <a:rPr/>
              <a:t>Calculate a summary statistic (e.g., </a:t>
            </a:r>
            <a:r>
              <a:rPr>
                <a:latin typeface="Courier"/>
              </a:rPr>
              <a:t>mean()</a:t>
            </a:r>
            <a:r>
              <a:rPr/>
              <a:t> or </a:t>
            </a:r>
            <a:r>
              <a:rPr>
                <a:latin typeface="Courier"/>
              </a:rPr>
              <a:t>table()</a:t>
            </a:r>
            <a:r>
              <a:rPr/>
              <a:t>) on a variable within your subset.</a:t>
            </a:r>
          </a:p>
          <a:p>
            <a:pPr lvl="0"/>
            <a:r>
              <a:rPr/>
              <a:t>Create a histogram (</a:t>
            </a:r>
            <a:r>
              <a:rPr>
                <a:latin typeface="Courier"/>
              </a:rPr>
              <a:t>hist()</a:t>
            </a:r>
            <a:r>
              <a:rPr/>
              <a:t>) to visualize a numeric variable and customize its title.</a:t>
            </a:r>
          </a:p>
          <a:p>
            <a:pPr lvl="0"/>
            <a:r>
              <a:rPr/>
              <a:t>Include clear comments (</a:t>
            </a:r>
            <a:r>
              <a:rPr>
                <a:latin typeface="Courier"/>
              </a:rPr>
              <a:t>#</a:t>
            </a:r>
            <a:r>
              <a:rPr/>
              <a:t>) explaining each step.</a:t>
            </a:r>
          </a:p>
          <a:p>
            <a:pPr lvl="0" indent="0" marL="1270000">
              <a:buNone/>
            </a:pPr>
            <a:r>
              <a:rPr sz="2000" b="1"/>
              <a:t>Self-Assessment</a:t>
            </a:r>
          </a:p>
          <a:p>
            <a:pPr lvl="0" indent="0" marL="1270000">
              <a:buNone/>
            </a:pPr>
            <a:r>
              <a:rPr sz="2000"/>
              <a:t>Use this assignment to assess your learning of, and progress with, R/RStudio; reflect on any challenges you faced and how you overcame them.</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conclude: Survey time!</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How confident do you feel setting a Working Directory and loading external data into R?</a:t>
            </a:r>
          </a:p>
          <a:p>
            <a:pPr lvl="0" indent="-342900" marL="342900">
              <a:buAutoNum type="alphaLcPeriod"/>
            </a:pPr>
            <a:r>
              <a:rPr/>
              <a:t>Not confident at all</a:t>
            </a:r>
            <a:br/>
          </a:p>
          <a:p>
            <a:pPr lvl="0" indent="-342900" marL="342900">
              <a:buAutoNum type="alphaLcPeriod"/>
            </a:pPr>
            <a:r>
              <a:rPr/>
              <a:t>Slightly confident</a:t>
            </a:r>
            <a:br/>
          </a:p>
          <a:p>
            <a:pPr lvl="0" indent="-342900" marL="342900">
              <a:buAutoNum type="alphaLcPeriod"/>
            </a:pPr>
            <a:r>
              <a:rPr/>
              <a:t>Moderately confident</a:t>
            </a:r>
            <a:br/>
          </a:p>
          <a:p>
            <a:pPr lvl="0" indent="-342900" marL="342900">
              <a:buAutoNum type="alphaLcPeriod"/>
            </a:pPr>
            <a:r>
              <a:rPr/>
              <a:t>Very confident</a:t>
            </a:r>
            <a:br/>
          </a:p>
          <a:p>
            <a:pPr lvl="0" indent="-342900" marL="342900">
              <a:buAutoNum type="alphaLcPeriod"/>
            </a:pPr>
            <a:r>
              <a:rPr/>
              <a:t>Extremely confident</a:t>
            </a:r>
          </a:p>
          <a:p>
            <a:pPr lvl="0" indent="0" marL="0">
              <a:spcBef>
                <a:spcPts val="3000"/>
              </a:spcBef>
              <a:buNone/>
            </a:pPr>
            <a:r>
              <a:rPr b="1"/>
              <a:t>Question 2</a:t>
            </a:r>
          </a:p>
          <a:p>
            <a:pPr lvl="0" indent="0" marL="0">
              <a:buNone/>
            </a:pPr>
            <a:r>
              <a:rPr b="1"/>
              <a:t>How comfortable do you feel using logical conditions (</a:t>
            </a:r>
            <a:r>
              <a:rPr b="1">
                <a:latin typeface="Courier"/>
              </a:rPr>
              <a:t>==</a:t>
            </a:r>
            <a:r>
              <a:rPr b="1"/>
              <a:t>, </a:t>
            </a:r>
            <a:r>
              <a:rPr b="1">
                <a:latin typeface="Courier"/>
              </a:rPr>
              <a:t>|</a:t>
            </a:r>
            <a:r>
              <a:rPr b="1"/>
              <a:t>) to subset data frames?</a:t>
            </a:r>
          </a:p>
          <a:p>
            <a:pPr lvl="0" indent="-342900" marL="342900">
              <a:buAutoNum type="alphaLcPeriod"/>
            </a:pPr>
            <a:r>
              <a:rPr/>
              <a:t>Not comfortable at all</a:t>
            </a:r>
            <a:br/>
          </a:p>
          <a:p>
            <a:pPr lvl="0" indent="-342900" marL="342900">
              <a:buAutoNum type="alphaLcPeriod"/>
            </a:pPr>
            <a:r>
              <a:rPr/>
              <a:t>Slightly comfortable</a:t>
            </a:r>
            <a:br/>
          </a:p>
          <a:p>
            <a:pPr lvl="0" indent="-342900" marL="342900">
              <a:buAutoNum type="alphaLcPeriod"/>
            </a:pPr>
            <a:r>
              <a:rPr/>
              <a:t>Moderately comfortable</a:t>
            </a:r>
            <a:br/>
          </a:p>
          <a:p>
            <a:pPr lvl="0" indent="-342900" marL="342900">
              <a:buAutoNum type="alphaLcPeriod"/>
            </a:pPr>
            <a:r>
              <a:rPr/>
              <a:t>Very comfortable</a:t>
            </a:r>
            <a:br/>
          </a:p>
          <a:p>
            <a:pPr lvl="0" indent="-342900" marL="342900">
              <a:buAutoNum type="alphaLcPeriod"/>
            </a:pPr>
            <a:r>
              <a:rPr/>
              <a:t>Extremely comfortable</a:t>
            </a:r>
          </a:p>
          <a:p>
            <a:pPr lvl="0" indent="0" marL="0">
              <a:spcBef>
                <a:spcPts val="3000"/>
              </a:spcBef>
              <a:buNone/>
            </a:pPr>
            <a:r>
              <a:rPr b="1"/>
              <a:t>Question 3</a:t>
            </a:r>
          </a:p>
          <a:p>
            <a:pPr lvl="0" indent="0" marL="0">
              <a:buNone/>
            </a:pPr>
            <a:r>
              <a:rPr b="1"/>
              <a:t>Compared to the beginning of the workshop, how intimidated do you feel about working with R?</a:t>
            </a:r>
          </a:p>
          <a:p>
            <a:pPr lvl="0" indent="-342900" marL="342900">
              <a:buAutoNum type="alphaLcPeriod"/>
            </a:pPr>
            <a:r>
              <a:rPr/>
              <a:t>Much more intimidated</a:t>
            </a:r>
            <a:br/>
          </a:p>
          <a:p>
            <a:pPr lvl="0" indent="-342900" marL="342900">
              <a:buAutoNum type="alphaLcPeriod"/>
            </a:pPr>
            <a:r>
              <a:rPr/>
              <a:t>Slightly more intimidated</a:t>
            </a:r>
            <a:br/>
          </a:p>
          <a:p>
            <a:pPr lvl="0" indent="-342900" marL="342900">
              <a:buAutoNum type="alphaLcPeriod"/>
            </a:pPr>
            <a:r>
              <a:rPr/>
              <a:t>About the same</a:t>
            </a:r>
            <a:br/>
          </a:p>
          <a:p>
            <a:pPr lvl="0" indent="-342900" marL="342900">
              <a:buAutoNum type="alphaLcPeriod"/>
            </a:pPr>
            <a:r>
              <a:rPr/>
              <a:t>Slightly less intimidated</a:t>
            </a:r>
            <a:br/>
          </a:p>
          <a:p>
            <a:pPr lvl="0" indent="-342900" marL="342900">
              <a:buAutoNum type="alphaLcPeriod"/>
            </a:pPr>
            <a:r>
              <a:rPr/>
              <a:t>Much less intimidated</a:t>
            </a:r>
          </a:p>
          <a:p>
            <a:pPr lvl="0" indent="0" marL="0">
              <a:spcBef>
                <a:spcPts val="3000"/>
              </a:spcBef>
              <a:buNone/>
            </a:pPr>
            <a:r>
              <a:rPr b="1"/>
              <a:t>Question 4</a:t>
            </a:r>
          </a:p>
          <a:p>
            <a:pPr lvl="0" indent="0" marL="0">
              <a:buNone/>
            </a:pPr>
            <a:r>
              <a:rPr b="1"/>
              <a:t>What part of today’s lesson still feels confusing, and which exercise helped your understanding the most?</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resources</a:t>
            </a:r>
          </a:p>
        </p:txBody>
      </p:sp>
      <p:sp>
        <p:nvSpPr>
          <p:cNvPr id="3" name="Content Placeholder 2"/>
          <p:cNvSpPr>
            <a:spLocks noGrp="1"/>
          </p:cNvSpPr>
          <p:nvPr>
            <p:ph idx="1"/>
          </p:nvPr>
        </p:nvSpPr>
        <p:spPr/>
        <p:txBody>
          <a:bodyPr/>
          <a:lstStyle/>
          <a:p>
            <a:pPr lvl="0"/>
            <a:r>
              <a:rPr/>
              <a:t>Datacamp offers a free, </a:t>
            </a:r>
            <a:r>
              <a:rPr>
                <a:hlinkClick r:id="rId3"/>
              </a:rPr>
              <a:t>interactive course on R</a:t>
            </a:r>
            <a:r>
              <a:rPr/>
              <a:t> online (https://www.datacamp.com/courses/free-introduction-to-r).</a:t>
            </a:r>
          </a:p>
          <a:p>
            <a:pPr lvl="0"/>
            <a:r>
              <a:rPr/>
              <a:t>The LMU Open Science Center provides a </a:t>
            </a:r>
            <a:r>
              <a:rPr>
                <a:hlinkClick r:id="rId4"/>
              </a:rPr>
              <a:t>comprehensive, self-paced R tutorial</a:t>
            </a:r>
            <a:r>
              <a:rPr/>
              <a:t> (https://lmu-osc.github.io/introduction-to-R/).</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Contribution statement</a:t>
            </a:r>
          </a:p>
        </p:txBody>
      </p:sp>
      <p:sp>
        <p:nvSpPr>
          <p:cNvPr id="3" name="Content Placeholder 2"/>
          <p:cNvSpPr>
            <a:spLocks noGrp="1"/>
          </p:cNvSpPr>
          <p:nvPr>
            <p:ph idx="1"/>
          </p:nvPr>
        </p:nvSpPr>
        <p:spPr/>
        <p:txBody>
          <a:bodyPr/>
          <a:lstStyle/>
          <a:p>
            <a:pPr lvl="0" indent="0" marL="0">
              <a:buNone/>
            </a:pPr>
            <a:r>
              <a:rPr b="1"/>
              <a:t>Creator</a:t>
            </a:r>
            <a:r>
              <a:rPr/>
              <a:t>: Rieger, David ( </a:t>
            </a:r>
            <a:r>
              <a:rPr>
                <a:hlinkClick r:id="rId2"/>
              </a:rPr>
              <a:t>0009-0004-3701-3101</a:t>
            </a:r>
            <a:r>
              <a:rPr/>
              <a:t>)</a:t>
            </a:r>
          </a:p>
          <a:p>
            <a:pPr lvl="0" indent="0" marL="0">
              <a:buNone/>
            </a:pPr>
            <a:r>
              <a:rPr b="1"/>
              <a:t>Creator</a:t>
            </a:r>
            <a:r>
              <a:rPr/>
              <a:t>: Waterfield, Elizabeth ( </a:t>
            </a:r>
            <a:r>
              <a:rPr>
                <a:hlinkClick r:id="rId3"/>
              </a:rPr>
              <a:t>0009-0006-3725-6730</a:t>
            </a:r>
            <a:r>
              <a:rPr/>
              <a:t>)</a:t>
            </a:r>
          </a:p>
          <a:p>
            <a:pPr lvl="0" indent="0" marL="0">
              <a:buNone/>
            </a:pPr>
            <a:r>
              <a:rPr b="1"/>
              <a:t>Consultant</a:t>
            </a:r>
            <a:r>
              <a:rPr/>
              <a:t>: Sanchez Steinhagen, Caterina Luz ( </a:t>
            </a:r>
            <a:r>
              <a:rPr>
                <a:hlinkClick r:id="rId4"/>
              </a:rPr>
              <a:t>0009-0006-4783-1110</a:t>
            </a:r>
            <a:r>
              <a:rPr/>
              <a:t>)</a:t>
            </a:r>
          </a:p>
          <a:p>
            <a:pPr lvl="0" indent="0" marL="0">
              <a:buNone/>
            </a:pPr>
            <a:r>
              <a:rPr b="1"/>
              <a:t>Reviewer</a:t>
            </a:r>
            <a:r>
              <a:rPr/>
              <a:t>: Middleton, Sara ( </a:t>
            </a:r>
            <a:r>
              <a:rPr>
                <a:hlinkClick r:id="rId5"/>
              </a:rPr>
              <a:t>0000-0001-5307-8029</a:t>
            </a:r>
            <a:r>
              <a:rPr/>
              <a:t>)</a:t>
            </a:r>
          </a:p>
          <a:p>
            <a:pPr lvl="0" indent="0" marL="0">
              <a:buNone/>
            </a:pPr>
            <a:r>
              <a:rPr b="1"/>
              <a:t>Reviewer</a:t>
            </a:r>
            <a:r>
              <a:rPr/>
              <a:t>: von Grebmer zu Wolfsthurn, Sarah (</a:t>
            </a:r>
            <a:r>
              <a:rPr>
                <a:hlinkClick r:id="rId6"/>
              </a:rPr>
              <a:t>0000-0002-6413-3895</a:t>
            </a:r>
            <a:r>
              <a:rPr/>
              <a:t>)</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 and citation statement</a:t>
            </a:r>
          </a:p>
        </p:txBody>
      </p:sp>
      <p:sp>
        <p:nvSpPr>
          <p:cNvPr id="3" name="Content Placeholder 2"/>
          <p:cNvSpPr>
            <a:spLocks noGrp="1"/>
          </p:cNvSpPr>
          <p:nvPr>
            <p:ph idx="1"/>
          </p:nvPr>
        </p:nvSpPr>
        <p:spPr/>
        <p:txBody>
          <a:bodyPr/>
          <a:lstStyle/>
          <a:p>
            <a:pPr lvl="0" indent="0" marL="0">
              <a:buNone/>
            </a:pPr>
          </a:p>
          <a:p>
            <a:pPr lvl="0" indent="0" marL="0">
              <a:buNone/>
            </a:pPr>
          </a:p>
          <a:p>
            <a:pPr lvl="0" indent="0" marL="0">
              <a:buNone/>
            </a:pPr>
            <a:r>
              <a:rPr/>
              <a:t>This work was originally created by </a:t>
            </a:r>
            <a:r>
              <a:rPr>
                <a:hlinkClick r:id="rId3"/>
              </a:rPr>
              <a:t>Nicklas Hafiz</a:t>
            </a:r>
            <a:r>
              <a:rPr/>
              <a:t>. His work was subsequently adapted by </a:t>
            </a:r>
            <a:r>
              <a:rPr>
                <a:hlinkClick r:id="rId4"/>
              </a:rPr>
              <a:t>David Rieger</a:t>
            </a:r>
            <a:r>
              <a:rPr/>
              <a:t>, </a:t>
            </a:r>
            <a:r>
              <a:rPr>
                <a:hlinkClick r:id="rId5"/>
              </a:rPr>
              <a:t>Elizabeth Waterfield</a:t>
            </a:r>
            <a:r>
              <a:rPr/>
              <a:t>, </a:t>
            </a:r>
            <a:r>
              <a:rPr>
                <a:hlinkClick r:id="rId6"/>
              </a:rPr>
              <a:t>Caterina Luz Sanchez Steinhagen</a:t>
            </a:r>
            <a:r>
              <a:rPr/>
              <a:t>, </a:t>
            </a:r>
            <a:r>
              <a:rPr>
                <a:hlinkClick r:id="rId7"/>
              </a:rPr>
              <a:t>Sara Lil Middleton</a:t>
            </a:r>
            <a:r>
              <a:rPr/>
              <a:t> and </a:t>
            </a:r>
            <a:r>
              <a:rPr>
                <a:hlinkClick r:id="rId8"/>
              </a:rPr>
              <a:t>Sarah von Grebmer zu Wolfsthurn</a:t>
            </a:r>
            <a:r>
              <a:rPr/>
              <a:t>. The current work is licensed under a </a:t>
            </a:r>
            <a:r>
              <a:rPr>
                <a:hlinkClick r:id="rId9"/>
              </a:rPr>
              <a:t>Creative Commons Attribution 4.0 SA International License</a:t>
            </a:r>
            <a:r>
              <a:rPr/>
              <a:t> (CC-BY-SA 4.0). Code snippets are dedicated to the public domain and are licensed under a </a:t>
            </a:r>
            <a:r>
              <a:rPr>
                <a:hlinkClick r:id="rId10"/>
              </a:rPr>
              <a:t>Creative Commons Universal Licence</a:t>
            </a:r>
            <a:r>
              <a:rPr/>
              <a:t> (CC0 1.0).</a:t>
            </a:r>
          </a:p>
          <a:p>
            <a:pPr lvl="0" indent="0" marL="0">
              <a:buNone/>
            </a:pPr>
            <a:r>
              <a:rPr/>
              <a:t>Please cite these materials as: Rieger, D., Waterfield, E., Sanchez-Steinhagen, C. L., Middleton, S., &amp; Von Grebmer Zu Wolfsthurn, S. (2026). </a:t>
            </a:r>
            <a:r>
              <a:rPr i="1"/>
              <a:t>Introduction to R: Part II</a:t>
            </a:r>
            <a:r>
              <a:rPr/>
              <a:t> [Quarto slides]. </a:t>
            </a:r>
            <a:r>
              <a:rPr>
                <a:hlinkClick r:id="rId11"/>
              </a:rPr>
              <a:t>LMU Open Science Center</a:t>
            </a:r>
            <a:r>
              <a:rPr/>
              <a:t>. </a:t>
            </a:r>
            <a:r>
              <a:rPr>
                <a:hlinkClick r:id="rId12"/>
              </a:rPr>
              <a:t>https://lmu-osc.github.io/teaching-material-for-novices/open-research-tools/r-part-II</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 Part II</dc:title>
  <dc:creator>David Rieger and Elizabeth Waterfield</dc:creator>
  <cp:keywords/>
  <dcterms:created xsi:type="dcterms:W3CDTF">2026-10-22T11:27:11Z</dcterms:created>
  <dcterms:modified xsi:type="dcterms:W3CDTF">2026-10-22T11:27:11Z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22/10/2026</vt:lpwstr>
  </property>
  <property fmtid="{D5CDD505-2E9C-101B-9397-08002B2CF9AE}" pid="8" name="date-format">
    <vt:lpwstr>DD/MM/YYYY</vt:lpwstr>
  </property>
  <property fmtid="{D5CDD505-2E9C-101B-9397-08002B2CF9AE}" pid="9" name="draft">
    <vt:lpwstr>True</vt:lpwstr>
  </property>
  <property fmtid="{D5CDD505-2E9C-101B-9397-08002B2CF9AE}" pid="10" name="editor">
    <vt:lpwstr>source</vt:lpwstr>
  </property>
  <property fmtid="{D5CDD505-2E9C-101B-9397-08002B2CF9AE}" pid="11" name="execute">
    <vt:lpwstr/>
  </property>
  <property fmtid="{D5CDD505-2E9C-101B-9397-08002B2CF9AE}" pid="12" name="header-includes">
    <vt:lpwstr/>
  </property>
  <property fmtid="{D5CDD505-2E9C-101B-9397-08002B2CF9AE}" pid="13" name="include-after">
    <vt:lpwstr/>
  </property>
  <property fmtid="{D5CDD505-2E9C-101B-9397-08002B2CF9AE}" pid="14" name="include-before">
    <vt:lpwstr/>
  </property>
  <property fmtid="{D5CDD505-2E9C-101B-9397-08002B2CF9AE}" pid="15" name="labels">
    <vt:lpwstr/>
  </property>
  <property fmtid="{D5CDD505-2E9C-101B-9397-08002B2CF9AE}" pid="16" name="repo-url">
    <vt:lpwstr>https://github.com/lmu-osc/teaching-material-for-novices</vt:lpwstr>
  </property>
  <property fmtid="{D5CDD505-2E9C-101B-9397-08002B2CF9AE}" pid="17" name="revealjs-plugins">
    <vt:lpwstr/>
  </property>
  <property fmtid="{D5CDD505-2E9C-101B-9397-08002B2CF9AE}" pid="18" name="toc-title">
    <vt:lpwstr>Table of contents</vt:lpwstr>
  </property>
</Properties>
</file>