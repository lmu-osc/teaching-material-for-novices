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notesMaster" Target="notesMasters/notesMaster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a:t>Before we begin this session, please take a moment to review the prerequisites listed here. First, you should already have R and RStudio installed. If not, the link on the slide will guide you through the installation. Next, you’ll need some basic familiarity with R — for example, how to select values in a data frame or how to create simple vectors. There’s a tutorial by OSC linked here in case you’d like to refresh those skills. Finally, you should be comfortable with basic statistical concepts, such as descriptive statistics and fundamental data analysis ideas. There is a link to a cheatsheet on these concepts provided here. If any of these areas feel unfamiliar, I encourage you to explore the resources before moving forward, so the rest of the tutorial is smooth and accessible.</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These are the prerequisites for this session. Before you get started on this session with your audience, you need to ensure that the audience fulfills these criteria. With a show of hands, you can know how many learners would want to work through these resources provided; if the majority do, then a bit of time can be provided here, till they are comfortable to move forward.</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 will take a short survey. The aim here is simply to understand your current familiarity.</a:t>
            </a:r>
          </a:p>
          <a:p>
            <a:pPr lvl="0" indent="0" marL="0">
              <a:buNone/>
            </a:pPr>
          </a:p>
          <a:p>
            <a:pPr lvl="0" indent="0" marL="0">
              <a:buNone/>
            </a:pPr>
            <a:r>
              <a:rPr/>
              <a:t>In the next few slides, you will see some questions that invite you to reflect on where you’re starting from. This is not a test, and it is not about getting the right answers. If you’re unsure, that is completely fine, just respond based on what feels closest to your current understanding.</a:t>
            </a:r>
          </a:p>
          <a:p>
            <a:pPr lvl="0" indent="0" marL="0">
              <a:buNone/>
            </a:pPr>
          </a:p>
          <a:p>
            <a:pPr lvl="0" indent="0" marL="0">
              <a:buNone/>
            </a:pPr>
            <a:r>
              <a:rPr/>
              <a:t>Question 2: Correct Answer(s):</a:t>
            </a:r>
          </a:p>
          <a:p>
            <a:pPr lvl="0" indent="0" marL="0">
              <a:buNone/>
            </a:pPr>
          </a:p>
          <a:p>
            <a:pPr lvl="0" indent="-342900" marL="342900">
              <a:buAutoNum type="alphaLcPeriod"/>
            </a:pPr>
            <a:r>
              <a:rPr/>
              <a:t>Generate artificial data</a:t>
            </a:r>
          </a:p>
          <a:p>
            <a:pPr lvl="0" indent="0" marL="0">
              <a:buNone/>
            </a:pPr>
          </a:p>
          <a:p>
            <a:pPr lvl="0" indent="-342900" marL="342900">
              <a:buAutoNum type="alphaLcPeriod"/>
            </a:pPr>
            <a:r>
              <a:rPr/>
              <a:t>Visualize complex statistical concepts</a:t>
            </a:r>
          </a:p>
          <a:p>
            <a:pPr lvl="0" indent="0" marL="0">
              <a:buNone/>
            </a:pPr>
          </a:p>
          <a:p>
            <a:pPr lvl="0" indent="-342900" marL="342900">
              <a:buAutoNum type="alphaLcPeriod"/>
            </a:pPr>
            <a:r>
              <a:rPr/>
              <a:t>Test how models perform under different scenarios</a:t>
            </a:r>
          </a:p>
          <a:p>
            <a:pPr lvl="0" indent="0" marL="0">
              <a:buNone/>
            </a:pPr>
          </a:p>
          <a:p>
            <a:pPr lvl="0" indent="0" marL="0">
              <a:buNone/>
            </a:pPr>
            <a:r>
              <a:rPr/>
              <a:t>Question 4: Correct Answer(s):</a:t>
            </a:r>
          </a:p>
          <a:p>
            <a:pPr lvl="0" indent="0" marL="0">
              <a:buNone/>
            </a:pPr>
          </a:p>
          <a:p>
            <a:pPr lvl="0" indent="-342900" marL="342900">
              <a:buAutoNum type="alphaLcPeriod"/>
            </a:pPr>
            <a:r>
              <a:rPr/>
              <a:t>It helps determine how many samples you need</a:t>
            </a:r>
          </a:p>
          <a:p>
            <a:pPr lvl="0" indent="0" marL="0">
              <a:buNone/>
            </a:pPr>
          </a:p>
          <a:p>
            <a:pPr lvl="0" indent="-342900" marL="342900">
              <a:buAutoNum type="alphaLcPeriod"/>
            </a:pPr>
            <a:r>
              <a:rPr/>
              <a:t>It helps you design more reliable studies</a:t>
            </a:r>
          </a:p>
          <a:p>
            <a:pPr lvl="0" indent="0" marL="0">
              <a:buNone/>
            </a:pPr>
          </a:p>
          <a:p>
            <a:pPr lvl="0" indent="0" marL="0">
              <a:buNone/>
            </a:pPr>
            <a:r>
              <a:rPr b="1"/>
              <a:t>Instructor Notes</a:t>
            </a:r>
            <a:r>
              <a:rPr/>
              <a:t>: The pre-session survey serves to examine learners’ prior knowledge about simulations and power analysis, and familiarity with R.</a:t>
            </a:r>
          </a:p>
          <a:p>
            <a:pPr lvl="0" indent="0" marL="0">
              <a:buNone/>
            </a:pPr>
          </a:p>
          <a:p>
            <a:pPr lvl="0" indent="0" marL="0">
              <a:buNone/>
            </a:pPr>
            <a:r>
              <a:rPr/>
              <a:t>Set a low-stakes, supportive tone before beginning the survey. Emphasize that uncertainty is expected and valuable for measuring learning progress. Do not reveal correct answers or discuss them at this stage.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simulations, power analysis, and R. Emphasise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objectives for this part of the session. At this stage, you’re not expected to fully understand or master all of these points. Think of them as a roadmap rather than a checklist; they show where we’re headed, not what you already need to know. As we move through the session, we’ll revisit these objectives in smaller sections. You can use these objectives to keep track of your learning, notice what feels clear, and identify areas where you might want to ask questions later.</a:t>
            </a:r>
          </a:p>
          <a:p>
            <a:pPr lvl="0" indent="0" marL="0">
              <a:buNone/>
            </a:pPr>
          </a:p>
          <a:p>
            <a:pPr lvl="0" indent="0" marL="0">
              <a:buNone/>
            </a:pPr>
            <a:r>
              <a:rPr/>
              <a:t>As our first learning objective, we will focus on understanding what simulations are and what they mean in a research and experimental context. Next, we will explain why simulations are used in research. We will also learn how to summarize how simulations support hypothesis testing and experimentation. The next learning objective is then to practice simulations by performing the simulation process using a fictional experiment. This will help demonstrate each step in a more tangible way.</a:t>
            </a:r>
          </a:p>
          <a:p>
            <a:pPr lvl="0" indent="0" marL="0">
              <a:buNone/>
            </a:pPr>
          </a:p>
          <a:p>
            <a:pPr lvl="0" indent="0" marL="0">
              <a:buNone/>
            </a:pPr>
            <a:r>
              <a:rPr/>
              <a:t>Our next learning objectives is related to understanding what power analysis is and why it is important in research. We will also learn how to summarize how power analysis supports hypothesis testing and experimentation. Finally, we pull all of our skills together and we will learn how to perform a simulation yourself in R on a hands-on example.</a:t>
            </a:r>
          </a:p>
          <a:p>
            <a:pPr lvl="0" indent="0" marL="0">
              <a:buNone/>
            </a:pPr>
          </a:p>
          <a:p>
            <a:pPr lvl="0" indent="0" marL="0">
              <a:buNone/>
            </a:pPr>
            <a:r>
              <a:rPr b="1"/>
              <a:t>Instructor Notes</a:t>
            </a:r>
            <a:r>
              <a:rPr/>
              <a:t>: Use this slide to set expectations and reduce pressure. Emphasise that learning objectives will be revisited throughout the session for reflection and self-assessment. Avoid explaining each objective in detail here; instead, frame them as guiding anchors that will be unpacked gradually through activities and tutorials.</a:t>
            </a:r>
          </a:p>
          <a:p>
            <a:pPr lvl="0" indent="0" marL="0">
              <a:buNone/>
            </a:pPr>
          </a:p>
          <a:p>
            <a:pPr lvl="0" indent="0" marL="0">
              <a:buNone/>
            </a:pPr>
            <a:r>
              <a:rPr b="1"/>
              <a:t>Accessibility Tip:</a:t>
            </a:r>
            <a:r>
              <a:rPr/>
              <a:t> Read the learning objectives aloud and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a few key terms that will appear throughout the session. We’ll use the word simulations to talk about computer-generated data created through pseudo-random sampling. Power analysis refers to estimating the probability of detecting a true effect. And effect size tells us how large or meaningful that effect is. You don’t need to memorise these right now, this is just a quick introduction. We’ll return to these definitions later as we apply them, so for now simply get familiar with the terms.</a:t>
            </a:r>
          </a:p>
          <a:p>
            <a:pPr lvl="0" indent="0" marL="0">
              <a:buNone/>
            </a:pPr>
          </a:p>
          <a:p>
            <a:pPr lvl="0" indent="0" marL="0">
              <a:buNone/>
            </a:pPr>
            <a:r>
              <a:rPr b="1"/>
              <a:t>Instructor Notes</a:t>
            </a:r>
            <a:r>
              <a:rPr/>
              <a:t>: Introduce the terms briefly to activate learners’ prior conceptions. Keep the slide short.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Imagine you want to find out how many times you might get heads if you flip a coin 100 times. Instead of flipping the coin for real, you can pretend to flip the coin many times in your mind or on paper and write down the results each time. This pretending is called a simulation.</a:t>
            </a:r>
          </a:p>
          <a:p>
            <a:pPr lvl="0" indent="0" marL="0">
              <a:buNone/>
            </a:pPr>
          </a:p>
          <a:p>
            <a:pPr lvl="0" indent="0" marL="0">
              <a:buNone/>
            </a:pPr>
            <a:r>
              <a:rPr b="1"/>
              <a:t>Instructor Notes</a:t>
            </a:r>
            <a:r>
              <a:rPr/>
              <a:t>: Use this basic coin example to set the ground for ‘simulations’. Encourage your learners to ponder upon this example as a real experiment for a short bit, to understand how they can ‘simulate’ the data in their minds.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part, we’re looking at what simulations really are. A simulation basically means creating data that behaves the way we expect real-world data to behave. We repeat this process many times to see the range of outcomes we might get.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get an intuitive feel for it, there’s a quick activity: take a moment with the person next to you and imagine flipping a fair coin 100 times. How many heads and tails do you expect? You’re not actually flipping the coin, you’re just thinking it through. But that mental experiment already follows the logic of a simulation.</a:t>
            </a:r>
          </a:p>
          <a:p>
            <a:pPr lvl="0" indent="0" marL="0">
              <a:buNone/>
            </a:pPr>
          </a:p>
          <a:p>
            <a:pPr lvl="0" indent="0" marL="0">
              <a:buNone/>
            </a:pPr>
            <a:r>
              <a:rPr/>
              <a:t>Before we explore why simulations are important in research, we’ll think ourselves why the process of ‘making up data’ is important. Take a moment to think why doing this pretend experiment first is useful for planning a real study.</a:t>
            </a:r>
          </a:p>
          <a:p>
            <a:pPr lvl="0" indent="0" marL="0">
              <a:buNone/>
            </a:pPr>
          </a:p>
          <a:p>
            <a:pPr lvl="0" indent="0" marL="0">
              <a:buNone/>
            </a:pPr>
            <a:r>
              <a:rPr b="1"/>
              <a:t>Instructor Notes</a:t>
            </a:r>
            <a:r>
              <a:rPr/>
              <a:t>: Pause the slide here and give learners about 2 minutes to discuss. Encourage them to state a simple expectation or hypothesis (e.g., “I expect about 50 heads and 50 tails”). Emphasize that there is no single correct answer, the objective is intuition, not precision. When essential, remind the learners that the activity is for them to ponder on simulating an experiment and exploring its usage, rather than ‘having correct answers’.</a:t>
            </a:r>
          </a:p>
          <a:p>
            <a:pPr lvl="0" indent="0" marL="0">
              <a:buNone/>
            </a:pPr>
          </a:p>
          <a:p>
            <a:pPr lvl="0" indent="0" marL="0">
              <a:buNone/>
            </a:pPr>
            <a:r>
              <a:rPr b="1"/>
              <a:t>Accessibility Tips:</a:t>
            </a:r>
            <a:r>
              <a:rPr/>
              <a:t> Take a brief pause before the activity for the learners to soak in the knowledge before applying it. When needed, maybe give an own formulated example of the activity for ease.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Collect what learners have come up with during the previous activity. Summarize and paraphrase as you go along, and potentially collect the answers on a flipchart.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now talk about why simulations are used in research. Some of these aspects you have already mentioned in the discussion of the activity.</a:t>
            </a:r>
          </a:p>
          <a:p>
            <a:pPr lvl="0" indent="0" marL="0">
              <a:buNone/>
            </a:pPr>
          </a:p>
          <a:p>
            <a:pPr lvl="0" indent="-342900" marL="342900">
              <a:buAutoNum type="arabicPeriod"/>
            </a:pPr>
            <a:r>
              <a:rPr/>
              <a:t>One reason is that they help us build an intuitive feel for data. Even when we follow the same rules, results naturally vary. If you imagine simulating many sets of ten coin flips, you’ll notice the number of heads changes from one set to the next, even when the coin is fair. This helps us understand that different outcomes don’t automatically mean something unusual is happening.</a:t>
            </a:r>
          </a:p>
          <a:p>
            <a:pPr lvl="0" indent="0" marL="0">
              <a:buNone/>
            </a:pPr>
          </a:p>
          <a:p>
            <a:pPr lvl="0" indent="-342900" marL="342900">
              <a:buAutoNum type="arabicPeriod"/>
            </a:pPr>
            <a:r>
              <a:rPr/>
              <a:t>Simulations also help us understand probability. By repeating an experiment many times, we can see what outcomes are common and which ones are rare.For example, if we imagine a thousand experiments where we flip a coin four times, we’ll see that getting two heads is quite common, while getting zero or four heads is much less likely. This helps us develop a sense of what’s typical versus surprising in data.</a:t>
            </a:r>
          </a:p>
          <a:p>
            <a:pPr lvl="0" indent="0" marL="0">
              <a:buNone/>
            </a:pPr>
          </a:p>
          <a:p>
            <a:pPr lvl="0" indent="-342900" marL="342900">
              <a:buAutoNum type="arabicPeriod"/>
            </a:pPr>
            <a:r>
              <a:rPr/>
              <a:t>Simulations are also used to check whether an experiment is “strong” enough. Researchers can simulate an experiment many times to see how often it would successfully detect a real effect. In our coin example, this is like asking how many flips are needed before we can confidently decide whether the coin is fair or biased.</a:t>
            </a:r>
          </a:p>
          <a:p>
            <a:pPr lvl="0" indent="0" marL="0">
              <a:buNone/>
            </a:pPr>
          </a:p>
          <a:p>
            <a:pPr lvl="0" indent="-342900" marL="342900">
              <a:buAutoNum type="arabicPeriod"/>
            </a:pPr>
            <a:r>
              <a:rPr/>
              <a:t>Another important use of simulations is planning. Before collecting real data, researchers run pretend or simulated versions of their study to see what outcomes are likely and to identify potential issues early. This is like practicing a play before performing it on stage, so they can fix problems early.</a:t>
            </a:r>
          </a:p>
          <a:p>
            <a:pPr lvl="0" indent="0" marL="0">
              <a:buNone/>
            </a:pPr>
          </a:p>
          <a:p>
            <a:pPr lvl="0" indent="-342900" marL="342900">
              <a:buAutoNum type="arabicPeriod"/>
            </a:pPr>
            <a:r>
              <a:rPr/>
              <a:t>Another important reason simulations are used in research is their connection to Open Research. When we work with simulations, we can share the exact code and steps we used to generate and analyse the data. This means others can rerun the same simulation and see how the results were produced, which supports transparency.</a:t>
            </a:r>
          </a:p>
          <a:p>
            <a:pPr lvl="0" indent="0" marL="0">
              <a:buNone/>
            </a:pPr>
          </a:p>
          <a:p>
            <a:pPr lvl="0" indent="0" marL="0">
              <a:buNone/>
            </a:pPr>
            <a:r>
              <a:rPr b="1"/>
              <a:t>Instructor Notes</a:t>
            </a:r>
            <a:r>
              <a:rPr/>
              <a:t>: Emphasize intuition over formal definitions here; the objective is to help learners develop a “feel” for variability and probability. If the learners are gaining a basic understanding, you can move over to more technical explanations or terms. Feel free to present some real-life research examples you may have encountered.</a:t>
            </a:r>
          </a:p>
          <a:p>
            <a:pPr lvl="0" indent="0" marL="0">
              <a:buNone/>
            </a:pPr>
          </a:p>
          <a:p>
            <a:pPr lvl="0" indent="0" marL="0">
              <a:buNone/>
            </a:pPr>
            <a:r>
              <a:rPr/>
              <a:t>Emphasize continuity with the earlier coin-flip example to avoid introducing too many new ideas at once. Highlight that both power and planning are about reducing uncertainty before running the real experiment. Avoid technical definitions here; intuition is the objective.</a:t>
            </a:r>
          </a:p>
          <a:p>
            <a:pPr lvl="0" indent="0" marL="0">
              <a:buNone/>
            </a:pPr>
          </a:p>
          <a:p>
            <a:pPr lvl="0" indent="0" marL="0">
              <a:buNone/>
            </a:pPr>
            <a:r>
              <a:rPr/>
              <a:t>Finally, allow the learners to soak in the knowledge and reasoning, before worrying about the technical terms. The terms are mentioned so that the learners become aware of them used in the science world. Prompt them to ask questions if any of the terms are unclear.</a:t>
            </a:r>
          </a:p>
          <a:p>
            <a:pPr lvl="0" indent="0" marL="0">
              <a:buNone/>
            </a:pPr>
          </a:p>
          <a:p>
            <a:pPr lvl="0" indent="0" marL="0">
              <a:buNone/>
            </a:pPr>
            <a:r>
              <a:rPr b="1"/>
              <a:t>One additional reason for more advanced learners</a:t>
            </a:r>
            <a:r>
              <a:rPr/>
              <a:t>: Simulations can also be used to measure uncertainty through techniques like resampling or bootstrapping. Here, we repeatedly reuse the data we already have to see how much our results might vary.</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basic process behind running a simulation.</a:t>
            </a:r>
          </a:p>
          <a:p>
            <a:pPr lvl="0" indent="0" marL="0">
              <a:buNone/>
            </a:pPr>
          </a:p>
          <a:p>
            <a:pPr lvl="0" indent="0" marL="0">
              <a:buNone/>
            </a:pPr>
            <a:r>
              <a:rPr/>
              <a:t>First, decide how many data points (sample size) you want, for example, simulating a 100 coin flips. Thus, n = 100.</a:t>
            </a:r>
          </a:p>
          <a:p>
            <a:pPr lvl="0" indent="0" marL="0">
              <a:buNone/>
            </a:pPr>
          </a:p>
          <a:p>
            <a:pPr lvl="0" indent="0" marL="0">
              <a:buNone/>
            </a:pPr>
            <a:r>
              <a:rPr/>
              <a:t>Next, generate the fake data using a random method that mimics the real outcome, such as randomly assigning ‘heads’ or ‘tails’ with equal probability.</a:t>
            </a:r>
          </a:p>
          <a:p>
            <a:pPr lvl="0" indent="0" marL="0">
              <a:buNone/>
            </a:pPr>
          </a:p>
          <a:p>
            <a:pPr lvl="0" indent="0" marL="0">
              <a:buNone/>
            </a:pPr>
            <a:r>
              <a:rPr/>
              <a:t>Then analyze this simulated dataset just as you would analyze real data, for example, you might count how many heads you got or calculate a simple summary.</a:t>
            </a:r>
          </a:p>
          <a:p>
            <a:pPr lvl="0" indent="0" marL="0">
              <a:buNone/>
            </a:pPr>
          </a:p>
          <a:p>
            <a:pPr lvl="0" indent="0" marL="0">
              <a:buNone/>
            </a:pPr>
            <a:r>
              <a:rPr/>
              <a:t>After that, repeat the simulation many times to see how the results vary from run to run. Finally, bring everything together by summarizing the outcomes across all repetitions. This gives you a clear picture of the variation you can expect if the experiment were done in real life.</a:t>
            </a:r>
          </a:p>
          <a:p>
            <a:pPr lvl="0" indent="0" marL="0">
              <a:buNone/>
            </a:pPr>
          </a:p>
          <a:p>
            <a:pPr lvl="0" indent="0" marL="0">
              <a:buNone/>
            </a:pPr>
            <a:r>
              <a:rPr b="1"/>
              <a:t>Instructor Notes</a:t>
            </a:r>
            <a:r>
              <a:rPr/>
              <a:t>: After discussing the pointers, let the learners work on the activity and justify the simulation of data in their experiment, and share it in class.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objectives for this section and reflect on how comfortable you feel with each one. 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Encourage brief reflections rather than detailed discussions. Ask learners to self-assess quietly or with a quick show of hands. Invite a few questions or clarifications, but avoid re-teaching in depth unless a common gap appears.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section, we’re looking at what power analysis means and why it matters. Think back to our coin example. The question now is: How many times should we flip the coin to confidently decide whether it’s fair? Power analysis helps us figure that out.</a:t>
            </a:r>
          </a:p>
          <a:p>
            <a:pPr lvl="0" indent="0" marL="0">
              <a:buNone/>
            </a:pPr>
          </a:p>
          <a:p>
            <a:pPr lvl="0" indent="0" marL="0">
              <a:buNone/>
            </a:pPr>
            <a:r>
              <a:rPr/>
              <a:t>Power is simply the chance of detecting a real effect if it truly exists. So if the power is 80 percent, that means we have an 80 percent chance of noticing a bias when the coin is actually biased.</a:t>
            </a:r>
          </a:p>
          <a:p>
            <a:pPr lvl="0" indent="0" marL="0">
              <a:buNone/>
            </a:pPr>
          </a:p>
          <a:p>
            <a:pPr lvl="0" indent="0" marL="0">
              <a:buNone/>
            </a:pPr>
            <a:r>
              <a:rPr b="1"/>
              <a:t>Instructor Notes</a:t>
            </a:r>
            <a:r>
              <a:rPr/>
              <a:t>: This is the moment to clear out any confusion regarding the neighboring concepts of effect size and significance level. If the learners seem comfortable with the concepts, you can opt for a higher-level explanation reflecting the ‘correctly rejecting a false null hypothesis’ notion.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Power analysis is basically about asking: How likely is my study to actually notice something real, if it’s there? That likelihood depends on three main things.</a:t>
            </a:r>
          </a:p>
          <a:p>
            <a:pPr lvl="0" indent="0" marL="0">
              <a:buNone/>
            </a:pPr>
          </a:p>
          <a:p>
            <a:pPr lvl="0" indent="0" marL="0">
              <a:buNone/>
            </a:pPr>
            <a:r>
              <a:rPr/>
              <a:t>First, the effect size — in our coin example, this means how biased the coin really is. A very slightly biased coin is harder to detect than a strongly biased one.</a:t>
            </a:r>
          </a:p>
          <a:p>
            <a:pPr lvl="0" indent="0" marL="0">
              <a:buNone/>
            </a:pPr>
          </a:p>
          <a:p>
            <a:pPr lvl="0" indent="0" marL="0">
              <a:buNone/>
            </a:pPr>
            <a:r>
              <a:rPr/>
              <a:t>Second, the sample size. The more times you flip the coin, the more information you collect, and the easier it becomes to spot a real pattern.</a:t>
            </a:r>
          </a:p>
          <a:p>
            <a:pPr lvl="0" indent="0" marL="0">
              <a:buNone/>
            </a:pPr>
          </a:p>
          <a:p>
            <a:pPr lvl="0" indent="0" marL="0">
              <a:buNone/>
            </a:pPr>
            <a:r>
              <a:rPr/>
              <a:t>And third, the significance level — this reflects how sure we want to be before we say, ‘Yes, this effect is real.’</a:t>
            </a:r>
          </a:p>
          <a:p>
            <a:pPr lvl="0" indent="0" marL="0">
              <a:buNone/>
            </a:pPr>
          </a:p>
          <a:p>
            <a:pPr lvl="0" indent="0" marL="0">
              <a:buNone/>
            </a:pPr>
            <a:r>
              <a:rPr/>
              <a:t>Time for a short in class activity: before we dive into the importance of power analysis, I need you to think for yourself, namely why conducting power analysis for your experiment could be useful.</a:t>
            </a:r>
          </a:p>
          <a:p>
            <a:pPr lvl="0" indent="0" marL="0">
              <a:buNone/>
            </a:pPr>
          </a:p>
          <a:p>
            <a:pPr lvl="0" indent="0" marL="0">
              <a:buNone/>
            </a:pPr>
            <a:r>
              <a:rPr b="1"/>
              <a:t>Instructor Notes:</a:t>
            </a:r>
            <a:r>
              <a:rPr/>
              <a:t> Before starting the activity, clear out any doubts on the concept of ‘power’. Encourage learners to reason intuitively. The objective is not to have the right answer, but to reason by themselves first.</a:t>
            </a:r>
          </a:p>
          <a:p>
            <a:pPr lvl="0" indent="0" marL="0">
              <a:buNone/>
            </a:pPr>
          </a:p>
          <a:p>
            <a:pPr lvl="0" indent="0" marL="0">
              <a:buNone/>
            </a:pPr>
            <a:r>
              <a:rPr/>
              <a:t>If learners struggle, prompt them with questions like: “What happens if the effect is very small?” or “What changes if you only flip the coin 10 times instead of 100?”</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Collect what learners have come up with during the previous activity. Summarize and paraphrase as you go along, and potentially collect the answers on a flipchart.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Power analysis can be important for various reasons.</a:t>
            </a:r>
          </a:p>
          <a:p>
            <a:pPr lvl="0" indent="0" marL="0">
              <a:buNone/>
            </a:pPr>
          </a:p>
          <a:p>
            <a:pPr lvl="0" indent="-342900" marL="342900">
              <a:buAutoNum type="arabicPeriod"/>
            </a:pPr>
            <a:r>
              <a:rPr/>
              <a:t>It can help us avoid studies that are simply too weak to be useful. If a study is underpowered, you might run the experiment, analyse the data, and still fail to detect a real effect, not because the effect isn’t there, but because the study was too small. This is similar to trying to record a sound in a noisy room: You might hear it, not because the sound is not there, but because your setup is not high-tech enough to detect it.</a:t>
            </a:r>
          </a:p>
          <a:p>
            <a:pPr lvl="0" indent="0" marL="0">
              <a:buNone/>
            </a:pPr>
          </a:p>
          <a:p>
            <a:pPr lvl="0" indent="-342900" marL="342900">
              <a:buAutoNum type="arabicPeriod"/>
            </a:pPr>
            <a:r>
              <a:rPr/>
              <a:t>Power analysis also helps save time and effort. Instead of guessing how much data you need, it tells you the minimum number of observations required to have a reasonable chance of detecting an effect. This means you’re not running an experiment that’s unnecessarily large, expensive, or time-consuming.</a:t>
            </a:r>
          </a:p>
          <a:p>
            <a:pPr lvl="0" indent="0" marL="0">
              <a:buNone/>
            </a:pPr>
          </a:p>
          <a:p>
            <a:pPr lvl="0" indent="-342900" marL="342900">
              <a:buAutoNum type="arabicPeriod"/>
            </a:pPr>
            <a:r>
              <a:rPr/>
              <a:t>Finally, power analysis is increasingly expected for transparency and publication. Many journals and ethics committees want to see that researchers planned their study carefully and that the sample size was not chosen arbitrarily. Showing a power analysis is one way to demonstrate that your research design is solid and justified. Moroever, other researchers can repeat your work and your methods. This is in the spirit of Open Research.</a:t>
            </a:r>
          </a:p>
          <a:p>
            <a:pPr lvl="0" indent="0" marL="0">
              <a:buNone/>
            </a:pPr>
          </a:p>
          <a:p>
            <a:pPr lvl="0" indent="0" marL="0">
              <a:buNone/>
            </a:pPr>
            <a:r>
              <a:rPr b="1"/>
              <a:t>Instructor Notes</a:t>
            </a:r>
            <a:r>
              <a:rPr/>
              <a:t>: Emphasize that power analysis is a planning tool, not a guarantee of significant results. Reinforce that its role is to make studies informative, whether results turn out significant or not. If relevant, mention that power analyses are often required in preregistrations, grant proposals, and ethics applications.</a:t>
            </a:r>
          </a:p>
          <a:p>
            <a:pPr lvl="0" indent="0" marL="0">
              <a:buNone/>
            </a:pPr>
          </a:p>
          <a:p>
            <a:pPr lvl="0" indent="0" marL="0">
              <a:buNone/>
            </a:pPr>
            <a:r>
              <a:rPr b="1"/>
              <a:t>Accessibility Tips</a:t>
            </a:r>
            <a:r>
              <a:rPr/>
              <a:t>: The technical terms may be overwhelming for some of the learners. Therefore, they need to be clarified with simpler explanations.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two main ways to do power analysis. The first is the quick formula method. Here, you use a mathematical formula that links effect size, sample size, and significance level to estimate how much data you need. This works well for very simple designs, like basic comparisons or classic statistical tests. It is fast and intuitive, but it also makes strong assumptions about how the data behave.</a:t>
            </a:r>
          </a:p>
          <a:p>
            <a:pPr lvl="0" indent="0" marL="0">
              <a:buNone/>
            </a:pPr>
          </a:p>
          <a:p>
            <a:pPr lvl="0" indent="0" marL="0">
              <a:buNone/>
            </a:pPr>
            <a:r>
              <a:rPr/>
              <a:t>The second approach is simulation-based power analysis. Instead of relying only on formulas, you pretend to run your experiment many times on a computer. You generate fake data that reflect how you expect the real data to look, analyse each pretend dataset, and then see how often you detect the effect.</a:t>
            </a:r>
          </a:p>
          <a:p>
            <a:pPr lvl="0" indent="0" marL="0">
              <a:buNone/>
            </a:pPr>
          </a:p>
          <a:p>
            <a:pPr lvl="0" indent="0" marL="0">
              <a:buNone/>
            </a:pPr>
            <a:r>
              <a:rPr/>
              <a:t>This simulation approach is especially useful when experiments are more complex, for example, when there are multiple variables, lognitudinal data non-standard designs, or assumptions that are hard to check. In those cases, simulations give a more realistic picture of how your study will actually perform.</a:t>
            </a:r>
          </a:p>
          <a:p>
            <a:pPr lvl="0" indent="0" marL="0">
              <a:buNone/>
            </a:pPr>
          </a:p>
          <a:p>
            <a:pPr lvl="0" indent="0" marL="0">
              <a:buNone/>
            </a:pPr>
            <a:r>
              <a:rPr b="1"/>
              <a:t>Instructor Notes:</a:t>
            </a:r>
            <a:r>
              <a:rPr/>
              <a:t> Clarify that simulations do not replace theory but extend it when formulas become too simplified or unrealistic. Encourage learners to think about which method fits their own experimental designs and to see simulations as a flexible tool rather than an advanced or intimidating one.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walk through the basic steps of simulation-based power analysis using this process.</a:t>
            </a:r>
          </a:p>
          <a:p>
            <a:pPr lvl="0" indent="0" marL="0">
              <a:buNone/>
            </a:pPr>
          </a:p>
          <a:p>
            <a:pPr lvl="0" indent="0" marL="0">
              <a:buNone/>
            </a:pPr>
            <a:r>
              <a:rPr/>
              <a:t>First, you set up your model and data. This means deciding what your variables look like and how they behave. For example, are you working with coin flips, test scores, or reaction times? You also choose assumptions like the sample size, the expected effect size, and the type of distribution the data follow. In our coin example, this is where you decide how biased the coin might be and how many flips you plan to run.</a:t>
            </a:r>
          </a:p>
          <a:p>
            <a:pPr lvl="0" indent="0" marL="0">
              <a:buNone/>
            </a:pPr>
          </a:p>
          <a:p>
            <a:pPr lvl="0" indent="0" marL="0">
              <a:buNone/>
            </a:pPr>
            <a:r>
              <a:rPr/>
              <a:t>Second, you simulate one dataset. Here, you generate fake data on a computer that follow the rules you just defined. If you expect a real effect, you deliberately build it into the data, for example, by making one group slightly different from another. This step is like running your experiment once, but with pretend data.</a:t>
            </a:r>
          </a:p>
          <a:p>
            <a:pPr lvl="0" indent="0" marL="0">
              <a:buNone/>
            </a:pPr>
          </a:p>
          <a:p>
            <a:pPr lvl="0" indent="0" marL="0">
              <a:buNone/>
            </a:pPr>
            <a:r>
              <a:rPr/>
              <a:t>Third, you analyse the simulated data exactly as you would analyse real data. You apply the statistical test you plan to use later, such as a t-test or a regression, and you record the outcome — for instance, whether the result is statistically significant.</a:t>
            </a:r>
          </a:p>
          <a:p>
            <a:pPr lvl="0" indent="0" marL="0">
              <a:buNone/>
            </a:pPr>
          </a:p>
          <a:p>
            <a:pPr lvl="0" indent="0" marL="0">
              <a:buNone/>
            </a:pPr>
            <a:r>
              <a:rPr/>
              <a:t>Fourth, you repeat this whole experiment many times. You simulate new data, analyse them again, and store the results. By doing this hundreds or thousands of times, you can see how often your planned analysis successfully detects the effect.</a:t>
            </a:r>
          </a:p>
          <a:p>
            <a:pPr lvl="0" indent="0" marL="0">
              <a:buNone/>
            </a:pPr>
          </a:p>
          <a:p>
            <a:pPr lvl="0" indent="0" marL="0">
              <a:buNone/>
            </a:pPr>
            <a:r>
              <a:rPr/>
              <a:t>Finally, you summarize and interpret the results. You calculate the proportion of simulations in which the effect was detected. This proportion is your estimated power. In other words, how likely your study is to find the effect if it truly exists.</a:t>
            </a:r>
          </a:p>
          <a:p>
            <a:pPr lvl="0" indent="0" marL="0">
              <a:buNone/>
            </a:pPr>
          </a:p>
          <a:p>
            <a:pPr lvl="0" indent="0" marL="0">
              <a:buNone/>
            </a:pPr>
            <a:r>
              <a:rPr b="1"/>
              <a:t>Instructor Notes:</a:t>
            </a:r>
            <a:r>
              <a:rPr/>
              <a:t> Emphasize that the key idea is repetition under known conditions. Encourage learners to connect each step to their earlier coin-flip hypothesis or imagined experiment. During the pair discussion, circulate and prompt learners to identify what choices they would need to make in Step 1 (effect size, sample size) for their own design.</a:t>
            </a:r>
          </a:p>
          <a:p>
            <a:pPr lvl="0" indent="0" marL="0">
              <a:buNone/>
            </a:pPr>
          </a:p>
          <a:p>
            <a:pPr lvl="0" indent="0" marL="0">
              <a:buNone/>
            </a:pPr>
            <a:r>
              <a:rPr b="1"/>
              <a:t>Accessibility Tips:</a:t>
            </a:r>
            <a:r>
              <a:rPr/>
              <a:t> Explain each step sequentially and verbally reference the diagram so learners can follow without relying solely on the visual.</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focusing on gaining hands-on experience with running simulations yourself in R. Take your time as you go through them, and work at a pace that feels comfortable. There is no expectation to finish everything right now, and you’re welcome to continue working on them at home. Use this time to explore, experiment, and revisit earlier ideas as they come up in the tutorial.</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Do walk around the room to check up on the progress of your learners. Provide a time limit for the activity and inform your learners that you will come together as a group towards the end of the session to wrap up.</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those of you who did not yet finish with the tutorial, this is the assignment for the next session.</a:t>
            </a:r>
          </a:p>
          <a:p>
            <a:pPr lvl="0" indent="0" marL="0">
              <a:buNone/>
            </a:pPr>
          </a:p>
          <a:p>
            <a:pPr lvl="0" indent="0" marL="0">
              <a:buNone/>
            </a:pPr>
            <a:r>
              <a:rPr b="1"/>
              <a:t>Instructor Notes</a:t>
            </a:r>
            <a:r>
              <a:rPr/>
              <a:t>: Explain the homework assignment and the rationale behind the homework. Examine whether/how it will be assessed. Mention scoring rubrics, if applicable.</a:t>
            </a:r>
          </a:p>
          <a:p>
            <a:pPr lvl="0" indent="0" marL="0">
              <a:buNone/>
            </a:pPr>
          </a:p>
          <a:p>
            <a:pPr lvl="0" indent="0" marL="0">
              <a:buNone/>
            </a:pPr>
            <a:r>
              <a:rPr/>
              <a:t>*Accessibility Tip**: Design a peer-review system for assignments to place learners in role of reviewer and author. This helps learners learn how to give feedback, but also how to receive feedback.</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pause for a quick check-in. Take a moment to look back at the learning objectives for this section and reflect on how comfortable you feel with each one.</a:t>
            </a:r>
          </a:p>
          <a:p>
            <a:pPr lvl="0" indent="0" marL="0">
              <a:buNone/>
            </a:pPr>
          </a:p>
          <a:p>
            <a:pPr lvl="0" indent="0" marL="0">
              <a:buNone/>
            </a:pPr>
            <a:r>
              <a:rPr/>
              <a:t>If you notice any gaps, this is the right moment to bring them up — feel free to ask questions or start a discussion so we can address them before moving on.</a:t>
            </a:r>
          </a:p>
          <a:p>
            <a:pPr lvl="0" indent="0" marL="0">
              <a:buNone/>
            </a:pPr>
          </a:p>
          <a:p>
            <a:pPr lvl="0" indent="0" marL="0">
              <a:buNone/>
            </a:pPr>
            <a:r>
              <a:rPr b="1"/>
              <a:t>Instructor Notes</a:t>
            </a:r>
            <a:r>
              <a:rPr/>
              <a:t>: Encourage brief reflection rather than detailed discussion. Ask learners to self-assess quietly or with a quick show of hands. Invite a few questions or clarifications, but avoid re-teaching in depth unless a common gap appears.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discuss how these skills could be relevant to you. Where can you imagine applying these new skills? In which context? Or where can you imagine that you </a:t>
            </a:r>
            <a:r>
              <a:rPr i="1"/>
              <a:t>will not</a:t>
            </a:r>
            <a:r>
              <a:rPr/>
              <a:t> apply these skills?</a:t>
            </a:r>
          </a:p>
          <a:p>
            <a:pPr lvl="0" indent="0" marL="0">
              <a:buNone/>
            </a:pPr>
          </a:p>
          <a:p>
            <a:pPr lvl="0" indent="0" marL="0">
              <a:buNone/>
            </a:pPr>
            <a:r>
              <a:rPr b="1"/>
              <a:t>Instructor Notes</a:t>
            </a:r>
            <a:r>
              <a:rPr/>
              <a:t>: The aim here is to work out the relevance of the topic to your learners. In an interactive setting, discuss how the new skills could be applied in practice with specific examples.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wrap up, here’s the main takeaway. Simulations act like a safe playground, where you can run your study many times using pretend data and see how your statistics behave before working with real data. Power analysis works like a trial period, helping you decide on a study size that’s large enough to detect real effects, but not larger than necessary. Together, simulations and power analysis form a kind of research rehearsal — you first imagine and test the experiment, then check whether the plan is strong enough, and only after that move on to collecting real data.</a:t>
            </a:r>
          </a:p>
          <a:p>
            <a:pPr lvl="0" indent="0" marL="0">
              <a:buNone/>
            </a:pPr>
          </a:p>
          <a:p>
            <a:pPr lvl="0" indent="0" marL="0">
              <a:buNone/>
            </a:pPr>
            <a:r>
              <a:rPr b="1"/>
              <a:t>Instructor Notes</a:t>
            </a:r>
            <a:r>
              <a:rPr/>
              <a:t>: This is a good moment to make sure that your learners feel the need for simulations and power analysis on a ground level. The metaphor can make it easier to remember the reasoning.</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simulations, power analysis, and working in R after completing the session. Please answer honestly based on how confident you feel now.</a:t>
            </a:r>
          </a:p>
          <a:p>
            <a:pPr lvl="0" indent="0" marL="0">
              <a:buNone/>
            </a:pPr>
          </a:p>
          <a:p>
            <a:pPr lvl="0" indent="0" marL="0">
              <a:buNone/>
            </a:pPr>
            <a:r>
              <a:rPr/>
              <a:t>Question 2: Correct Answer(s):</a:t>
            </a:r>
          </a:p>
          <a:p>
            <a:pPr lvl="0" indent="0" marL="0">
              <a:buNone/>
            </a:pPr>
          </a:p>
          <a:p>
            <a:pPr lvl="0" indent="-342900" marL="342900">
              <a:buAutoNum type="alphaLcPeriod"/>
            </a:pPr>
            <a:r>
              <a:rPr/>
              <a:t>Generate artificial data</a:t>
            </a:r>
          </a:p>
          <a:p>
            <a:pPr lvl="0" indent="0" marL="0">
              <a:buNone/>
            </a:pPr>
          </a:p>
          <a:p>
            <a:pPr lvl="0" indent="-342900" marL="342900">
              <a:buAutoNum type="alphaLcPeriod"/>
            </a:pPr>
            <a:r>
              <a:rPr/>
              <a:t>Visualize complex statistical concepts</a:t>
            </a:r>
          </a:p>
          <a:p>
            <a:pPr lvl="0" indent="0" marL="0">
              <a:buNone/>
            </a:pPr>
          </a:p>
          <a:p>
            <a:pPr lvl="0" indent="-342900" marL="342900">
              <a:buAutoNum type="alphaLcPeriod"/>
            </a:pPr>
            <a:r>
              <a:rPr/>
              <a:t>Test how models perform under different scenarios</a:t>
            </a:r>
          </a:p>
          <a:p>
            <a:pPr lvl="0" indent="0" marL="0">
              <a:buNone/>
            </a:pPr>
          </a:p>
          <a:p>
            <a:pPr lvl="0" indent="0" marL="0">
              <a:buNone/>
            </a:pPr>
            <a:r>
              <a:rPr/>
              <a:t>Question 4: Correct Answer(s):</a:t>
            </a:r>
          </a:p>
          <a:p>
            <a:pPr lvl="0" indent="0" marL="0">
              <a:buNone/>
            </a:pPr>
          </a:p>
          <a:p>
            <a:pPr lvl="0" indent="-342900" marL="342900">
              <a:buAutoNum type="alphaLcPeriod"/>
            </a:pPr>
            <a:r>
              <a:rPr/>
              <a:t>It helps determine how many samples you need</a:t>
            </a:r>
          </a:p>
          <a:p>
            <a:pPr lvl="0" indent="0" marL="0">
              <a:buNone/>
            </a:pPr>
          </a:p>
          <a:p>
            <a:pPr lvl="0" indent="-342900" marL="342900">
              <a:buAutoNum type="alphaLcPeriod"/>
            </a:pPr>
            <a:r>
              <a:rPr/>
              <a:t>It helps you design more reliable studies</a:t>
            </a:r>
          </a:p>
          <a:p>
            <a:pPr lvl="0" indent="0" marL="0">
              <a:buNone/>
            </a:pPr>
          </a:p>
          <a:p>
            <a:pPr lvl="0" indent="0" marL="0">
              <a:buNone/>
            </a:pPr>
            <a:r>
              <a:rPr b="1"/>
              <a:t>Instructor Notes</a:t>
            </a:r>
            <a:r>
              <a:rPr/>
              <a:t>: The purpose is to compare pre- and post-session responses to evaluate learning progress and the effectiveness of the tutorial. At this stage, the correct answers can be discussed. Encourage your learners to share in class, in case they answered wrongly and navigate them to the correct answer. Use this space to answer doubts, and provide learning or practice tips if the learners still feel under-confident in these areas.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take a moment to look at these survey results together. The objective here is not to see who got answers “right” or “wrong,” but to get a sense of where we are as a group right now. These results give us a snapshot of your current familiarity with simulations, power analysis, and R, which helps us understand what feels familiar and what might feel new.  </a:t>
            </a:r>
            <a:r>
              <a:rPr b="1"/>
              <a:t>Instructer Notes</a:t>
            </a:r>
            <a:r>
              <a:rPr/>
              <a:t>: The post-survey aims to assess the difference in knowledge and skill before and after the class. Highlight general patterns rather than individual responses (e.g., areas of confidence vs. uncertainty). Avoid correcting answers.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lists all the sources that informed today’s session. You don’t need to read through them now. They are here so you can see where the ideas and definitions come from and so you can revisit any of these readings later if you’re interested.</a:t>
            </a:r>
          </a:p>
          <a:p>
            <a:pPr lvl="0" indent="0" marL="0">
              <a:buNone/>
            </a:pPr>
          </a:p>
          <a:p>
            <a:pPr lvl="0" indent="0" marL="0">
              <a:buNone/>
            </a:pPr>
            <a:r>
              <a:rPr b="1"/>
              <a:t>Instructor Notes</a:t>
            </a:r>
            <a:r>
              <a:rPr/>
              <a:t>: Emphasize that learners are not expected to engage with all sources now; this slide mainly serves documentation and follow-up purposes.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lists the key references and additional resources used throughout the session. You don’t need to go through these right now. They’re here so you can revisit the concepts in more depth later, explore practical examples, or follow up on topics that interested you during the tutorial. Feel free to use these resources at your own pace.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Creative Commons Universal License (CC0 1.0).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hyperlink" Target="https://www.psychologie.hhu.de/arbeitsgruppen/allgemeine-psychologie-und-arbeitspsychologie/gpower"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hyperlink" Target="https://lmu-osc.github.io/Introduction-Simulations-in-R/" TargetMode="External" /><Relationship Id="rId4" Type="http://schemas.openxmlformats.org/officeDocument/2006/relationships/hyperlink" Target="https://lmu-osc.github.io/Introduction-Simulations-in-R/"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hyperlink" Target="https://doi.org/10.1186/s40536-018-0061-2" TargetMode="External" /><Relationship Id="rId4" Type="http://schemas.openxmlformats.org/officeDocument/2006/relationships/hyperlink" Target="https://doi.org/10.1002/sim.8086" TargetMode="External" /><Relationship Id="rId5" Type="http://schemas.openxmlformats.org/officeDocument/2006/relationships/hyperlink" Target="https://doi.org/10.2307/3802582"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hyperlink" Target="https://doi.org/10.20982/tqmp.09.2.p043" TargetMode="External" /><Relationship Id="rId4" Type="http://schemas.openxmlformats.org/officeDocument/2006/relationships/hyperlink" Target="https://doi.org/10.3389/fclim.2021.763420" TargetMode="External" /><Relationship Id="rId5" Type="http://schemas.openxmlformats.org/officeDocument/2006/relationships/hyperlink" Target="https://doi.org/10.2307/2529115" TargetMode="External" /><Relationship Id="rId6" Type="http://schemas.openxmlformats.org/officeDocument/2006/relationships/hyperlink" Target="https://osf.io/7wfed/files/asf53"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3242-5981" TargetMode="External" /><Relationship Id="rId4" Type="http://schemas.openxmlformats.org/officeDocument/2006/relationships/hyperlink" Target="https://orcid.org/0000-0002-6413-3895"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hyperlink" Target="https://www.osc.lmu.de/people/people/malika-ihle.html" TargetMode="External" /><Relationship Id="rId4" Type="http://schemas.openxmlformats.org/officeDocument/2006/relationships/hyperlink" Target="https://joelpick.github.io/" TargetMode="External" /><Relationship Id="rId5" Type="http://schemas.openxmlformats.org/officeDocument/2006/relationships/hyperlink" Target="https://www.yumpu.com/en/document/view/19077330/simulation-hadley-wickham" TargetMode="External" /><Relationship Id="rId6" Type="http://schemas.openxmlformats.org/officeDocument/2006/relationships/hyperlink" Target="https://www.tqmp.org/RegularArticles/vol09-2/p043/" TargetMode="External" /><Relationship Id="rId7" Type="http://schemas.openxmlformats.org/officeDocument/2006/relationships/hyperlink" Target="https://github.com/worcjamessmith" TargetMode="External" /><Relationship Id="rId8" Type="http://schemas.openxmlformats.org/officeDocument/2006/relationships/hyperlink" Target="https://creativecommons.org/licenses/by-sa/4.0/deed.en" TargetMode="External" /><Relationship Id="rId9" Type="http://schemas.openxmlformats.org/officeDocument/2006/relationships/hyperlink" Target="https://creativecommons.org/publicdomain/zero/1.0/" TargetMode="External" /><Relationship Id="rId10" Type="http://schemas.openxmlformats.org/officeDocument/2006/relationships/hyperlink" Target="https://www.osc.lmu.de/" TargetMode="External" /><Relationship Id="rId11" Type="http://schemas.openxmlformats.org/officeDocument/2006/relationships/hyperlink" Target="https://lmu-osc.github.io/teaching-material-for-novices/open-research-tools/simulation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Running simulations and power analysis in R</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Tejaswini Sharma and Sarah von Grebmer zu Wolfsthurn</a:t>
            </a:r>
          </a:p>
        </p:txBody>
      </p:sp>
      <p:sp>
        <p:nvSpPr>
          <p:cNvPr id="4" name="Date Placeholder 3"/>
          <p:cNvSpPr>
            <a:spLocks noGrp="1"/>
          </p:cNvSpPr>
          <p:nvPr>
            <p:ph idx="10" sz="half" type="dt"/>
          </p:nvPr>
        </p:nvSpPr>
        <p:spPr/>
        <p:txBody>
          <a:bodyPr/>
          <a:lstStyle/>
          <a:p>
            <a:pPr lvl="0" indent="0" marL="0">
              <a:buNone/>
            </a:pPr>
            <a:r>
              <a:rPr/>
              <a:t>22/10/2026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about the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How confident are you in defining what a “simulation” is in the context of scientific research?</a:t>
            </a:r>
          </a:p>
          <a:p>
            <a:pPr lvl="0" indent="-342900" marL="342900">
              <a:buAutoNum type="alphaLcPeriod"/>
            </a:pPr>
            <a:r>
              <a:rPr/>
              <a:t>Not confident.</a:t>
            </a:r>
          </a:p>
          <a:p>
            <a:pPr lvl="0" indent="-342900" marL="342900">
              <a:buAutoNum type="alphaLcPeriod"/>
            </a:pPr>
            <a:r>
              <a:rPr/>
              <a:t>Somewhat confident.</a:t>
            </a:r>
          </a:p>
          <a:p>
            <a:pPr lvl="0" indent="-342900" marL="342900">
              <a:buAutoNum type="alphaLcPeriod"/>
            </a:pPr>
            <a:r>
              <a:rPr/>
              <a:t>Confident.</a:t>
            </a:r>
          </a:p>
          <a:p>
            <a:pPr lvl="0" indent="-342900" marL="342900">
              <a:buAutoNum type="alphaLcPeriod"/>
            </a:pPr>
            <a:r>
              <a:rPr/>
              <a:t>Very confident</a:t>
            </a:r>
          </a:p>
          <a:p>
            <a:pPr lvl="0" indent="0" marL="0">
              <a:spcBef>
                <a:spcPts val="3000"/>
              </a:spcBef>
              <a:buNone/>
            </a:pPr>
            <a:r>
              <a:rPr b="1"/>
              <a:t>Question 2</a:t>
            </a:r>
          </a:p>
          <a:p>
            <a:pPr lvl="0" indent="0" marL="0">
              <a:buNone/>
            </a:pPr>
            <a:r>
              <a:rPr b="1"/>
              <a:t>Simulations are often used in research to… </a:t>
            </a:r>
            <a:r>
              <a:rPr b="1" i="1"/>
              <a:t>(Select all you think apply)</a:t>
            </a:r>
            <a:r>
              <a:rPr b="1"/>
              <a:t> </a:t>
            </a:r>
          </a:p>
          <a:p>
            <a:pPr lvl="0" indent="-342900" marL="342900">
              <a:buAutoNum type="alphaLcPeriod"/>
            </a:pPr>
            <a:r>
              <a:rPr/>
              <a:t>Generate artificial data</a:t>
            </a:r>
          </a:p>
          <a:p>
            <a:pPr lvl="0" indent="-342900" marL="342900">
              <a:buAutoNum type="alphaLcPeriod"/>
            </a:pPr>
            <a:r>
              <a:rPr/>
              <a:t>Visualize complex statistical concepts</a:t>
            </a:r>
          </a:p>
          <a:p>
            <a:pPr lvl="0" indent="-342900" marL="342900">
              <a:buAutoNum type="alphaLcPeriod"/>
            </a:pPr>
            <a:r>
              <a:rPr/>
              <a:t>Replace all statistical analyses</a:t>
            </a:r>
          </a:p>
          <a:p>
            <a:pPr lvl="0" indent="-342900" marL="342900">
              <a:buAutoNum type="alphaLcPeriod"/>
            </a:pPr>
            <a:r>
              <a:rPr/>
              <a:t>Test how models perform under different scenarios</a:t>
            </a:r>
          </a:p>
          <a:p>
            <a:pPr lvl="0" indent="-342900" marL="342900">
              <a:buAutoNum type="alphaLcPeriod"/>
            </a:pPr>
            <a:r>
              <a:rPr/>
              <a:t>No clue</a:t>
            </a:r>
          </a:p>
          <a:p>
            <a:pPr lvl="0" indent="0" marL="0">
              <a:spcBef>
                <a:spcPts val="3000"/>
              </a:spcBef>
              <a:buNone/>
            </a:pPr>
            <a:r>
              <a:rPr b="1"/>
              <a:t>Question 3</a:t>
            </a:r>
          </a:p>
          <a:p>
            <a:pPr lvl="0" indent="0" marL="0">
              <a:buNone/>
            </a:pPr>
            <a:r>
              <a:rPr b="1"/>
              <a:t>How familiar are you with the concept of “power” in statistics?</a:t>
            </a:r>
          </a:p>
          <a:p>
            <a:pPr lvl="0" indent="-342900" marL="342900">
              <a:buAutoNum type="arabicPeriod"/>
            </a:pPr>
            <a:r>
              <a:rPr/>
              <a:t>I have never heard of it</a:t>
            </a:r>
          </a:p>
          <a:p>
            <a:pPr lvl="0" indent="-342900" marL="342900">
              <a:buAutoNum type="arabicPeriod"/>
            </a:pPr>
            <a:r>
              <a:rPr/>
              <a:t>I heard the term before, but do not know what it means</a:t>
            </a:r>
          </a:p>
          <a:p>
            <a:pPr lvl="0" indent="-342900" marL="342900">
              <a:buAutoNum type="arabicPeriod"/>
            </a:pPr>
            <a:r>
              <a:rPr/>
              <a:t>I understand the basics of “power”</a:t>
            </a:r>
          </a:p>
          <a:p>
            <a:pPr lvl="0" indent="-342900" marL="342900">
              <a:buAutoNum type="arabicPeriod"/>
            </a:pPr>
            <a:r>
              <a:rPr/>
              <a:t>I am comfortable with calculating power</a:t>
            </a:r>
          </a:p>
          <a:p>
            <a:pPr lvl="0" indent="0" marL="0">
              <a:spcBef>
                <a:spcPts val="3000"/>
              </a:spcBef>
              <a:buNone/>
            </a:pPr>
            <a:r>
              <a:rPr b="1"/>
              <a:t>Question 4</a:t>
            </a:r>
          </a:p>
          <a:p>
            <a:pPr lvl="0" indent="0" marL="0">
              <a:buNone/>
            </a:pPr>
            <a:r>
              <a:rPr b="1"/>
              <a:t>Power analysis is important for research because… </a:t>
            </a:r>
            <a:r>
              <a:rPr b="1" i="1"/>
              <a:t>(Select all you think apply)</a:t>
            </a:r>
            <a:r>
              <a:rPr b="1"/>
              <a:t> </a:t>
            </a:r>
          </a:p>
          <a:p>
            <a:pPr lvl="0" indent="-342900" marL="342900">
              <a:buAutoNum type="alphaLcPeriod"/>
            </a:pPr>
            <a:r>
              <a:rPr/>
              <a:t>It helps determine how many samples you need</a:t>
            </a:r>
          </a:p>
          <a:p>
            <a:pPr lvl="0" indent="-342900" marL="342900">
              <a:buAutoNum type="alphaLcPeriod"/>
            </a:pPr>
            <a:r>
              <a:rPr/>
              <a:t>It ensures studies always find significant results</a:t>
            </a:r>
          </a:p>
          <a:p>
            <a:pPr lvl="0" indent="-342900" marL="342900">
              <a:buAutoNum type="alphaLcPeriod"/>
            </a:pPr>
            <a:r>
              <a:rPr/>
              <a:t>It helps you design more reliable studies</a:t>
            </a:r>
          </a:p>
          <a:p>
            <a:pPr lvl="0" indent="-342900" marL="342900">
              <a:buAutoNum type="alphaLcPeriod"/>
            </a:pPr>
            <a:r>
              <a:rPr/>
              <a:t>It explains all statistical results</a:t>
            </a:r>
          </a:p>
          <a:p>
            <a:pPr lvl="0" indent="-342900" marL="342900">
              <a:buAutoNum type="alphaLcPeriod"/>
            </a:pPr>
            <a:r>
              <a:rPr/>
              <a:t>No clue</a:t>
            </a:r>
          </a:p>
          <a:p>
            <a:pPr lvl="0" indent="0" marL="0">
              <a:spcBef>
                <a:spcPts val="3000"/>
              </a:spcBef>
              <a:buNone/>
            </a:pPr>
            <a:r>
              <a:rPr b="1"/>
              <a:t>Question 5</a:t>
            </a:r>
          </a:p>
          <a:p>
            <a:pPr lvl="0" indent="0" marL="0">
              <a:buNone/>
            </a:pPr>
            <a:r>
              <a:rPr b="1"/>
              <a:t>How comfortable are you with performing simulations in R?</a:t>
            </a:r>
          </a:p>
          <a:p>
            <a:pPr lvl="0" indent="-342900" marL="342900">
              <a:buAutoNum type="alphaLcPeriod"/>
            </a:pPr>
            <a:r>
              <a:rPr/>
              <a:t>Very uncomfortable</a:t>
            </a:r>
          </a:p>
          <a:p>
            <a:pPr lvl="0" indent="-342900" marL="342900">
              <a:buAutoNum type="alphaLcPeriod"/>
            </a:pPr>
            <a:r>
              <a:rPr/>
              <a:t>Somewhat uncomfortable</a:t>
            </a:r>
          </a:p>
          <a:p>
            <a:pPr lvl="0" indent="-342900" marL="342900">
              <a:buAutoNum type="alphaLcPeriod"/>
            </a:pPr>
            <a:r>
              <a:rPr/>
              <a:t>Neutral</a:t>
            </a:r>
          </a:p>
          <a:p>
            <a:pPr lvl="0" indent="-342900" marL="342900">
              <a:buAutoNum type="alphaLcPeriod"/>
            </a:pPr>
            <a:r>
              <a:rPr/>
              <a:t>Somewhat comfortable</a:t>
            </a:r>
          </a:p>
          <a:p>
            <a:pPr lvl="0" indent="-342900" marL="342900">
              <a:buAutoNum type="alphaLcPeriod"/>
            </a:pPr>
            <a:r>
              <a:rPr/>
              <a:t>Very comfortable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should be able to:</a:t>
            </a:r>
          </a:p>
          <a:p>
            <a:pPr lvl="0"/>
            <a:r>
              <a:rPr b="1"/>
              <a:t>Understand</a:t>
            </a:r>
            <a:r>
              <a:rPr/>
              <a:t> the concept of simulations</a:t>
            </a:r>
          </a:p>
          <a:p>
            <a:pPr lvl="0"/>
            <a:r>
              <a:rPr b="1"/>
              <a:t>Explain</a:t>
            </a:r>
            <a:r>
              <a:rPr/>
              <a:t> the purpose of simulations in research</a:t>
            </a:r>
          </a:p>
          <a:p>
            <a:pPr lvl="0"/>
            <a:r>
              <a:rPr b="1"/>
              <a:t>Summarize</a:t>
            </a:r>
            <a:r>
              <a:rPr/>
              <a:t> how simulations support hypothesis testing and experimentation</a:t>
            </a:r>
          </a:p>
          <a:p>
            <a:pPr lvl="0"/>
            <a:r>
              <a:rPr b="1"/>
              <a:t>Perform</a:t>
            </a:r>
            <a:r>
              <a:rPr/>
              <a:t> the simulation process in the context of a fictional experiment</a:t>
            </a:r>
          </a:p>
          <a:p>
            <a:pPr lvl="0"/>
            <a:r>
              <a:rPr b="1"/>
              <a:t>Understand</a:t>
            </a:r>
            <a:r>
              <a:rPr/>
              <a:t> the concept of power analysis</a:t>
            </a:r>
          </a:p>
          <a:p>
            <a:pPr lvl="0"/>
            <a:r>
              <a:rPr b="1"/>
              <a:t>Explain</a:t>
            </a:r>
            <a:r>
              <a:rPr/>
              <a:t> the purpose of power analysis in research</a:t>
            </a:r>
          </a:p>
          <a:p>
            <a:pPr lvl="0"/>
            <a:r>
              <a:rPr b="1"/>
              <a:t>Summarize</a:t>
            </a:r>
            <a:r>
              <a:rPr/>
              <a:t> how power analysis supports hypothesis testing and experimentation</a:t>
            </a:r>
          </a:p>
          <a:p>
            <a:pPr lvl="0"/>
            <a:r>
              <a:rPr/>
              <a:t>Successfully </a:t>
            </a:r>
            <a:r>
              <a:rPr b="1"/>
              <a:t>perform</a:t>
            </a:r>
            <a:r>
              <a:rPr/>
              <a:t> a simulation in 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a:r>
              <a:rPr b="1"/>
              <a:t>Simulations</a:t>
            </a:r>
            <a:r>
              <a:rPr/>
              <a:t>: Simulations are computer experiments that generate artificial data by pseudo-random sampling, allowing researchers to evaluate statistical methods under controlled, known conditions (Morris et al., 2019).</a:t>
            </a:r>
          </a:p>
          <a:p>
            <a:pPr lvl="0"/>
            <a:r>
              <a:rPr b="1"/>
              <a:t>Power analysis</a:t>
            </a:r>
            <a:r>
              <a:rPr/>
              <a:t>: Power analysis is a statistical method used to determine the probability that a study will detect a true effect (if it exists) or, equivalently, the probability of correctly rejecting a false null hypothesis (Steidl et al., 1997).</a:t>
            </a:r>
          </a:p>
          <a:p>
            <a:pPr lvl="0"/>
            <a:r>
              <a:rPr b="1"/>
              <a:t>Effect size</a:t>
            </a:r>
            <a:r>
              <a:rPr/>
              <a:t>: Effect size quantifies the magnitude and direction of a difference or relationship between groups or variables (Lorah, 2018).</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simulations?</a:t>
            </a:r>
          </a:p>
        </p:txBody>
      </p:sp>
      <p:sp>
        <p:nvSpPr>
          <p:cNvPr id="3" name="Content Placeholder 2"/>
          <p:cNvSpPr>
            <a:spLocks noGrp="1"/>
          </p:cNvSpPr>
          <p:nvPr>
            <p:ph idx="1"/>
          </p:nvPr>
        </p:nvSpPr>
        <p:spPr/>
        <p:txBody>
          <a:bodyPr/>
          <a:lstStyle/>
          <a:p>
            <a:pPr lvl="0" indent="0" marL="0">
              <a:buNone/>
            </a:pPr>
            <a:r>
              <a:rPr b="1"/>
              <a:t>Let’s flip a coin</a:t>
            </a:r>
          </a:p>
          <a:p>
            <a:pPr lvl="0"/>
            <a:r>
              <a:rPr/>
              <a:t>Imagine you want to flip a coin </a:t>
            </a:r>
            <a:r>
              <a:rPr i="1"/>
              <a:t>100 times</a:t>
            </a:r>
            <a:r>
              <a:rPr/>
              <a:t>, and see the results.</a:t>
            </a:r>
          </a:p>
          <a:p>
            <a:pPr lvl="0"/>
            <a:r>
              <a:rPr strike="sngStrike"/>
              <a:t>Actually flipping the coin</a:t>
            </a:r>
            <a:r>
              <a:rPr/>
              <a:t> -&gt; Pretend to flip in mind…</a:t>
            </a:r>
          </a:p>
          <a:p>
            <a:pPr lvl="0"/>
            <a:r>
              <a:rPr/>
              <a:t>And write down the results each time.</a:t>
            </a:r>
          </a:p>
          <a:p>
            <a:pPr lvl="0"/>
            <a:r>
              <a:rPr/>
              <a:t>This pretending is called a </a:t>
            </a:r>
            <a:r>
              <a:rPr b="1"/>
              <a:t>simulation</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simulations?</a:t>
            </a:r>
          </a:p>
        </p:txBody>
      </p:sp>
      <p:sp>
        <p:nvSpPr>
          <p:cNvPr id="3" name="Content Placeholder 2"/>
          <p:cNvSpPr>
            <a:spLocks noGrp="1"/>
          </p:cNvSpPr>
          <p:nvPr>
            <p:ph idx="1"/>
          </p:nvPr>
        </p:nvSpPr>
        <p:spPr/>
        <p:txBody>
          <a:bodyPr/>
          <a:lstStyle/>
          <a:p>
            <a:pPr lvl="0"/>
            <a:r>
              <a:rPr/>
              <a:t>In a simulation, you make up data that </a:t>
            </a:r>
            <a:r>
              <a:rPr b="1"/>
              <a:t>acts like what you expect in the real world</a:t>
            </a:r>
            <a:r>
              <a:rPr/>
              <a:t>.</a:t>
            </a:r>
          </a:p>
          <a:p>
            <a:pPr lvl="0"/>
            <a:r>
              <a:rPr/>
              <a:t>You do this again and again and see what results you get.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simulations?</a:t>
            </a:r>
          </a:p>
        </p:txBody>
      </p:sp>
      <p:sp>
        <p:nvSpPr>
          <p:cNvPr id="3" name="Content Placeholder 2"/>
          <p:cNvSpPr>
            <a:spLocks noGrp="1"/>
          </p:cNvSpPr>
          <p:nvPr>
            <p:ph idx="1"/>
          </p:nvPr>
        </p:nvSpPr>
        <p:spPr/>
        <p:txBody>
          <a:bodyPr/>
          <a:lstStyle/>
          <a:p>
            <a:pPr lvl="0"/>
            <a:r>
              <a:rPr/>
              <a:t>In a simulation, you make up data that </a:t>
            </a:r>
            <a:r>
              <a:rPr b="1"/>
              <a:t>acts like what you expect in the real world</a:t>
            </a:r>
            <a:r>
              <a:rPr/>
              <a:t>.</a:t>
            </a:r>
          </a:p>
          <a:p>
            <a:pPr lvl="0"/>
            <a:r>
              <a:rPr/>
              <a:t>You do this again and again and see what results you get.</a:t>
            </a:r>
          </a:p>
          <a:p>
            <a:pPr lvl="0" indent="0" marL="0">
              <a:buNone/>
            </a:pPr>
            <a:r>
              <a:rPr/>
              <a:t>Your turn! Get in a pair, first imagine flipping a coin 100 times and note how many heads and tails you expect. Then, discuss why doing this pretend experiment first is useful for planning a real study.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simulations used in research?</a:t>
            </a:r>
          </a:p>
        </p:txBody>
      </p:sp>
      <p:sp>
        <p:nvSpPr>
          <p:cNvPr id="3" name="Content Placeholder 2"/>
          <p:cNvSpPr>
            <a:spLocks noGrp="1"/>
          </p:cNvSpPr>
          <p:nvPr>
            <p:ph idx="1"/>
          </p:nvPr>
        </p:nvSpPr>
        <p:spPr/>
        <p:txBody>
          <a:bodyPr/>
          <a:lstStyle/>
          <a:p>
            <a:pPr lvl="0" indent="0" marL="0">
              <a:buNone/>
            </a:pPr>
            <a:r>
              <a:rPr/>
              <a:t> </a:t>
            </a:r>
          </a:p>
          <a:p>
            <a:pPr lvl="0" indent="0" marL="0">
              <a:buNone/>
            </a:pPr>
            <a:r>
              <a:rPr b="1"/>
              <a:t>What ideas have you come up with during the previous activity?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simulations used in research?</a:t>
            </a:r>
          </a:p>
        </p:txBody>
      </p:sp>
      <p:sp>
        <p:nvSpPr>
          <p:cNvPr id="3" name="Content Placeholder 2"/>
          <p:cNvSpPr>
            <a:spLocks noGrp="1"/>
          </p:cNvSpPr>
          <p:nvPr>
            <p:ph idx="1"/>
          </p:nvPr>
        </p:nvSpPr>
        <p:spPr/>
        <p:txBody>
          <a:bodyPr/>
          <a:lstStyle/>
          <a:p>
            <a:pPr lvl="0" indent="-342900" marL="342900">
              <a:buAutoNum type="arabicPeriod"/>
            </a:pPr>
            <a:r>
              <a:rPr b="1"/>
              <a:t>To build “good feeling” about data (intuition)</a:t>
            </a:r>
          </a:p>
          <a:p>
            <a:pPr lvl="0" indent="-342900" marL="342900">
              <a:buAutoNum type="arabicPeriod"/>
            </a:pPr>
            <a:r>
              <a:rPr b="1"/>
              <a:t>To understand chances (probability)</a:t>
            </a:r>
          </a:p>
          <a:p>
            <a:pPr lvl="0" indent="-342900" marL="342900">
              <a:buAutoNum type="arabicPeriod"/>
            </a:pPr>
            <a:r>
              <a:rPr b="1"/>
              <a:t>To check if an experiment is strong enough (power)</a:t>
            </a:r>
          </a:p>
          <a:p>
            <a:pPr lvl="0" indent="-342900" marL="342900">
              <a:buAutoNum type="arabicPeriod"/>
            </a:pPr>
            <a:r>
              <a:rPr b="1"/>
              <a:t>To practice before the real experiment (planning)</a:t>
            </a:r>
          </a:p>
          <a:p>
            <a:pPr lvl="0" indent="-342900" marL="342900">
              <a:buAutoNum type="arabicPeriod"/>
            </a:pPr>
            <a:r>
              <a:rPr b="1"/>
              <a:t>To contribute to open research (transparency)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Basic simulation process</a:t>
            </a:r>
          </a:p>
        </p:txBody>
      </p:sp>
      <p:sp>
        <p:nvSpPr>
          <p:cNvPr id="3" name="Content Placeholder 2"/>
          <p:cNvSpPr>
            <a:spLocks noGrp="1"/>
          </p:cNvSpPr>
          <p:nvPr>
            <p:ph idx="1"/>
          </p:nvPr>
        </p:nvSpPr>
        <p:spPr/>
        <p:txBody>
          <a:bodyPr/>
          <a:lstStyle/>
          <a:p>
            <a:pPr lvl="0" indent="0" marL="0">
              <a:buNone/>
            </a:pPr>
          </a:p>
          <a:p>
            <a:pPr lvl="0" indent="0" marL="1270000">
              <a:buNone/>
            </a:pPr>
            <a:r>
              <a:rPr sz="2000" b="1"/>
              <a:t>Your turn!</a:t>
            </a:r>
          </a:p>
          <a:p>
            <a:pPr lvl="0" indent="0" marL="1270000">
              <a:buNone/>
            </a:pPr>
            <a:r>
              <a:rPr sz="2000"/>
              <a:t>Time to apply the simulation process to your coin-flip experiment. Get in your pair, and discuss each step according to your experiment.</a:t>
            </a:r>
          </a:p>
          <a:p>
            <a:pPr lvl="0" indent="0" marL="1270000">
              <a:buNone/>
            </a:pPr>
            <a:r>
              <a:rPr sz="2000" i="1"/>
              <a:t>For example, if you flip a coin a 10 times </a:t>
            </a:r>
            <a:r>
              <a:rPr sz="2000" b="1" i="1"/>
              <a:t>(n = 10)</a:t>
            </a:r>
            <a:r>
              <a:rPr sz="2000" i="1"/>
              <a:t>, your data could be H, T, H, H, T, T, H, T, H, H </a:t>
            </a:r>
            <a:r>
              <a:rPr sz="2000" b="1" i="1"/>
              <a:t>(random data)</a:t>
            </a:r>
            <a:r>
              <a:rPr sz="2000"/>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Check-in</a:t>
            </a:r>
          </a:p>
        </p:txBody>
      </p:sp>
      <p:sp>
        <p:nvSpPr>
          <p:cNvPr id="3" name="Content Placeholder 2"/>
          <p:cNvSpPr>
            <a:spLocks noGrp="1"/>
          </p:cNvSpPr>
          <p:nvPr>
            <p:ph idx="1"/>
          </p:nvPr>
        </p:nvSpPr>
        <p:spPr/>
        <p:txBody>
          <a:bodyPr/>
          <a:lstStyle/>
          <a:p>
            <a:pPr lvl="0" indent="0" marL="0">
              <a:buNone/>
            </a:pPr>
            <a:r>
              <a:rPr/>
              <a:t>At this point, you should be able to…</a:t>
            </a:r>
          </a:p>
          <a:p>
            <a:pPr lvl="0"/>
            <a:r>
              <a:rPr b="1"/>
              <a:t>Understand</a:t>
            </a:r>
            <a:r>
              <a:rPr/>
              <a:t> the concept of simulations ✅</a:t>
            </a:r>
          </a:p>
          <a:p>
            <a:pPr lvl="0"/>
            <a:r>
              <a:rPr b="1"/>
              <a:t>Explain</a:t>
            </a:r>
            <a:r>
              <a:rPr/>
              <a:t> the purpose of simulations in research ✅</a:t>
            </a:r>
          </a:p>
          <a:p>
            <a:pPr lvl="0"/>
            <a:r>
              <a:rPr b="1"/>
              <a:t>Summarize</a:t>
            </a:r>
            <a:r>
              <a:rPr/>
              <a:t> how simulations support hypothesis testing and experimentation ✅</a:t>
            </a:r>
          </a:p>
          <a:p>
            <a:pPr lvl="0"/>
            <a:r>
              <a:rPr b="1"/>
              <a:t>Perform</a:t>
            </a:r>
            <a:r>
              <a:rPr/>
              <a:t> the simulation process in the context of a fictional experiment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power analysis?</a:t>
            </a:r>
          </a:p>
        </p:txBody>
      </p:sp>
      <p:sp>
        <p:nvSpPr>
          <p:cNvPr id="3" name="Content Placeholder 2"/>
          <p:cNvSpPr>
            <a:spLocks noGrp="1"/>
          </p:cNvSpPr>
          <p:nvPr>
            <p:ph idx="1"/>
          </p:nvPr>
        </p:nvSpPr>
        <p:spPr/>
        <p:txBody>
          <a:bodyPr/>
          <a:lstStyle/>
          <a:p>
            <a:pPr lvl="0" indent="0" marL="0">
              <a:buNone/>
            </a:pPr>
            <a:r>
              <a:rPr b="1"/>
              <a:t>Let’s flip the coin again, </a:t>
            </a:r>
            <a:r>
              <a:rPr b="1" i="1"/>
              <a:t>but how many times?</a:t>
            </a:r>
            <a:r>
              <a:rPr b="1"/>
              <a:t> </a:t>
            </a:r>
          </a:p>
          <a:p>
            <a:pPr lvl="0"/>
            <a:r>
              <a:rPr b="1"/>
              <a:t>Power analysis</a:t>
            </a:r>
            <a:r>
              <a:rPr/>
              <a:t> is like figuring out how many times you need to flip a coin -&gt; to be pretty sure you can tell if the coin is fair or not.</a:t>
            </a:r>
          </a:p>
          <a:p>
            <a:pPr lvl="0"/>
            <a:r>
              <a:rPr b="1"/>
              <a:t>Power</a:t>
            </a:r>
            <a:r>
              <a:rPr/>
              <a:t> = your chance of catching the coin’s true nature if it really is biased.</a:t>
            </a:r>
          </a:p>
          <a:p>
            <a:pPr lvl="0"/>
            <a:r>
              <a:rPr/>
              <a:t>If power = 80% -&gt; you have an 80% chance of spotting a bias if it’s really there.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power analysis?</a:t>
            </a:r>
          </a:p>
        </p:txBody>
      </p:sp>
      <p:sp>
        <p:nvSpPr>
          <p:cNvPr id="3" name="Content Placeholder 2"/>
          <p:cNvSpPr>
            <a:spLocks noGrp="1"/>
          </p:cNvSpPr>
          <p:nvPr>
            <p:ph idx="1"/>
          </p:nvPr>
        </p:nvSpPr>
        <p:spPr/>
        <p:txBody>
          <a:bodyPr/>
          <a:lstStyle/>
          <a:p>
            <a:pPr lvl="0" indent="0" marL="0">
              <a:buNone/>
            </a:pPr>
            <a:r>
              <a:rPr/>
              <a:t>Power </a:t>
            </a:r>
            <a:r>
              <a:rPr b="1"/>
              <a:t>depends</a:t>
            </a:r>
            <a:r>
              <a:rPr/>
              <a:t> on:</a:t>
            </a:r>
          </a:p>
          <a:p>
            <a:pPr lvl="0"/>
            <a:r>
              <a:rPr/>
              <a:t>The </a:t>
            </a:r>
            <a:r>
              <a:rPr b="1"/>
              <a:t>effect size</a:t>
            </a:r>
            <a:r>
              <a:rPr/>
              <a:t> (= </a:t>
            </a:r>
            <a:r>
              <a:rPr i="1"/>
              <a:t>how biased the coin might be</a:t>
            </a:r>
            <a:r>
              <a:rPr/>
              <a:t>)</a:t>
            </a:r>
          </a:p>
          <a:p>
            <a:pPr lvl="0"/>
            <a:r>
              <a:rPr/>
              <a:t>The </a:t>
            </a:r>
            <a:r>
              <a:rPr b="1"/>
              <a:t>sample size</a:t>
            </a:r>
            <a:r>
              <a:rPr/>
              <a:t> (= </a:t>
            </a:r>
            <a:r>
              <a:rPr i="1"/>
              <a:t>how many times you flip the coin</a:t>
            </a:r>
            <a:r>
              <a:rPr/>
              <a:t>)</a:t>
            </a:r>
          </a:p>
          <a:p>
            <a:pPr lvl="0"/>
            <a:r>
              <a:rPr/>
              <a:t>The </a:t>
            </a:r>
            <a:r>
              <a:rPr b="1"/>
              <a:t>significance level</a:t>
            </a:r>
            <a:r>
              <a:rPr/>
              <a:t> (= </a:t>
            </a:r>
            <a:r>
              <a:rPr i="1"/>
              <a:t>how sure you want to be</a:t>
            </a:r>
            <a:r>
              <a:rPr/>
              <a:t>)</a:t>
            </a:r>
          </a:p>
          <a:p>
            <a:pPr lvl="0" indent="0" marL="1270000">
              <a:buNone/>
            </a:pPr>
            <a:r>
              <a:rPr sz="2000" b="1"/>
              <a:t>Your turn!</a:t>
            </a:r>
          </a:p>
          <a:p>
            <a:pPr lvl="0" indent="0" marL="1270000">
              <a:buNone/>
            </a:pPr>
            <a:r>
              <a:rPr sz="2000"/>
              <a:t>Get together in your pair, and discuss </a:t>
            </a:r>
            <a:r>
              <a:rPr sz="2000" b="1"/>
              <a:t>why</a:t>
            </a:r>
            <a:r>
              <a:rPr sz="2000"/>
              <a:t> conducting power analysis for your experiment </a:t>
            </a:r>
            <a:r>
              <a:rPr sz="2000" b="1"/>
              <a:t>could be useful.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is power analysis used in research?</a:t>
            </a:r>
          </a:p>
        </p:txBody>
      </p:sp>
      <p:sp>
        <p:nvSpPr>
          <p:cNvPr id="3" name="Content Placeholder 2"/>
          <p:cNvSpPr>
            <a:spLocks noGrp="1"/>
          </p:cNvSpPr>
          <p:nvPr>
            <p:ph idx="1"/>
          </p:nvPr>
        </p:nvSpPr>
        <p:spPr/>
        <p:txBody>
          <a:bodyPr/>
          <a:lstStyle/>
          <a:p>
            <a:pPr lvl="0" indent="0" marL="0">
              <a:buNone/>
            </a:pPr>
            <a:r>
              <a:rPr/>
              <a:t> </a:t>
            </a:r>
          </a:p>
          <a:p>
            <a:pPr lvl="0" indent="0" marL="0">
              <a:buNone/>
            </a:pPr>
            <a:r>
              <a:rPr b="1"/>
              <a:t>What ideas have you come up with during the previous activity?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is power analysis used in research?</a:t>
            </a:r>
          </a:p>
        </p:txBody>
      </p:sp>
      <p:sp>
        <p:nvSpPr>
          <p:cNvPr id="3" name="Content Placeholder 2"/>
          <p:cNvSpPr>
            <a:spLocks noGrp="1"/>
          </p:cNvSpPr>
          <p:nvPr>
            <p:ph idx="1"/>
          </p:nvPr>
        </p:nvSpPr>
        <p:spPr/>
        <p:txBody>
          <a:bodyPr/>
          <a:lstStyle/>
          <a:p>
            <a:pPr lvl="0" indent="-342900" marL="342900">
              <a:buAutoNum type="arabicPeriod"/>
            </a:pPr>
            <a:r>
              <a:rPr b="1"/>
              <a:t>Prevents underpowered studies</a:t>
            </a:r>
            <a:r>
              <a:rPr/>
              <a:t>: By helping you determine the minimum sample size, it makes sure you do not do an experiment that is too weak to detect an effect that is there.</a:t>
            </a:r>
          </a:p>
          <a:p>
            <a:pPr lvl="0" indent="-342900" marL="342900">
              <a:buAutoNum type="arabicPeriod"/>
            </a:pPr>
            <a:r>
              <a:rPr b="1"/>
              <a:t>Minimizes wasting resources</a:t>
            </a:r>
            <a:r>
              <a:rPr/>
              <a:t>: Helps you figure out the most efficient experimental design, which in terms minimizes wasting time, money or human resources.</a:t>
            </a:r>
          </a:p>
          <a:p>
            <a:pPr lvl="0" indent="-342900" marL="342900">
              <a:buAutoNum type="arabicPeriod"/>
            </a:pPr>
            <a:r>
              <a:rPr b="1"/>
              <a:t>Required for transparency and publication</a:t>
            </a:r>
            <a:r>
              <a:rPr/>
              <a:t>: Represents evidence that your experimental plan is thought through, e.g., the sample size, and others can replicate your methods (i.e., in e spirit of </a:t>
            </a:r>
            <a:r>
              <a:rPr i="1"/>
              <a:t>Open Research</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Performing a power analysis</a:t>
            </a:r>
          </a:p>
        </p:txBody>
      </p:sp>
      <p:sp>
        <p:nvSpPr>
          <p:cNvPr id="3" name="Content Placeholder 2"/>
          <p:cNvSpPr>
            <a:spLocks noGrp="1"/>
          </p:cNvSpPr>
          <p:nvPr>
            <p:ph idx="1"/>
          </p:nvPr>
        </p:nvSpPr>
        <p:spPr/>
        <p:txBody>
          <a:bodyPr/>
          <a:lstStyle/>
          <a:p>
            <a:pPr lvl="0" indent="0" marL="0">
              <a:buNone/>
            </a:pPr>
            <a:r>
              <a:rPr/>
              <a:t>Two ways:</a:t>
            </a:r>
          </a:p>
          <a:p>
            <a:pPr lvl="0" indent="-342900" marL="342900">
              <a:buAutoNum type="arabicPeriod"/>
            </a:pPr>
            <a:r>
              <a:rPr b="1"/>
              <a:t>Power analysis through a formula</a:t>
            </a:r>
            <a:r>
              <a:rPr/>
              <a:t> = method that uses a </a:t>
            </a:r>
            <a:r>
              <a:rPr b="1"/>
              <a:t>mathematical formula</a:t>
            </a:r>
            <a:r>
              <a:rPr/>
              <a:t> to estimate your sample size or effect size (see </a:t>
            </a:r>
            <a:r>
              <a:rPr>
                <a:hlinkClick r:id="rId3"/>
              </a:rPr>
              <a:t>G*Power</a:t>
            </a:r>
            <a:r>
              <a:rPr/>
              <a:t>). For example, the formula could be used to quickly estimate your required sample size for your experiment. Works best for </a:t>
            </a:r>
            <a:r>
              <a:rPr b="1"/>
              <a:t>simple study designs</a:t>
            </a:r>
            <a:r>
              <a:rPr/>
              <a:t> (e.g., one-sample t-test, simple linear regression).</a:t>
            </a:r>
          </a:p>
          <a:p>
            <a:pPr lvl="0" indent="-342900" marL="342900">
              <a:buAutoNum type="arabicPeriod"/>
            </a:pPr>
            <a:r>
              <a:rPr b="1"/>
              <a:t>Power analysis through simulations</a:t>
            </a:r>
            <a:r>
              <a:rPr/>
              <a:t> = </a:t>
            </a:r>
            <a:r>
              <a:rPr b="1"/>
              <a:t>pretending</a:t>
            </a:r>
            <a:r>
              <a:rPr/>
              <a:t> to do the experiment many times on a computer before </a:t>
            </a:r>
            <a:r>
              <a:rPr b="1"/>
              <a:t>actually doing</a:t>
            </a:r>
            <a:r>
              <a:rPr/>
              <a:t> it. You input what you expect to happen (e.g., study design, means, etc.). The experiment “runs” using these parameters and you see how often the simulated experiment correctly detects an effect. Works well for </a:t>
            </a:r>
            <a:r>
              <a:rPr b="1"/>
              <a:t>complex study designs</a:t>
            </a:r>
            <a:r>
              <a:rPr/>
              <a:t> (e.g., longitudinal data) and unusual data. (</a:t>
            </a:r>
            <a:r>
              <a:rPr i="1"/>
              <a:t>This is today’s focus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Basic simulation process</a:t>
            </a:r>
          </a:p>
        </p:txBody>
      </p:sp>
      <p:sp>
        <p:nvSpPr>
          <p:cNvPr id="3" name="Content Placeholder 2"/>
          <p:cNvSpPr>
            <a:spLocks noGrp="1"/>
          </p:cNvSpPr>
          <p:nvPr>
            <p:ph idx="1"/>
          </p:nvPr>
        </p:nvSpPr>
        <p:spPr/>
        <p:txBody>
          <a:bodyPr/>
          <a:lstStyle/>
          <a:p>
            <a:pPr lvl="0" indent="0" marL="0">
              <a:buNone/>
            </a:pPr>
          </a:p>
          <a:p>
            <a:pPr lvl="0" indent="0" marL="1270000">
              <a:buNone/>
            </a:pPr>
            <a:r>
              <a:rPr sz="2000" b="1"/>
              <a:t>In-class Activity</a:t>
            </a:r>
          </a:p>
          <a:p>
            <a:pPr lvl="0" indent="0" marL="1270000">
              <a:buNone/>
            </a:pPr>
            <a:r>
              <a:rPr sz="2000"/>
              <a:t>Time to apply the power analysis process to your coin-flip experiment. Get in your pair, and discuss when and how you would </a:t>
            </a:r>
            <a:r>
              <a:rPr sz="2000" b="1"/>
              <a:t>integrate a power analysis</a:t>
            </a:r>
            <a:r>
              <a:rPr sz="2000"/>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In this next part, you will familiarize yourself with </a:t>
            </a:r>
            <a:r>
              <a:rPr b="1"/>
              <a:t>simulations</a:t>
            </a:r>
            <a:r>
              <a:rPr/>
              <a:t> through </a:t>
            </a:r>
            <a:r>
              <a:rPr b="1"/>
              <a:t>hands-on exercices and activities</a:t>
            </a:r>
            <a:r>
              <a:rPr/>
              <a:t>:</a:t>
            </a:r>
          </a:p>
          <a:p>
            <a:pPr lvl="0"/>
            <a:r>
              <a:rPr>
                <a:hlinkClick r:id="rId3"/>
              </a:rPr>
              <a:t>Introduction to Simulations in R: Hands-on practical activities</a:t>
            </a:r>
          </a:p>
          <a:p>
            <a:pPr lvl="0"/>
            <a:r>
              <a:rPr/>
              <a:t>Or follow: </a:t>
            </a:r>
            <a:r>
              <a:rPr>
                <a:hlinkClick r:id="rId4"/>
              </a:rPr>
              <a:t>https://lmu-osc.github.io/Introduction-Simulations-in-R/</a:t>
            </a:r>
          </a:p>
          <a:p>
            <a:pPr lvl="0" indent="0" marL="1270000">
              <a:buNone/>
            </a:pPr>
            <a:r>
              <a:rPr sz="2000" b="1"/>
              <a:t>Tip</a:t>
            </a:r>
          </a:p>
          <a:p>
            <a:pPr lvl="0" indent="0" marL="1270000">
              <a:buNone/>
            </a:pPr>
            <a:r>
              <a:rPr sz="2000"/>
              <a:t>Since this is a self-paced tutorial, </a:t>
            </a:r>
            <a:r>
              <a:rPr sz="2000" i="1"/>
              <a:t>take your time</a:t>
            </a:r>
            <a:r>
              <a:rPr sz="2000"/>
              <a:t> on navigating it; and it can be finished at home as well. We will have a check-in moment at the end of this session.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Assignment</a:t>
            </a:r>
          </a:p>
        </p:txBody>
      </p:sp>
      <p:sp>
        <p:nvSpPr>
          <p:cNvPr id="3" name="Content Placeholder 2"/>
          <p:cNvSpPr>
            <a:spLocks noGrp="1"/>
          </p:cNvSpPr>
          <p:nvPr>
            <p:ph idx="1"/>
          </p:nvPr>
        </p:nvSpPr>
        <p:spPr/>
        <p:txBody>
          <a:bodyPr/>
          <a:lstStyle/>
          <a:p>
            <a:pPr lvl="0" indent="0" marL="0">
              <a:buNone/>
            </a:pPr>
          </a:p>
          <a:p>
            <a:pPr lvl="0" indent="0" marL="0">
              <a:buNone/>
            </a:pPr>
            <a:r>
              <a:rPr b="1"/>
              <a:t>If you have not completed the tutorial yet</a:t>
            </a:r>
            <a:r>
              <a:rPr/>
              <a:t>:</a:t>
            </a:r>
          </a:p>
          <a:p>
            <a:pPr lvl="0" indent="0" marL="0">
              <a:buNone/>
            </a:pPr>
            <a:r>
              <a:rPr/>
              <a:t>Complete the rest in your own time.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Check-in</a:t>
            </a:r>
          </a:p>
        </p:txBody>
      </p:sp>
      <p:sp>
        <p:nvSpPr>
          <p:cNvPr id="3" name="Content Placeholder 2"/>
          <p:cNvSpPr>
            <a:spLocks noGrp="1"/>
          </p:cNvSpPr>
          <p:nvPr>
            <p:ph idx="1"/>
          </p:nvPr>
        </p:nvSpPr>
        <p:spPr/>
        <p:txBody>
          <a:bodyPr/>
          <a:lstStyle/>
          <a:p>
            <a:pPr lvl="0" indent="0" marL="0">
              <a:buNone/>
            </a:pPr>
            <a:r>
              <a:rPr/>
              <a:t>At this point in time, you should be able to…</a:t>
            </a:r>
          </a:p>
          <a:p>
            <a:pPr lvl="0"/>
            <a:r>
              <a:rPr b="1"/>
              <a:t>Understand</a:t>
            </a:r>
            <a:r>
              <a:rPr/>
              <a:t> the concept of simulations ✅</a:t>
            </a:r>
          </a:p>
          <a:p>
            <a:pPr lvl="0"/>
            <a:r>
              <a:rPr b="1"/>
              <a:t>Explain</a:t>
            </a:r>
            <a:r>
              <a:rPr/>
              <a:t> the purpose of simulations in research ✅</a:t>
            </a:r>
          </a:p>
          <a:p>
            <a:pPr lvl="0"/>
            <a:r>
              <a:rPr b="1"/>
              <a:t>Summarize</a:t>
            </a:r>
            <a:r>
              <a:rPr/>
              <a:t> how simulations support hypothesis testing and experimentation ✅</a:t>
            </a:r>
          </a:p>
          <a:p>
            <a:pPr lvl="0"/>
            <a:r>
              <a:rPr b="1"/>
              <a:t>Perform</a:t>
            </a:r>
            <a:r>
              <a:rPr/>
              <a:t> the simulation process in the context of a fictional experiment ✅</a:t>
            </a:r>
          </a:p>
          <a:p>
            <a:pPr lvl="0"/>
            <a:r>
              <a:rPr b="1"/>
              <a:t>Understand</a:t>
            </a:r>
            <a:r>
              <a:rPr/>
              <a:t> the concept of power analysis ✅</a:t>
            </a:r>
          </a:p>
          <a:p>
            <a:pPr lvl="0"/>
            <a:r>
              <a:rPr b="1"/>
              <a:t>Explain</a:t>
            </a:r>
            <a:r>
              <a:rPr/>
              <a:t> the purpose of power analysis in research ✅</a:t>
            </a:r>
          </a:p>
          <a:p>
            <a:pPr lvl="0"/>
            <a:r>
              <a:rPr b="1"/>
              <a:t>Summarize</a:t>
            </a:r>
            <a:r>
              <a:rPr/>
              <a:t> how power analysis supports hypothesis testing and experimentation ✅</a:t>
            </a:r>
          </a:p>
          <a:p>
            <a:pPr lvl="0"/>
            <a:r>
              <a:rPr/>
              <a:t>Successfully </a:t>
            </a:r>
            <a:r>
              <a:rPr b="1"/>
              <a:t>perform</a:t>
            </a:r>
            <a:r>
              <a:rPr/>
              <a:t> a simulation in R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Relevance to you?</a:t>
            </a:r>
          </a:p>
        </p:txBody>
      </p:sp>
      <p:sp>
        <p:nvSpPr>
          <p:cNvPr id="3" name="Content Placeholder 2"/>
          <p:cNvSpPr>
            <a:spLocks noGrp="1"/>
          </p:cNvSpPr>
          <p:nvPr>
            <p:ph idx="1"/>
          </p:nvPr>
        </p:nvSpPr>
        <p:spPr/>
        <p:txBody>
          <a:bodyPr/>
          <a:lstStyle/>
          <a:p>
            <a:pPr lvl="0" indent="0" marL="0">
              <a:buNone/>
            </a:pPr>
          </a:p>
          <a:p>
            <a:pPr lvl="0" indent="0" marL="0">
              <a:buNone/>
            </a:pPr>
            <a:r>
              <a:rPr/>
              <a:t>Can you imagine using simulations for </a:t>
            </a:r>
            <a:r>
              <a:rPr b="1"/>
              <a:t>your</a:t>
            </a:r>
            <a:r>
              <a:rPr/>
              <a:t> work/projects/studies?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b="1"/>
              <a:t>Simulations = safe playground</a:t>
            </a:r>
            <a:r>
              <a:rPr/>
              <a:t>: You try your study many times with pretend data, so you learn how your experiment might </a:t>
            </a:r>
            <a:r>
              <a:rPr i="1"/>
              <a:t>behave</a:t>
            </a:r>
            <a:r>
              <a:rPr/>
              <a:t> before touching real data.</a:t>
            </a:r>
          </a:p>
          <a:p>
            <a:pPr lvl="0"/>
            <a:r>
              <a:rPr b="1"/>
              <a:t>Power analysis = trial period</a:t>
            </a:r>
            <a:r>
              <a:rPr/>
              <a:t>: You find the “just right” study size, not too small to miss real effects, not too big to waste resources.</a:t>
            </a:r>
          </a:p>
          <a:p>
            <a:pPr lvl="0"/>
            <a:r>
              <a:rPr/>
              <a:t>Together they’re your </a:t>
            </a:r>
            <a:r>
              <a:rPr b="1"/>
              <a:t>research rehearsal</a:t>
            </a:r>
            <a:r>
              <a:rPr/>
              <a:t>: first you imagine the experiment (</a:t>
            </a:r>
            <a:r>
              <a:rPr i="1"/>
              <a:t>simulate</a:t>
            </a:r>
            <a:r>
              <a:rPr/>
              <a:t>), then you check if the plan is strong enough (</a:t>
            </a:r>
            <a:r>
              <a:rPr i="1"/>
              <a:t>power</a:t>
            </a:r>
            <a:r>
              <a:rPr/>
              <a:t>), and only then you go on stage with real data.</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How confident are you in defining what a “simulation” is in the context of scientific research?</a:t>
            </a:r>
          </a:p>
          <a:p>
            <a:pPr lvl="0" indent="-342900" marL="342900">
              <a:buAutoNum type="alphaLcPeriod"/>
            </a:pPr>
            <a:r>
              <a:rPr/>
              <a:t>Not confident.</a:t>
            </a:r>
          </a:p>
          <a:p>
            <a:pPr lvl="0" indent="-342900" marL="342900">
              <a:buAutoNum type="alphaLcPeriod"/>
            </a:pPr>
            <a:r>
              <a:rPr/>
              <a:t>Somewhat confident.</a:t>
            </a:r>
          </a:p>
          <a:p>
            <a:pPr lvl="0" indent="-342900" marL="342900">
              <a:buAutoNum type="alphaLcPeriod"/>
            </a:pPr>
            <a:r>
              <a:rPr/>
              <a:t>Confident.</a:t>
            </a:r>
          </a:p>
          <a:p>
            <a:pPr lvl="0" indent="-342900" marL="342900">
              <a:buAutoNum type="alphaLcPeriod"/>
            </a:pPr>
            <a:r>
              <a:rPr/>
              <a:t>Very confident</a:t>
            </a:r>
          </a:p>
          <a:p>
            <a:pPr lvl="0" indent="0" marL="0">
              <a:spcBef>
                <a:spcPts val="3000"/>
              </a:spcBef>
              <a:buNone/>
            </a:pPr>
            <a:r>
              <a:rPr b="1"/>
              <a:t>Question 2</a:t>
            </a:r>
          </a:p>
          <a:p>
            <a:pPr lvl="0" indent="0" marL="0">
              <a:buNone/>
            </a:pPr>
            <a:r>
              <a:rPr b="1"/>
              <a:t>Simulations are often used in research to… </a:t>
            </a:r>
            <a:r>
              <a:rPr b="1" i="1"/>
              <a:t>(Select all you think apply)</a:t>
            </a:r>
            <a:r>
              <a:rPr b="1"/>
              <a:t> </a:t>
            </a:r>
          </a:p>
          <a:p>
            <a:pPr lvl="0" indent="-342900" marL="342900">
              <a:buAutoNum type="alphaLcPeriod"/>
            </a:pPr>
            <a:r>
              <a:rPr/>
              <a:t>Generate artificial data</a:t>
            </a:r>
          </a:p>
          <a:p>
            <a:pPr lvl="0" indent="-342900" marL="342900">
              <a:buAutoNum type="alphaLcPeriod"/>
            </a:pPr>
            <a:r>
              <a:rPr/>
              <a:t>Visualize complex statistical concepts</a:t>
            </a:r>
          </a:p>
          <a:p>
            <a:pPr lvl="0" indent="-342900" marL="342900">
              <a:buAutoNum type="alphaLcPeriod"/>
            </a:pPr>
            <a:r>
              <a:rPr/>
              <a:t>Replace all statistical analysis</a:t>
            </a:r>
          </a:p>
          <a:p>
            <a:pPr lvl="0" indent="-342900" marL="342900">
              <a:buAutoNum type="alphaLcPeriod"/>
            </a:pPr>
            <a:r>
              <a:rPr/>
              <a:t>Test how models perform under different scenarios</a:t>
            </a:r>
          </a:p>
          <a:p>
            <a:pPr lvl="0" indent="0" marL="0">
              <a:spcBef>
                <a:spcPts val="3000"/>
              </a:spcBef>
              <a:buNone/>
            </a:pPr>
            <a:r>
              <a:rPr b="1"/>
              <a:t>Question 3</a:t>
            </a:r>
          </a:p>
          <a:p>
            <a:pPr lvl="0" indent="0" marL="0">
              <a:buNone/>
            </a:pPr>
            <a:r>
              <a:rPr b="1"/>
              <a:t>How familiar are you with the concept of “power” in statistics?</a:t>
            </a:r>
          </a:p>
          <a:p>
            <a:pPr lvl="0" indent="-342900" marL="342900">
              <a:buAutoNum type="arabicPeriod"/>
            </a:pPr>
            <a:r>
              <a:rPr/>
              <a:t>I’ve never heard of it</a:t>
            </a:r>
          </a:p>
          <a:p>
            <a:pPr lvl="0" indent="-342900" marL="342900">
              <a:buAutoNum type="arabicPeriod"/>
            </a:pPr>
            <a:r>
              <a:rPr/>
              <a:t>I know the term</a:t>
            </a:r>
          </a:p>
          <a:p>
            <a:pPr lvl="0" indent="-342900" marL="342900">
              <a:buAutoNum type="arabicPeriod"/>
            </a:pPr>
            <a:r>
              <a:rPr/>
              <a:t>I understand the basics</a:t>
            </a:r>
          </a:p>
          <a:p>
            <a:pPr lvl="0" indent="-342900" marL="342900">
              <a:buAutoNum type="arabicPeriod"/>
            </a:pPr>
            <a:r>
              <a:rPr/>
              <a:t>I’m comfortable with calculating power</a:t>
            </a:r>
          </a:p>
          <a:p>
            <a:pPr lvl="0" indent="0" marL="0">
              <a:spcBef>
                <a:spcPts val="3000"/>
              </a:spcBef>
              <a:buNone/>
            </a:pPr>
            <a:r>
              <a:rPr b="1"/>
              <a:t>Question 4</a:t>
            </a:r>
          </a:p>
          <a:p>
            <a:pPr lvl="0" indent="0" marL="0">
              <a:buNone/>
            </a:pPr>
            <a:r>
              <a:rPr b="1"/>
              <a:t>Power analysis is important for research because… </a:t>
            </a:r>
            <a:r>
              <a:rPr b="1" i="1"/>
              <a:t>(Select all you think apply)</a:t>
            </a:r>
            <a:r>
              <a:rPr b="1"/>
              <a:t> </a:t>
            </a:r>
          </a:p>
          <a:p>
            <a:pPr lvl="0" indent="-342900" marL="342900">
              <a:buAutoNum type="alphaLcPeriod"/>
            </a:pPr>
            <a:r>
              <a:rPr/>
              <a:t>It helps determine how many samples you need</a:t>
            </a:r>
          </a:p>
          <a:p>
            <a:pPr lvl="0" indent="-342900" marL="342900">
              <a:buAutoNum type="alphaLcPeriod"/>
            </a:pPr>
            <a:r>
              <a:rPr/>
              <a:t>It ensures studies always find significant results</a:t>
            </a:r>
          </a:p>
          <a:p>
            <a:pPr lvl="0" indent="-342900" marL="342900">
              <a:buAutoNum type="alphaLcPeriod"/>
            </a:pPr>
            <a:r>
              <a:rPr/>
              <a:t>It helps you design more reliable studies</a:t>
            </a:r>
          </a:p>
          <a:p>
            <a:pPr lvl="0" indent="-342900" marL="342900">
              <a:buAutoNum type="alphaLcPeriod"/>
            </a:pPr>
            <a:r>
              <a:rPr/>
              <a:t>It explains all statistical results</a:t>
            </a:r>
          </a:p>
          <a:p>
            <a:pPr lvl="0" indent="-342900" marL="342900">
              <a:buAutoNum type="alphaLcPeriod"/>
            </a:pPr>
            <a:r>
              <a:rPr/>
              <a:t>No clue</a:t>
            </a:r>
          </a:p>
          <a:p>
            <a:pPr lvl="0" indent="0" marL="0">
              <a:spcBef>
                <a:spcPts val="3000"/>
              </a:spcBef>
              <a:buNone/>
            </a:pPr>
            <a:r>
              <a:rPr b="1"/>
              <a:t>Question 5</a:t>
            </a:r>
          </a:p>
          <a:p>
            <a:pPr lvl="0" indent="0" marL="0">
              <a:buNone/>
            </a:pPr>
            <a:r>
              <a:rPr b="1"/>
              <a:t>How comfortable are you with running basic R code and performing simulations in R?</a:t>
            </a:r>
          </a:p>
          <a:p>
            <a:pPr lvl="0" indent="-342900" marL="342900">
              <a:buAutoNum type="alphaLcPeriod"/>
            </a:pPr>
            <a:r>
              <a:rPr/>
              <a:t>Very uncomfortable</a:t>
            </a:r>
          </a:p>
          <a:p>
            <a:pPr lvl="0" indent="-342900" marL="342900">
              <a:buAutoNum type="alphaLcPeriod"/>
            </a:pPr>
            <a:r>
              <a:rPr/>
              <a:t>Somewhat uncomfortable</a:t>
            </a:r>
          </a:p>
          <a:p>
            <a:pPr lvl="0" indent="-342900" marL="342900">
              <a:buAutoNum type="alphaLcPeriod"/>
            </a:pPr>
            <a:r>
              <a:rPr/>
              <a:t>Neutral</a:t>
            </a:r>
          </a:p>
          <a:p>
            <a:pPr lvl="0" indent="-342900" marL="342900">
              <a:buAutoNum type="alphaLcPeriod"/>
            </a:pPr>
            <a:r>
              <a:rPr/>
              <a:t>Somewhat comfortable</a:t>
            </a:r>
          </a:p>
          <a:p>
            <a:pPr lvl="0" indent="-342900" marL="342900">
              <a:buAutoNum type="alphaLcPeriod"/>
            </a:pPr>
            <a:r>
              <a:rPr/>
              <a:t>Very comfortable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Lorah, J. (2018). Effect size measures for multilevel models: Definition, interpretation, and TIMSS example. </a:t>
            </a:r>
            <a:r>
              <a:rPr i="1"/>
              <a:t>Large-Scale Assessments in Education</a:t>
            </a:r>
            <a:r>
              <a:rPr/>
              <a:t>, </a:t>
            </a:r>
            <a:r>
              <a:rPr i="1"/>
              <a:t>6</a:t>
            </a:r>
            <a:r>
              <a:rPr/>
              <a:t>(1), 8. </a:t>
            </a:r>
            <a:r>
              <a:rPr>
                <a:hlinkClick r:id="rId3"/>
              </a:rPr>
              <a:t>https://doi.org/10.1186/s40536-018-0061-2</a:t>
            </a:r>
          </a:p>
          <a:p>
            <a:pPr lvl="0" indent="0" marL="0">
              <a:buNone/>
            </a:pPr>
            <a:r>
              <a:rPr/>
              <a:t>Morris, T. P., White, I. R., &amp; Crowther, M. J. (2019). Using simulation studies to evaluate statistical methods. </a:t>
            </a:r>
            <a:r>
              <a:rPr i="1"/>
              <a:t>Statistics in Medicine</a:t>
            </a:r>
            <a:r>
              <a:rPr/>
              <a:t>, </a:t>
            </a:r>
            <a:r>
              <a:rPr i="1"/>
              <a:t>38</a:t>
            </a:r>
            <a:r>
              <a:rPr/>
              <a:t>(11), 2074–2102. </a:t>
            </a:r>
            <a:r>
              <a:rPr>
                <a:hlinkClick r:id="rId4"/>
              </a:rPr>
              <a:t>https://doi.org/10.1002/sim.8086</a:t>
            </a:r>
          </a:p>
          <a:p>
            <a:pPr lvl="0" indent="0" marL="0">
              <a:buNone/>
            </a:pPr>
            <a:r>
              <a:rPr/>
              <a:t>Steidl, R. J., Hayes, J. P., &amp; Schauber, E. (1997). Statistical power analysis in wildlife research. </a:t>
            </a:r>
            <a:r>
              <a:rPr i="1"/>
              <a:t>The Journal of Wildlife Management</a:t>
            </a:r>
            <a:r>
              <a:rPr/>
              <a:t>, </a:t>
            </a:r>
            <a:r>
              <a:rPr i="1"/>
              <a:t>61</a:t>
            </a:r>
            <a:r>
              <a:rPr/>
              <a:t>(2), 270–279. </a:t>
            </a:r>
            <a:r>
              <a:rPr>
                <a:hlinkClick r:id="rId5"/>
              </a:rPr>
              <a:t>https://doi.org/10.2307/3802582</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Resources</a:t>
            </a:r>
          </a:p>
        </p:txBody>
      </p:sp>
      <p:sp>
        <p:nvSpPr>
          <p:cNvPr id="3" name="Content Placeholder 2"/>
          <p:cNvSpPr>
            <a:spLocks noGrp="1"/>
          </p:cNvSpPr>
          <p:nvPr>
            <p:ph idx="1"/>
          </p:nvPr>
        </p:nvSpPr>
        <p:spPr/>
        <p:txBody>
          <a:bodyPr/>
          <a:lstStyle/>
          <a:p>
            <a:pPr lvl="0"/>
            <a:r>
              <a:rPr/>
              <a:t>Hallgren, K. A. (2013). Conducting Simulation Studies in the R Programming Environment. </a:t>
            </a:r>
            <a:r>
              <a:rPr i="1"/>
              <a:t>Tutorials in Quantitative Methods for Psychology, 9(2), 43–60</a:t>
            </a:r>
            <a:r>
              <a:rPr/>
              <a:t>. </a:t>
            </a:r>
            <a:r>
              <a:rPr>
                <a:hlinkClick r:id="rId3"/>
              </a:rPr>
              <a:t>https://doi.org/10.20982/tqmp.09.2.p043</a:t>
            </a:r>
            <a:r>
              <a:rPr/>
              <a:t> </a:t>
            </a:r>
          </a:p>
          <a:p>
            <a:pPr lvl="0"/>
            <a:r>
              <a:rPr/>
              <a:t>Mullendore, G. L., Mayernik, M. S., &amp; Schuster, D. C. (2021). Open Science Expectations for Simulation-Based Research. </a:t>
            </a:r>
            <a:r>
              <a:rPr i="1"/>
              <a:t>Frontiers in Climate, 3</a:t>
            </a:r>
            <a:r>
              <a:rPr/>
              <a:t>. </a:t>
            </a:r>
            <a:r>
              <a:rPr>
                <a:hlinkClick r:id="rId4"/>
              </a:rPr>
              <a:t>https://doi.org/10.3389/fclim.2021.763420</a:t>
            </a:r>
            <a:r>
              <a:rPr/>
              <a:t> </a:t>
            </a:r>
          </a:p>
          <a:p>
            <a:pPr lvl="0"/>
            <a:r>
              <a:rPr/>
              <a:t>Wassertheil, S., &amp; Cohen, J. (1970). Statistical Power Analysis for the Behavioral Sciences. </a:t>
            </a:r>
            <a:r>
              <a:rPr i="1"/>
              <a:t>Biometrics, 26(3), 588.</a:t>
            </a:r>
            <a:r>
              <a:rPr/>
              <a:t> </a:t>
            </a:r>
            <a:r>
              <a:rPr>
                <a:hlinkClick r:id="rId5"/>
              </a:rPr>
              <a:t>https://doi.org/10.2307/2529115</a:t>
            </a:r>
            <a:r>
              <a:rPr/>
              <a:t> </a:t>
            </a:r>
          </a:p>
          <a:p>
            <a:pPr lvl="0"/>
            <a:r>
              <a:rPr>
                <a:hlinkClick r:id="rId6"/>
              </a:rPr>
              <a:t>Introduction to Power Analysis by Courtney K. Soderberg</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p>
          <a:p>
            <a:pPr lvl="0" indent="0" marL="0">
              <a:buNone/>
            </a:pPr>
            <a:r>
              <a:rPr b="1"/>
              <a:t>Creator</a:t>
            </a:r>
            <a:r>
              <a:rPr/>
              <a:t>: Sharma, Tejaswini (</a:t>
            </a:r>
            <a:r>
              <a:rPr>
                <a:hlinkClick r:id="rId2"/>
              </a:rPr>
              <a:t>0009-0000-0305-9751</a:t>
            </a:r>
            <a:r>
              <a:rPr/>
              <a:t>)</a:t>
            </a:r>
          </a:p>
          <a:p>
            <a:pPr lvl="0" indent="0" marL="0">
              <a:buNone/>
            </a:pPr>
            <a:r>
              <a:rPr b="1"/>
              <a:t>Consultant</a:t>
            </a:r>
            <a:r>
              <a:rPr/>
              <a:t>: Ihle, Malika (</a:t>
            </a:r>
            <a:r>
              <a:rPr>
                <a:hlinkClick r:id="rId3"/>
              </a:rPr>
              <a:t>0000-0002-3242-5981</a:t>
            </a:r>
            <a:r>
              <a:rPr/>
              <a:t>)</a:t>
            </a:r>
          </a:p>
          <a:p>
            <a:pPr lvl="0" indent="0" marL="0">
              <a:buNone/>
            </a:pPr>
            <a:r>
              <a:rPr b="1"/>
              <a:t>Reviewer</a:t>
            </a:r>
            <a:r>
              <a:rPr/>
              <a:t>: Von Grebmer zu Wolfsthurn, Sarah (</a:t>
            </a:r>
            <a:r>
              <a:rPr>
                <a:hlinkClick r:id="rId4"/>
              </a:rPr>
              <a:t>0000-0002-6413-3895</a:t>
            </a:r>
            <a:r>
              <a:rPr/>
              <a: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work was originally created by </a:t>
            </a:r>
            <a:r>
              <a:rPr>
                <a:hlinkClick r:id="rId3"/>
              </a:rPr>
              <a:t>Malika Ihle</a:t>
            </a:r>
            <a:r>
              <a:rPr/>
              <a:t> based on materials from </a:t>
            </a:r>
            <a:r>
              <a:rPr>
                <a:hlinkClick r:id="rId4"/>
              </a:rPr>
              <a:t>Joel Pick</a:t>
            </a:r>
            <a:r>
              <a:rPr/>
              <a:t>, </a:t>
            </a:r>
            <a:r>
              <a:rPr>
                <a:hlinkClick r:id="rId5"/>
              </a:rPr>
              <a:t>Hadley Wickham</a:t>
            </a:r>
            <a:r>
              <a:rPr/>
              <a:t>, and </a:t>
            </a:r>
            <a:r>
              <a:rPr>
                <a:hlinkClick r:id="rId6"/>
              </a:rPr>
              <a:t>Kevin Hallgren</a:t>
            </a:r>
            <a:r>
              <a:rPr/>
              <a:t>, with contributions from </a:t>
            </a:r>
            <a:r>
              <a:rPr>
                <a:hlinkClick r:id="rId7"/>
              </a:rPr>
              <a:t>James Smith</a:t>
            </a:r>
            <a:r>
              <a:rPr/>
              <a:t>. This current work by Tejaswini Sharma, Malika Ihle and Sarah von Grebmer zu Wolfsthurn is licensed under a </a:t>
            </a:r>
            <a:r>
              <a:rPr>
                <a:hlinkClick r:id="rId8"/>
              </a:rPr>
              <a:t>Creative Commons Attribution 4.0 International SA License</a:t>
            </a:r>
            <a:r>
              <a:rPr/>
              <a:t> (CC-BY-SA 4.0). Code snippets are dedicated to the public domain and licensed under a </a:t>
            </a:r>
            <a:r>
              <a:rPr>
                <a:hlinkClick r:id="rId9"/>
              </a:rPr>
              <a:t>Creative Commons Universal License</a:t>
            </a:r>
            <a:r>
              <a:rPr/>
              <a:t> (CC0 1.0).</a:t>
            </a:r>
          </a:p>
          <a:p>
            <a:pPr lvl="0" indent="0" marL="0">
              <a:buNone/>
            </a:pPr>
            <a:r>
              <a:rPr/>
              <a:t>Please cite these materials as: Sharma, T., Ihle, M., &amp; Von Grebmer Zu Wolfsthurn, S. (2026). </a:t>
            </a:r>
            <a:r>
              <a:rPr i="1"/>
              <a:t>Introduction to simulations and power analysis in R</a:t>
            </a:r>
            <a:r>
              <a:rPr/>
              <a:t> [Quarto slides]. </a:t>
            </a:r>
            <a:r>
              <a:rPr>
                <a:hlinkClick r:id="rId10"/>
              </a:rPr>
              <a:t>LMU Open Science Center</a:t>
            </a:r>
            <a:r>
              <a:rPr/>
              <a:t>. </a:t>
            </a:r>
            <a:r>
              <a:rPr>
                <a:hlinkClick r:id="rId11"/>
              </a:rPr>
              <a:t>https://lmu-osc.github.io/teaching-material-for-novices/open-research-tools/simulations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simulations and power analysis in R</dc:title>
  <dc:creator>Tejaswini Sharma and Sarah von Grebmer zu Wolfsthurn</dc:creator>
  <cp:keywords/>
  <dcterms:created xsi:type="dcterms:W3CDTF">2026-10-22T12:46:49Z</dcterms:created>
  <dcterms:modified xsi:type="dcterms:W3CDTF">2026-10-22T12:46:49Z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22/10/2026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source</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revealjs-plugins">
    <vt:lpwstr/>
  </property>
  <property fmtid="{D5CDD505-2E9C-101B-9397-08002B2CF9AE}" pid="18" name="toc-title">
    <vt:lpwstr>Table of contents</vt:lpwstr>
  </property>
</Properties>
</file>