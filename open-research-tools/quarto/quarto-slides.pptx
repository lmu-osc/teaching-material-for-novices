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notesMaster" Target="notesMasters/notesMaster1.xml" /><Relationship Id="rId82" Type="http://schemas.openxmlformats.org/officeDocument/2006/relationships/viewProps" Target="viewProps.xml" /><Relationship Id="rId81" Type="http://schemas.openxmlformats.org/officeDocument/2006/relationships/presProps" Target="presProps.xml" /><Relationship Id="rId1" Type="http://schemas.openxmlformats.org/officeDocument/2006/relationships/slideMaster" Target="slideMasters/slideMaster1.xml" /><Relationship Id="rId84" Type="http://schemas.openxmlformats.org/officeDocument/2006/relationships/tableStyles" Target="tableStyles.xml" /><Relationship Id="rId8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to complete in order to fully understand what will be covered in this session.</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sessions. Finally, we assume that, through the previos workshops, participants have downloaded and installed R and RStudio on their local machines, and also have the desktop app for Zotero.</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pre-session survey serves to examine students’ prior knowledge about the session’s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session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session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post-session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quarto.org/"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7.xml" /><Relationship Id="rId3" Type="http://schemas.openxmlformats.org/officeDocument/2006/relationships/image" Target="../media/image3.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quarto.org/docs/authoring/markdown-basics.html"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7.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quarto.org/docs/publishing/index.html"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hyperlink" Target="https://lmu-osc.github.io/code-publishing/intro.html"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3.xml" /><Relationship Id="rId4" Type="http://schemas.openxmlformats.org/officeDocument/2006/relationships/image" Target="../media/image10.png"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my-orcid?orcid=0009-0006-3725-6730" TargetMode="External" /><Relationship Id="rId3" Type="http://schemas.openxmlformats.org/officeDocument/2006/relationships/hyperlink" Target="https://orcid.org/my-orcid?orcid=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 Id="rId3" Type="http://schemas.openxmlformats.org/officeDocument/2006/relationships/hyperlink" Target="https://www.lmu.de/psy/de/lehrstuehle/methoden/"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creativecommons.org/publicdomain/zero/1.0/" TargetMode="External" /><Relationship Id="rId6" Type="http://schemas.openxmlformats.org/officeDocument/2006/relationships/hyperlink" Target="https://www.osc.lmu.de/" TargetMode="External" /><Relationship Id="rId7" Type="http://schemas.openxmlformats.org/officeDocument/2006/relationships/hyperlink" Target="https://lmu-osc.github.io/teaching-material-for-novices/open-research-tools/quart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Quarto</a:t>
            </a:r>
          </a:p>
        </p:txBody>
      </p:sp>
      <p:sp>
        <p:nvSpPr>
          <p:cNvPr id="3" name="Content Placeholder 2"/>
          <p:cNvSpPr>
            <a:spLocks noGrp="1"/>
          </p:cNvSpPr>
          <p:nvPr>
            <p:ph idx="1"/>
          </p:nvPr>
        </p:nvSpPr>
        <p:spPr/>
        <p:txBody>
          <a:bodyPr/>
          <a:lstStyle/>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p>
          <a:p>
            <a:pPr lvl="0"/>
            <a:r>
              <a:rPr b="1"/>
              <a:t>YAML header</a:t>
            </a:r>
          </a:p>
          <a:p>
            <a:pPr lvl="0"/>
            <a:r>
              <a:rPr b="1"/>
              <a:t>Code chunks</a:t>
            </a:r>
          </a:p>
          <a:p>
            <a:pPr lvl="0"/>
            <a:r>
              <a:rPr b="1"/>
              <a:t>Quarto markdown text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Quarto?</a:t>
            </a:r>
          </a:p>
        </p:txBody>
      </p:sp>
      <p:sp>
        <p:nvSpPr>
          <p:cNvPr id="3" name="Content Placeholder 2"/>
          <p:cNvSpPr>
            <a:spLocks noGrp="1"/>
          </p:cNvSpPr>
          <p:nvPr>
            <p:ph idx="1"/>
          </p:nvPr>
        </p:nvSpPr>
        <p:spPr/>
        <p:txBody>
          <a:bodyPr/>
          <a:lstStyle/>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type="arabicPeriod"/>
            </a:pPr>
            <a:r>
              <a:rPr b="1"/>
              <a:t>Readability</a:t>
            </a:r>
            <a:r>
              <a:rPr/>
              <a:t>: Research is more </a:t>
            </a:r>
            <a:r>
              <a:rPr b="1"/>
              <a:t>accessible</a:t>
            </a:r>
            <a:r>
              <a:rPr/>
              <a:t> when text, analyses, results and code are combined within the same document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 why Quarto?</a:t>
            </a:r>
          </a:p>
        </p:txBody>
      </p:sp>
      <p:sp>
        <p:nvSpPr>
          <p:cNvPr id="3" name="Content Placeholder 2"/>
          <p:cNvSpPr>
            <a:spLocks noGrp="1"/>
          </p:cNvSpPr>
          <p:nvPr>
            <p:ph idx="1"/>
          </p:nvPr>
        </p:nvSpPr>
        <p:spPr/>
        <p:txBody>
          <a:bodyPr/>
          <a:lstStyle/>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“Rendering” in Quarto</a:t>
            </a:r>
          </a:p>
        </p:txBody>
      </p:sp>
      <p:sp>
        <p:nvSpPr>
          <p:cNvPr id="4" name="Text Placeholder 3"/>
          <p:cNvSpPr>
            <a:spLocks noGrp="1"/>
          </p:cNvSpPr>
          <p:nvPr>
            <p:ph idx="2" sz="half" type="body"/>
          </p:nvPr>
        </p:nvSpPr>
        <p:spPr/>
        <p:txBody>
          <a:bodyPr/>
          <a:lstStyle/>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Quarto modes</a:t>
            </a:r>
          </a:p>
        </p:txBody>
      </p:sp>
      <p:sp>
        <p:nvSpPr>
          <p:cNvPr id="3" name="Content Placeholder 2"/>
          <p:cNvSpPr>
            <a:spLocks noGrp="1"/>
          </p:cNvSpPr>
          <p:nvPr>
            <p:ph idx="1"/>
          </p:nvPr>
        </p:nvSpPr>
        <p:spPr/>
        <p:txBody>
          <a:bodyPr/>
          <a:lstStyle/>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Creating a Quarto document</a:t>
            </a:r>
          </a:p>
        </p:txBody>
      </p:sp>
      <p:sp>
        <p:nvSpPr>
          <p:cNvPr id="3" name="Content Placeholder 2"/>
          <p:cNvSpPr>
            <a:spLocks noGrp="1"/>
          </p:cNvSpPr>
          <p:nvPr>
            <p:ph idx="1"/>
          </p:nvPr>
        </p:nvSpPr>
        <p:spPr/>
        <p:txBody>
          <a:bodyPr/>
          <a:lstStyle/>
          <a:p>
            <a:pPr lvl="0" indent="0" marL="0">
              <a:buNone/>
            </a:pPr>
            <a:r>
              <a:rPr/>
              <a:t>These are the steps to </a:t>
            </a:r>
            <a:r>
              <a:rPr b="1"/>
              <a:t>create a Quarto Document</a:t>
            </a:r>
            <a:r>
              <a:rPr/>
              <a:t> in RStudio: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up a Quarto document</a:t>
            </a:r>
          </a:p>
        </p:txBody>
      </p:sp>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a:t>
            </a:r>
          </a:p>
        </p:txBody>
      </p:sp>
      <p:sp>
        <p:nvSpPr>
          <p:cNvPr id="3" name="Content Placeholder 2"/>
          <p:cNvSpPr>
            <a:spLocks noGrp="1"/>
          </p:cNvSpPr>
          <p:nvPr>
            <p:ph idx="1"/>
          </p:nvPr>
        </p:nvSpPr>
        <p:spPr/>
        <p:txBody>
          <a:bodyPr/>
          <a:lstStyle/>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a Quarto document</a:t>
            </a:r>
          </a:p>
        </p:txBody>
      </p:sp>
      <p:sp>
        <p:nvSpPr>
          <p:cNvPr id="3" name="Content Placeholder 2"/>
          <p:cNvSpPr>
            <a:spLocks noGrp="1"/>
          </p:cNvSpPr>
          <p:nvPr>
            <p:ph idx="1"/>
          </p:nvPr>
        </p:nvSpPr>
        <p:spPr/>
        <p:txBody>
          <a:bodyPr/>
          <a:lstStyle/>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exericise 2</a:t>
            </a:r>
          </a:p>
        </p:txBody>
      </p:sp>
      <p:sp>
        <p:nvSpPr>
          <p:cNvPr id="3" name="Content Placeholder 2"/>
          <p:cNvSpPr>
            <a:spLocks noGrp="1"/>
          </p:cNvSpPr>
          <p:nvPr>
            <p:ph idx="1"/>
          </p:nvPr>
        </p:nvSpPr>
        <p:spPr/>
        <p:txBody>
          <a:bodyPr/>
          <a:lstStyle/>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Text formatting</a:t>
            </a:r>
          </a:p>
        </p:txBody>
      </p:sp>
      <p:sp>
        <p:nvSpPr>
          <p:cNvPr id="3" name="Content Placeholder 2"/>
          <p:cNvSpPr>
            <a:spLocks noGrp="1"/>
          </p:cNvSpPr>
          <p:nvPr>
            <p:ph idx="1"/>
          </p:nvPr>
        </p:nvSpPr>
        <p:spPr/>
        <p:txBody>
          <a:bodyPr/>
          <a:lstStyle/>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Markdown text</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a:t>
            </a:r>
          </a:p>
        </p:txBody>
      </p:sp>
      <p:sp>
        <p:nvSpPr>
          <p:cNvPr id="3" name="Content Placeholder 2"/>
          <p:cNvSpPr>
            <a:spLocks noGrp="1"/>
          </p:cNvSpPr>
          <p:nvPr>
            <p:ph idx="1"/>
          </p:nvPr>
        </p:nvSpPr>
        <p:spPr/>
        <p:txBody>
          <a:bodyPr/>
          <a:lstStyle/>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The callout box</a:t>
            </a:r>
          </a:p>
        </p:txBody>
      </p:sp>
      <p:sp>
        <p:nvSpPr>
          <p:cNvPr id="3" name="Content Placeholder 2"/>
          <p:cNvSpPr>
            <a:spLocks noGrp="1"/>
          </p:cNvSpPr>
          <p:nvPr>
            <p:ph idx="1"/>
          </p:nvPr>
        </p:nvSpPr>
        <p:spPr/>
        <p:txBody>
          <a:bodyPr/>
          <a:lstStyle/>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Authoring: Inserting a callout box</a:t>
            </a:r>
          </a:p>
        </p:txBody>
      </p:sp>
      <p:sp>
        <p:nvSpPr>
          <p:cNvPr id="3" name="Content Placeholder 2"/>
          <p:cNvSpPr>
            <a:spLocks noGrp="1"/>
          </p:cNvSpPr>
          <p:nvPr>
            <p:ph idx="1"/>
          </p:nvPr>
        </p:nvSpPr>
        <p:spPr/>
        <p:txBody>
          <a:bodyPr/>
          <a:lstStyle/>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a:t>
            </a:r>
          </a:p>
        </p:txBody>
      </p:sp>
      <p:sp>
        <p:nvSpPr>
          <p:cNvPr id="3" name="Content Placeholder 2"/>
          <p:cNvSpPr>
            <a:spLocks noGrp="1"/>
          </p:cNvSpPr>
          <p:nvPr>
            <p:ph idx="1"/>
          </p:nvPr>
        </p:nvSpPr>
        <p:spPr/>
        <p:txBody>
          <a:bodyPr/>
          <a:lstStyle/>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a:t>
            </a:r>
          </a:p>
        </p:txBody>
      </p:sp>
      <p:sp>
        <p:nvSpPr>
          <p:cNvPr id="3" name="Content Placeholder 2"/>
          <p:cNvSpPr>
            <a:spLocks noGrp="1"/>
          </p:cNvSpPr>
          <p:nvPr>
            <p:ph idx="1"/>
          </p:nvPr>
        </p:nvSpPr>
        <p:spPr/>
        <p:txBody>
          <a:bodyPr/>
          <a:lstStyle/>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code chunks</a:t>
            </a:r>
          </a:p>
        </p:txBody>
      </p:sp>
      <p:sp>
        <p:nvSpPr>
          <p:cNvPr id="3" name="Content Placeholder 2"/>
          <p:cNvSpPr>
            <a:spLocks noGrp="1"/>
          </p:cNvSpPr>
          <p:nvPr>
            <p:ph idx="1"/>
          </p:nvPr>
        </p:nvSpPr>
        <p:spPr/>
        <p:txBody>
          <a:bodyPr/>
          <a:lstStyle/>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a:t>
            </a:r>
          </a:p>
        </p:txBody>
      </p:sp>
      <p:sp>
        <p:nvSpPr>
          <p:cNvPr id="3" name="Content Placeholder 2"/>
          <p:cNvSpPr>
            <a:spLocks noGrp="1"/>
          </p:cNvSpPr>
          <p:nvPr>
            <p:ph idx="1"/>
          </p:nvPr>
        </p:nvSpPr>
        <p:spPr/>
        <p:txBody>
          <a:bodyPr/>
          <a:lstStyle/>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Adjusting the code chunks</a:t>
            </a:r>
          </a:p>
        </p:txBody>
      </p:sp>
      <p:sp>
        <p:nvSpPr>
          <p:cNvPr id="3" name="Content Placeholder 2"/>
          <p:cNvSpPr>
            <a:spLocks noGrp="1"/>
          </p:cNvSpPr>
          <p:nvPr>
            <p:ph idx="1"/>
          </p:nvPr>
        </p:nvSpPr>
        <p:spPr/>
        <p:txBody>
          <a:bodyPr/>
          <a:lstStyle/>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Code chunks display settings</a:t>
            </a:r>
          </a:p>
        </p:txBody>
      </p:sp>
      <p:sp>
        <p:nvSpPr>
          <p:cNvPr id="3" name="Content Placeholder 2"/>
          <p:cNvSpPr>
            <a:spLocks noGrp="1"/>
          </p:cNvSpPr>
          <p:nvPr>
            <p:ph idx="1"/>
          </p:nvPr>
        </p:nvSpPr>
        <p:spPr/>
        <p:txBody>
          <a:bodyPr/>
          <a:lstStyle/>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a:t>
            </a:r>
          </a:p>
        </p:txBody>
      </p:sp>
      <p:sp>
        <p:nvSpPr>
          <p:cNvPr id="3" name="Content Placeholder 2"/>
          <p:cNvSpPr>
            <a:spLocks noGrp="1"/>
          </p:cNvSpPr>
          <p:nvPr>
            <p:ph idx="1"/>
          </p:nvPr>
        </p:nvSpPr>
        <p:spPr/>
        <p:txBody>
          <a:bodyPr/>
          <a:lstStyle/>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have we learned so far?</a:t>
            </a:r>
          </a:p>
        </p:txBody>
      </p:sp>
      <p:sp>
        <p:nvSpPr>
          <p:cNvPr id="3" name="Content Placeholder 2"/>
          <p:cNvSpPr>
            <a:spLocks noGrp="1"/>
          </p:cNvSpPr>
          <p:nvPr>
            <p:ph idx="1"/>
          </p:nvPr>
        </p:nvSpPr>
        <p:spPr/>
        <p:txBody>
          <a:bodyPr/>
          <a:lstStyle/>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 Your turn!</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a:p>
            <a:pPr lvl="0" indent="0" marL="0">
              <a:spcBef>
                <a:spcPts val="3000"/>
              </a:spcBef>
              <a:buNone/>
            </a:pPr>
            <a:r>
              <a:rPr b="1"/>
              <a:t>Question 2</a:t>
            </a:r>
          </a:p>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a:p>
            <a:pPr lvl="0" indent="0" marL="0">
              <a:spcBef>
                <a:spcPts val="3000"/>
              </a:spcBef>
              <a:buNone/>
            </a:pPr>
            <a:r>
              <a:rPr b="1"/>
              <a:t>Question 3</a:t>
            </a:r>
          </a:p>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survey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authoring features</a:t>
            </a:r>
          </a:p>
        </p:txBody>
      </p:sp>
      <p:sp>
        <p:nvSpPr>
          <p:cNvPr id="3" name="Content Placeholder 2"/>
          <p:cNvSpPr>
            <a:spLocks noGrp="1"/>
          </p:cNvSpPr>
          <p:nvPr>
            <p:ph idx="1"/>
          </p:nvPr>
        </p:nvSpPr>
        <p:spPr/>
        <p:txBody>
          <a:bodyPr/>
          <a:lstStyle/>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Inserting links</a:t>
            </a:r>
          </a:p>
        </p:txBody>
      </p:sp>
      <p:sp>
        <p:nvSpPr>
          <p:cNvPr id="3" name="Content Placeholder 2"/>
          <p:cNvSpPr>
            <a:spLocks noGrp="1"/>
          </p:cNvSpPr>
          <p:nvPr>
            <p:ph idx="1"/>
          </p:nvPr>
        </p:nvSpPr>
        <p:spPr/>
        <p:txBody>
          <a:bodyPr/>
          <a:lstStyle/>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Inserting images</a:t>
            </a:r>
          </a:p>
        </p:txBody>
      </p:sp>
      <p:sp>
        <p:nvSpPr>
          <p:cNvPr id="4" name="Text Placeholder 3"/>
          <p:cNvSpPr>
            <a:spLocks noGrp="1"/>
          </p:cNvSpPr>
          <p:nvPr>
            <p:ph idx="2" sz="half" type="body"/>
          </p:nvPr>
        </p:nvSpPr>
        <p:spPr/>
        <p:txBody>
          <a:bodyPr/>
          <a:lstStyle/>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7</a:t>
            </a:r>
          </a:p>
        </p:txBody>
      </p:sp>
      <p:sp>
        <p:nvSpPr>
          <p:cNvPr id="3" name="Content Placeholder 2"/>
          <p:cNvSpPr>
            <a:spLocks noGrp="1"/>
          </p:cNvSpPr>
          <p:nvPr>
            <p:ph idx="1"/>
          </p:nvPr>
        </p:nvSpPr>
        <p:spPr/>
        <p:txBody>
          <a:bodyPr/>
          <a:lstStyle/>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a:t>
            </a:r>
          </a:p>
        </p:txBody>
      </p:sp>
      <p:sp>
        <p:nvSpPr>
          <p:cNvPr id="3" name="Content Placeholder 2"/>
          <p:cNvSpPr>
            <a:spLocks noGrp="1"/>
          </p:cNvSpPr>
          <p:nvPr>
            <p:ph idx="1"/>
          </p:nvPr>
        </p:nvSpPr>
        <p:spPr/>
        <p:txBody>
          <a:bodyPr/>
          <a:lstStyle/>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Adding citations with Zotero</a:t>
            </a:r>
          </a:p>
        </p:txBody>
      </p:sp>
      <p:sp>
        <p:nvSpPr>
          <p:cNvPr id="4" name="Text Placeholder 3"/>
          <p:cNvSpPr>
            <a:spLocks noGrp="1"/>
          </p:cNvSpPr>
          <p:nvPr>
            <p:ph idx="2" sz="half" type="body"/>
          </p:nvPr>
        </p:nvSpPr>
        <p:spPr/>
        <p:txBody>
          <a:bodyPr/>
          <a:lstStyle/>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p:nvPr>
        </p:nvSpPr>
        <p:spPr/>
        <p:txBody>
          <a:bodyPr/>
          <a:lstStyle/>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8</a:t>
            </a:r>
          </a:p>
        </p:txBody>
      </p:sp>
      <p:sp>
        <p:nvSpPr>
          <p:cNvPr id="3" name="Content Placeholder 2"/>
          <p:cNvSpPr>
            <a:spLocks noGrp="1"/>
          </p:cNvSpPr>
          <p:nvPr>
            <p:ph idx="1"/>
          </p:nvPr>
        </p:nvSpPr>
        <p:spPr/>
        <p:txBody>
          <a:bodyPr/>
          <a:lstStyle/>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8</a:t>
            </a:r>
          </a:p>
        </p:txBody>
      </p:sp>
      <p:sp>
        <p:nvSpPr>
          <p:cNvPr id="4" name="Text Placeholder 3"/>
          <p:cNvSpPr>
            <a:spLocks noGrp="1"/>
          </p:cNvSpPr>
          <p:nvPr>
            <p:ph idx="2" sz="half" type="body"/>
          </p:nvPr>
        </p:nvSpPr>
        <p:spPr/>
        <p:txBody>
          <a:bodyPr/>
          <a:lstStyle/>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9</a:t>
            </a:r>
          </a:p>
        </p:txBody>
      </p:sp>
      <p:sp>
        <p:nvSpPr>
          <p:cNvPr id="3" name="Content Placeholder 2"/>
          <p:cNvSpPr>
            <a:spLocks noGrp="1"/>
          </p:cNvSpPr>
          <p:nvPr>
            <p:ph idx="1"/>
          </p:nvPr>
        </p:nvSpPr>
        <p:spPr/>
        <p:txBody>
          <a:bodyPr/>
          <a:lstStyle/>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9</a:t>
            </a:r>
          </a:p>
        </p:txBody>
      </p:sp>
      <p:sp>
        <p:nvSpPr>
          <p:cNvPr id="4" name="Text Placeholder 3"/>
          <p:cNvSpPr>
            <a:spLocks noGrp="1"/>
          </p:cNvSpPr>
          <p:nvPr>
            <p:ph idx="2" sz="half" type="body"/>
          </p:nvPr>
        </p:nvSpPr>
        <p:spPr/>
        <p:txBody>
          <a:bodyPr/>
          <a:lstStyle/>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citations with Zotero</a:t>
            </a:r>
          </a:p>
        </p:txBody>
      </p:sp>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a:t>
            </a:r>
          </a:p>
        </p:txBody>
      </p:sp>
      <p:sp>
        <p:nvSpPr>
          <p:cNvPr id="3" name="Content Placeholder 2"/>
          <p:cNvSpPr>
            <a:spLocks noGrp="1"/>
          </p:cNvSpPr>
          <p:nvPr>
            <p:ph idx="1"/>
          </p:nvPr>
        </p:nvSpPr>
        <p:spPr/>
        <p:txBody>
          <a:bodyPr/>
          <a:lstStyle/>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b="1"/>
              <a:t>GitHub Pages</a:t>
            </a:r>
            <a:r>
              <a:rPr/>
              <a:t> enables you to publish content based on source code managed within a GitHub repository.</a:t>
            </a:r>
          </a:p>
          <a:p>
            <a:pPr lvl="0" indent="0" marL="0">
              <a:buNone/>
            </a:pPr>
            <a:r>
              <a:rPr b="1"/>
              <a:t>Three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Publishing to GitHub</a:t>
            </a:r>
          </a:p>
        </p:txBody>
      </p:sp>
      <p:sp>
        <p:nvSpPr>
          <p:cNvPr id="3" name="Content Placeholder 2"/>
          <p:cNvSpPr>
            <a:spLocks noGrp="1"/>
          </p:cNvSpPr>
          <p:nvPr>
            <p:ph idx="1"/>
          </p:nvPr>
        </p:nvSpPr>
        <p:spPr/>
        <p:txBody>
          <a:bodyPr/>
          <a:lstStyle/>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10</a:t>
            </a:r>
          </a:p>
        </p:txBody>
      </p:sp>
      <p:sp>
        <p:nvSpPr>
          <p:cNvPr id="3" name="Content Placeholder 2"/>
          <p:cNvSpPr>
            <a:spLocks noGrp="1"/>
          </p:cNvSpPr>
          <p:nvPr>
            <p:ph idx="1"/>
          </p:nvPr>
        </p:nvSpPr>
        <p:spPr/>
        <p:txBody>
          <a:bodyPr/>
          <a:lstStyle/>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and implications</a:t>
            </a:r>
          </a:p>
        </p:txBody>
      </p:sp>
      <p:sp>
        <p:nvSpPr>
          <p:cNvPr id="3" name="Content Placeholder 2"/>
          <p:cNvSpPr>
            <a:spLocks noGrp="1"/>
          </p:cNvSpPr>
          <p:nvPr>
            <p:ph idx="1"/>
          </p:nvPr>
        </p:nvSpPr>
        <p:spPr/>
        <p:txBody>
          <a:bodyPr/>
          <a:lstStyle/>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take-home message?</a:t>
            </a:r>
          </a:p>
        </p:txBody>
      </p:sp>
      <p:sp>
        <p:nvSpPr>
          <p:cNvPr id="3" name="Content Placeholder 2"/>
          <p:cNvSpPr>
            <a:spLocks noGrp="1"/>
          </p:cNvSpPr>
          <p:nvPr>
            <p:ph idx="1"/>
          </p:nvPr>
        </p:nvSpPr>
        <p:spPr/>
        <p:txBody>
          <a:bodyPr/>
          <a:lstStyle/>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a:p>
            <a:pPr lvl="0" indent="0" marL="0">
              <a:spcBef>
                <a:spcPts val="3000"/>
              </a:spcBef>
              <a:buNone/>
            </a:pPr>
            <a:r>
              <a:rPr b="1"/>
              <a:t>Question 3</a:t>
            </a:r>
          </a:p>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a:p>
            <a:pPr lvl="0" indent="0" marL="0">
              <a:spcBef>
                <a:spcPts val="3000"/>
              </a:spcBef>
              <a:buNone/>
            </a:pPr>
            <a:r>
              <a:rPr b="1"/>
              <a:t>Question 4</a:t>
            </a:r>
          </a:p>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a:p>
            <a:pPr lvl="0" indent="0" marL="0">
              <a:spcBef>
                <a:spcPts val="3000"/>
              </a:spcBef>
              <a:buNone/>
            </a:pPr>
            <a:r>
              <a:rPr b="1"/>
              <a:t>Question 5</a:t>
            </a:r>
          </a:p>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a:p>
            <a:pPr lvl="0" indent="0" marL="0">
              <a:spcBef>
                <a:spcPts val="3000"/>
              </a:spcBef>
              <a:buNone/>
            </a:pPr>
            <a:r>
              <a:rPr b="1"/>
              <a:t>Question 6</a:t>
            </a:r>
          </a:p>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literature for instructors</a:t>
            </a:r>
          </a:p>
        </p:txBody>
      </p:sp>
      <p:sp>
        <p:nvSpPr>
          <p:cNvPr id="3" name="Content Placeholder 2"/>
          <p:cNvSpPr>
            <a:spLocks noGrp="1"/>
          </p:cNvSpPr>
          <p:nvPr>
            <p:ph idx="1"/>
          </p:nvPr>
        </p:nvSpPr>
        <p:spPr/>
        <p:txBody>
          <a:bodyPr/>
          <a:lstStyle/>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Waterfield, Elizabeth ( </a:t>
            </a:r>
            <a:r>
              <a:rPr>
                <a:hlinkClick r:id="rId2"/>
              </a:rPr>
              <a:t>0009-0006-3725-6730</a:t>
            </a:r>
            <a:r>
              <a:rPr/>
              <a:t>)</a:t>
            </a:r>
          </a:p>
          <a:p>
            <a:pPr lvl="0" indent="0" marL="0">
              <a:buNone/>
            </a:pPr>
            <a:r>
              <a:rPr b="1"/>
              <a:t>Reviewer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a:t>
            </a:r>
            <a:r>
              <a:rPr>
                <a:hlinkClick r:id="rId5"/>
              </a:rPr>
              <a:t>0000-0002-3242-5981</a:t>
            </a:r>
            <a:r>
              <a:rPr/>
              <a: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Florian Pargent, Florian Kohrt, and Phillip Sckopke from the </a:t>
            </a:r>
            <a:r>
              <a:rPr>
                <a:hlinkClick r:id="rId3"/>
              </a:rPr>
              <a:t>Faculty of Psychology at LMU Munich</a:t>
            </a:r>
            <a:r>
              <a:rPr/>
              <a:t>. This current work by Elizabeth Waterfield, Malika Ihle, Felix Schönbrodt and Sarah von Grebmer zu Wolfsthurn is licensed under a </a:t>
            </a:r>
            <a:r>
              <a:rPr>
                <a:hlinkClick r:id="rId4"/>
              </a:rPr>
              <a:t>Creative Commons Attribution 4.0 International SA License</a:t>
            </a:r>
            <a:r>
              <a:rPr/>
              <a:t> (CC-BY-SA-4.0). Code snippets are dedicated to the public domain and licensed under a </a:t>
            </a:r>
            <a:r>
              <a:rPr>
                <a:hlinkClick r:id="rId5"/>
              </a:rPr>
              <a:t>Creative Commons Universal License</a:t>
            </a:r>
            <a:r>
              <a:rPr/>
              <a:t> (CC0 1.0).</a:t>
            </a:r>
          </a:p>
          <a:p>
            <a:pPr lvl="0" indent="0" marL="0">
              <a:buNone/>
            </a:pPr>
            <a:r>
              <a:rPr/>
              <a:t>Please cite these materials as: Waterfield, E., Ihle, M., Schönbrodt, F., &amp; Von Grebmer Zu Wolfsthurn, S. (2026). </a:t>
            </a:r>
            <a:r>
              <a:rPr i="1"/>
              <a:t>Introduction to Quarto</a:t>
            </a:r>
            <a:r>
              <a:rPr/>
              <a:t> [Quarto slides]. </a:t>
            </a:r>
            <a:r>
              <a:rPr>
                <a:hlinkClick r:id="rId6"/>
              </a:rPr>
              <a:t>LMU Open Science Center</a:t>
            </a:r>
            <a:r>
              <a:rPr/>
              <a:t>. </a:t>
            </a:r>
            <a:r>
              <a:rPr>
                <a:hlinkClick r:id="rId7"/>
              </a:rPr>
              <a:t>https://lmu-osc.github.io/teaching-material-for-novices/open-research-tools/quarto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2026-10-05T15:27:45Z</dcterms:created>
  <dcterms:modified xsi:type="dcterms:W3CDTF">2026-10-05T15:27:45Z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