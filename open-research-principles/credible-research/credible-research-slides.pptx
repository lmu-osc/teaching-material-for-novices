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notesMaster" Target="notesMasters/notesMaster1.xml" /><Relationship Id="rId107" Type="http://schemas.openxmlformats.org/officeDocument/2006/relationships/viewProps" Target="viewProps.xml" /><Relationship Id="rId106" Type="http://schemas.openxmlformats.org/officeDocument/2006/relationships/presProps" Target="presProps.xml" /><Relationship Id="rId1" Type="http://schemas.openxmlformats.org/officeDocument/2006/relationships/slideMaster" Target="slideMasters/slideMaster1.xml" /><Relationship Id="rId109" Type="http://schemas.openxmlformats.org/officeDocument/2006/relationships/tableStyles" Target="tableStyles.xml" /><Relationship Id="rId10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key issues in current research, particularly around replicability and reproducibility,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Importantly, here an overview with all the self-paced tutorials developed by the LMU Open Science Center, including educational resources for educators and instructors to expand on their teaching and leadership skills in an open research context (“How do I teach about Open Research” and “How do I lead in Open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osf.io/"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osf.io/u3znx"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0.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www.cos.io/initiatives/badg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www.cos.io/initiatives/prereg"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cos.io/initiatives/registered-reports"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registered-reports"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1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20.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4" Type="http://schemas.openxmlformats.org/officeDocument/2006/relationships/image" Target="../media/image22.png" /><Relationship Id="rId3" Type="http://schemas.openxmlformats.org/officeDocument/2006/relationships/image" Target="../media/image2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hyperlink" Target="https://osf.io/dnym9/files/k8sfv"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twitter.com/JohnBorghi/status/1405227318876905472?s=20"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22.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3.xml" /><Relationship Id="rId3" Type="http://schemas.openxmlformats.org/officeDocument/2006/relationships/image" Target="../media/image22.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4" Type="http://schemas.openxmlformats.org/officeDocument/2006/relationships/image" Target="../media/image27.png" /><Relationship Id="rId3" Type="http://schemas.openxmlformats.org/officeDocument/2006/relationships/image" Target="../media/image26.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8.jp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3" Type="http://schemas.openxmlformats.org/officeDocument/2006/relationships/image" Target="../media/image2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www.reddit.com/r/ProgrammerHumor/comments/8w54mx/code_comments_be_like/"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49.xml" /><Relationship Id="rId5" Type="http://schemas.openxmlformats.org/officeDocument/2006/relationships/image" Target="../media/image32.png" /><Relationship Id="rId4" Type="http://schemas.openxmlformats.org/officeDocument/2006/relationships/image" Target="../media/image31.png" /><Relationship Id="rId3" Type="http://schemas.openxmlformats.org/officeDocument/2006/relationships/image" Target="../media/image30.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0.xml" /><Relationship Id="rId3" Type="http://schemas.openxmlformats.org/officeDocument/2006/relationships/image" Target="../media/image33.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34.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2.xml" /><Relationship Id="rId5" Type="http://schemas.openxmlformats.org/officeDocument/2006/relationships/image" Target="../media/image37.png" /><Relationship Id="rId4" Type="http://schemas.openxmlformats.org/officeDocument/2006/relationships/image" Target="../media/image36.png" /><Relationship Id="rId3" Type="http://schemas.openxmlformats.org/officeDocument/2006/relationships/image" Target="../media/image35.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8.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0.png" /><Relationship Id="rId2" Type="http://schemas.openxmlformats.org/officeDocument/2006/relationships/image" Target="../media/image25.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image" Target="../media/image39.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image" Target="../media/image40.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lmu.de/" TargetMode="External" /><Relationship Id="rId6" Type="http://schemas.openxmlformats.org/officeDocument/2006/relationships/hyperlink" Target="https://lmu-osc.github.io/teaching-material-for-novices/open-research-principles/credible-research"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3242-5981" TargetMode="External" /><Relationship Id="rId3" Type="http://schemas.openxmlformats.org/officeDocument/2006/relationships/hyperlink" Target="https://orcid.org/0000-0002-6413-3895"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image" Target="../media/image41.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lmu-osc.github.io/train-the-trainer-open-research/" TargetMode="External" /><Relationship Id="rId4" Type="http://schemas.openxmlformats.org/officeDocument/2006/relationships/hyperlink" Target="https://lmu-osc.github.io/introduction-to-R/" TargetMode="External" /><Relationship Id="rId5" Type="http://schemas.openxmlformats.org/officeDocument/2006/relationships/hyperlink" Target="https://lmu-osc.github.io/Introduction-RStudio-Git-GitHub/" TargetMode="External" /><Relationship Id="rId6" Type="http://schemas.openxmlformats.org/officeDocument/2006/relationships/hyperlink" Target="https://lmu-osc.github.io/Collaborative-RStudio-GitHub/" TargetMode="External" /><Relationship Id="rId7" Type="http://schemas.openxmlformats.org/officeDocument/2006/relationships/hyperlink" Target="https://lmu-osc.github.io/introduction-to-Quarto/" TargetMode="External" /><Relationship Id="rId8" Type="http://schemas.openxmlformats.org/officeDocument/2006/relationships/hyperlink" Target="https://lmu-osc.github.io/introduction-to-zotero/" TargetMode="External" /><Relationship Id="rId9" Type="http://schemas.openxmlformats.org/officeDocument/2006/relationships/hyperlink" Target="https://lmu-osc.github.io/introduction-to-renv/" TargetMode="External" /><Relationship Id="rId10" Type="http://schemas.openxmlformats.org/officeDocument/2006/relationships/hyperlink" Target="https://lmu-osc.github.io/code-publishing/" TargetMode="External" /><Relationship Id="rId11" Type="http://schemas.openxmlformats.org/officeDocument/2006/relationships/hyperlink" Target="https://lmu-osc.github.io/Introduction-Simulations-in-R/" TargetMode="External" /><Relationship Id="rId12" Type="http://schemas.openxmlformats.org/officeDocument/2006/relationships/hyperlink" Target="https://lmu-osc.github.io/Simulations-for-Advanced-Power-Analyses/" TargetMode="External" /><Relationship Id="rId13" Type="http://schemas.openxmlformats.org/officeDocument/2006/relationships/hyperlink" Target="https://lmu-osc.github.io/FAIR-Data-Managemen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Moving towards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and Sarah von Grebmer zu Wolfsthurn</a:t>
            </a:r>
          </a:p>
        </p:txBody>
      </p:sp>
      <p:sp>
        <p:nvSpPr>
          <p:cNvPr id="4" name="Date Placeholder 3"/>
          <p:cNvSpPr>
            <a:spLocks noGrp="1"/>
          </p:cNvSpPr>
          <p:nvPr>
            <p:ph idx="10" sz="half" type="dt"/>
          </p:nvPr>
        </p:nvSpPr>
        <p:spPr/>
        <p:txBody>
          <a:bodyPr/>
          <a:lstStyle/>
          <a:p>
            <a:pPr lvl="0" indent="0" marL="0">
              <a:buNone/>
            </a:pPr>
            <a:r>
              <a:rPr/>
              <a:t>19/10/2026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and was subsequently adapted by Sarah von Grebmer zu Wolfsthurn. This current work by Sarah von Grebmer zu Wolfsthurn and Malika Ihle is licensed under a </a:t>
            </a:r>
            <a:r>
              <a:rPr>
                <a:hlinkClick r:id="rId4"/>
              </a:rPr>
              <a:t>Creative Commons Attribution 4.0 International SA License</a:t>
            </a:r>
            <a:r>
              <a:rPr/>
              <a:t> (CC-BY-SA 4.0).</a:t>
            </a:r>
          </a:p>
          <a:p>
            <a:pPr lvl="0" indent="0" marL="0">
              <a:buNone/>
            </a:pPr>
            <a:r>
              <a:rPr/>
              <a:t>Please cite these materials as: Ihle, M., &amp; Von Grebmer zu Wolfsthurn, S. (2026). </a:t>
            </a:r>
            <a:r>
              <a:rPr i="1"/>
              <a:t>Moving towards credible and open research</a:t>
            </a:r>
            <a:r>
              <a:rPr/>
              <a:t> [Quarto slides]. </a:t>
            </a:r>
            <a:r>
              <a:rPr>
                <a:hlinkClick r:id="rId5"/>
              </a:rPr>
              <a:t>LMU Open Science Center</a:t>
            </a:r>
            <a:r>
              <a:rPr/>
              <a:t>. </a:t>
            </a:r>
            <a:r>
              <a:rPr>
                <a:hlinkClick r:id="rId6"/>
              </a:rPr>
              <a:t>https://lmu-osc.github.io/teaching-material-for-novices/open-research-principles/credible-research</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Creators</a:t>
            </a:r>
            <a:r>
              <a:rPr/>
              <a:t>: Ihle, Malika ( </a:t>
            </a:r>
            <a:r>
              <a:rPr>
                <a:hlinkClick r:id="rId2"/>
              </a:rPr>
              <a:t>0000-0002-3242-5981</a:t>
            </a:r>
            <a:r>
              <a:rPr/>
              <a:t>), Von Grebmer zu Wolfsthurn, Sarah ( </a:t>
            </a:r>
            <a:r>
              <a:rPr>
                <a:hlinkClick r:id="rId3"/>
              </a:rPr>
              <a:t>0000-0002-6413-3895</a:t>
            </a:r>
            <a:r>
              <a:rPr/>
              <a:t>)</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Tutorial</a:t>
                      </a:r>
                    </a:p>
                  </a:txBody>
                  <a:tcPr/>
                </a:tc>
                <a:tc>
                  <a:txBody>
                    <a:bodyPr/>
                    <a:lstStyle/>
                    <a:p>
                      <a:pPr lvl="0" indent="0" marL="0">
                        <a:buNone/>
                      </a:pPr>
                      <a:r>
                        <a:rPr/>
                        <a:t>Access</a:t>
                      </a:r>
                    </a:p>
                  </a:txBody>
                  <a:tcPr/>
                </a:tc>
              </a:tr>
              <a:tr h="0">
                <a:tc>
                  <a:txBody>
                    <a:bodyPr/>
                    <a:lstStyle/>
                    <a:p>
                      <a:pPr lvl="0" indent="0" marL="0">
                        <a:buNone/>
                      </a:pPr>
                      <a:r>
                        <a:rPr/>
                        <a:t>Teaching and leading in Open Research</a:t>
                      </a:r>
                    </a:p>
                  </a:txBody>
                </a:tc>
                <a:tc>
                  <a:txBody>
                    <a:bodyPr/>
                    <a:lstStyle/>
                    <a:p>
                      <a:pPr lvl="0" indent="0" marL="0">
                        <a:buNone/>
                      </a:pPr>
                      <a:r>
                        <a:rPr>
                          <a:hlinkClick r:id="rId3"/>
                        </a:rPr>
                        <a:t>Educational resources</a:t>
                      </a:r>
                    </a:p>
                  </a:txBody>
                </a:tc>
              </a:tr>
              <a:tr h="0">
                <a:tc>
                  <a:txBody>
                    <a:bodyPr/>
                    <a:lstStyle/>
                    <a:p>
                      <a:pPr lvl="0" indent="0" marL="0">
                        <a:buNone/>
                      </a:pPr>
                      <a:r>
                        <a:rPr/>
                        <a:t>Introduction to R</a:t>
                      </a:r>
                    </a:p>
                  </a:txBody>
                </a:tc>
                <a:tc>
                  <a:txBody>
                    <a:bodyPr/>
                    <a:lstStyle/>
                    <a:p>
                      <a:pPr lvl="0" indent="0" marL="0">
                        <a:buNone/>
                      </a:pPr>
                      <a:r>
                        <a:rPr>
                          <a:hlinkClick r:id="rId4"/>
                        </a:rPr>
                        <a:t>Self-paced tutorial</a:t>
                      </a:r>
                    </a:p>
                  </a:txBody>
                </a:tc>
              </a:tr>
              <a:tr h="0">
                <a:tc>
                  <a:txBody>
                    <a:bodyPr/>
                    <a:lstStyle/>
                    <a:p>
                      <a:pPr lvl="0" indent="0" marL="0">
                        <a:buNone/>
                      </a:pPr>
                      <a:r>
                        <a:rPr/>
                        <a:t>Introduction to Version Control within RStudio</a:t>
                      </a:r>
                    </a:p>
                  </a:txBody>
                </a:tc>
                <a:tc>
                  <a:txBody>
                    <a:bodyPr/>
                    <a:lstStyle/>
                    <a:p>
                      <a:pPr lvl="0" indent="0" marL="0">
                        <a:buNone/>
                      </a:pPr>
                      <a:r>
                        <a:rPr>
                          <a:hlinkClick r:id="rId5"/>
                        </a:rPr>
                        <a:t>Self-paced tutorial</a:t>
                      </a:r>
                    </a:p>
                  </a:txBody>
                </a:tc>
              </a:tr>
              <a:tr h="0">
                <a:tc>
                  <a:txBody>
                    <a:bodyPr/>
                    <a:lstStyle/>
                    <a:p>
                      <a:pPr lvl="0" indent="0" marL="0">
                        <a:buNone/>
                      </a:pPr>
                      <a:r>
                        <a:rPr/>
                        <a:t>Collaborative Coding with GitHub and RStudio</a:t>
                      </a:r>
                    </a:p>
                  </a:txBody>
                </a:tc>
                <a:tc>
                  <a:txBody>
                    <a:bodyPr/>
                    <a:lstStyle/>
                    <a:p>
                      <a:pPr lvl="0" indent="0" marL="0">
                        <a:buNone/>
                      </a:pPr>
                      <a:r>
                        <a:rPr>
                          <a:hlinkClick r:id="rId6"/>
                        </a:rPr>
                        <a:t>Self-paced tutorial</a:t>
                      </a:r>
                    </a:p>
                  </a:txBody>
                </a:tc>
              </a:tr>
              <a:tr h="0">
                <a:tc>
                  <a:txBody>
                    <a:bodyPr/>
                    <a:lstStyle/>
                    <a:p>
                      <a:pPr lvl="0" indent="0" marL="0">
                        <a:buNone/>
                      </a:pPr>
                      <a:r>
                        <a:rPr/>
                        <a:t>Introduction to Quarto</a:t>
                      </a:r>
                    </a:p>
                  </a:txBody>
                </a:tc>
                <a:tc>
                  <a:txBody>
                    <a:bodyPr/>
                    <a:lstStyle/>
                    <a:p>
                      <a:pPr lvl="0" indent="0" marL="0">
                        <a:buNone/>
                      </a:pPr>
                      <a:r>
                        <a:rPr>
                          <a:hlinkClick r:id="rId7"/>
                        </a:rPr>
                        <a:t>Self-paced tutorial</a:t>
                      </a:r>
                    </a:p>
                  </a:txBody>
                </a:tc>
              </a:tr>
              <a:tr h="0">
                <a:tc>
                  <a:txBody>
                    <a:bodyPr/>
                    <a:lstStyle/>
                    <a:p>
                      <a:pPr lvl="0" indent="0" marL="0">
                        <a:buNone/>
                      </a:pPr>
                      <a:r>
                        <a:rPr/>
                        <a:t>Introduction to Zotero</a:t>
                      </a:r>
                    </a:p>
                  </a:txBody>
                </a:tc>
                <a:tc>
                  <a:txBody>
                    <a:bodyPr/>
                    <a:lstStyle/>
                    <a:p>
                      <a:pPr lvl="0" indent="0" marL="0">
                        <a:buNone/>
                      </a:pPr>
                      <a:r>
                        <a:rPr>
                          <a:hlinkClick r:id="rId8"/>
                        </a:rPr>
                        <a:t>Self-paced tutorial</a:t>
                      </a:r>
                    </a:p>
                  </a:txBody>
                </a:tc>
              </a:tr>
              <a:tr h="0">
                <a:tc>
                  <a:txBody>
                    <a:bodyPr/>
                    <a:lstStyle/>
                    <a:p>
                      <a:pPr lvl="0" indent="0" marL="0">
                        <a:buNone/>
                      </a:pPr>
                      <a:r>
                        <a:rPr/>
                        <a:t>Introduction to </a:t>
                      </a:r>
                      <a:r>
                        <a:rPr>
                          <a:latin typeface="Courier"/>
                        </a:rPr>
                        <a:t>{renv}</a:t>
                      </a:r>
                    </a:p>
                  </a:txBody>
                </a:tc>
                <a:tc>
                  <a:txBody>
                    <a:bodyPr/>
                    <a:lstStyle/>
                    <a:p>
                      <a:pPr lvl="0" indent="0" marL="0">
                        <a:buNone/>
                      </a:pPr>
                      <a:r>
                        <a:rPr>
                          <a:hlinkClick r:id="rId9"/>
                        </a:rPr>
                        <a:t>Self-paced tutorial</a:t>
                      </a:r>
                    </a:p>
                  </a:txBody>
                </a:tc>
              </a:tr>
              <a:tr h="0">
                <a:tc>
                  <a:txBody>
                    <a:bodyPr/>
                    <a:lstStyle/>
                    <a:p>
                      <a:pPr lvl="0" indent="0" marL="0">
                        <a:buNone/>
                      </a:pPr>
                      <a:r>
                        <a:rPr/>
                        <a:t>Code Publishing</a:t>
                      </a:r>
                    </a:p>
                  </a:txBody>
                </a:tc>
                <a:tc>
                  <a:txBody>
                    <a:bodyPr/>
                    <a:lstStyle/>
                    <a:p>
                      <a:pPr lvl="0" indent="0" marL="0">
                        <a:buNone/>
                      </a:pPr>
                      <a:r>
                        <a:rPr>
                          <a:hlinkClick r:id="rId10"/>
                        </a:rPr>
                        <a:t>Self-paced tutorial</a:t>
                      </a:r>
                    </a:p>
                  </a:txBody>
                </a:tc>
              </a:tr>
              <a:tr h="0">
                <a:tc>
                  <a:txBody>
                    <a:bodyPr/>
                    <a:lstStyle/>
                    <a:p>
                      <a:pPr lvl="0" indent="0" marL="0">
                        <a:buNone/>
                      </a:pPr>
                      <a:r>
                        <a:rPr/>
                        <a:t>Introduction to Data Simulations in R</a:t>
                      </a:r>
                    </a:p>
                  </a:txBody>
                </a:tc>
                <a:tc>
                  <a:txBody>
                    <a:bodyPr/>
                    <a:lstStyle/>
                    <a:p>
                      <a:pPr lvl="0" indent="0" marL="0">
                        <a:buNone/>
                      </a:pPr>
                      <a:r>
                        <a:rPr>
                          <a:hlinkClick r:id="rId11"/>
                        </a:rPr>
                        <a:t>Self-paced tutorial</a:t>
                      </a:r>
                    </a:p>
                  </a:txBody>
                </a:tc>
              </a:tr>
              <a:tr h="0">
                <a:tc>
                  <a:txBody>
                    <a:bodyPr/>
                    <a:lstStyle/>
                    <a:p>
                      <a:pPr lvl="0" indent="0" marL="0">
                        <a:buNone/>
                      </a:pPr>
                      <a:r>
                        <a:rPr/>
                        <a:t>Simulations for Advanced Power Analyses</a:t>
                      </a:r>
                    </a:p>
                  </a:txBody>
                </a:tc>
                <a:tc>
                  <a:txBody>
                    <a:bodyPr/>
                    <a:lstStyle/>
                    <a:p>
                      <a:pPr lvl="0" indent="0" marL="0">
                        <a:buNone/>
                      </a:pPr>
                      <a:r>
                        <a:rPr>
                          <a:hlinkClick r:id="rId12"/>
                        </a:rPr>
                        <a:t>Self-paced tutorial</a:t>
                      </a:r>
                    </a:p>
                  </a:txBody>
                </a:tc>
              </a:tr>
              <a:tr h="0">
                <a:tc>
                  <a:txBody>
                    <a:bodyPr/>
                    <a:lstStyle/>
                    <a:p>
                      <a:pPr lvl="0" indent="0" marL="0">
                        <a:buNone/>
                      </a:pPr>
                      <a:r>
                        <a:rPr/>
                        <a:t>FAIR Data Management</a:t>
                      </a:r>
                    </a:p>
                  </a:txBody>
                </a:tc>
                <a:tc>
                  <a:txBody>
                    <a:bodyPr/>
                    <a:lstStyle/>
                    <a:p>
                      <a:pPr lvl="0" indent="0" marL="0">
                        <a:buNone/>
                      </a:pPr>
                      <a:r>
                        <a:rPr>
                          <a:hlinkClick r:id="rId13"/>
                        </a:rPr>
                        <a:t>Self-paced tutorial</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Moving towards credible and open research</dc:title>
  <dc:creator>Malika Ihle and Sarah von Grebmer zu Wolfsthurn</dc:creator>
  <cp:keywords/>
  <dcterms:created xsi:type="dcterms:W3CDTF">2026-10-19T10:35:00Z</dcterms:created>
  <dcterms:modified xsi:type="dcterms:W3CDTF">2026-10-19T10:35:00Z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