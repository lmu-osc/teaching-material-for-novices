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notesMaster" Target="notesMasters/notesMaster1.xml" /><Relationship Id="rId120" Type="http://schemas.openxmlformats.org/officeDocument/2006/relationships/viewProps" Target="viewProps.xml" /><Relationship Id="rId119" Type="http://schemas.openxmlformats.org/officeDocument/2006/relationships/presProps" Target="presProps.xml" /><Relationship Id="rId1" Type="http://schemas.openxmlformats.org/officeDocument/2006/relationships/slideMaster" Target="slideMasters/slideMaster1.xml" /><Relationship Id="rId122" Type="http://schemas.openxmlformats.org/officeDocument/2006/relationships/tableStyles" Target="tableStyles.xml" /><Relationship Id="rId1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Since this is the introductory session,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Since this is the introductory session,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pre-session survey serves to examine students’ prior knowledge about the session’s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try and match the biases to their respective descriptions. Work in pairs for 5 minutes.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practices. Imagine that you are reviewing a study examining whether drinking white tea improves short-term memory. In the report, you read the information provided here. Which potential p-hacking strategies can you identify? Work in pairs, take 5 minutes for this task.</a:t>
            </a:r>
          </a:p>
          <a:p>
            <a:pPr lvl="0" indent="0" marL="0">
              <a:buNone/>
            </a:pPr>
          </a:p>
          <a:p>
            <a:pPr lvl="0" indent="0" marL="0">
              <a:buNone/>
            </a:pPr>
            <a:r>
              <a:rPr b="1"/>
              <a:t>Instructor notes</a:t>
            </a:r>
            <a:r>
              <a:rPr/>
              <a:t>: Plan about 5 minutes for the discussion of this exercise.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hyperlink" Target="www.sciencebarometer.com"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doi.org/10.1525/collabra.74"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525/collabra.74"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osf.io/br9sp/files/nmwr3"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doi.org/10.1038/s41586-025-10078-y"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osf.io/u3znx"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doi.org/10.1073/pnas.1313476110"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osf.io/d4dcu/"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371/journal.pone.0010068"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147/OAJCT.S344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56/NEJMsa06577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1017/S0033291718001873" TargetMode="Externa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3.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1.xml" /><Relationship Id="rId3" Type="http://schemas.openxmlformats.org/officeDocument/2006/relationships/image" Target="../media/image15.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hyperlink" Target="https://doi.org/10.1177/0149206314527133" TargetMode="Externa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crystalprisonzone.blogspot.com/2016/03/the-weapons-priming-effect.html"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 Id="rId3" Type="http://schemas.openxmlformats.org/officeDocument/2006/relationships/hyperlink" Target="https://doi.org/10.1371/journal.pone.0263023"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bulliedintobadscience.org/"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www.geograph.org.uk/"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1177/09567976221140828" TargetMode="External" /><Relationship Id="rId4" Type="http://schemas.openxmlformats.org/officeDocument/2006/relationships/hyperlink" Target="https://doi.org/10.7554/eLife.70929" TargetMode="Externa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2-3242-5981" TargetMode="Externa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creativecommons.org/publicdomain/zero/1.0/" TargetMode="External" /><Relationship Id="rId7" Type="http://schemas.openxmlformats.org/officeDocument/2006/relationships/hyperlink" Target="https://lmu-osc.github.io/teaching-material-for-novices/open-research-principles/reproducibility-replicability/"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29/10/2026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This is not a test</a:t>
            </a:r>
            <a:r>
              <a:rPr/>
              <a:t>! These terms probably have not been covered in your courses yet. We just want to see what your current understanding of these terms 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reproducibility-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a:r>
              <a:rPr/>
              <a:t>Tyner et al. (2026)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(III)</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Match the bias to the description</a:t>
            </a:r>
          </a:p>
          <a:p>
            <a:pPr lvl="0" indent="0" marL="0">
              <a:buNone/>
            </a:pPr>
            <a:r>
              <a:rPr/>
              <a:t>Work in pairs. Take 5 minutes for this exercise.</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Identifying p-hacking</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buNone/>
            </a:pPr>
            <a:r>
              <a:rPr/>
              <a:t>Work in pairs. Take 5 minutes for this exercise.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(2023), Psychology: Numerical results of </a:t>
            </a:r>
            <a:r>
              <a:rPr b="1"/>
              <a:t>less than 30% of papers</a:t>
            </a:r>
            <a:r>
              <a:rPr/>
              <a:t> can be </a:t>
            </a:r>
            <a:r>
              <a:rPr b="1"/>
              <a:t>reproduced</a:t>
            </a:r>
            <a:r>
              <a:rPr/>
              <a:t> (Crüwell et al., 2023)</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Elson, M., Geiger, S. J., Lobentanzer, S., Monéger, J., Patterson, A., Schwarzkopf, D. S., Zaneva, M., &amp; Brown, N. J. L. (2023). What’s in a badge? A computational reproducibility investigation of the Open Data Badge Policy in one issue of Psychological Science. </a:t>
            </a:r>
            <a:r>
              <a:rPr i="1"/>
              <a:t>Psychological Science</a:t>
            </a:r>
            <a:r>
              <a:rPr/>
              <a:t>, </a:t>
            </a:r>
            <a:r>
              <a:rPr i="1"/>
              <a:t>34</a:t>
            </a:r>
            <a:r>
              <a:rPr/>
              <a:t>(4), 512–522. </a:t>
            </a:r>
            <a:r>
              <a:rPr>
                <a:hlinkClick r:id="rId3"/>
              </a:rPr>
              <a:t>https://doi.org/10.1177/09567976221140828</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Ihle, Malika ( </a:t>
            </a:r>
            <a:r>
              <a:rPr>
                <a:hlinkClick r:id="rId4"/>
              </a:rPr>
              <a:t>0000-0002-3242-5981</a:t>
            </a:r>
            <a:r>
              <a:rPr/>
              <a:t>)</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Felix Schönbrodt</a:t>
            </a:r>
            <a:r>
              <a:rPr/>
              <a:t> under a </a:t>
            </a:r>
            <a:r>
              <a:rPr>
                <a:hlinkClick r:id="rId4"/>
              </a:rPr>
              <a:t>Creative Commons Attribution 4.0 International License</a:t>
            </a:r>
            <a:r>
              <a:rPr/>
              <a:t> (CC-BY 4.0). This current work by Sarah von Grebmer zu Wolfsthurn, Malika Ihle and Felix Schönbrodt is licensed under a </a:t>
            </a:r>
            <a:r>
              <a:rPr>
                <a:hlinkClick r:id="rId5"/>
              </a:rPr>
              <a:t>Creative Commons Attribution 4.0 SA International License</a:t>
            </a:r>
            <a:r>
              <a:rPr/>
              <a:t> (CC-BY-SA 4.0). Code snippets are dedicated to the public domain and licenced under a </a:t>
            </a:r>
            <a:r>
              <a:rPr>
                <a:hlinkClick r:id="rId6"/>
              </a:rPr>
              <a:t>Creative Commons Universal Licence</a:t>
            </a:r>
            <a:r>
              <a:rPr/>
              <a:t> (CC0 1.0).</a:t>
            </a:r>
          </a:p>
          <a:p>
            <a:pPr lvl="0" indent="0" marL="0">
              <a:buNone/>
            </a:pPr>
            <a:r>
              <a:rPr/>
              <a:t>Please cite these materials as: Von Grebmer zu Wolfsthurn, S., Ihle, M., &amp; Schönbrodt, F. (2026). </a:t>
            </a:r>
            <a:r>
              <a:rPr i="1"/>
              <a:t>Threats to credible research: Where are we at?</a:t>
            </a:r>
            <a:r>
              <a:rPr/>
              <a:t> [Quarto slides]. LMU Open Science Center. </a:t>
            </a:r>
            <a:r>
              <a:rPr>
                <a:hlinkClick r:id="rId7"/>
              </a:rPr>
              <a:t>https://lmu-osc.github.io/teaching-material-for-novices/open-research-principles/reproducibility-replicability/</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content</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2026-10-29T09:34:28Z</dcterms:created>
  <dcterms:modified xsi:type="dcterms:W3CDTF">2026-10-29T09:34:28Z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29/10/2026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