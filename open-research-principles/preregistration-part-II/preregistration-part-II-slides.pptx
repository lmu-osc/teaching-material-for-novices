
<file path=[Content_Types].xml><?xml version="1.0" encoding="utf-8"?>
<Types xmlns="http://schemas.openxmlformats.org/package/2006/content-types">
  <Default Extension="xml" ContentType="application/xml"/>
  <Default Extension="rels" ContentType="application/vnd.openxmlformats-package.relationships+xml"/>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notesMasters/notesMaster1.xml" ContentType="application/vnd.openxmlformats-officedocument.presentationml.notesMaster+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notesMasterIdLst>
    <p:notesMasterId r:id="rId5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3" Type="http://schemas.openxmlformats.org/officeDocument/2006/relationships/slide" Target="slides/slide22.xml" /><Relationship Id="rId24" Type="http://schemas.openxmlformats.org/officeDocument/2006/relationships/slide" Target="slides/slide23.xml" /><Relationship Id="rId25" Type="http://schemas.openxmlformats.org/officeDocument/2006/relationships/slide" Target="slides/slide24.xml" /><Relationship Id="rId26" Type="http://schemas.openxmlformats.org/officeDocument/2006/relationships/slide" Target="slides/slide25.xml" /><Relationship Id="rId27" Type="http://schemas.openxmlformats.org/officeDocument/2006/relationships/slide" Target="slides/slide26.xml" /><Relationship Id="rId28" Type="http://schemas.openxmlformats.org/officeDocument/2006/relationships/slide" Target="slides/slide27.xml" /><Relationship Id="rId29" Type="http://schemas.openxmlformats.org/officeDocument/2006/relationships/slide" Target="slides/slide28.xml" /><Relationship Id="rId30" Type="http://schemas.openxmlformats.org/officeDocument/2006/relationships/slide" Target="slides/slide29.xml" /><Relationship Id="rId31" Type="http://schemas.openxmlformats.org/officeDocument/2006/relationships/slide" Target="slides/slide30.xml" /><Relationship Id="rId32" Type="http://schemas.openxmlformats.org/officeDocument/2006/relationships/slide" Target="slides/slide31.xml" /><Relationship Id="rId33" Type="http://schemas.openxmlformats.org/officeDocument/2006/relationships/slide" Target="slides/slide32.xml" /><Relationship Id="rId34" Type="http://schemas.openxmlformats.org/officeDocument/2006/relationships/slide" Target="slides/slide33.xml" /><Relationship Id="rId35" Type="http://schemas.openxmlformats.org/officeDocument/2006/relationships/slide" Target="slides/slide34.xml" /><Relationship Id="rId36" Type="http://schemas.openxmlformats.org/officeDocument/2006/relationships/slide" Target="slides/slide35.xml" /><Relationship Id="rId37" Type="http://schemas.openxmlformats.org/officeDocument/2006/relationships/slide" Target="slides/slide36.xml" /><Relationship Id="rId38" Type="http://schemas.openxmlformats.org/officeDocument/2006/relationships/slide" Target="slides/slide37.xml" /><Relationship Id="rId39" Type="http://schemas.openxmlformats.org/officeDocument/2006/relationships/slide" Target="slides/slide38.xml" /><Relationship Id="rId40" Type="http://schemas.openxmlformats.org/officeDocument/2006/relationships/slide" Target="slides/slide39.xml" /><Relationship Id="rId41" Type="http://schemas.openxmlformats.org/officeDocument/2006/relationships/slide" Target="slides/slide40.xml" /><Relationship Id="rId42" Type="http://schemas.openxmlformats.org/officeDocument/2006/relationships/slide" Target="slides/slide41.xml" /><Relationship Id="rId43" Type="http://schemas.openxmlformats.org/officeDocument/2006/relationships/slide" Target="slides/slide42.xml" /><Relationship Id="rId44" Type="http://schemas.openxmlformats.org/officeDocument/2006/relationships/slide" Target="slides/slide43.xml" /><Relationship Id="rId45" Type="http://schemas.openxmlformats.org/officeDocument/2006/relationships/slide" Target="slides/slide44.xml" /><Relationship Id="rId46" Type="http://schemas.openxmlformats.org/officeDocument/2006/relationships/slide" Target="slides/slide45.xml" /><Relationship Id="rId47" Type="http://schemas.openxmlformats.org/officeDocument/2006/relationships/slide" Target="slides/slide46.xml" /><Relationship Id="rId48" Type="http://schemas.openxmlformats.org/officeDocument/2006/relationships/slide" Target="slides/slide47.xml" /><Relationship Id="rId49" Type="http://schemas.openxmlformats.org/officeDocument/2006/relationships/slide" Target="slides/slide48.xml" /><Relationship Id="rId50" Type="http://schemas.openxmlformats.org/officeDocument/2006/relationships/slide" Target="slides/slide49.xml" /><Relationship Id="rId51" Type="http://schemas.openxmlformats.org/officeDocument/2006/relationships/slide" Target="slides/slide50.xml" /><Relationship Id="rId52" Type="http://schemas.openxmlformats.org/officeDocument/2006/relationships/slide" Target="slides/slide51.xml" /><Relationship Id="rId53" Type="http://schemas.openxmlformats.org/officeDocument/2006/relationships/notesMaster" Target="notesMasters/notesMaster1.xml" /><Relationship Id="rId55" Type="http://schemas.openxmlformats.org/officeDocument/2006/relationships/viewProps" Target="viewProps.xml" /><Relationship Id="rId54" Type="http://schemas.openxmlformats.org/officeDocument/2006/relationships/presProps" Target="presProps.xml" /><Relationship Id="rId1" Type="http://schemas.openxmlformats.org/officeDocument/2006/relationships/slideMaster" Target="slideMasters/slideMaster1.xml" /><Relationship Id="rId57" Type="http://schemas.openxmlformats.org/officeDocument/2006/relationships/tableStyles" Target="tableStyles.xml" /><Relationship Id="rId56" Type="http://schemas.openxmlformats.org/officeDocument/2006/relationships/theme" Target="theme/theme1.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9C1CCF-B725-44A7-AA57-5E433BD85C9F}" type="datetimeFigureOut">
              <a:rPr lang="en-US" smtClean="0"/>
              <a:t>1/2/22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BDFEC3-8487-43E8-A154-7C12CBC1FFF2}" type="slidenum">
              <a:rPr lang="en-US" smtClean="0"/>
              <a:t>‹#›</a:t>
            </a:fld>
            <a:endParaRPr lang="en-US"/>
          </a:p>
        </p:txBody>
      </p:sp>
    </p:spTree>
    <p:extLst>
      <p:ext uri="{BB962C8B-B14F-4D97-AF65-F5344CB8AC3E}">
        <p14:creationId xmlns:p14="http://schemas.microsoft.com/office/powerpoint/2010/main" val="3782709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2.xml.rels><?xml version="1.0" encoding="UTF-8"?><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3.xml.rels><?xml version="1.0" encoding="UTF-8"?><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4.xml.rels><?xml version="1.0" encoding="UTF-8"?><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5.xml.rels><?xml version="1.0" encoding="UTF-8"?><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6.xml.rels><?xml version="1.0" encoding="UTF-8"?><Relationships xmlns="http://schemas.openxmlformats.org/package/2006/relationships"><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_rels/notesSlide7.xml.rels><?xml version="1.0" encoding="UTF-8"?><Relationships xmlns="http://schemas.openxmlformats.org/package/2006/relationships"><Relationship Id="rId2" Type="http://schemas.openxmlformats.org/officeDocument/2006/relationships/slide" Target="../slides/slide9.xml" /><Relationship Id="rId1" Type="http://schemas.openxmlformats.org/officeDocument/2006/relationships/notesMaster" Target="../notesMasters/notesMaster1.xml" /></Relationships>
</file>

<file path=ppt/notesSlides/_rels/notesSlide8.xml.rels><?xml version="1.0" encoding="UTF-8"?><Relationships xmlns="http://schemas.openxmlformats.org/package/2006/relationships"><Relationship Id="rId2" Type="http://schemas.openxmlformats.org/officeDocument/2006/relationships/slide" Target="../slides/slide10.xml" /><Relationship Id="rId1" Type="http://schemas.openxmlformats.org/officeDocument/2006/relationships/notesMaster" Target="../notesMasters/notesMaster1.xml" /></Relationships>
</file>

<file path=ppt/notesSlides/_rels/notesSlide9.xml.rels><?xml version="1.0" encoding="UTF-8"?><Relationships xmlns="http://schemas.openxmlformats.org/package/2006/relationships"><Relationship Id="rId2" Type="http://schemas.openxmlformats.org/officeDocument/2006/relationships/slide" Target="../slides/slide11.xml" /><Relationship Id="rId1" Type="http://schemas.openxmlformats.org/officeDocument/2006/relationships/notesMaster" Target="../notesMasters/notesMaster1.xml" /></Relationships>
</file>

<file path=ppt/notesSlides/_rels/notesSlide10.xml.rels><?xml version="1.0" encoding="UTF-8"?><Relationships xmlns="http://schemas.openxmlformats.org/package/2006/relationships"><Relationship Id="rId2" Type="http://schemas.openxmlformats.org/officeDocument/2006/relationships/slide" Target="../slides/slide12.xml" /><Relationship Id="rId1" Type="http://schemas.openxmlformats.org/officeDocument/2006/relationships/notesMaster" Target="../notesMasters/notesMaster1.xml" /></Relationships>
</file>

<file path=ppt/notesSlides/_rels/notesSlide11.xml.rels><?xml version="1.0" encoding="UTF-8"?><Relationships xmlns="http://schemas.openxmlformats.org/package/2006/relationships"><Relationship Id="rId2" Type="http://schemas.openxmlformats.org/officeDocument/2006/relationships/slide" Target="../slides/slide13.xml" /><Relationship Id="rId1" Type="http://schemas.openxmlformats.org/officeDocument/2006/relationships/notesMaster" Target="../notesMasters/notesMaster1.xml" /></Relationships>
</file>

<file path=ppt/notesSlides/_rels/notesSlide12.xml.rels><?xml version="1.0" encoding="UTF-8"?><Relationships xmlns="http://schemas.openxmlformats.org/package/2006/relationships"><Relationship Id="rId2" Type="http://schemas.openxmlformats.org/officeDocument/2006/relationships/slide" Target="../slides/slide14.xml" /><Relationship Id="rId1" Type="http://schemas.openxmlformats.org/officeDocument/2006/relationships/notesMaster" Target="../notesMasters/notesMaster1.xml" /></Relationships>
</file>

<file path=ppt/notesSlides/_rels/notesSlide13.xml.rels><?xml version="1.0" encoding="UTF-8"?><Relationships xmlns="http://schemas.openxmlformats.org/package/2006/relationships"><Relationship Id="rId2" Type="http://schemas.openxmlformats.org/officeDocument/2006/relationships/slide" Target="../slides/slide15.xml" /><Relationship Id="rId1" Type="http://schemas.openxmlformats.org/officeDocument/2006/relationships/notesMaster" Target="../notesMasters/notesMaster1.xml" /></Relationships>
</file>

<file path=ppt/notesSlides/_rels/notesSlide14.xml.rels><?xml version="1.0" encoding="UTF-8"?><Relationships xmlns="http://schemas.openxmlformats.org/package/2006/relationships"><Relationship Id="rId2" Type="http://schemas.openxmlformats.org/officeDocument/2006/relationships/slide" Target="../slides/slide16.xml" /><Relationship Id="rId1" Type="http://schemas.openxmlformats.org/officeDocument/2006/relationships/notesMaster" Target="../notesMasters/notesMaster1.xml" /></Relationships>
</file>

<file path=ppt/notesSlides/_rels/notesSlide15.xml.rels><?xml version="1.0" encoding="UTF-8"?><Relationships xmlns="http://schemas.openxmlformats.org/package/2006/relationships"><Relationship Id="rId2" Type="http://schemas.openxmlformats.org/officeDocument/2006/relationships/slide" Target="../slides/slide17.xml" /><Relationship Id="rId1" Type="http://schemas.openxmlformats.org/officeDocument/2006/relationships/notesMaster" Target="../notesMasters/notesMaster1.xml" /></Relationships>
</file>

<file path=ppt/notesSlides/_rels/notesSlide16.xml.rels><?xml version="1.0" encoding="UTF-8"?><Relationships xmlns="http://schemas.openxmlformats.org/package/2006/relationships"><Relationship Id="rId2" Type="http://schemas.openxmlformats.org/officeDocument/2006/relationships/slide" Target="../slides/slide18.xml" /><Relationship Id="rId1" Type="http://schemas.openxmlformats.org/officeDocument/2006/relationships/notesMaster" Target="../notesMasters/notesMaster1.xml" /></Relationships>
</file>

<file path=ppt/notesSlides/_rels/notesSlide17.xml.rels><?xml version="1.0" encoding="UTF-8"?><Relationships xmlns="http://schemas.openxmlformats.org/package/2006/relationships"><Relationship Id="rId2" Type="http://schemas.openxmlformats.org/officeDocument/2006/relationships/slide" Target="../slides/slide19.xml" /><Relationship Id="rId1" Type="http://schemas.openxmlformats.org/officeDocument/2006/relationships/notesMaster" Target="../notesMasters/notesMaster1.xml" /></Relationships>
</file>

<file path=ppt/notesSlides/_rels/notesSlide18.xml.rels><?xml version="1.0" encoding="UTF-8"?><Relationships xmlns="http://schemas.openxmlformats.org/package/2006/relationships"><Relationship Id="rId2" Type="http://schemas.openxmlformats.org/officeDocument/2006/relationships/slide" Target="../slides/slide20.xml" /><Relationship Id="rId1" Type="http://schemas.openxmlformats.org/officeDocument/2006/relationships/notesMaster" Target="../notesMasters/notesMaster1.xml" /></Relationships>
</file>

<file path=ppt/notesSlides/_rels/notesSlide19.xml.rels><?xml version="1.0" encoding="UTF-8"?><Relationships xmlns="http://schemas.openxmlformats.org/package/2006/relationships"><Relationship Id="rId2" Type="http://schemas.openxmlformats.org/officeDocument/2006/relationships/slide" Target="../slides/slide21.xml" /><Relationship Id="rId1" Type="http://schemas.openxmlformats.org/officeDocument/2006/relationships/notesMaster" Target="../notesMasters/notesMaster1.xml" /></Relationships>
</file>

<file path=ppt/notesSlides/_rels/notesSlide20.xml.rels><?xml version="1.0" encoding="UTF-8"?><Relationships xmlns="http://schemas.openxmlformats.org/package/2006/relationships"><Relationship Id="rId2" Type="http://schemas.openxmlformats.org/officeDocument/2006/relationships/slide" Target="../slides/slide22.xml" /><Relationship Id="rId1" Type="http://schemas.openxmlformats.org/officeDocument/2006/relationships/notesMaster" Target="../notesMasters/notesMaster1.xml" /></Relationships>
</file>

<file path=ppt/notesSlides/_rels/notesSlide21.xml.rels><?xml version="1.0" encoding="UTF-8"?><Relationships xmlns="http://schemas.openxmlformats.org/package/2006/relationships"><Relationship Id="rId2" Type="http://schemas.openxmlformats.org/officeDocument/2006/relationships/slide" Target="../slides/slide23.xml" /><Relationship Id="rId1" Type="http://schemas.openxmlformats.org/officeDocument/2006/relationships/notesMaster" Target="../notesMasters/notesMaster1.xml" /></Relationships>
</file>

<file path=ppt/notesSlides/_rels/notesSlide22.xml.rels><?xml version="1.0" encoding="UTF-8"?><Relationships xmlns="http://schemas.openxmlformats.org/package/2006/relationships"><Relationship Id="rId2" Type="http://schemas.openxmlformats.org/officeDocument/2006/relationships/slide" Target="../slides/slide24.xml" /><Relationship Id="rId1" Type="http://schemas.openxmlformats.org/officeDocument/2006/relationships/notesMaster" Target="../notesMasters/notesMaster1.xml" /></Relationships>
</file>

<file path=ppt/notesSlides/_rels/notesSlide23.xml.rels><?xml version="1.0" encoding="UTF-8"?><Relationships xmlns="http://schemas.openxmlformats.org/package/2006/relationships"><Relationship Id="rId2" Type="http://schemas.openxmlformats.org/officeDocument/2006/relationships/slide" Target="../slides/slide25.xml" /><Relationship Id="rId1" Type="http://schemas.openxmlformats.org/officeDocument/2006/relationships/notesMaster" Target="../notesMasters/notesMaster1.xml" /></Relationships>
</file>

<file path=ppt/notesSlides/_rels/notesSlide24.xml.rels><?xml version="1.0" encoding="UTF-8"?><Relationships xmlns="http://schemas.openxmlformats.org/package/2006/relationships"><Relationship Id="rId2" Type="http://schemas.openxmlformats.org/officeDocument/2006/relationships/slide" Target="../slides/slide26.xml" /><Relationship Id="rId1" Type="http://schemas.openxmlformats.org/officeDocument/2006/relationships/notesMaster" Target="../notesMasters/notesMaster1.xml" /></Relationships>
</file>

<file path=ppt/notesSlides/_rels/notesSlide25.xml.rels><?xml version="1.0" encoding="UTF-8"?><Relationships xmlns="http://schemas.openxmlformats.org/package/2006/relationships"><Relationship Id="rId2" Type="http://schemas.openxmlformats.org/officeDocument/2006/relationships/slide" Target="../slides/slide27.xml" /><Relationship Id="rId1" Type="http://schemas.openxmlformats.org/officeDocument/2006/relationships/notesMaster" Target="../notesMasters/notesMaster1.xml" /></Relationships>
</file>

<file path=ppt/notesSlides/_rels/notesSlide26.xml.rels><?xml version="1.0" encoding="UTF-8"?><Relationships xmlns="http://schemas.openxmlformats.org/package/2006/relationships"><Relationship Id="rId2" Type="http://schemas.openxmlformats.org/officeDocument/2006/relationships/slide" Target="../slides/slide28.xml" /><Relationship Id="rId1" Type="http://schemas.openxmlformats.org/officeDocument/2006/relationships/notesMaster" Target="../notesMasters/notesMaster1.xml" /></Relationships>
</file>

<file path=ppt/notesSlides/_rels/notesSlide27.xml.rels><?xml version="1.0" encoding="UTF-8"?><Relationships xmlns="http://schemas.openxmlformats.org/package/2006/relationships"><Relationship Id="rId2" Type="http://schemas.openxmlformats.org/officeDocument/2006/relationships/slide" Target="../slides/slide29.xml" /><Relationship Id="rId1" Type="http://schemas.openxmlformats.org/officeDocument/2006/relationships/notesMaster" Target="../notesMasters/notesMaster1.xml" /></Relationships>
</file>

<file path=ppt/notesSlides/_rels/notesSlide28.xml.rels><?xml version="1.0" encoding="UTF-8"?><Relationships xmlns="http://schemas.openxmlformats.org/package/2006/relationships"><Relationship Id="rId2" Type="http://schemas.openxmlformats.org/officeDocument/2006/relationships/slide" Target="../slides/slide30.xml" /><Relationship Id="rId1" Type="http://schemas.openxmlformats.org/officeDocument/2006/relationships/notesMaster" Target="../notesMasters/notesMaster1.xml" /></Relationships>
</file>

<file path=ppt/notesSlides/_rels/notesSlide29.xml.rels><?xml version="1.0" encoding="UTF-8"?><Relationships xmlns="http://schemas.openxmlformats.org/package/2006/relationships"><Relationship Id="rId2" Type="http://schemas.openxmlformats.org/officeDocument/2006/relationships/slide" Target="../slides/slide31.xml" /><Relationship Id="rId1" Type="http://schemas.openxmlformats.org/officeDocument/2006/relationships/notesMaster" Target="../notesMasters/notesMaster1.xml" /></Relationships>
</file>

<file path=ppt/notesSlides/_rels/notesSlide30.xml.rels><?xml version="1.0" encoding="UTF-8"?><Relationships xmlns="http://schemas.openxmlformats.org/package/2006/relationships"><Relationship Id="rId2" Type="http://schemas.openxmlformats.org/officeDocument/2006/relationships/slide" Target="../slides/slide32.xml" /><Relationship Id="rId1" Type="http://schemas.openxmlformats.org/officeDocument/2006/relationships/notesMaster" Target="../notesMasters/notesMaster1.xml" /></Relationships>
</file>

<file path=ppt/notesSlides/_rels/notesSlide31.xml.rels><?xml version="1.0" encoding="UTF-8"?><Relationships xmlns="http://schemas.openxmlformats.org/package/2006/relationships"><Relationship Id="rId2" Type="http://schemas.openxmlformats.org/officeDocument/2006/relationships/slide" Target="../slides/slide33.xml" /><Relationship Id="rId1" Type="http://schemas.openxmlformats.org/officeDocument/2006/relationships/notesMaster" Target="../notesMasters/notesMaster1.xml" /></Relationships>
</file>

<file path=ppt/notesSlides/_rels/notesSlide32.xml.rels><?xml version="1.0" encoding="UTF-8"?><Relationships xmlns="http://schemas.openxmlformats.org/package/2006/relationships"><Relationship Id="rId2" Type="http://schemas.openxmlformats.org/officeDocument/2006/relationships/slide" Target="../slides/slide34.xml" /><Relationship Id="rId1" Type="http://schemas.openxmlformats.org/officeDocument/2006/relationships/notesMaster" Target="../notesMasters/notesMaster1.xml" /></Relationships>
</file>

<file path=ppt/notesSlides/_rels/notesSlide33.xml.rels><?xml version="1.0" encoding="UTF-8"?><Relationships xmlns="http://schemas.openxmlformats.org/package/2006/relationships"><Relationship Id="rId2" Type="http://schemas.openxmlformats.org/officeDocument/2006/relationships/slide" Target="../slides/slide36.xml" /><Relationship Id="rId1" Type="http://schemas.openxmlformats.org/officeDocument/2006/relationships/notesMaster" Target="../notesMasters/notesMaster1.xml" /></Relationships>
</file>

<file path=ppt/notesSlides/_rels/notesSlide34.xml.rels><?xml version="1.0" encoding="UTF-8"?><Relationships xmlns="http://schemas.openxmlformats.org/package/2006/relationships"><Relationship Id="rId2" Type="http://schemas.openxmlformats.org/officeDocument/2006/relationships/slide" Target="../slides/slide37.xml" /><Relationship Id="rId1" Type="http://schemas.openxmlformats.org/officeDocument/2006/relationships/notesMaster" Target="../notesMasters/notesMaster1.xml" /></Relationships>
</file>

<file path=ppt/notesSlides/_rels/notesSlide35.xml.rels><?xml version="1.0" encoding="UTF-8"?><Relationships xmlns="http://schemas.openxmlformats.org/package/2006/relationships"><Relationship Id="rId2" Type="http://schemas.openxmlformats.org/officeDocument/2006/relationships/slide" Target="../slides/slide38.xml" /><Relationship Id="rId1" Type="http://schemas.openxmlformats.org/officeDocument/2006/relationships/notesMaster" Target="../notesMasters/notesMaster1.xml" /></Relationships>
</file>

<file path=ppt/notesSlides/_rels/notesSlide36.xml.rels><?xml version="1.0" encoding="UTF-8"?><Relationships xmlns="http://schemas.openxmlformats.org/package/2006/relationships"><Relationship Id="rId2" Type="http://schemas.openxmlformats.org/officeDocument/2006/relationships/slide" Target="../slides/slide39.xml" /><Relationship Id="rId1" Type="http://schemas.openxmlformats.org/officeDocument/2006/relationships/notesMaster" Target="../notesMasters/notesMaster1.xml" /></Relationships>
</file>

<file path=ppt/notesSlides/_rels/notesSlide37.xml.rels><?xml version="1.0" encoding="UTF-8"?><Relationships xmlns="http://schemas.openxmlformats.org/package/2006/relationships"><Relationship Id="rId2" Type="http://schemas.openxmlformats.org/officeDocument/2006/relationships/slide" Target="../slides/slide40.xml" /><Relationship Id="rId1" Type="http://schemas.openxmlformats.org/officeDocument/2006/relationships/notesMaster" Target="../notesMasters/notesMaster1.xml" /></Relationships>
</file>

<file path=ppt/notesSlides/_rels/notesSlide38.xml.rels><?xml version="1.0" encoding="UTF-8"?><Relationships xmlns="http://schemas.openxmlformats.org/package/2006/relationships"><Relationship Id="rId2" Type="http://schemas.openxmlformats.org/officeDocument/2006/relationships/slide" Target="../slides/slide41.xml" /><Relationship Id="rId1" Type="http://schemas.openxmlformats.org/officeDocument/2006/relationships/notesMaster" Target="../notesMasters/notesMaster1.xml" /></Relationships>
</file>

<file path=ppt/notesSlides/_rels/notesSlide39.xml.rels><?xml version="1.0" encoding="UTF-8"?><Relationships xmlns="http://schemas.openxmlformats.org/package/2006/relationships"><Relationship Id="rId2" Type="http://schemas.openxmlformats.org/officeDocument/2006/relationships/slide" Target="../slides/slide42.xml" /><Relationship Id="rId1" Type="http://schemas.openxmlformats.org/officeDocument/2006/relationships/notesMaster" Target="../notesMasters/notesMaster1.xml" /></Relationships>
</file>

<file path=ppt/notesSlides/_rels/notesSlide40.xml.rels><?xml version="1.0" encoding="UTF-8"?><Relationships xmlns="http://schemas.openxmlformats.org/package/2006/relationships"><Relationship Id="rId2" Type="http://schemas.openxmlformats.org/officeDocument/2006/relationships/slide" Target="../slides/slide43.xml" /><Relationship Id="rId1" Type="http://schemas.openxmlformats.org/officeDocument/2006/relationships/notesMaster" Target="../notesMasters/notesMaster1.xml" /></Relationships>
</file>

<file path=ppt/notesSlides/_rels/notesSlide41.xml.rels><?xml version="1.0" encoding="UTF-8"?><Relationships xmlns="http://schemas.openxmlformats.org/package/2006/relationships"><Relationship Id="rId2" Type="http://schemas.openxmlformats.org/officeDocument/2006/relationships/slide" Target="../slides/slide44.xml" /><Relationship Id="rId1" Type="http://schemas.openxmlformats.org/officeDocument/2006/relationships/notesMaster" Target="../notesMasters/notesMaster1.xml" /></Relationships>
</file>

<file path=ppt/notesSlides/_rels/notesSlide42.xml.rels><?xml version="1.0" encoding="UTF-8"?><Relationships xmlns="http://schemas.openxmlformats.org/package/2006/relationships"><Relationship Id="rId2" Type="http://schemas.openxmlformats.org/officeDocument/2006/relationships/slide" Target="../slides/slide47.xml" /><Relationship Id="rId1" Type="http://schemas.openxmlformats.org/officeDocument/2006/relationships/notesMaster" Target="../notesMasters/notesMaster1.xml" /></Relationships>
</file>

<file path=ppt/notesSlides/_rels/notesSlide43.xml.rels><?xml version="1.0" encoding="UTF-8"?><Relationships xmlns="http://schemas.openxmlformats.org/package/2006/relationships"><Relationship Id="rId2" Type="http://schemas.openxmlformats.org/officeDocument/2006/relationships/slide" Target="../slides/slide50.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These are the </a:t>
            </a:r>
            <a:r>
              <a:rPr b="1"/>
              <a:t>presenter notes</a:t>
            </a:r>
            <a:r>
              <a:rPr/>
              <a:t>. You will find a script for the presenter for every slide. In presentation mode, your audience will not be able to see these presenter notes, they are only visible to the presenter.</a:t>
            </a:r>
          </a:p>
          <a:p>
            <a:pPr lvl="0" indent="0" marL="0">
              <a:buNone/>
            </a:pPr>
          </a:p>
          <a:p>
            <a:pPr lvl="0" indent="0" marL="0">
              <a:buNone/>
            </a:pPr>
            <a:r>
              <a:rPr/>
              <a:t>For this session, it is important that you are familiar with what a preregistration is, since this session is building up on that.</a:t>
            </a:r>
          </a:p>
          <a:p>
            <a:pPr lvl="0" indent="0" marL="0">
              <a:buNone/>
            </a:pPr>
          </a:p>
          <a:p>
            <a:pPr lvl="0" indent="0" marL="0">
              <a:buNone/>
            </a:pPr>
            <a:r>
              <a:rPr b="1"/>
              <a:t>Instructor Notes</a:t>
            </a:r>
            <a:r>
              <a:rPr/>
              <a:t>: There are also </a:t>
            </a:r>
            <a:r>
              <a:rPr b="1"/>
              <a:t>instructor notes</a:t>
            </a:r>
            <a:r>
              <a:rPr/>
              <a:t>. For some slides, there will be pedagogical tips, suggestions for activities and troubleshooting tips for issues your audience might run into. You can find these notes underneath the presenter notes.</a:t>
            </a:r>
          </a:p>
          <a:p>
            <a:pPr lvl="0" indent="0" marL="0">
              <a:buNone/>
            </a:pPr>
          </a:p>
          <a:p>
            <a:pPr lvl="0" indent="0" marL="0">
              <a:buNone/>
            </a:pPr>
            <a:r>
              <a:rPr/>
              <a:t>These are the prerequisites for this session. Before you get started on this session with your audience, you need to ensure that the audience fulfills these criteria.</a:t>
            </a:r>
          </a:p>
        </p:txBody>
      </p:sp>
      <p:sp>
        <p:nvSpPr>
          <p:cNvPr id="4" name="Slide Number Placeholder 3"/>
          <p:cNvSpPr>
            <a:spLocks noGrp="1"/>
          </p:cNvSpPr>
          <p:nvPr>
            <p:ph type="sldNum" sz="quarter" idx="10"/>
          </p:nvPr>
        </p:nvSpPr>
        <p:spPr/>
        <p:txBody>
          <a:bodyPr/>
          <a:lstStyle/>
          <a:p>
            <a:fld id="{18BDFEC3-8487-43E8-A154-7C12CBC1FFF2}" type="slidenum">
              <a:rPr lang="en-US"/>
              <a:t>2</a:t>
            </a:fld>
            <a:endParaRPr lang="en-US"/>
          </a:p>
        </p:txBody>
      </p:sp>
    </p:spTree>
  </p:cSld>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In part 2 of this preregistration workshop I hope you will go from not being sure of the opportunities and challenges of doing a preregistration to being able to discuss benefits and barriers and identify an area of the preregistration process you can improve on.</a:t>
            </a:r>
          </a:p>
        </p:txBody>
      </p:sp>
      <p:sp>
        <p:nvSpPr>
          <p:cNvPr id="4" name="Slide Number Placeholder 3"/>
          <p:cNvSpPr>
            <a:spLocks noGrp="1"/>
          </p:cNvSpPr>
          <p:nvPr>
            <p:ph type="sldNum" sz="quarter" idx="10"/>
          </p:nvPr>
        </p:nvSpPr>
        <p:spPr/>
        <p:txBody>
          <a:bodyPr/>
          <a:lstStyle/>
          <a:p>
            <a:fld id="{18BDFEC3-8487-43E8-A154-7C12CBC1FFF2}" type="slidenum">
              <a:rPr lang="en-US"/>
              <a:t>3</a:t>
            </a:fld>
            <a:endParaRPr lang="en-US"/>
          </a:p>
        </p:txBody>
      </p:sp>
    </p:spTree>
  </p:cSld>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Study preregistration is an open science practice that safe guard researchers from questionable research practices and biases by making decision-making processes more explicit.</a:t>
            </a:r>
          </a:p>
          <a:p>
            <a:pPr lvl="0" indent="0" marL="0">
              <a:buNone/>
            </a:pPr>
          </a:p>
          <a:p>
            <a:pPr lvl="0"/>
            <a:r>
              <a:rPr/>
              <a:t>It involves uploading a time-stamped, publicly-available record of a research study plan onto a register, which is given a unique and permanent study identifier.</a:t>
            </a:r>
          </a:p>
          <a:p>
            <a:pPr lvl="0" indent="0" marL="0">
              <a:buNone/>
            </a:pPr>
          </a:p>
          <a:p>
            <a:pPr lvl="0"/>
            <a:r>
              <a:rPr/>
              <a:t>Preregistrations do not need to be made public immediately and can be embargoed for a period of years. For example OSF preregistration can be embargoed for a period of up to 4 years.</a:t>
            </a:r>
          </a:p>
          <a:p>
            <a:pPr lvl="0" indent="0" marL="0">
              <a:buNone/>
            </a:pPr>
          </a:p>
          <a:p>
            <a:pPr lvl="0" indent="0" marL="0">
              <a:buNone/>
            </a:pPr>
            <a:r>
              <a:rPr b="1"/>
              <a:t>Instructor Notes</a:t>
            </a:r>
            <a:r>
              <a:rPr/>
              <a:t>: A quick recap from preregistration part 1 helps learners situate themselves in the preregistration learning journey and before a short questions session (next slide).</a:t>
            </a:r>
          </a:p>
        </p:txBody>
      </p:sp>
      <p:sp>
        <p:nvSpPr>
          <p:cNvPr id="4" name="Slide Number Placeholder 3"/>
          <p:cNvSpPr>
            <a:spLocks noGrp="1"/>
          </p:cNvSpPr>
          <p:nvPr>
            <p:ph type="sldNum" sz="quarter" idx="10"/>
          </p:nvPr>
        </p:nvSpPr>
        <p:spPr/>
        <p:txBody>
          <a:bodyPr/>
          <a:lstStyle/>
          <a:p>
            <a:fld id="{18BDFEC3-8487-43E8-A154-7C12CBC1FFF2}" type="slidenum">
              <a:rPr lang="en-US"/>
              <a:t>4</a:t>
            </a:fld>
            <a:endParaRPr lang="en-US"/>
          </a:p>
        </p:txBody>
      </p:sp>
    </p:spTree>
  </p:cSld>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Before we get started with preregistration part II, now is a good time to clarify questions from part I.</a:t>
            </a:r>
          </a:p>
          <a:p>
            <a:pPr lvl="0" indent="0" marL="0">
              <a:buNone/>
            </a:pPr>
          </a:p>
          <a:p>
            <a:pPr lvl="0" indent="0" marL="0">
              <a:buNone/>
            </a:pPr>
            <a:r>
              <a:rPr b="1"/>
              <a:t>Instructor Notes</a:t>
            </a:r>
            <a:r>
              <a:rPr/>
              <a:t>: This slide is dedicated to clarifying questions from the previous submodule and/or to discuss assignments. - Additional slides may need to be added depending on the nature of the homework assignments. - Critical for the learning process to ensure that learners are on the same page and have been able to achieve the learning goals of the previous workshop. - Not applicable if this set of slides corresponds to the first submodule of a new module.</a:t>
            </a:r>
          </a:p>
        </p:txBody>
      </p:sp>
      <p:sp>
        <p:nvSpPr>
          <p:cNvPr id="4" name="Slide Number Placeholder 3"/>
          <p:cNvSpPr>
            <a:spLocks noGrp="1"/>
          </p:cNvSpPr>
          <p:nvPr>
            <p:ph type="sldNum" sz="quarter" idx="10"/>
          </p:nvPr>
        </p:nvSpPr>
        <p:spPr/>
        <p:txBody>
          <a:bodyPr/>
          <a:lstStyle/>
          <a:p>
            <a:fld id="{18BDFEC3-8487-43E8-A154-7C12CBC1FFF2}" type="slidenum">
              <a:rPr lang="en-US"/>
              <a:t>5</a:t>
            </a:fld>
            <a:endParaRPr lang="en-US"/>
          </a:p>
        </p:txBody>
      </p:sp>
    </p:spTree>
  </p:cSld>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Let us have a look at these results.</a:t>
            </a:r>
          </a:p>
          <a:p>
            <a:pPr lvl="0" indent="0" marL="0">
              <a:buNone/>
            </a:pPr>
          </a:p>
          <a:p>
            <a:pPr lvl="0" indent="0" marL="0">
              <a:buNone/>
            </a:pPr>
            <a:r>
              <a:rPr b="1"/>
              <a:t>Instructor Notes</a:t>
            </a:r>
            <a:r>
              <a:rPr/>
              <a:t>:</a:t>
            </a:r>
            <a:r>
              <a:rPr b="1"/>
              <a:t>Aim</a:t>
            </a:r>
            <a:r>
              <a:rPr/>
              <a:t>: Briefly examine the answers given to each question interactively with the group. Use visuals from the survey to highlight specific answers.</a:t>
            </a:r>
          </a:p>
          <a:p>
            <a:pPr lvl="0" indent="0" marL="0">
              <a:buNone/>
            </a:pPr>
          </a:p>
          <a:p>
            <a:pPr lvl="0" indent="0" marL="0">
              <a:buNone/>
            </a:pPr>
            <a:r>
              <a:rPr b="1"/>
              <a:t>Accessibility Tip</a:t>
            </a:r>
            <a:r>
              <a:rPr/>
              <a:t>: Have people work in pairs if someone did not bring their phone/does not have a phone. This survey also cannot be completed in an asynchronous setting.</a:t>
            </a:r>
          </a:p>
        </p:txBody>
      </p:sp>
      <p:sp>
        <p:nvSpPr>
          <p:cNvPr id="4" name="Slide Number Placeholder 3"/>
          <p:cNvSpPr>
            <a:spLocks noGrp="1"/>
          </p:cNvSpPr>
          <p:nvPr>
            <p:ph type="sldNum" sz="quarter" idx="10"/>
          </p:nvPr>
        </p:nvSpPr>
        <p:spPr/>
        <p:txBody>
          <a:bodyPr/>
          <a:lstStyle/>
          <a:p>
            <a:fld id="{18BDFEC3-8487-43E8-A154-7C12CBC1FFF2}" type="slidenum">
              <a:rPr lang="en-US"/>
              <a:t>7</a:t>
            </a:fld>
            <a:endParaRPr lang="en-US"/>
          </a:p>
        </p:txBody>
      </p:sp>
    </p:spTree>
  </p:cSld>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The overall aim of this submodule is to examine the benefits of preregistration to researchers and wider research ecosystem, and discuss common challenges and how to address them.</a:t>
            </a:r>
          </a:p>
          <a:p>
            <a:pPr lvl="0" indent="0" marL="0">
              <a:buNone/>
            </a:pPr>
          </a:p>
          <a:p>
            <a:pPr lvl="0" indent="0" marL="0">
              <a:buNone/>
            </a:pPr>
            <a:r>
              <a:rPr/>
              <a:t>There are 2 sections: first we will discuss the benefits and barriers of doing a preregistration and then in the second section we will look at practicing improving our preregistration skills.</a:t>
            </a:r>
          </a:p>
          <a:p>
            <a:pPr lvl="0" indent="0" marL="0">
              <a:buNone/>
            </a:pPr>
          </a:p>
          <a:p>
            <a:pPr lvl="0" indent="0" marL="0">
              <a:buNone/>
            </a:pPr>
            <a:r>
              <a:rPr b="1"/>
              <a:t>Instructor Notes</a:t>
            </a:r>
            <a:r>
              <a:rPr/>
              <a:t>: Giving the whole overview at the start of the session provides learners with structure and clarity about what to expect.</a:t>
            </a:r>
          </a:p>
        </p:txBody>
      </p:sp>
      <p:sp>
        <p:nvSpPr>
          <p:cNvPr id="4" name="Slide Number Placeholder 3"/>
          <p:cNvSpPr>
            <a:spLocks noGrp="1"/>
          </p:cNvSpPr>
          <p:nvPr>
            <p:ph type="sldNum" sz="quarter" idx="10"/>
          </p:nvPr>
        </p:nvSpPr>
        <p:spPr/>
        <p:txBody>
          <a:bodyPr/>
          <a:lstStyle/>
          <a:p>
            <a:fld id="{18BDFEC3-8487-43E8-A154-7C12CBC1FFF2}" type="slidenum">
              <a:rPr lang="en-US"/>
              <a:t>8</a:t>
            </a:fld>
            <a:endParaRPr lang="en-US"/>
          </a:p>
        </p:txBody>
      </p:sp>
    </p:spTree>
  </p:cSld>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We will begin by outlining the common benefits and barriers of preregistration for researchers and wider research ecosystem.</a:t>
            </a:r>
          </a:p>
          <a:p>
            <a:pPr lvl="0" indent="0" marL="0">
              <a:buNone/>
            </a:pPr>
          </a:p>
          <a:p>
            <a:pPr lvl="0" indent="0" marL="0">
              <a:buNone/>
            </a:pPr>
            <a:r>
              <a:rPr/>
              <a:t>There will be a quiz at the end and along the way several self-reflection exercises.</a:t>
            </a:r>
          </a:p>
          <a:p>
            <a:pPr lvl="0" indent="0" marL="0">
              <a:buNone/>
            </a:pPr>
          </a:p>
          <a:p>
            <a:pPr lvl="0" indent="0" marL="0">
              <a:buNone/>
            </a:pPr>
            <a:r>
              <a:rPr/>
              <a:t>After completing section 1 you should be able to:</a:t>
            </a:r>
          </a:p>
          <a:p>
            <a:pPr lvl="0" indent="0" marL="0">
              <a:buNone/>
            </a:pPr>
          </a:p>
          <a:p>
            <a:pPr lvl="0"/>
            <a:r>
              <a:rPr b="1"/>
              <a:t>Explain</a:t>
            </a:r>
            <a:r>
              <a:rPr/>
              <a:t> the perceived barriers to doing a preregistration</a:t>
            </a:r>
          </a:p>
          <a:p>
            <a:pPr lvl="0" indent="0" marL="0">
              <a:buNone/>
            </a:pPr>
          </a:p>
          <a:p>
            <a:pPr lvl="0"/>
            <a:r>
              <a:rPr b="1"/>
              <a:t>Identify</a:t>
            </a:r>
            <a:r>
              <a:rPr/>
              <a:t> key benefits of preregistration</a:t>
            </a:r>
          </a:p>
        </p:txBody>
      </p:sp>
      <p:sp>
        <p:nvSpPr>
          <p:cNvPr id="4" name="Slide Number Placeholder 3"/>
          <p:cNvSpPr>
            <a:spLocks noGrp="1"/>
          </p:cNvSpPr>
          <p:nvPr>
            <p:ph type="sldNum" sz="quarter" idx="10"/>
          </p:nvPr>
        </p:nvSpPr>
        <p:spPr/>
        <p:txBody>
          <a:bodyPr/>
          <a:lstStyle/>
          <a:p>
            <a:fld id="{18BDFEC3-8487-43E8-A154-7C12CBC1FFF2}" type="slidenum">
              <a:rPr lang="en-US"/>
              <a:t>9</a:t>
            </a:fld>
            <a:endParaRPr lang="en-US"/>
          </a:p>
        </p:txBody>
      </p:sp>
    </p:spTree>
  </p:cSld>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In section 2 we turn our attention to building up our registration toolkit, by practicing improving a component of a study preregistration.</a:t>
            </a:r>
          </a:p>
        </p:txBody>
      </p:sp>
      <p:sp>
        <p:nvSpPr>
          <p:cNvPr id="4" name="Slide Number Placeholder 3"/>
          <p:cNvSpPr>
            <a:spLocks noGrp="1"/>
          </p:cNvSpPr>
          <p:nvPr>
            <p:ph type="sldNum" sz="quarter" idx="10"/>
          </p:nvPr>
        </p:nvSpPr>
        <p:spPr/>
        <p:txBody>
          <a:bodyPr/>
          <a:lstStyle/>
          <a:p>
            <a:fld id="{18BDFEC3-8487-43E8-A154-7C12CBC1FFF2}" type="slidenum">
              <a:rPr lang="en-US"/>
              <a:t>10</a:t>
            </a:fld>
            <a:endParaRPr lang="en-US"/>
          </a:p>
        </p:txBody>
      </p:sp>
    </p:spTree>
  </p:cSld>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In section 1, we will go over the key benefits and barriers of preregistration. We will first consider how benefits and opportunities of preregistration exist from individual researchers all the way to the wider research ecosystem.</a:t>
            </a:r>
          </a:p>
        </p:txBody>
      </p:sp>
      <p:sp>
        <p:nvSpPr>
          <p:cNvPr id="4" name="Slide Number Placeholder 3"/>
          <p:cNvSpPr>
            <a:spLocks noGrp="1"/>
          </p:cNvSpPr>
          <p:nvPr>
            <p:ph type="sldNum" sz="quarter" idx="10"/>
          </p:nvPr>
        </p:nvSpPr>
        <p:spPr/>
        <p:txBody>
          <a:bodyPr/>
          <a:lstStyle/>
          <a:p>
            <a:fld id="{18BDFEC3-8487-43E8-A154-7C12CBC1FFF2}" type="slidenum">
              <a:rPr lang="en-US"/>
              <a:t>11</a:t>
            </a:fld>
            <a:endParaRPr lang="en-US"/>
          </a:p>
        </p:txBody>
      </p:sp>
    </p:spTree>
  </p:cSld>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A key area that preregistration benefits researchers is by improving the planning and project management as time is spent outlining data collection methods and analysis plans which reduces ambiguity and errors during data analysis stage. The process of filling out preregistration document helps identify key information needed at study design stage, which is particularly helpful for early career researchers.</a:t>
            </a:r>
          </a:p>
          <a:p>
            <a:pPr lvl="0" indent="0" marL="0">
              <a:buNone/>
            </a:pPr>
          </a:p>
          <a:p>
            <a:pPr lvl="0" indent="0" marL="0">
              <a:buNone/>
            </a:pPr>
            <a:r>
              <a:rPr/>
              <a:t>Preregistrations also allow you to build your reputation by - Transparently showing to the wider research community your plans and tests and - signalling that you have taken steps to mitigate against hindsight and confirmation bias.</a:t>
            </a:r>
          </a:p>
        </p:txBody>
      </p:sp>
      <p:sp>
        <p:nvSpPr>
          <p:cNvPr id="4" name="Slide Number Placeholder 3"/>
          <p:cNvSpPr>
            <a:spLocks noGrp="1"/>
          </p:cNvSpPr>
          <p:nvPr>
            <p:ph type="sldNum" sz="quarter" idx="10"/>
          </p:nvPr>
        </p:nvSpPr>
        <p:spPr/>
        <p:txBody>
          <a:bodyPr/>
          <a:lstStyle/>
          <a:p>
            <a:fld id="{18BDFEC3-8487-43E8-A154-7C12CBC1FFF2}" type="slidenum">
              <a:rPr lang="en-US"/>
              <a:t>12</a:t>
            </a:fld>
            <a:endParaRPr lang="en-US"/>
          </a:p>
        </p:txBody>
      </p:sp>
    </p:spTree>
  </p:cSld>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Preregistration makes it easier to write up and publish findings by front loading the thinking and planning. This makes writing up results and discussion a smoother process!</a:t>
            </a:r>
          </a:p>
          <a:p>
            <a:pPr lvl="0" indent="0" marL="0">
              <a:buNone/>
            </a:pPr>
          </a:p>
          <a:p>
            <a:pPr lvl="0" indent="0" marL="0">
              <a:buNone/>
            </a:pPr>
            <a:r>
              <a:rPr/>
              <a:t>If you preregister your analytic </a:t>
            </a:r>
            <a:r>
              <a:rPr b="1"/>
              <a:t>code</a:t>
            </a:r>
            <a:r>
              <a:rPr/>
              <a:t> on </a:t>
            </a:r>
            <a:r>
              <a:rPr b="1"/>
              <a:t>simulated data</a:t>
            </a:r>
            <a:r>
              <a:rPr/>
              <a:t> the results of your confirmatory analyses will be </a:t>
            </a:r>
            <a:r>
              <a:rPr b="1"/>
              <a:t>generated quicker</a:t>
            </a:r>
            <a:r>
              <a:rPr/>
              <a:t> once you have collected and cleaned data</a:t>
            </a:r>
          </a:p>
          <a:p>
            <a:pPr lvl="0" indent="0" marL="0">
              <a:buNone/>
            </a:pPr>
          </a:p>
          <a:p>
            <a:pPr lvl="0" indent="0" marL="0">
              <a:buNone/>
            </a:pPr>
            <a:r>
              <a:rPr/>
              <a:t>And, if preregistration is approved as a registered report during stage 1 journal peer review, you have “in-principle acceptance”</a:t>
            </a:r>
          </a:p>
          <a:p>
            <a:pPr lvl="0" indent="0" marL="0">
              <a:buNone/>
            </a:pPr>
          </a:p>
          <a:p>
            <a:pPr lvl="0" indent="0" marL="0">
              <a:buNone/>
            </a:pPr>
            <a:r>
              <a:rPr/>
              <a:t>Closely linked, is the benefit of more visibility of your work beyond journal articles (as evaluation of outputs can be influenced by journal prestige).</a:t>
            </a:r>
          </a:p>
        </p:txBody>
      </p:sp>
      <p:sp>
        <p:nvSpPr>
          <p:cNvPr id="4" name="Slide Number Placeholder 3"/>
          <p:cNvSpPr>
            <a:spLocks noGrp="1"/>
          </p:cNvSpPr>
          <p:nvPr>
            <p:ph type="sldNum" sz="quarter" idx="10"/>
          </p:nvPr>
        </p:nvSpPr>
        <p:spPr/>
        <p:txBody>
          <a:bodyPr/>
          <a:lstStyle/>
          <a:p>
            <a:fld id="{18BDFEC3-8487-43E8-A154-7C12CBC1FFF2}" type="slidenum">
              <a:rPr lang="en-US"/>
              <a:t>13</a:t>
            </a:fld>
            <a:endParaRPr lang="en-US"/>
          </a:p>
        </p:txBody>
      </p:sp>
    </p:spTree>
  </p:cSld>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Clearer involvement of collaborators/project partners is another important benefit of preregistration at the level of teams.</a:t>
            </a:r>
          </a:p>
          <a:p>
            <a:pPr lvl="0" indent="0" marL="0">
              <a:buNone/>
            </a:pPr>
          </a:p>
          <a:p>
            <a:pPr lvl="0" indent="0" marL="0">
              <a:buNone/>
            </a:pPr>
            <a:r>
              <a:rPr/>
              <a:t>Preregistration provides opportunities for project partners to discuss and refine plans before data collection - a chance to catch any potential errors early!</a:t>
            </a:r>
          </a:p>
          <a:p>
            <a:pPr lvl="0" indent="0" marL="0">
              <a:buNone/>
            </a:pPr>
          </a:p>
          <a:p>
            <a:pPr lvl="0" indent="0" marL="0">
              <a:buNone/>
            </a:pPr>
            <a:r>
              <a:rPr/>
              <a:t>Detailed research plans provide clarity for project partners, which is increasingly important in the era of large-scale collaborations (also known as Big Team Science).</a:t>
            </a:r>
          </a:p>
        </p:txBody>
      </p:sp>
      <p:sp>
        <p:nvSpPr>
          <p:cNvPr id="4" name="Slide Number Placeholder 3"/>
          <p:cNvSpPr>
            <a:spLocks noGrp="1"/>
          </p:cNvSpPr>
          <p:nvPr>
            <p:ph type="sldNum" sz="quarter" idx="10"/>
          </p:nvPr>
        </p:nvSpPr>
        <p:spPr/>
        <p:txBody>
          <a:bodyPr/>
          <a:lstStyle/>
          <a:p>
            <a:fld id="{18BDFEC3-8487-43E8-A154-7C12CBC1FFF2}" type="slidenum">
              <a:rPr lang="en-US"/>
              <a:t>14</a:t>
            </a:fld>
            <a:endParaRPr lang="en-US"/>
          </a:p>
        </p:txBody>
      </p:sp>
    </p:spTree>
  </p:cSld>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Thinking at the scale of academic disciplines and wider academia, preregistration helps in two main ways:</a:t>
            </a:r>
          </a:p>
          <a:p>
            <a:pPr lvl="0" indent="0" marL="0">
              <a:buNone/>
            </a:pPr>
          </a:p>
          <a:p>
            <a:pPr lvl="0" indent="0" marL="0">
              <a:buNone/>
            </a:pPr>
            <a:r>
              <a:rPr/>
              <a:t>firstly by increasing research credibility by - Mitigating against questionable research practices and - Offering more complete reporting and transparency of research project. - by mitigating against the publication bias or file drawer effect as the project plans are available and accessible on a repository or published as a registered report even if there are no statistically significant results. This is especially valuable when it comes to meta-analyses.</a:t>
            </a:r>
          </a:p>
          <a:p>
            <a:pPr lvl="0" indent="0" marL="0">
              <a:buNone/>
            </a:pPr>
          </a:p>
          <a:p>
            <a:pPr lvl="0" indent="0" marL="0">
              <a:buNone/>
            </a:pPr>
            <a:r>
              <a:rPr/>
              <a:t>Secondly, it allows other people to check thinking by - Allowing other people to read your findings and follow your thought process enabling them to - gain a deeper understanding of a project.</a:t>
            </a:r>
          </a:p>
          <a:p>
            <a:pPr lvl="0" indent="0" marL="0">
              <a:buNone/>
            </a:pPr>
          </a:p>
          <a:p>
            <a:pPr lvl="0" indent="0" marL="0">
              <a:buNone/>
            </a:pPr>
            <a:r>
              <a:rPr b="1"/>
              <a:t>Instructor Notes</a:t>
            </a:r>
            <a:r>
              <a:rPr/>
              <a:t>: Note about research credibility in slide at the end of section 1 about PARKing (“Preregistrating after the results are known”).</a:t>
            </a:r>
          </a:p>
        </p:txBody>
      </p:sp>
      <p:sp>
        <p:nvSpPr>
          <p:cNvPr id="4" name="Slide Number Placeholder 3"/>
          <p:cNvSpPr>
            <a:spLocks noGrp="1"/>
          </p:cNvSpPr>
          <p:nvPr>
            <p:ph type="sldNum" sz="quarter" idx="10"/>
          </p:nvPr>
        </p:nvSpPr>
        <p:spPr/>
        <p:txBody>
          <a:bodyPr/>
          <a:lstStyle/>
          <a:p>
            <a:fld id="{18BDFEC3-8487-43E8-A154-7C12CBC1FFF2}" type="slidenum">
              <a:rPr lang="en-US"/>
              <a:t>15</a:t>
            </a:fld>
            <a:endParaRPr lang="en-US"/>
          </a:p>
        </p:txBody>
      </p:sp>
    </p:spTree>
  </p:cSld>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Before we move on the considering some of the barriers of preregistration, The take home message is that by taking the time to carefully plan your study design, data collection and approach to analysis research becomes more rigorous, transparent and credible.</a:t>
            </a:r>
          </a:p>
          <a:p>
            <a:pPr lvl="0" indent="0" marL="0">
              <a:buNone/>
            </a:pPr>
          </a:p>
          <a:p>
            <a:pPr lvl="0" indent="0" marL="0">
              <a:buNone/>
            </a:pPr>
            <a:r>
              <a:rPr/>
              <a:t>You can explore this topic more, you can read additional benefits of preregistration from multiple perspectives in the field of ecology and evolution by Gya and colleagues.</a:t>
            </a:r>
          </a:p>
          <a:p>
            <a:pPr lvl="0" indent="0" marL="0">
              <a:buNone/>
            </a:pPr>
          </a:p>
          <a:p>
            <a:pPr lvl="0" indent="0" marL="0">
              <a:buNone/>
            </a:pPr>
            <a:r>
              <a:rPr b="1"/>
              <a:t>Instructor Notes</a:t>
            </a:r>
            <a:r>
              <a:rPr/>
              <a:t>: Reflection point can be a time for learners to quietly consolidate the points (1-2 minutes) covered on benefits of preregistration and consider their own contexts. This reflection exercise can be expanded so learners can share their reflections in class.</a:t>
            </a:r>
          </a:p>
        </p:txBody>
      </p:sp>
      <p:sp>
        <p:nvSpPr>
          <p:cNvPr id="4" name="Slide Number Placeholder 3"/>
          <p:cNvSpPr>
            <a:spLocks noGrp="1"/>
          </p:cNvSpPr>
          <p:nvPr>
            <p:ph type="sldNum" sz="quarter" idx="10"/>
          </p:nvPr>
        </p:nvSpPr>
        <p:spPr/>
        <p:txBody>
          <a:bodyPr/>
          <a:lstStyle/>
          <a:p>
            <a:fld id="{18BDFEC3-8487-43E8-A154-7C12CBC1FFF2}" type="slidenum">
              <a:rPr lang="en-US"/>
              <a:t>16</a:t>
            </a:fld>
            <a:endParaRPr lang="en-US"/>
          </a:p>
        </p:txBody>
      </p:sp>
    </p:spTree>
  </p:cSld>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In the final part of section 1 we will outline some common challenges researchers new to the practice of preregistration can encounter.</a:t>
            </a:r>
          </a:p>
          <a:p>
            <a:pPr lvl="0" indent="0" marL="0">
              <a:buNone/>
            </a:pPr>
          </a:p>
          <a:p>
            <a:pPr lvl="0" indent="0" marL="0">
              <a:buNone/>
            </a:pPr>
            <a:r>
              <a:rPr/>
              <a:t>Some context to keep in mind:</a:t>
            </a:r>
          </a:p>
          <a:p>
            <a:pPr lvl="0" indent="0" marL="0">
              <a:buNone/>
            </a:pPr>
          </a:p>
          <a:p>
            <a:pPr lvl="0"/>
            <a:r>
              <a:rPr/>
              <a:t>There are significant challenges present in the current research and assessment culture (e.g. “publish or perish”) which influences the uptake of preregistration.</a:t>
            </a:r>
          </a:p>
          <a:p>
            <a:pPr lvl="0" indent="0" marL="0">
              <a:buNone/>
            </a:pPr>
          </a:p>
          <a:p>
            <a:pPr lvl="0"/>
            <a:r>
              <a:rPr/>
              <a:t>Researchers have different knowledge and experience levels with Open Science practices that reflect in attitudes and adoption of preregistration.</a:t>
            </a:r>
          </a:p>
        </p:txBody>
      </p:sp>
      <p:sp>
        <p:nvSpPr>
          <p:cNvPr id="4" name="Slide Number Placeholder 3"/>
          <p:cNvSpPr>
            <a:spLocks noGrp="1"/>
          </p:cNvSpPr>
          <p:nvPr>
            <p:ph type="sldNum" sz="quarter" idx="10"/>
          </p:nvPr>
        </p:nvSpPr>
        <p:spPr/>
        <p:txBody>
          <a:bodyPr/>
          <a:lstStyle/>
          <a:p>
            <a:fld id="{18BDFEC3-8487-43E8-A154-7C12CBC1FFF2}" type="slidenum">
              <a:rPr lang="en-US"/>
              <a:t>17</a:t>
            </a:fld>
            <a:endParaRPr lang="en-US"/>
          </a:p>
        </p:txBody>
      </p:sp>
    </p:spTree>
  </p:cSld>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A common argument against the uptake of study preregistration is</a:t>
            </a:r>
          </a:p>
          <a:p>
            <a:pPr lvl="0" indent="0" marL="0">
              <a:buNone/>
            </a:pPr>
          </a:p>
          <a:p>
            <a:pPr lvl="0" indent="0" marL="0">
              <a:buNone/>
            </a:pPr>
            <a:r>
              <a:rPr/>
              <a:t>“I haven’t got time to do a study registration” to which a counterargument would be: front-loaded effort during the planning stage can help later on during write up and during peer review.</a:t>
            </a:r>
          </a:p>
          <a:p>
            <a:pPr lvl="0" indent="0" marL="0">
              <a:buNone/>
            </a:pPr>
          </a:p>
          <a:p>
            <a:pPr lvl="0" indent="0" marL="0">
              <a:buNone/>
            </a:pPr>
            <a:r>
              <a:rPr/>
              <a:t>To make you aware there is an initiative called “Peer Community in Registered Reports”, where the research community reviews and recommends registered reports. There is the option to speed up the Stage 1 peer review of a registered report with the ‘scheduled review’ track Authors initially submit a one-page “snapshot” instead of a full stage 1 report.</a:t>
            </a:r>
          </a:p>
          <a:p>
            <a:pPr lvl="0" indent="0" marL="0">
              <a:buNone/>
            </a:pPr>
          </a:p>
          <a:p>
            <a:pPr lvl="0" indent="0" marL="0">
              <a:buNone/>
            </a:pPr>
            <a:r>
              <a:rPr b="1"/>
              <a:t>Instructor Notes</a:t>
            </a:r>
            <a:r>
              <a:rPr/>
              <a:t>: It is important for instructors to acknowledge the wider ‘publish or perish’ research culture. There is a some truth to the statement, as study planning should take time. It can be helpful to reframe preregistrations as an upfront time investment that will pay off later (link also to benefits of preregistration e.g. easier to write up findings).</a:t>
            </a:r>
          </a:p>
        </p:txBody>
      </p:sp>
      <p:sp>
        <p:nvSpPr>
          <p:cNvPr id="4" name="Slide Number Placeholder 3"/>
          <p:cNvSpPr>
            <a:spLocks noGrp="1"/>
          </p:cNvSpPr>
          <p:nvPr>
            <p:ph type="sldNum" sz="quarter" idx="10"/>
          </p:nvPr>
        </p:nvSpPr>
        <p:spPr/>
        <p:txBody>
          <a:bodyPr/>
          <a:lstStyle/>
          <a:p>
            <a:fld id="{18BDFEC3-8487-43E8-A154-7C12CBC1FFF2}" type="slidenum">
              <a:rPr lang="en-US"/>
              <a:t>18</a:t>
            </a:fld>
            <a:endParaRPr lang="en-US"/>
          </a:p>
        </p:txBody>
      </p:sp>
    </p:spTree>
  </p:cSld>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Another common barrier is lack of confidence in choosing the right statistical test. The strategy would be to run simulations and power analysis. Simulate random data with the distribution and sample size of expected real data and run the statistical test planned for the study. - Repeat the statistical test (e.g. 100 x) and check results are within the false-positive finding rate of 5% - Run a power analysis by simulating data with the expected effect size for the study and check model registers effect at least 80% of the time</a:t>
            </a:r>
          </a:p>
          <a:p>
            <a:pPr lvl="0" indent="0" marL="0">
              <a:buNone/>
            </a:pPr>
          </a:p>
          <a:p>
            <a:pPr lvl="0" indent="0" marL="0">
              <a:buNone/>
            </a:pPr>
            <a:r>
              <a:rPr/>
              <a:t>There are introductory guides on this topic which you can look at in your own time.</a:t>
            </a:r>
          </a:p>
        </p:txBody>
      </p:sp>
      <p:sp>
        <p:nvSpPr>
          <p:cNvPr id="4" name="Slide Number Placeholder 3"/>
          <p:cNvSpPr>
            <a:spLocks noGrp="1"/>
          </p:cNvSpPr>
          <p:nvPr>
            <p:ph type="sldNum" sz="quarter" idx="10"/>
          </p:nvPr>
        </p:nvSpPr>
        <p:spPr/>
        <p:txBody>
          <a:bodyPr/>
          <a:lstStyle/>
          <a:p>
            <a:fld id="{18BDFEC3-8487-43E8-A154-7C12CBC1FFF2}" type="slidenum">
              <a:rPr lang="en-US"/>
              <a:t>19</a:t>
            </a:fld>
            <a:endParaRPr lang="en-US"/>
          </a:p>
        </p:txBody>
      </p:sp>
    </p:spTree>
  </p:cSld>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“Preregistration keeps you in a box” is another common perceived barrier. There is different degrees of flexibility in preregistations as you can document any deviations from your plan when you write up the research findings. It is important to describe changes to the design, sampling or analysis plans clearly.</a:t>
            </a:r>
          </a:p>
          <a:p>
            <a:pPr lvl="0" indent="0" marL="0">
              <a:buNone/>
            </a:pPr>
          </a:p>
          <a:p>
            <a:pPr lvl="0" indent="0" marL="0">
              <a:buNone/>
            </a:pPr>
            <a:r>
              <a:rPr/>
              <a:t>Preregistration can be tailored to the study type. They can be incremental (e.g. transparently documenting exploratory-confirmatory pathway) or sequential (e.g. multi-stage contingent experiments).</a:t>
            </a:r>
          </a:p>
        </p:txBody>
      </p:sp>
      <p:sp>
        <p:nvSpPr>
          <p:cNvPr id="4" name="Slide Number Placeholder 3"/>
          <p:cNvSpPr>
            <a:spLocks noGrp="1"/>
          </p:cNvSpPr>
          <p:nvPr>
            <p:ph type="sldNum" sz="quarter" idx="10"/>
          </p:nvPr>
        </p:nvSpPr>
        <p:spPr/>
        <p:txBody>
          <a:bodyPr/>
          <a:lstStyle/>
          <a:p>
            <a:fld id="{18BDFEC3-8487-43E8-A154-7C12CBC1FFF2}" type="slidenum">
              <a:rPr lang="en-US"/>
              <a:t>20</a:t>
            </a:fld>
            <a:endParaRPr lang="en-US"/>
          </a:p>
        </p:txBody>
      </p:sp>
    </p:spTree>
  </p:cSld>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A commonly cited barrier to preregistration is tied to intellectual property with the fear of being scooped. The pressure to publish contributes to the fear of having research ideas “stolen” before they are published, as preregistrations are publically available.</a:t>
            </a:r>
          </a:p>
          <a:p>
            <a:pPr lvl="0" indent="0" marL="0">
              <a:buNone/>
            </a:pPr>
          </a:p>
          <a:p>
            <a:pPr lvl="0" indent="0" marL="0">
              <a:buNone/>
            </a:pPr>
            <a:r>
              <a:rPr/>
              <a:t>To counteract this barrier, preregistered studies can be uploaded onto preregistration platforms and made private for a period of time. The Open Science Framework allows an embargo period of 4 years from first submission before the preregistration is made public.</a:t>
            </a:r>
          </a:p>
          <a:p>
            <a:pPr lvl="0" indent="0" marL="0">
              <a:buNone/>
            </a:pPr>
          </a:p>
          <a:p>
            <a:pPr lvl="0" indent="0" marL="0">
              <a:buNone/>
            </a:pPr>
            <a:r>
              <a:rPr/>
              <a:t>The embargo period allows researchers time after preregistering their study to conduct the research, analyse, write up and publish their findings.</a:t>
            </a:r>
          </a:p>
        </p:txBody>
      </p:sp>
      <p:sp>
        <p:nvSpPr>
          <p:cNvPr id="4" name="Slide Number Placeholder 3"/>
          <p:cNvSpPr>
            <a:spLocks noGrp="1"/>
          </p:cNvSpPr>
          <p:nvPr>
            <p:ph type="sldNum" sz="quarter" idx="10"/>
          </p:nvPr>
        </p:nvSpPr>
        <p:spPr/>
        <p:txBody>
          <a:bodyPr/>
          <a:lstStyle/>
          <a:p>
            <a:fld id="{18BDFEC3-8487-43E8-A154-7C12CBC1FFF2}" type="slidenum">
              <a:rPr lang="en-US"/>
              <a:t>21</a:t>
            </a:fld>
            <a:endParaRPr lang="en-US"/>
          </a:p>
        </p:txBody>
      </p:sp>
    </p:spTree>
  </p:cSld>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The counterargument to “I don’t see the point” that aside from individual researcher benefits (increased reflection, better planning, reduced likelihood of systematic errors), journals are increasingly prioritizing study registrations.</a:t>
            </a:r>
          </a:p>
          <a:p>
            <a:pPr lvl="0" indent="0" marL="0">
              <a:buNone/>
            </a:pPr>
          </a:p>
          <a:p>
            <a:pPr lvl="0" indent="0" marL="0">
              <a:buNone/>
            </a:pPr>
            <a:r>
              <a:rPr/>
              <a:t>A nice little exercise to do next time you read a journal article is to see if they accept preregistered studies and if there are guidelines for publishing registered reports. This information is usually in the author resources/guidelines section.</a:t>
            </a:r>
          </a:p>
          <a:p>
            <a:pPr lvl="0" indent="0" marL="0">
              <a:buNone/>
            </a:pPr>
          </a:p>
          <a:p>
            <a:pPr lvl="0" indent="0" marL="0">
              <a:buNone/>
            </a:pPr>
            <a:r>
              <a:rPr b="1"/>
              <a:t>Instructor Notes</a:t>
            </a:r>
            <a:r>
              <a:rPr/>
              <a:t>: This additional exercise is optional and can be set as a homework. It is designed for learners to see that prevalence and acceptance of preregistration is growing. Psychology journals are likely have higher prevalance see: Simonsohn (2023) https://datacolada.org/115.</a:t>
            </a:r>
          </a:p>
        </p:txBody>
      </p:sp>
      <p:sp>
        <p:nvSpPr>
          <p:cNvPr id="4" name="Slide Number Placeholder 3"/>
          <p:cNvSpPr>
            <a:spLocks noGrp="1"/>
          </p:cNvSpPr>
          <p:nvPr>
            <p:ph type="sldNum" sz="quarter" idx="10"/>
          </p:nvPr>
        </p:nvSpPr>
        <p:spPr/>
        <p:txBody>
          <a:bodyPr/>
          <a:lstStyle/>
          <a:p>
            <a:fld id="{18BDFEC3-8487-43E8-A154-7C12CBC1FFF2}" type="slidenum">
              <a:rPr lang="en-US"/>
              <a:t>22</a:t>
            </a:fld>
            <a:endParaRPr lang="en-US"/>
          </a:p>
        </p:txBody>
      </p:sp>
    </p:spTree>
  </p:cSld>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When something is new it can be hard to wrap your head around the concept or practice and it can feel overwhelming. With preregistration, there are lots of templates that guide you through the process and support pages.</a:t>
            </a:r>
          </a:p>
          <a:p>
            <a:pPr lvl="0" indent="0" marL="0">
              <a:buNone/>
            </a:pPr>
          </a:p>
          <a:p>
            <a:pPr lvl="0" indent="0" marL="0">
              <a:buNone/>
            </a:pPr>
            <a:r>
              <a:rPr/>
              <a:t>We will revisit how to address this challenge in section 2!</a:t>
            </a:r>
          </a:p>
        </p:txBody>
      </p:sp>
      <p:sp>
        <p:nvSpPr>
          <p:cNvPr id="4" name="Slide Number Placeholder 3"/>
          <p:cNvSpPr>
            <a:spLocks noGrp="1"/>
          </p:cNvSpPr>
          <p:nvPr>
            <p:ph type="sldNum" sz="quarter" idx="10"/>
          </p:nvPr>
        </p:nvSpPr>
        <p:spPr/>
        <p:txBody>
          <a:bodyPr/>
          <a:lstStyle/>
          <a:p>
            <a:fld id="{18BDFEC3-8487-43E8-A154-7C12CBC1FFF2}" type="slidenum">
              <a:rPr lang="en-US"/>
              <a:t>23</a:t>
            </a:fld>
            <a:endParaRPr lang="en-US"/>
          </a:p>
        </p:txBody>
      </p:sp>
    </p:spTree>
  </p:cSld>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A challenge which can be a bit more complex to resolve, is when there is a lack of support from supervisors or group members. This can come from a place of lack of familiarity. It is important to understand where this resistance is coming from. Opening up a discussion with the wider group can be beneficial place to start.</a:t>
            </a:r>
          </a:p>
          <a:p>
            <a:pPr lvl="0" indent="0" marL="0">
              <a:buNone/>
            </a:pPr>
          </a:p>
          <a:p>
            <a:pPr lvl="0" indent="0" marL="0">
              <a:buNone/>
            </a:pPr>
            <a:r>
              <a:rPr b="1"/>
              <a:t>Instructor Notes</a:t>
            </a:r>
            <a:r>
              <a:rPr/>
              <a:t>: You can expand on student-supervisor reframing of preregistration: planning is where the science really happens, a lot of other tasks can be delegated (data collection, statistical analyses, writing up), but not the thinking /creative and smart planning. Students can make a plan and then have their supervisors check the robustness of their plans.</a:t>
            </a:r>
          </a:p>
          <a:p>
            <a:pPr lvl="0" indent="0" marL="0">
              <a:buNone/>
            </a:pPr>
          </a:p>
          <a:p>
            <a:pPr lvl="0" indent="0" marL="0">
              <a:buNone/>
            </a:pPr>
            <a:r>
              <a:rPr/>
              <a:t>Additional resource with case study can be set as an in class exercise or homework (time allocation 15-60 minutes, depending on how in-depth you wish to go).</a:t>
            </a:r>
          </a:p>
        </p:txBody>
      </p:sp>
      <p:sp>
        <p:nvSpPr>
          <p:cNvPr id="4" name="Slide Number Placeholder 3"/>
          <p:cNvSpPr>
            <a:spLocks noGrp="1"/>
          </p:cNvSpPr>
          <p:nvPr>
            <p:ph type="sldNum" sz="quarter" idx="10"/>
          </p:nvPr>
        </p:nvSpPr>
        <p:spPr/>
        <p:txBody>
          <a:bodyPr/>
          <a:lstStyle/>
          <a:p>
            <a:fld id="{18BDFEC3-8487-43E8-A154-7C12CBC1FFF2}" type="slidenum">
              <a:rPr lang="en-US"/>
              <a:t>24</a:t>
            </a:fld>
            <a:endParaRPr lang="en-US"/>
          </a:p>
        </p:txBody>
      </p:sp>
    </p:spTree>
  </p:cSld>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It is important to clarify what preregistrations don’t do.</a:t>
            </a:r>
          </a:p>
          <a:p>
            <a:pPr lvl="0" indent="0" marL="0">
              <a:buNone/>
            </a:pPr>
          </a:p>
          <a:p>
            <a:pPr lvl="0" indent="0" marL="0">
              <a:buNone/>
            </a:pPr>
            <a:r>
              <a:rPr/>
              <a:t>They do not prevent fraud or research misconduct (e.g. PARKing).</a:t>
            </a:r>
          </a:p>
          <a:p>
            <a:pPr lvl="0" indent="0" marL="0">
              <a:buNone/>
            </a:pPr>
          </a:p>
          <a:p>
            <a:pPr lvl="0" indent="0" marL="0">
              <a:buNone/>
            </a:pPr>
            <a:r>
              <a:rPr/>
              <a:t>PARKing or “Preregistrating after the results are known” is considered research misconduct where researchers complete an experiment before preregistering which invalidates the purpose of preregistration.</a:t>
            </a:r>
          </a:p>
          <a:p>
            <a:pPr lvl="0" indent="0" marL="0">
              <a:buNone/>
            </a:pPr>
          </a:p>
          <a:p>
            <a:pPr lvl="0" indent="0" marL="0">
              <a:buNone/>
            </a:pPr>
            <a:r>
              <a:rPr b="1"/>
              <a:t>Instructor Notes</a:t>
            </a:r>
            <a:r>
              <a:rPr/>
              <a:t>: It is important to communicate with learners that preregistration is not the “silver bullet” that can resolve.</a:t>
            </a:r>
          </a:p>
        </p:txBody>
      </p:sp>
      <p:sp>
        <p:nvSpPr>
          <p:cNvPr id="4" name="Slide Number Placeholder 3"/>
          <p:cNvSpPr>
            <a:spLocks noGrp="1"/>
          </p:cNvSpPr>
          <p:nvPr>
            <p:ph type="sldNum" sz="quarter" idx="10"/>
          </p:nvPr>
        </p:nvSpPr>
        <p:spPr/>
        <p:txBody>
          <a:bodyPr/>
          <a:lstStyle/>
          <a:p>
            <a:fld id="{18BDFEC3-8487-43E8-A154-7C12CBC1FFF2}" type="slidenum">
              <a:rPr lang="en-US"/>
              <a:t>25</a:t>
            </a:fld>
            <a:endParaRPr lang="en-US"/>
          </a:p>
        </p:txBody>
      </p:sp>
    </p:spTree>
  </p:cSld>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Let us recap the challenges we have discussed. - The lack of time and incentives, feelings of overwhelm and lack of support are common barriers that often overlap when in it comes to preregistration.</a:t>
            </a:r>
          </a:p>
          <a:p>
            <a:pPr lvl="0" indent="0" marL="0">
              <a:buNone/>
            </a:pPr>
          </a:p>
          <a:p>
            <a:pPr lvl="0"/>
            <a:r>
              <a:rPr/>
              <a:t>There is lots of support available and you are not alone!</a:t>
            </a:r>
          </a:p>
        </p:txBody>
      </p:sp>
      <p:sp>
        <p:nvSpPr>
          <p:cNvPr id="4" name="Slide Number Placeholder 3"/>
          <p:cNvSpPr>
            <a:spLocks noGrp="1"/>
          </p:cNvSpPr>
          <p:nvPr>
            <p:ph type="sldNum" sz="quarter" idx="10"/>
          </p:nvPr>
        </p:nvSpPr>
        <p:spPr/>
        <p:txBody>
          <a:bodyPr/>
          <a:lstStyle/>
          <a:p>
            <a:fld id="{18BDFEC3-8487-43E8-A154-7C12CBC1FFF2}" type="slidenum">
              <a:rPr lang="en-US"/>
              <a:t>26</a:t>
            </a:fld>
            <a:endParaRPr lang="en-US"/>
          </a:p>
        </p:txBody>
      </p:sp>
    </p:spTree>
  </p:cSld>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To round off section 1 we have a short quiz of 3 questions where the answers will appear after each question.</a:t>
            </a:r>
          </a:p>
        </p:txBody>
      </p:sp>
      <p:sp>
        <p:nvSpPr>
          <p:cNvPr id="4" name="Slide Number Placeholder 3"/>
          <p:cNvSpPr>
            <a:spLocks noGrp="1"/>
          </p:cNvSpPr>
          <p:nvPr>
            <p:ph type="sldNum" sz="quarter" idx="10"/>
          </p:nvPr>
        </p:nvSpPr>
        <p:spPr/>
        <p:txBody>
          <a:bodyPr/>
          <a:lstStyle/>
          <a:p>
            <a:fld id="{18BDFEC3-8487-43E8-A154-7C12CBC1FFF2}" type="slidenum">
              <a:rPr lang="en-US"/>
              <a:t>27</a:t>
            </a:fld>
            <a:endParaRPr lang="en-US"/>
          </a:p>
        </p:txBody>
      </p:sp>
    </p:spTree>
  </p:cSld>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Out of the following four options, which ones are benefits of doing a registered report?</a:t>
            </a:r>
          </a:p>
          <a:p>
            <a:pPr lvl="0" indent="0" marL="0">
              <a:buNone/>
            </a:pPr>
          </a:p>
          <a:p>
            <a:pPr lvl="0"/>
            <a:r>
              <a:rPr/>
              <a:t>In-principle acceptance (IPA) of manuscripts</a:t>
            </a:r>
          </a:p>
          <a:p>
            <a:pPr lvl="0" indent="0" marL="0">
              <a:buNone/>
            </a:pPr>
          </a:p>
          <a:p>
            <a:pPr lvl="0"/>
            <a:r>
              <a:rPr/>
              <a:t>Prevents fraud</a:t>
            </a:r>
          </a:p>
          <a:p>
            <a:pPr lvl="0" indent="0" marL="0">
              <a:buNone/>
            </a:pPr>
          </a:p>
          <a:p>
            <a:pPr lvl="0"/>
            <a:r>
              <a:rPr/>
              <a:t>Mitigates publication bias</a:t>
            </a:r>
          </a:p>
          <a:p>
            <a:pPr lvl="0" indent="0" marL="0">
              <a:buNone/>
            </a:pPr>
          </a:p>
          <a:p>
            <a:pPr lvl="0"/>
            <a:r>
              <a:rPr/>
              <a:t>Opportunity for community feedback on project plans</a:t>
            </a:r>
          </a:p>
        </p:txBody>
      </p:sp>
      <p:sp>
        <p:nvSpPr>
          <p:cNvPr id="4" name="Slide Number Placeholder 3"/>
          <p:cNvSpPr>
            <a:spLocks noGrp="1"/>
          </p:cNvSpPr>
          <p:nvPr>
            <p:ph type="sldNum" sz="quarter" idx="10"/>
          </p:nvPr>
        </p:nvSpPr>
        <p:spPr/>
        <p:txBody>
          <a:bodyPr/>
          <a:lstStyle/>
          <a:p>
            <a:fld id="{18BDFEC3-8487-43E8-A154-7C12CBC1FFF2}" type="slidenum">
              <a:rPr lang="en-US"/>
              <a:t>28</a:t>
            </a:fld>
            <a:endParaRPr lang="en-US"/>
          </a:p>
        </p:txBody>
      </p:sp>
    </p:spTree>
  </p:cSld>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The answers are: - In-principle acceptance (IPA) of manuscripts - Mitigates publication bias - Opportunity for community feedback on project plans</a:t>
            </a:r>
          </a:p>
          <a:p>
            <a:pPr lvl="0" indent="0" marL="0">
              <a:buNone/>
            </a:pPr>
          </a:p>
          <a:p>
            <a:pPr lvl="0" indent="0" marL="0">
              <a:buNone/>
            </a:pPr>
            <a:r>
              <a:rPr/>
              <a:t>Although registered reports (and preregistrations) mitigate against questionable research practices, they do not prevent research misconduct or fraud.</a:t>
            </a:r>
          </a:p>
        </p:txBody>
      </p:sp>
      <p:sp>
        <p:nvSpPr>
          <p:cNvPr id="4" name="Slide Number Placeholder 3"/>
          <p:cNvSpPr>
            <a:spLocks noGrp="1"/>
          </p:cNvSpPr>
          <p:nvPr>
            <p:ph type="sldNum" sz="quarter" idx="10"/>
          </p:nvPr>
        </p:nvSpPr>
        <p:spPr/>
        <p:txBody>
          <a:bodyPr/>
          <a:lstStyle/>
          <a:p>
            <a:fld id="{18BDFEC3-8487-43E8-A154-7C12CBC1FFF2}" type="slidenum">
              <a:rPr lang="en-US"/>
              <a:t>29</a:t>
            </a:fld>
            <a:endParaRPr lang="en-US"/>
          </a:p>
        </p:txBody>
      </p:sp>
    </p:spTree>
  </p:cSld>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Out of the following four options, which ones are benefits of doing a registered report?</a:t>
            </a:r>
          </a:p>
          <a:p>
            <a:pPr lvl="0" indent="0" marL="0">
              <a:buNone/>
            </a:pPr>
          </a:p>
          <a:p>
            <a:pPr lvl="0"/>
            <a:r>
              <a:rPr/>
              <a:t>Mitigates publication bias</a:t>
            </a:r>
          </a:p>
          <a:p>
            <a:pPr lvl="0" indent="0" marL="0">
              <a:buNone/>
            </a:pPr>
          </a:p>
          <a:p>
            <a:pPr lvl="0"/>
            <a:r>
              <a:rPr/>
              <a:t>Improves planning and project management</a:t>
            </a:r>
          </a:p>
          <a:p>
            <a:pPr lvl="0" indent="0" marL="0">
              <a:buNone/>
            </a:pPr>
          </a:p>
          <a:p>
            <a:pPr lvl="0"/>
            <a:r>
              <a:rPr/>
              <a:t>Builds up reputation</a:t>
            </a:r>
          </a:p>
          <a:p>
            <a:pPr lvl="0" indent="0" marL="0">
              <a:buNone/>
            </a:pPr>
          </a:p>
          <a:p>
            <a:pPr lvl="0"/>
            <a:r>
              <a:rPr/>
              <a:t>Visible productivity</a:t>
            </a:r>
          </a:p>
        </p:txBody>
      </p:sp>
      <p:sp>
        <p:nvSpPr>
          <p:cNvPr id="4" name="Slide Number Placeholder 3"/>
          <p:cNvSpPr>
            <a:spLocks noGrp="1"/>
          </p:cNvSpPr>
          <p:nvPr>
            <p:ph type="sldNum" sz="quarter" idx="10"/>
          </p:nvPr>
        </p:nvSpPr>
        <p:spPr/>
        <p:txBody>
          <a:bodyPr/>
          <a:lstStyle/>
          <a:p>
            <a:fld id="{18BDFEC3-8487-43E8-A154-7C12CBC1FFF2}" type="slidenum">
              <a:rPr lang="en-US"/>
              <a:t>30</a:t>
            </a:fld>
            <a:endParaRPr lang="en-US"/>
          </a:p>
        </p:txBody>
      </p:sp>
    </p:spTree>
  </p:cSld>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The answer is mitigating against publication, which is an example of a benefit of preregistration at the wider research ecosystem level, particularly when it comes to meta-research.</a:t>
            </a:r>
          </a:p>
        </p:txBody>
      </p:sp>
      <p:sp>
        <p:nvSpPr>
          <p:cNvPr id="4" name="Slide Number Placeholder 3"/>
          <p:cNvSpPr>
            <a:spLocks noGrp="1"/>
          </p:cNvSpPr>
          <p:nvPr>
            <p:ph type="sldNum" sz="quarter" idx="10"/>
          </p:nvPr>
        </p:nvSpPr>
        <p:spPr/>
        <p:txBody>
          <a:bodyPr/>
          <a:lstStyle/>
          <a:p>
            <a:fld id="{18BDFEC3-8487-43E8-A154-7C12CBC1FFF2}" type="slidenum">
              <a:rPr lang="en-US"/>
              <a:t>31</a:t>
            </a:fld>
            <a:endParaRPr lang="en-US"/>
          </a:p>
        </p:txBody>
      </p:sp>
    </p:spTree>
  </p:cSld>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What can I do if I feel overwhelmed or lack time to do a preregistration?**</a:t>
            </a:r>
          </a:p>
          <a:p>
            <a:pPr lvl="0" indent="0" marL="0">
              <a:buNone/>
            </a:pPr>
          </a:p>
          <a:p>
            <a:pPr lvl="0"/>
            <a:r>
              <a:rPr/>
              <a:t>☐ Give up on trying out a preregistration</a:t>
            </a:r>
          </a:p>
          <a:p>
            <a:pPr lvl="0" indent="0" marL="0">
              <a:buNone/>
            </a:pPr>
          </a:p>
          <a:p>
            <a:pPr lvl="0"/>
            <a:r>
              <a:rPr/>
              <a:t>☐ Find a preregistration template</a:t>
            </a:r>
          </a:p>
          <a:p>
            <a:pPr lvl="0" indent="0" marL="0">
              <a:buNone/>
            </a:pPr>
          </a:p>
          <a:p>
            <a:pPr lvl="0"/>
            <a:r>
              <a:rPr/>
              <a:t>☐ Reading Frequently Asked Question pages</a:t>
            </a:r>
          </a:p>
          <a:p>
            <a:pPr lvl="0" indent="0" marL="0">
              <a:buNone/>
            </a:pPr>
          </a:p>
          <a:p>
            <a:pPr lvl="0"/>
            <a:r>
              <a:rPr/>
              <a:t>☐ Trying an Open Science Buffet approach</a:t>
            </a:r>
          </a:p>
        </p:txBody>
      </p:sp>
      <p:sp>
        <p:nvSpPr>
          <p:cNvPr id="4" name="Slide Number Placeholder 3"/>
          <p:cNvSpPr>
            <a:spLocks noGrp="1"/>
          </p:cNvSpPr>
          <p:nvPr>
            <p:ph type="sldNum" sz="quarter" idx="10"/>
          </p:nvPr>
        </p:nvSpPr>
        <p:spPr/>
        <p:txBody>
          <a:bodyPr/>
          <a:lstStyle/>
          <a:p>
            <a:fld id="{18BDFEC3-8487-43E8-A154-7C12CBC1FFF2}" type="slidenum">
              <a:rPr lang="en-US"/>
              <a:t>32</a:t>
            </a:fld>
            <a:endParaRPr lang="en-US"/>
          </a:p>
        </p:txBody>
      </p:sp>
    </p:spTree>
  </p:cSld>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The answer is the bottom three answers: - Find a preregistration template - Reading Frequently Asked Question pages - Trying an Open Science Buffet approach</a:t>
            </a:r>
          </a:p>
        </p:txBody>
      </p:sp>
      <p:sp>
        <p:nvSpPr>
          <p:cNvPr id="4" name="Slide Number Placeholder 3"/>
          <p:cNvSpPr>
            <a:spLocks noGrp="1"/>
          </p:cNvSpPr>
          <p:nvPr>
            <p:ph type="sldNum" sz="quarter" idx="10"/>
          </p:nvPr>
        </p:nvSpPr>
        <p:spPr/>
        <p:txBody>
          <a:bodyPr/>
          <a:lstStyle/>
          <a:p>
            <a:fld id="{18BDFEC3-8487-43E8-A154-7C12CBC1FFF2}" type="slidenum">
              <a:rPr lang="en-US"/>
              <a:t>33</a:t>
            </a:fld>
            <a:endParaRPr lang="en-US"/>
          </a:p>
        </p:txBody>
      </p:sp>
    </p:spTree>
  </p:cSld>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To summarize section 1:</a:t>
            </a:r>
          </a:p>
          <a:p>
            <a:pPr lvl="0" indent="0" marL="0">
              <a:buNone/>
            </a:pPr>
          </a:p>
          <a:p>
            <a:pPr lvl="0"/>
            <a:r>
              <a:rPr/>
              <a:t>Preregistration leads to more rigorous, transparent and credible research by taking the time to carefully plan the study design, data collection and approach to analysis.</a:t>
            </a:r>
          </a:p>
          <a:p>
            <a:pPr lvl="0" indent="0" marL="0">
              <a:buNone/>
            </a:pPr>
          </a:p>
          <a:p>
            <a:pPr lvl="0"/>
            <a:r>
              <a:rPr/>
              <a:t>Lack of time or incentives are two common barriers to adopting the practice of study registration</a:t>
            </a:r>
          </a:p>
          <a:p>
            <a:pPr lvl="0" indent="0" marL="0">
              <a:buNone/>
            </a:pPr>
          </a:p>
          <a:p>
            <a:pPr lvl="0"/>
            <a:r>
              <a:rPr/>
              <a:t>Important to discuss and address challenges</a:t>
            </a:r>
          </a:p>
          <a:p>
            <a:pPr lvl="0" indent="0" marL="0">
              <a:buNone/>
            </a:pPr>
          </a:p>
          <a:p>
            <a:pPr lvl="0"/>
            <a:r>
              <a:rPr/>
              <a:t>Preregistration does not prevent fraud or research misconduct (e.g. PARKing).</a:t>
            </a:r>
          </a:p>
        </p:txBody>
      </p:sp>
      <p:sp>
        <p:nvSpPr>
          <p:cNvPr id="4" name="Slide Number Placeholder 3"/>
          <p:cNvSpPr>
            <a:spLocks noGrp="1"/>
          </p:cNvSpPr>
          <p:nvPr>
            <p:ph type="sldNum" sz="quarter" idx="10"/>
          </p:nvPr>
        </p:nvSpPr>
        <p:spPr/>
        <p:txBody>
          <a:bodyPr/>
          <a:lstStyle/>
          <a:p>
            <a:fld id="{18BDFEC3-8487-43E8-A154-7C12CBC1FFF2}" type="slidenum">
              <a:rPr lang="en-US"/>
              <a:t>34</a:t>
            </a:fld>
            <a:endParaRPr lang="en-US"/>
          </a:p>
        </p:txBody>
      </p:sp>
    </p:spTree>
  </p:cSld>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Now that you’ve taken a look at some of the challenges and opportunities of preregistration let’s practice improving elements of preregistration.</a:t>
            </a:r>
          </a:p>
          <a:p>
            <a:pPr lvl="0" indent="0" marL="0">
              <a:buNone/>
            </a:pPr>
          </a:p>
          <a:p>
            <a:pPr lvl="0" indent="0" marL="0">
              <a:buNone/>
            </a:pPr>
            <a:r>
              <a:rPr/>
              <a:t>In the spirit of an “Open Science buffet” (Bergmann, 2023), let’s start to build up your study registration toolkit!</a:t>
            </a:r>
          </a:p>
          <a:p>
            <a:pPr lvl="0" indent="0" marL="0">
              <a:buNone/>
            </a:pPr>
          </a:p>
          <a:p>
            <a:pPr lvl="0" indent="0" marL="0">
              <a:buNone/>
            </a:pPr>
            <a:r>
              <a:rPr/>
              <a:t>Starting small can help manage the feeling of overwhelm with trying out a practice for the first time!</a:t>
            </a:r>
          </a:p>
          <a:p>
            <a:pPr lvl="0" indent="0" marL="0">
              <a:buNone/>
            </a:pPr>
          </a:p>
          <a:p>
            <a:pPr lvl="0" indent="0" marL="0">
              <a:buNone/>
            </a:pPr>
            <a:r>
              <a:rPr/>
              <a:t>Remember that one of the common challenges is feelings of overwhelm with doing a preregistration, and uncertainty about where to start.</a:t>
            </a:r>
          </a:p>
        </p:txBody>
      </p:sp>
      <p:sp>
        <p:nvSpPr>
          <p:cNvPr id="4" name="Slide Number Placeholder 3"/>
          <p:cNvSpPr>
            <a:spLocks noGrp="1"/>
          </p:cNvSpPr>
          <p:nvPr>
            <p:ph type="sldNum" sz="quarter" idx="10"/>
          </p:nvPr>
        </p:nvSpPr>
        <p:spPr/>
        <p:txBody>
          <a:bodyPr/>
          <a:lstStyle/>
          <a:p>
            <a:fld id="{18BDFEC3-8487-43E8-A154-7C12CBC1FFF2}" type="slidenum">
              <a:rPr lang="en-US"/>
              <a:t>36</a:t>
            </a:fld>
            <a:endParaRPr lang="en-US"/>
          </a:p>
        </p:txBody>
      </p:sp>
    </p:spTree>
  </p:cSld>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a:t>
            </a:r>
          </a:p>
          <a:p>
            <a:pPr lvl="0" indent="0" marL="0">
              <a:buNone/>
            </a:pPr>
          </a:p>
          <a:p>
            <a:pPr lvl="0" indent="0" marL="0">
              <a:buNone/>
            </a:pPr>
            <a:r>
              <a:rPr/>
              <a:t>In the previous preregistration workshop, we outlined the parts that go into a preregistration document. As a reminder they are:</a:t>
            </a:r>
          </a:p>
          <a:p>
            <a:pPr lvl="0" indent="0" marL="0">
              <a:buNone/>
            </a:pPr>
          </a:p>
          <a:p>
            <a:pPr lvl="0"/>
            <a:r>
              <a:rPr/>
              <a:t>Research questions and hypotheses</a:t>
            </a:r>
          </a:p>
          <a:p>
            <a:pPr lvl="0" indent="0" marL="0">
              <a:buNone/>
            </a:pPr>
          </a:p>
          <a:p>
            <a:pPr lvl="0"/>
            <a:r>
              <a:rPr/>
              <a:t>Sampling plan</a:t>
            </a:r>
          </a:p>
          <a:p>
            <a:pPr lvl="0" indent="0" marL="0">
              <a:buNone/>
            </a:pPr>
          </a:p>
          <a:p>
            <a:pPr lvl="0"/>
            <a:r>
              <a:rPr/>
              <a:t>Design plan</a:t>
            </a:r>
          </a:p>
          <a:p>
            <a:pPr lvl="0" indent="0" marL="0">
              <a:buNone/>
            </a:pPr>
          </a:p>
          <a:p>
            <a:pPr lvl="0"/>
            <a:r>
              <a:rPr/>
              <a:t>Outliers and exceptions</a:t>
            </a:r>
          </a:p>
          <a:p>
            <a:pPr lvl="0" indent="0" marL="0">
              <a:buNone/>
            </a:pPr>
          </a:p>
          <a:p>
            <a:pPr lvl="0"/>
            <a:r>
              <a:rPr/>
              <a:t>Analysis plan</a:t>
            </a:r>
          </a:p>
        </p:txBody>
      </p:sp>
      <p:sp>
        <p:nvSpPr>
          <p:cNvPr id="4" name="Slide Number Placeholder 3"/>
          <p:cNvSpPr>
            <a:spLocks noGrp="1"/>
          </p:cNvSpPr>
          <p:nvPr>
            <p:ph type="sldNum" sz="quarter" idx="10"/>
          </p:nvPr>
        </p:nvSpPr>
        <p:spPr/>
        <p:txBody>
          <a:bodyPr/>
          <a:lstStyle/>
          <a:p>
            <a:fld id="{18BDFEC3-8487-43E8-A154-7C12CBC1FFF2}" type="slidenum">
              <a:rPr lang="en-US"/>
              <a:t>37</a:t>
            </a:fld>
            <a:endParaRPr lang="en-US"/>
          </a:p>
        </p:txBody>
      </p:sp>
    </p:spTree>
  </p:cSld>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i="1"/>
              <a:t>Presenter Notes</a:t>
            </a:r>
            <a:r>
              <a:rPr/>
              <a:t>:</a:t>
            </a:r>
          </a:p>
          <a:p>
            <a:pPr lvl="0" indent="0" marL="0">
              <a:buNone/>
            </a:pPr>
          </a:p>
          <a:p>
            <a:pPr lvl="0" indent="0" marL="0">
              <a:buNone/>
            </a:pPr>
            <a:r>
              <a:rPr/>
              <a:t>The two main objectives of the build up your preregistration toolkit exercise is to:</a:t>
            </a:r>
          </a:p>
          <a:p>
            <a:pPr lvl="0" indent="0" marL="0">
              <a:buNone/>
            </a:pPr>
          </a:p>
          <a:p>
            <a:pPr lvl="0"/>
            <a:r>
              <a:rPr/>
              <a:t>Identify what makes preregistration elements vague</a:t>
            </a:r>
          </a:p>
          <a:p>
            <a:pPr lvl="0" indent="0" marL="0">
              <a:buNone/>
            </a:pPr>
          </a:p>
          <a:p>
            <a:pPr lvl="0"/>
            <a:r>
              <a:rPr/>
              <a:t>Practice improving the precision and clarity of preregistration elements</a:t>
            </a:r>
          </a:p>
          <a:p>
            <a:pPr lvl="0" indent="0" marL="0">
              <a:buNone/>
            </a:pPr>
          </a:p>
          <a:p>
            <a:pPr lvl="0" indent="0" marL="0">
              <a:buNone/>
            </a:pPr>
            <a:r>
              <a:rPr/>
              <a:t>We will first do a practice round as a group then we will work on our own</a:t>
            </a:r>
          </a:p>
          <a:p>
            <a:pPr lvl="0" indent="0" marL="0">
              <a:buNone/>
            </a:pPr>
          </a:p>
          <a:p>
            <a:pPr lvl="0" indent="0" marL="0">
              <a:buNone/>
            </a:pPr>
            <a:r>
              <a:rPr b="1"/>
              <a:t>Instructor Notes</a:t>
            </a:r>
            <a:r>
              <a:rPr/>
              <a:t>: Remind learners that even if they have familiarity and practice in writing these preregistration elements, it can be helpful to revisit examples outside your own research area.</a:t>
            </a:r>
          </a:p>
          <a:p>
            <a:pPr lvl="0" indent="0" marL="0">
              <a:buNone/>
            </a:pPr>
          </a:p>
          <a:p>
            <a:pPr lvl="0" indent="0" marL="0">
              <a:buNone/>
            </a:pPr>
            <a:r>
              <a:rPr/>
              <a:t>Doing the group exercise first provides scaffolding for learners to practice together and see a modeled answer before doing the exercise on their own. It also helps set up expectations and an opportunity to clarify understanding.</a:t>
            </a:r>
          </a:p>
        </p:txBody>
      </p:sp>
      <p:sp>
        <p:nvSpPr>
          <p:cNvPr id="4" name="Slide Number Placeholder 3"/>
          <p:cNvSpPr>
            <a:spLocks noGrp="1"/>
          </p:cNvSpPr>
          <p:nvPr>
            <p:ph type="sldNum" sz="quarter" idx="10"/>
          </p:nvPr>
        </p:nvSpPr>
        <p:spPr/>
        <p:txBody>
          <a:bodyPr/>
          <a:lstStyle/>
          <a:p>
            <a:fld id="{18BDFEC3-8487-43E8-A154-7C12CBC1FFF2}" type="slidenum">
              <a:rPr lang="en-US"/>
              <a:t>38</a:t>
            </a:fld>
            <a:endParaRPr lang="en-US"/>
          </a:p>
        </p:txBody>
      </p:sp>
    </p:spTree>
  </p:cSld>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Let’s have a go at improving this answer: A research team wants to do a study on the topic of how indoor plants impact a person’s mood.</a:t>
            </a:r>
          </a:p>
          <a:p>
            <a:pPr lvl="0" indent="0" marL="0">
              <a:buNone/>
            </a:pPr>
          </a:p>
          <a:p>
            <a:pPr lvl="0" indent="0" marL="0">
              <a:buNone/>
            </a:pPr>
            <a:r>
              <a:rPr/>
              <a:t>First think about it on your own, then discuss answer with neighbor. Then after a couple of minutes we will share some answers as a whole group.</a:t>
            </a:r>
          </a:p>
          <a:p>
            <a:pPr lvl="0" indent="0" marL="0">
              <a:buNone/>
            </a:pPr>
          </a:p>
          <a:p>
            <a:pPr lvl="0" indent="0" marL="0">
              <a:buNone/>
            </a:pPr>
            <a:r>
              <a:rPr/>
              <a:t>Take a look at the guiding questions to help you.</a:t>
            </a:r>
          </a:p>
        </p:txBody>
      </p:sp>
      <p:sp>
        <p:nvSpPr>
          <p:cNvPr id="4" name="Slide Number Placeholder 3"/>
          <p:cNvSpPr>
            <a:spLocks noGrp="1"/>
          </p:cNvSpPr>
          <p:nvPr>
            <p:ph type="sldNum" sz="quarter" idx="10"/>
          </p:nvPr>
        </p:nvSpPr>
        <p:spPr/>
        <p:txBody>
          <a:bodyPr/>
          <a:lstStyle/>
          <a:p>
            <a:fld id="{18BDFEC3-8487-43E8-A154-7C12CBC1FFF2}" type="slidenum">
              <a:rPr lang="en-US"/>
              <a:t>39</a:t>
            </a:fld>
            <a:endParaRPr lang="en-US"/>
          </a:p>
        </p:txBody>
      </p:sp>
    </p:spTree>
  </p:cSld>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So we went from “how do indoor plants benefit people?” to a clearer research question of:</a:t>
            </a:r>
          </a:p>
          <a:p>
            <a:pPr lvl="0" indent="0" marL="0">
              <a:buNone/>
            </a:pPr>
          </a:p>
          <a:p>
            <a:pPr lvl="0" indent="0" marL="0">
              <a:buNone/>
            </a:pPr>
            <a:r>
              <a:rPr/>
              <a:t>How does having physical contact with indoor plants reduce psychological and physiological stress in young-adult office workers?</a:t>
            </a:r>
          </a:p>
          <a:p>
            <a:pPr lvl="0" indent="0" marL="0">
              <a:buNone/>
            </a:pPr>
          </a:p>
          <a:p>
            <a:pPr lvl="0" indent="0" marL="0">
              <a:buNone/>
            </a:pPr>
            <a:r>
              <a:rPr/>
              <a:t>Notice how the improved answer states the type of interaction between plants and people, more specific details about types of benefits of interest and the target demographic (e.g. young-adult office workers).</a:t>
            </a:r>
          </a:p>
        </p:txBody>
      </p:sp>
      <p:sp>
        <p:nvSpPr>
          <p:cNvPr id="4" name="Slide Number Placeholder 3"/>
          <p:cNvSpPr>
            <a:spLocks noGrp="1"/>
          </p:cNvSpPr>
          <p:nvPr>
            <p:ph type="sldNum" sz="quarter" idx="10"/>
          </p:nvPr>
        </p:nvSpPr>
        <p:spPr/>
        <p:txBody>
          <a:bodyPr/>
          <a:lstStyle/>
          <a:p>
            <a:fld id="{18BDFEC3-8487-43E8-A154-7C12CBC1FFF2}" type="slidenum">
              <a:rPr lang="en-US"/>
              <a:t>40</a:t>
            </a:fld>
            <a:endParaRPr lang="en-US"/>
          </a:p>
        </p:txBody>
      </p:sp>
    </p:spTree>
  </p:cSld>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Now it is your turn!</a:t>
            </a:r>
          </a:p>
          <a:p>
            <a:pPr lvl="0" indent="0" marL="0">
              <a:buNone/>
            </a:pPr>
          </a:p>
          <a:p>
            <a:pPr lvl="0" indent="0" marL="0">
              <a:buNone/>
            </a:pPr>
            <a:r>
              <a:rPr/>
              <a:t>Access the “build up your preregistration toolkit! worksheet here and follow the instructions. We will have a bout 40 minutes to do this before we wrap up.</a:t>
            </a:r>
          </a:p>
          <a:p>
            <a:pPr lvl="0" indent="0" marL="0">
              <a:buNone/>
            </a:pPr>
          </a:p>
          <a:p>
            <a:pPr lvl="0" indent="0" marL="0">
              <a:buNone/>
            </a:pPr>
            <a:r>
              <a:rPr b="1"/>
              <a:t>Instructor Notes</a:t>
            </a:r>
            <a:r>
              <a:rPr/>
              <a:t>: Check learners have access to the worksheet. Pause to take questions.</a:t>
            </a:r>
          </a:p>
        </p:txBody>
      </p:sp>
      <p:sp>
        <p:nvSpPr>
          <p:cNvPr id="4" name="Slide Number Placeholder 3"/>
          <p:cNvSpPr>
            <a:spLocks noGrp="1"/>
          </p:cNvSpPr>
          <p:nvPr>
            <p:ph type="sldNum" sz="quarter" idx="10"/>
          </p:nvPr>
        </p:nvSpPr>
        <p:spPr/>
        <p:txBody>
          <a:bodyPr/>
          <a:lstStyle/>
          <a:p>
            <a:fld id="{18BDFEC3-8487-43E8-A154-7C12CBC1FFF2}" type="slidenum">
              <a:rPr lang="en-US"/>
              <a:t>41</a:t>
            </a:fld>
            <a:endParaRPr lang="en-US"/>
          </a:p>
        </p:txBody>
      </p:sp>
    </p:spTree>
  </p:cSld>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We have some time now to discuss how the exercise went for you, which relates to the assignment.</a:t>
            </a:r>
          </a:p>
          <a:p>
            <a:pPr lvl="0" indent="0" marL="0">
              <a:buNone/>
            </a:pPr>
          </a:p>
          <a:p>
            <a:pPr lvl="0" indent="0" marL="0">
              <a:buNone/>
            </a:pPr>
            <a:r>
              <a:rPr b="1"/>
              <a:t>Instructor Notes</a:t>
            </a:r>
            <a:r>
              <a:rPr/>
              <a:t>: Invite learners to share the experience of doing this exercise. This slide acts a bridge to the assignment (next slide)</a:t>
            </a:r>
          </a:p>
        </p:txBody>
      </p:sp>
      <p:sp>
        <p:nvSpPr>
          <p:cNvPr id="4" name="Slide Number Placeholder 3"/>
          <p:cNvSpPr>
            <a:spLocks noGrp="1"/>
          </p:cNvSpPr>
          <p:nvPr>
            <p:ph type="sldNum" sz="quarter" idx="10"/>
          </p:nvPr>
        </p:nvSpPr>
        <p:spPr/>
        <p:txBody>
          <a:bodyPr/>
          <a:lstStyle/>
          <a:p>
            <a:fld id="{18BDFEC3-8487-43E8-A154-7C12CBC1FFF2}" type="slidenum">
              <a:rPr lang="en-US"/>
              <a:t>42</a:t>
            </a:fld>
            <a:endParaRPr lang="en-US"/>
          </a:p>
        </p:txBody>
      </p:sp>
    </p:spTree>
  </p:cSld>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From the main exercise the worksheet you may have identified a particular part of the preregistration process you wish to improve.</a:t>
            </a:r>
          </a:p>
          <a:p>
            <a:pPr lvl="0" indent="0" marL="0">
              <a:buNone/>
            </a:pPr>
          </a:p>
          <a:p>
            <a:pPr lvl="0" indent="0" marL="0">
              <a:buNone/>
            </a:pPr>
            <a:r>
              <a:rPr/>
              <a:t>In this extension exercise you are invited to self-reflect and commit to taking one action related to the preregistration process (e.g. writing out clearer hypotheses, researching a study registration template for your subject area).</a:t>
            </a:r>
          </a:p>
          <a:p>
            <a:pPr lvl="0" indent="0" marL="0">
              <a:buNone/>
            </a:pPr>
          </a:p>
          <a:p>
            <a:pPr lvl="0" indent="0" marL="0">
              <a:buNone/>
            </a:pPr>
            <a:r>
              <a:rPr/>
              <a:t>Once you have chosen an action, tell a friend for accountability! To help you, take a look at the “additional resources” section.</a:t>
            </a:r>
          </a:p>
          <a:p>
            <a:pPr lvl="0" indent="0" marL="0">
              <a:buNone/>
            </a:pPr>
          </a:p>
          <a:p>
            <a:pPr lvl="0" indent="0" marL="0">
              <a:buNone/>
            </a:pPr>
            <a:r>
              <a:rPr b="1"/>
              <a:t>Instructor Notes</a:t>
            </a:r>
            <a:r>
              <a:rPr/>
              <a:t>: This extension exercise is designed to be an empowering and manageable action to commit to, which links to the spirit of “Open Science buffet” and the journey outlined throughout this session. It also promotes self-reflection, critical thinking and a sense of agency in the choices that are made in how research is carried out.</a:t>
            </a:r>
          </a:p>
        </p:txBody>
      </p:sp>
      <p:sp>
        <p:nvSpPr>
          <p:cNvPr id="4" name="Slide Number Placeholder 3"/>
          <p:cNvSpPr>
            <a:spLocks noGrp="1"/>
          </p:cNvSpPr>
          <p:nvPr>
            <p:ph type="sldNum" sz="quarter" idx="10"/>
          </p:nvPr>
        </p:nvSpPr>
        <p:spPr/>
        <p:txBody>
          <a:bodyPr/>
          <a:lstStyle/>
          <a:p>
            <a:fld id="{18BDFEC3-8487-43E8-A154-7C12CBC1FFF2}" type="slidenum">
              <a:rPr lang="en-US"/>
              <a:t>43</a:t>
            </a:fld>
            <a:endParaRPr lang="en-US"/>
          </a:p>
        </p:txBody>
      </p:sp>
    </p:spTree>
  </p:cSld>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Before we wrap up with a final summary, let’s revisit the survey questions from the beginning.</a:t>
            </a:r>
          </a:p>
          <a:p>
            <a:pPr lvl="0" indent="0" marL="0">
              <a:buNone/>
            </a:pPr>
          </a:p>
          <a:p>
            <a:pPr lvl="0" indent="0" marL="0">
              <a:buNone/>
            </a:pPr>
            <a:r>
              <a:rPr b="1"/>
              <a:t>Instructor Notes</a:t>
            </a:r>
            <a:r>
              <a:rPr/>
              <a:t>:</a:t>
            </a:r>
          </a:p>
          <a:p>
            <a:pPr lvl="0" indent="0" marL="0">
              <a:buNone/>
            </a:pPr>
          </a:p>
          <a:p>
            <a:pPr lvl="0"/>
            <a:r>
              <a:rPr b="1"/>
              <a:t>Aim</a:t>
            </a:r>
            <a:r>
              <a:rPr/>
              <a:t>: This post-submodule survey serves to examine learners’ current knowledge about the sumodule’s topic.</a:t>
            </a:r>
          </a:p>
          <a:p>
            <a:pPr lvl="0" indent="0" marL="0">
              <a:buNone/>
            </a:pPr>
          </a:p>
          <a:p>
            <a:pPr lvl="0"/>
            <a:r>
              <a:rPr/>
              <a:t>Use free survey software such as particify or formR to establish the following questions (shown on separate slides)</a:t>
            </a:r>
          </a:p>
          <a:p>
            <a:pPr lvl="0" indent="0" marL="0">
              <a:buNone/>
            </a:pPr>
          </a:p>
          <a:p>
            <a:pPr lvl="0"/>
            <a:r>
              <a:rPr/>
              <a:t>Use identical questions as in the pre-submodule survey to be able to directly compare</a:t>
            </a:r>
          </a:p>
        </p:txBody>
      </p:sp>
      <p:sp>
        <p:nvSpPr>
          <p:cNvPr id="4" name="Slide Number Placeholder 3"/>
          <p:cNvSpPr>
            <a:spLocks noGrp="1"/>
          </p:cNvSpPr>
          <p:nvPr>
            <p:ph type="sldNum" sz="quarter" idx="10"/>
          </p:nvPr>
        </p:nvSpPr>
        <p:spPr/>
        <p:txBody>
          <a:bodyPr/>
          <a:lstStyle/>
          <a:p>
            <a:fld id="{18BDFEC3-8487-43E8-A154-7C12CBC1FFF2}" type="slidenum">
              <a:rPr lang="en-US"/>
              <a:t>44</a:t>
            </a:fld>
            <a:endParaRPr lang="en-US"/>
          </a:p>
        </p:txBody>
      </p:sp>
    </p:spTree>
  </p:cSld>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Preregistration and registered reports offer many benefits to researchers, teams and the wider community (e.g. building reputation and more rigorous, transparent and credible research).</a:t>
            </a:r>
          </a:p>
          <a:p>
            <a:pPr lvl="0" indent="0" marL="0">
              <a:buNone/>
            </a:pPr>
          </a:p>
          <a:p>
            <a:pPr lvl="0"/>
            <a:r>
              <a:rPr/>
              <a:t>A number of challenges exist to the wider uptake of preregistration (e.g. perceived inflexibility, time commitment, overwhelm).</a:t>
            </a:r>
          </a:p>
          <a:p>
            <a:pPr lvl="0" indent="0" marL="0">
              <a:buNone/>
            </a:pPr>
          </a:p>
          <a:p>
            <a:pPr lvl="0"/>
            <a:r>
              <a:rPr/>
              <a:t>Adopting a few elements of study preregistration at a time is good approach to working your way up completing a preregistration or registered report.</a:t>
            </a:r>
          </a:p>
          <a:p>
            <a:pPr lvl="0" indent="0" marL="0">
              <a:buNone/>
            </a:pPr>
          </a:p>
          <a:p>
            <a:pPr lvl="0"/>
            <a:r>
              <a:rPr/>
              <a:t>There are lots of places to get support (e.g. Open Science Framework community pages).</a:t>
            </a:r>
          </a:p>
          <a:p>
            <a:pPr lvl="0" indent="0" marL="0">
              <a:buNone/>
            </a:pPr>
          </a:p>
          <a:p>
            <a:pPr lvl="0" indent="0" marL="0">
              <a:buNone/>
            </a:pPr>
            <a:r>
              <a:rPr b="1"/>
              <a:t>Instructor Notes</a:t>
            </a:r>
            <a:r>
              <a:rPr/>
              <a:t>: Allow time for questions and remind learners of their assignment.</a:t>
            </a:r>
          </a:p>
        </p:txBody>
      </p:sp>
      <p:sp>
        <p:nvSpPr>
          <p:cNvPr id="4" name="Slide Number Placeholder 3"/>
          <p:cNvSpPr>
            <a:spLocks noGrp="1"/>
          </p:cNvSpPr>
          <p:nvPr>
            <p:ph type="sldNum" sz="quarter" idx="10"/>
          </p:nvPr>
        </p:nvSpPr>
        <p:spPr/>
        <p:txBody>
          <a:bodyPr/>
          <a:lstStyle/>
          <a:p>
            <a:fld id="{18BDFEC3-8487-43E8-A154-7C12CBC1FFF2}" type="slidenum">
              <a:rPr lang="en-US"/>
              <a:t>47</a:t>
            </a:fld>
            <a:endParaRPr lang="en-US"/>
          </a:p>
        </p:txBody>
      </p:sp>
    </p:spTree>
  </p:cSld>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The Creative Commons Attribution 4.0 International SA License, or CC BY-SA 4.0, allows others to copy, share, and adapt a work in any medium, including for commercial purposes. These permissions are broad and cannot be withdrawn as long as the license terms are followed. The main requirement is attribution: users must give appropriate credit to the original creator, provide a link to the license, and clearly indicate whether any changes were made, without implying endorsement by the original author. In addition, the ShareAlike condition means that if someone modifies or builds upon the work, the resulting material must be distributed under the same CC BY-SA 4.0 license, or a compatible one. Finally, users are not allowed to apply legal or technical restrictions, such as DRM, that would prevent others from exercising these same rights.</a:t>
            </a:r>
          </a:p>
          <a:p>
            <a:pPr lvl="0" indent="0" marL="0">
              <a:buNone/>
            </a:pPr>
          </a:p>
          <a:p>
            <a:pPr lvl="0" indent="0" marL="0">
              <a:buNone/>
            </a:pPr>
            <a:r>
              <a:rPr/>
              <a:t>Code snippets are dedicated to the public domain and licensed under a CC0 1.0 Creative Commons Universal License. You may use, modify, distribute, and sell the code snippets for any purpose, without permission or attribution. The code snippets are provided “as is”, without warranty of any kind.</a:t>
            </a:r>
          </a:p>
        </p:txBody>
      </p:sp>
      <p:sp>
        <p:nvSpPr>
          <p:cNvPr id="4" name="Slide Number Placeholder 3"/>
          <p:cNvSpPr>
            <a:spLocks noGrp="1"/>
          </p:cNvSpPr>
          <p:nvPr>
            <p:ph type="sldNum" sz="quarter" idx="10"/>
          </p:nvPr>
        </p:nvSpPr>
        <p:spPr/>
        <p:txBody>
          <a:bodyPr/>
          <a:lstStyle/>
          <a:p>
            <a:fld id="{18BDFEC3-8487-43E8-A154-7C12CBC1FFF2}" type="slidenum">
              <a:rPr lang="en-US"/>
              <a:t>50</a:t>
            </a:fld>
            <a:endParaRPr lang="en-US"/>
          </a:p>
        </p:txBody>
      </p:sp>
    </p:spTree>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xml" /><Relationship Id="rId3" Type="http://schemas.openxmlformats.org/officeDocument/2006/relationships/hyperlink" Target="https://help.osf.io/article/634-addressing-fear-of-scooping-on-osf-preregistrations" TargetMode="Externa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7.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8.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9.xml"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0.xml" /></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1.xml" /></Relationships>
</file>

<file path=ppt/slides/_rels/slide1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2.xml" /></Relationships>
</file>

<file path=ppt/slides/_rels/slide1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3.xml" /></Relationships>
</file>

<file path=ppt/slides/_rels/slide1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4.xml" /></Relationships>
</file>

<file path=ppt/slides/_rels/slide1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5.xml" /></Relationships>
</file>

<file path=ppt/slides/_rels/slide1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6.xml" /><Relationship Id="rId3" Type="http://schemas.openxmlformats.org/officeDocument/2006/relationships/hyperlink" Target="https://rr.peercommunityin.org/PCIRegisteredReports/" TargetMode="External" /><Relationship Id="rId4" Type="http://schemas.openxmlformats.org/officeDocument/2006/relationships/hyperlink" Target="https://rr.peercommunityin.org/help/guide_for_reviewers#h_61998243643551613309672490" TargetMode="External" /></Relationships>
</file>

<file path=ppt/slides/_rels/slide1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7.xml" /><Relationship Id="rId3" Type="http://schemas.openxmlformats.org/officeDocument/2006/relationships/hyperlink" Target="https://lmu-osc.github.io/teaching-material-for-novices/open-research-tools/simulations/" TargetMode="External" /></Relationships>
</file>

<file path=ppt/slides/_rels/slide2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8.xml" /></Relationships>
</file>

<file path=ppt/slides/_rels/slide2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9.xml" /><Relationship Id="rId3" Type="http://schemas.openxmlformats.org/officeDocument/2006/relationships/hyperlink" Target="https://help.osf.io/article/634-addressing-fear-of-scooping-on-osf-preregistrations" TargetMode="External" /></Relationships>
</file>

<file path=ppt/slides/_rels/slide2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0.xml" /></Relationships>
</file>

<file path=ppt/slides/_rels/slide2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1.xml" /><Relationship Id="rId3" Type="http://schemas.openxmlformats.org/officeDocument/2006/relationships/hyperlink" Target="https://help.osf.io/article/330-welcome-to-registrations#FAQs-GG_d_" TargetMode="External" /></Relationships>
</file>

<file path=ppt/slides/_rels/slide2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2.xml" /><Relationship Id="rId3" Type="http://schemas.openxmlformats.org/officeDocument/2006/relationships/hyperlink" Target="https://zenodo.org/records/22307709" TargetMode="External" /></Relationships>
</file>

<file path=ppt/slides/_rels/slide2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3.xml" /></Relationships>
</file>

<file path=ppt/slides/_rels/slide2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4.xml" /></Relationships>
</file>

<file path=ppt/slides/_rels/slide2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5.xml" /></Relationships>
</file>

<file path=ppt/slides/_rels/slide2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6.xml" /></Relationships>
</file>

<file path=ppt/slides/_rels/slide2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7.xml" /></Relationships>
</file>

<file path=ppt/slides/_rels/slide3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8.xml" /></Relationships>
</file>

<file path=ppt/slides/_rels/slide3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9.xml" /></Relationships>
</file>

<file path=ppt/slides/_rels/slide3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0.xml" /></Relationships>
</file>

<file path=ppt/slides/_rels/slide3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1.xml" /><Relationship Id="rId3" Type="http://schemas.openxmlformats.org/officeDocument/2006/relationships/hyperlink" Target="https://help.osf.io/article/330-welcome-to-registrations#FAQs-GG_d_" TargetMode="External" /></Relationships>
</file>

<file path=ppt/slides/_rels/slide3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2.xml" /></Relationships>
</file>

<file path=ppt/slides/_rels/slide3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3.xml" /></Relationships>
</file>

<file path=ppt/slides/_rels/slide3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4.xml" /></Relationships>
</file>

<file path=ppt/slides/_rels/slide3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5.xml" /></Relationships>
</file>

<file path=ppt/slides/_rels/slide3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6.xml" /></Relationships>
</file>

<file path=ppt/slides/_rels/slide4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7.xml" /></Relationships>
</file>

<file path=ppt/slides/_rels/slide4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8.xml" /></Relationships>
</file>

<file path=ppt/slides/_rels/slide4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9.xml" /></Relationships>
</file>

<file path=ppt/slides/_rels/slide4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0.xml" /></Relationships>
</file>

<file path=ppt/slides/_rels/slide4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1.xml" /></Relationships>
</file>

<file path=ppt/slides/_rels/slide4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2.xml" /></Relationships>
</file>

<file path=ppt/slides/_rels/slide4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www.youtube.com/watch?v=77YeUe_Bkco" TargetMode="External" /></Relationships>
</file>

<file path=ppt/slides/_rels/slide4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doi.org/10.1093/braincomms/fcaf162" TargetMode="External" /><Relationship Id="rId3" Type="http://schemas.openxmlformats.org/officeDocument/2006/relationships/hyperlink" Target="https://doi.org/10.1002/ece3.10023" TargetMode="External" /><Relationship Id="rId4" Type="http://schemas.openxmlformats.org/officeDocument/2006/relationships/hyperlink" Target="https://doi.org/10.1525/collabra.117094" TargetMode="External" /><Relationship Id="rId5" Type="http://schemas.openxmlformats.org/officeDocument/2006/relationships/hyperlink" Target="https://doi.org/10.1038/s41562-021-01269-4" TargetMode="External" /><Relationship Id="rId6" Type="http://schemas.openxmlformats.org/officeDocument/2006/relationships/hyperlink" Target="https://doi.org/10.3389/fpsyg.2018.01831" TargetMode="External" /></Relationships>
</file>

<file path=ppt/slides/_rels/slide5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3.xml" /><Relationship Id="rId3" Type="http://schemas.openxmlformats.org/officeDocument/2006/relationships/hyperlink" Target="https://creativecommons.org/licenses/by-sa/4.0/deed.en" TargetMode="External" /><Relationship Id="rId4" Type="http://schemas.openxmlformats.org/officeDocument/2006/relationships/hyperlink" Target="https://www.osc.lmu.de/" TargetMode="External" /><Relationship Id="rId5" Type="http://schemas.openxmlformats.org/officeDocument/2006/relationships/hyperlink" Target="https://forrt.org/" TargetMode="External" /><Relationship Id="rId6" Type="http://schemas.openxmlformats.org/officeDocument/2006/relationships/hyperlink" Target="https://lmu-osc.github.io/teaching-material-for-novices/open-research-principles/preregistration-part-II" TargetMode="External" /></Relationships>
</file>

<file path=ppt/slides/_rels/slide5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orcid.org/0000-0001-5307-8029" TargetMode="External" /><Relationship Id="rId3" Type="http://schemas.openxmlformats.org/officeDocument/2006/relationships/hyperlink" Target="https://orcid.org/0000-0002-3242-5981" TargetMode="Externa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lvl="0" indent="0" marL="0">
              <a:buNone/>
            </a:pPr>
            <a:r>
              <a:rPr/>
              <a:t>Preregistration part II: benefits, barriers and building up skills</a:t>
            </a:r>
          </a:p>
        </p:txBody>
      </p:sp>
      <p:sp>
        <p:nvSpPr>
          <p:cNvPr id="3" name="Subtitle 2"/>
          <p:cNvSpPr>
            <a:spLocks noGrp="1"/>
          </p:cNvSpPr>
          <p:nvPr>
            <p:ph idx="1" type="subTitle"/>
          </p:nvPr>
        </p:nvSpPr>
        <p:spPr>
          <a:xfrm>
            <a:off x="1371600" y="2914650"/>
            <a:ext cx="6400800" cy="1314450"/>
          </a:xfrm>
        </p:spPr>
        <p:txBody>
          <a:bodyPr/>
          <a:lstStyle/>
          <a:p>
            <a:pPr lvl="0" indent="0" marL="0">
              <a:buNone/>
            </a:pPr>
            <a:r>
              <a:rPr/>
              <a:t>Sara Lil Middleton</a:t>
            </a:r>
          </a:p>
        </p:txBody>
      </p:sp>
      <p:sp>
        <p:nvSpPr>
          <p:cNvPr id="4" name="Date Placeholder 3"/>
          <p:cNvSpPr>
            <a:spLocks noGrp="1"/>
          </p:cNvSpPr>
          <p:nvPr>
            <p:ph idx="10" sz="half" type="dt"/>
          </p:nvPr>
        </p:nvSpPr>
        <p:spPr/>
        <p:txBody>
          <a:bodyPr/>
          <a:lstStyle/>
          <a:p>
            <a:pPr lvl="0" indent="0" marL="0">
              <a:buNone/>
            </a:pPr>
            <a:r>
              <a:rPr/>
              <a:t>29/10/2026</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Prerequisites</a:t>
            </a:r>
          </a:p>
        </p:txBody>
      </p:sp>
      <p:sp>
        <p:nvSpPr>
          <p:cNvPr id="3" name="Content Placeholder 2"/>
          <p:cNvSpPr>
            <a:spLocks noGrp="1"/>
          </p:cNvSpPr>
          <p:nvPr>
            <p:ph idx="1"/>
          </p:nvPr>
        </p:nvSpPr>
        <p:spPr/>
        <p:txBody>
          <a:bodyPr/>
          <a:lstStyle/>
          <a:p>
            <a:pPr lvl="0" indent="0" marL="1270000">
              <a:buNone/>
            </a:pPr>
            <a:r>
              <a:rPr sz="2000" b="1"/>
              <a:t>Important</a:t>
            </a:r>
          </a:p>
          <a:p>
            <a:pPr lvl="0" indent="0" marL="1270000">
              <a:buNone/>
            </a:pPr>
            <a:r>
              <a:rPr sz="2000"/>
              <a:t>Before completing this session, please carefully read about the prerequisites.</a:t>
            </a:r>
          </a:p>
          <a:p>
            <a:pPr lvl="0"/>
            <a:r>
              <a:rPr/>
              <a:t>Completion of preregistration training materials (preregistration part I [coming soon!]</a:t>
            </a:r>
          </a:p>
          <a:p>
            <a:pPr lvl="0"/>
            <a:r>
              <a:rPr/>
              <a:t>Access to Build up your preregistration toolkit! [coming soon]</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Your study preregistration journey</a:t>
            </a:r>
          </a:p>
        </p:txBody>
      </p:sp>
      <p:sp>
        <p:nvSpPr>
          <p:cNvPr id="3" name="Content Placeholder 2"/>
          <p:cNvSpPr>
            <a:spLocks noGrp="1"/>
          </p:cNvSpPr>
          <p:nvPr>
            <p:ph idx="1"/>
          </p:nvPr>
        </p:nvSpPr>
        <p:spPr/>
        <p:txBody>
          <a:bodyPr/>
          <a:lstStyle/>
          <a:p>
            <a:pPr lvl="0" indent="0" marL="0">
              <a:buNone/>
            </a:pPr>
            <a:r>
              <a:rPr/>
              <a:t>  From: </a:t>
            </a:r>
            <a:r>
              <a:rPr i="1"/>
              <a:t>“I am not sure what some of the opportunities are or how to overcome some of the challenges of doing a preregistration</a:t>
            </a:r>
            <a:r>
              <a:rPr/>
              <a:t>   To: “</a:t>
            </a:r>
            <a:r>
              <a:rPr i="1"/>
              <a:t>“I feel able discuss the benefits and barriers of preregistration and identify which part of a preregistration I can improve on”</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Recap of key concepts in preregistration part I</a:t>
            </a:r>
          </a:p>
        </p:txBody>
      </p:sp>
      <p:sp>
        <p:nvSpPr>
          <p:cNvPr id="3" name="Content Placeholder 2"/>
          <p:cNvSpPr>
            <a:spLocks noGrp="1"/>
          </p:cNvSpPr>
          <p:nvPr>
            <p:ph idx="1"/>
          </p:nvPr>
        </p:nvSpPr>
        <p:spPr/>
        <p:txBody>
          <a:bodyPr/>
          <a:lstStyle/>
          <a:p>
            <a:pPr lvl="0" indent="0" marL="0">
              <a:buNone/>
            </a:pPr>
            <a:r>
              <a:rPr/>
              <a:t>Study preregistration is an open science practice that:</a:t>
            </a:r>
          </a:p>
          <a:p>
            <a:pPr lvl="0"/>
            <a:r>
              <a:rPr b="1"/>
              <a:t>safe guards</a:t>
            </a:r>
            <a:r>
              <a:rPr/>
              <a:t> researchers from </a:t>
            </a:r>
            <a:r>
              <a:rPr b="1"/>
              <a:t>questionable research practices</a:t>
            </a:r>
            <a:r>
              <a:rPr/>
              <a:t> and </a:t>
            </a:r>
            <a:r>
              <a:rPr b="1"/>
              <a:t>biases</a:t>
            </a:r>
            <a:r>
              <a:rPr/>
              <a:t> by making decision-making processes more explicit.</a:t>
            </a:r>
          </a:p>
          <a:p>
            <a:pPr lvl="0"/>
            <a:r>
              <a:rPr/>
              <a:t>involves uploading a time-stamped, publicly-available* </a:t>
            </a:r>
            <a:r>
              <a:rPr b="1"/>
              <a:t>record</a:t>
            </a:r>
            <a:r>
              <a:rPr/>
              <a:t> of a research study plan onto a register, which is given a unique and permanent study identifier.</a:t>
            </a:r>
          </a:p>
          <a:p>
            <a:pPr lvl="0"/>
            <a:r>
              <a:rPr/>
              <a:t>*Preregistrations do not need to be made public immediately and can be embargoed for a period of years (e.g. </a:t>
            </a:r>
            <a:r>
              <a:rPr>
                <a:hlinkClick r:id="rId3"/>
              </a:rPr>
              <a:t>Open Science Framework preregistrations</a:t>
            </a:r>
            <a:r>
              <a:rPr/>
              <a:t> can be embargoed for 4 years from first submission)</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Questions from preregistration part I</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Before we start: Survey time!</a:t>
            </a:r>
          </a:p>
        </p:txBody>
      </p:sp>
      <p:sp>
        <p:nvSpPr>
          <p:cNvPr id="3" name="Content Placeholder 2"/>
          <p:cNvSpPr>
            <a:spLocks noGrp="1"/>
          </p:cNvSpPr>
          <p:nvPr>
            <p:ph idx="1"/>
          </p:nvPr>
        </p:nvSpPr>
        <p:spPr/>
        <p:txBody>
          <a:bodyPr/>
          <a:lstStyle/>
          <a:p>
            <a:pPr lvl="0" indent="0" marL="0">
              <a:spcBef>
                <a:spcPts val="3000"/>
              </a:spcBef>
              <a:buNone/>
            </a:pPr>
            <a:r>
              <a:rPr b="1"/>
              <a:t>Question 1</a:t>
            </a:r>
          </a:p>
          <a:p>
            <a:pPr lvl="0" indent="0" marL="0">
              <a:buNone/>
            </a:pPr>
            <a:r>
              <a:rPr b="1"/>
              <a:t>What is your level of familiarity with the key components of a preregistration (e.g., elements found in a preregistration document )?</a:t>
            </a:r>
          </a:p>
          <a:p>
            <a:pPr lvl="0"/>
            <a:r>
              <a:rPr/>
              <a:t>☐ 1. I don’t know</a:t>
            </a:r>
          </a:p>
          <a:p>
            <a:pPr lvl="0"/>
            <a:r>
              <a:rPr/>
              <a:t>☐ 2. I know a few key components</a:t>
            </a:r>
          </a:p>
          <a:p>
            <a:pPr lvl="0"/>
            <a:r>
              <a:rPr/>
              <a:t>☐ 3. I have a good grasp of the key components</a:t>
            </a:r>
          </a:p>
          <a:p>
            <a:pPr lvl="0"/>
            <a:r>
              <a:rPr/>
              <a:t>☐ 4. I am very familiar/have done a preregistration before</a:t>
            </a:r>
          </a:p>
          <a:p>
            <a:pPr lvl="0" indent="0" marL="0">
              <a:spcBef>
                <a:spcPts val="3000"/>
              </a:spcBef>
              <a:buNone/>
            </a:pPr>
            <a:r>
              <a:rPr b="1"/>
              <a:t>Question 2</a:t>
            </a:r>
          </a:p>
          <a:p>
            <a:pPr lvl="0" indent="0" marL="0">
              <a:buNone/>
            </a:pPr>
            <a:r>
              <a:rPr b="1"/>
              <a:t>How would you rate your confidence to carry out a preregistration for your study?</a:t>
            </a:r>
            <a:r>
              <a:rPr/>
              <a:t>   (1 to 5 scale: </a:t>
            </a:r>
            <a:r>
              <a:rPr b="1"/>
              <a:t>1</a:t>
            </a:r>
            <a:r>
              <a:rPr/>
              <a:t> = Not confident at all, </a:t>
            </a:r>
            <a:r>
              <a:rPr b="1"/>
              <a:t>2</a:t>
            </a:r>
            <a:r>
              <a:rPr/>
              <a:t> = Slightly confident, </a:t>
            </a:r>
            <a:r>
              <a:rPr b="1"/>
              <a:t>3</a:t>
            </a:r>
            <a:r>
              <a:rPr/>
              <a:t> = Somewhat confident, </a:t>
            </a:r>
            <a:r>
              <a:rPr b="1"/>
              <a:t>4</a:t>
            </a:r>
            <a:r>
              <a:rPr/>
              <a:t> = Very confident, </a:t>
            </a:r>
            <a:r>
              <a:rPr b="1"/>
              <a:t>5</a:t>
            </a:r>
            <a:r>
              <a:rPr/>
              <a:t> = Completely confident)</a:t>
            </a:r>
          </a:p>
          <a:p>
            <a:pPr lvl="0"/>
            <a:r>
              <a:rPr/>
              <a:t>☐ 1. Not confident at all</a:t>
            </a:r>
          </a:p>
          <a:p>
            <a:pPr lvl="0"/>
            <a:r>
              <a:rPr/>
              <a:t>☐ 2. Slightly confident</a:t>
            </a:r>
          </a:p>
          <a:p>
            <a:pPr lvl="0"/>
            <a:r>
              <a:rPr/>
              <a:t>☐ 3. Somewhat confident</a:t>
            </a:r>
          </a:p>
          <a:p>
            <a:pPr lvl="0"/>
            <a:r>
              <a:rPr/>
              <a:t>☐ 4. Very confident</a:t>
            </a:r>
          </a:p>
          <a:p>
            <a:pPr lvl="0"/>
            <a:r>
              <a:rPr/>
              <a:t>☐ 5. Completely confident</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Discussion of survey results</a:t>
            </a:r>
          </a:p>
        </p:txBody>
      </p:sp>
      <p:sp>
        <p:nvSpPr>
          <p:cNvPr id="3" name="Content Placeholder 2"/>
          <p:cNvSpPr>
            <a:spLocks noGrp="1"/>
          </p:cNvSpPr>
          <p:nvPr>
            <p:ph idx="1"/>
          </p:nvPr>
        </p:nvSpPr>
        <p:spPr/>
        <p:txBody>
          <a:bodyPr/>
          <a:lstStyle/>
          <a:p>
            <a:pPr lvl="0" indent="0" marL="0">
              <a:buNone/>
            </a:pPr>
            <a:r>
              <a:rPr/>
              <a:t>What do we see in the results?</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Learning goals</a:t>
            </a:r>
          </a:p>
        </p:txBody>
      </p:sp>
      <p:sp>
        <p:nvSpPr>
          <p:cNvPr id="3" name="Content Placeholder 2"/>
          <p:cNvSpPr>
            <a:spLocks noGrp="1"/>
          </p:cNvSpPr>
          <p:nvPr>
            <p:ph idx="1"/>
          </p:nvPr>
        </p:nvSpPr>
        <p:spPr/>
        <p:txBody>
          <a:bodyPr/>
          <a:lstStyle/>
          <a:p>
            <a:pPr lvl="0" indent="0" marL="0">
              <a:buNone/>
            </a:pPr>
            <a:r>
              <a:rPr b="1"/>
              <a:t>Aim</a:t>
            </a:r>
            <a:r>
              <a:rPr/>
              <a:t>: Examine the benefits of preregistration to researchers and wider research ecosystem, and discuss common challenges and how to address them.  </a:t>
            </a:r>
          </a:p>
          <a:p>
            <a:pPr lvl="0" indent="0" marL="0">
              <a:buNone/>
            </a:pPr>
            <a:r>
              <a:rPr/>
              <a:t>There are </a:t>
            </a:r>
            <a:r>
              <a:rPr b="1"/>
              <a:t>two</a:t>
            </a:r>
            <a:r>
              <a:rPr/>
              <a:t> sections to this submodule:</a:t>
            </a:r>
          </a:p>
          <a:p>
            <a:pPr lvl="0"/>
            <a:r>
              <a:rPr b="1"/>
              <a:t>Section 1</a:t>
            </a:r>
            <a:r>
              <a:rPr/>
              <a:t>: Benefits and barriers of preregistration</a:t>
            </a:r>
          </a:p>
          <a:p>
            <a:pPr lvl="0"/>
            <a:r>
              <a:rPr b="1"/>
              <a:t>Section 2:</a:t>
            </a:r>
            <a:r>
              <a:rPr/>
              <a:t> Building up skills in preregistration</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Section 1: Learning goals and overview</a:t>
            </a:r>
          </a:p>
        </p:txBody>
      </p:sp>
      <p:sp>
        <p:nvSpPr>
          <p:cNvPr id="3" name="Content Placeholder 2"/>
          <p:cNvSpPr>
            <a:spLocks noGrp="1"/>
          </p:cNvSpPr>
          <p:nvPr>
            <p:ph idx="1"/>
          </p:nvPr>
        </p:nvSpPr>
        <p:spPr/>
        <p:txBody>
          <a:bodyPr/>
          <a:lstStyle/>
          <a:p>
            <a:pPr lvl="0" indent="0" marL="0">
              <a:buNone/>
            </a:pPr>
            <a:r>
              <a:rPr/>
              <a:t>Section 1 is all about recognizing common benefits and barriers of preregistration for researchers and wider research ecosystem.  </a:t>
            </a:r>
          </a:p>
          <a:p>
            <a:pPr lvl="0" indent="0" marL="0">
              <a:buNone/>
            </a:pPr>
            <a:r>
              <a:rPr/>
              <a:t>Activities: Quiz and self-reflection exercise</a:t>
            </a:r>
          </a:p>
          <a:p>
            <a:pPr lvl="0" indent="0" marL="0">
              <a:buNone/>
            </a:pPr>
            <a:r>
              <a:rPr/>
              <a:t>After completing section 1 you should be able to:</a:t>
            </a:r>
          </a:p>
          <a:p>
            <a:pPr lvl="0"/>
            <a:r>
              <a:rPr b="1"/>
              <a:t>Explain</a:t>
            </a:r>
            <a:r>
              <a:rPr/>
              <a:t> the perceived barriers to doing a preregistration</a:t>
            </a:r>
          </a:p>
          <a:p>
            <a:pPr lvl="0"/>
            <a:r>
              <a:rPr b="1"/>
              <a:t>Identify</a:t>
            </a:r>
            <a:r>
              <a:rPr/>
              <a:t> key benefits of preregistration</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Section 2: Learning goals and overview</a:t>
            </a:r>
          </a:p>
        </p:txBody>
      </p:sp>
      <p:sp>
        <p:nvSpPr>
          <p:cNvPr id="3" name="Content Placeholder 2"/>
          <p:cNvSpPr>
            <a:spLocks noGrp="1"/>
          </p:cNvSpPr>
          <p:nvPr>
            <p:ph idx="1"/>
          </p:nvPr>
        </p:nvSpPr>
        <p:spPr/>
        <p:txBody>
          <a:bodyPr/>
          <a:lstStyle/>
          <a:p>
            <a:pPr lvl="0" indent="0" marL="0">
              <a:buNone/>
            </a:pPr>
            <a:r>
              <a:rPr/>
              <a:t>Section 2 is about practicing improving a component of a study preregistration.  </a:t>
            </a:r>
          </a:p>
          <a:p>
            <a:pPr lvl="0" indent="0" marL="0">
              <a:buNone/>
            </a:pPr>
            <a:r>
              <a:rPr/>
              <a:t>Activity: Build up your preregistration toolkit! (individual work)</a:t>
            </a:r>
          </a:p>
          <a:p>
            <a:pPr lvl="0" indent="0" marL="0">
              <a:buNone/>
            </a:pPr>
            <a:r>
              <a:rPr/>
              <a:t>After completing section 2 you should be able to:</a:t>
            </a:r>
          </a:p>
          <a:p>
            <a:pPr lvl="0"/>
            <a:r>
              <a:rPr b="1"/>
              <a:t>Self-reflect</a:t>
            </a:r>
            <a:r>
              <a:rPr/>
              <a:t> on challenging parts of the preregistration process</a:t>
            </a:r>
          </a:p>
          <a:p>
            <a:pPr lvl="0"/>
            <a:r>
              <a:rPr b="1"/>
              <a:t>Practice</a:t>
            </a:r>
            <a:r>
              <a:rPr/>
              <a:t> improving elements of a preregistration</a:t>
            </a:r>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Section 1: Benefits and barriers of preregistration</a:t>
            </a:r>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Benefits for researchers I</a:t>
            </a:r>
          </a:p>
        </p:txBody>
      </p:sp>
      <p:sp>
        <p:nvSpPr>
          <p:cNvPr id="3" name="Content Placeholder 2"/>
          <p:cNvSpPr>
            <a:spLocks noGrp="1"/>
          </p:cNvSpPr>
          <p:nvPr>
            <p:ph idx="1"/>
          </p:nvPr>
        </p:nvSpPr>
        <p:spPr/>
        <p:txBody>
          <a:bodyPr/>
          <a:lstStyle/>
          <a:p>
            <a:pPr lvl="0" indent="0" marL="0">
              <a:buNone/>
            </a:pPr>
            <a:r>
              <a:rPr/>
              <a:t>Improved planning and project management</a:t>
            </a:r>
          </a:p>
          <a:p>
            <a:pPr lvl="0"/>
            <a:r>
              <a:rPr/>
              <a:t>The process of filling out preregistration document helps </a:t>
            </a:r>
            <a:r>
              <a:rPr b="1"/>
              <a:t>identify key information</a:t>
            </a:r>
            <a:r>
              <a:rPr/>
              <a:t> needed at study design stage</a:t>
            </a:r>
          </a:p>
          <a:p>
            <a:pPr lvl="0"/>
            <a:r>
              <a:rPr/>
              <a:t>Outlining data collection methods and analysis plans which </a:t>
            </a:r>
            <a:r>
              <a:rPr b="1"/>
              <a:t>reduces ambiguity</a:t>
            </a:r>
            <a:r>
              <a:rPr/>
              <a:t> and </a:t>
            </a:r>
            <a:r>
              <a:rPr b="1"/>
              <a:t>errors</a:t>
            </a:r>
            <a:r>
              <a:rPr/>
              <a:t> during data analysis stage</a:t>
            </a:r>
          </a:p>
          <a:p>
            <a:pPr lvl="0" indent="0" marL="0">
              <a:buNone/>
            </a:pPr>
            <a:r>
              <a:rPr/>
              <a:t>Builds your reputation</a:t>
            </a:r>
          </a:p>
          <a:p>
            <a:pPr lvl="0"/>
            <a:r>
              <a:rPr/>
              <a:t>Transparently show to the wider research community your plans and tests</a:t>
            </a:r>
          </a:p>
          <a:p>
            <a:pPr lvl="0"/>
            <a:r>
              <a:rPr/>
              <a:t>Signal that you have taken steps to </a:t>
            </a:r>
            <a:r>
              <a:rPr b="1"/>
              <a:t>mitigate</a:t>
            </a:r>
            <a:r>
              <a:rPr/>
              <a:t> against hindsight and confirmation </a:t>
            </a:r>
            <a:r>
              <a:rPr b="1"/>
              <a:t>bias</a:t>
            </a:r>
            <a:r>
              <a:rPr/>
              <a:t> (Wagenmakers &amp; Dutilh, 2016).</a:t>
            </a:r>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Benefits for researchers II</a:t>
            </a:r>
          </a:p>
        </p:txBody>
      </p:sp>
      <p:sp>
        <p:nvSpPr>
          <p:cNvPr id="3" name="Content Placeholder 2"/>
          <p:cNvSpPr>
            <a:spLocks noGrp="1"/>
          </p:cNvSpPr>
          <p:nvPr>
            <p:ph idx="1"/>
          </p:nvPr>
        </p:nvSpPr>
        <p:spPr/>
        <p:txBody>
          <a:bodyPr/>
          <a:lstStyle/>
          <a:p>
            <a:pPr lvl="0" indent="0" marL="0">
              <a:buNone/>
            </a:pPr>
            <a:r>
              <a:rPr/>
              <a:t>Easier to write up and publish findings</a:t>
            </a:r>
          </a:p>
          <a:p>
            <a:pPr lvl="0"/>
            <a:r>
              <a:rPr/>
              <a:t>Front loading the thinking and planning makes </a:t>
            </a:r>
            <a:r>
              <a:rPr b="1"/>
              <a:t>writing up</a:t>
            </a:r>
            <a:r>
              <a:rPr/>
              <a:t> results and discussion a smoother process</a:t>
            </a:r>
          </a:p>
          <a:p>
            <a:pPr lvl="0"/>
            <a:r>
              <a:rPr/>
              <a:t>If you preregister your analytic </a:t>
            </a:r>
            <a:r>
              <a:rPr b="1"/>
              <a:t>code</a:t>
            </a:r>
            <a:r>
              <a:rPr/>
              <a:t> on </a:t>
            </a:r>
            <a:r>
              <a:rPr b="1"/>
              <a:t>simulated data</a:t>
            </a:r>
            <a:r>
              <a:rPr/>
              <a:t> the results of your confirmatory analyses will be </a:t>
            </a:r>
            <a:r>
              <a:rPr b="1"/>
              <a:t>generated quicker</a:t>
            </a:r>
            <a:r>
              <a:rPr/>
              <a:t> once you have collected and cleaned data</a:t>
            </a:r>
          </a:p>
          <a:p>
            <a:pPr lvl="0"/>
            <a:r>
              <a:rPr/>
              <a:t>If preregistration is approved as a registered report during stage 1 journal peer review, you have </a:t>
            </a:r>
            <a:r>
              <a:rPr b="1"/>
              <a:t>“in-principle acceptance”</a:t>
            </a:r>
          </a:p>
          <a:p>
            <a:pPr lvl="0" indent="0" marL="0">
              <a:buNone/>
            </a:pPr>
            <a:r>
              <a:rPr/>
              <a:t>Visible productivity</a:t>
            </a:r>
          </a:p>
          <a:p>
            <a:pPr lvl="0"/>
            <a:r>
              <a:rPr/>
              <a:t>Publicly sharing outputs that others can </a:t>
            </a:r>
            <a:r>
              <a:rPr b="1"/>
              <a:t>evaluate</a:t>
            </a:r>
            <a:r>
              <a:rPr/>
              <a:t> beyond a journal article (as evaluation of outputs can be influenced by journal prestige)</a:t>
            </a:r>
          </a:p>
        </p:txBody>
      </p:sp>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Benefits for teams</a:t>
            </a:r>
          </a:p>
        </p:txBody>
      </p:sp>
      <p:sp>
        <p:nvSpPr>
          <p:cNvPr id="3" name="Content Placeholder 2"/>
          <p:cNvSpPr>
            <a:spLocks noGrp="1"/>
          </p:cNvSpPr>
          <p:nvPr>
            <p:ph idx="1"/>
          </p:nvPr>
        </p:nvSpPr>
        <p:spPr/>
        <p:txBody>
          <a:bodyPr/>
          <a:lstStyle/>
          <a:p>
            <a:pPr lvl="0" indent="0" marL="0">
              <a:buNone/>
            </a:pPr>
            <a:r>
              <a:rPr/>
              <a:t>Clearer involvement of collaborators/project partners</a:t>
            </a:r>
          </a:p>
          <a:p>
            <a:pPr lvl="0"/>
            <a:r>
              <a:rPr/>
              <a:t>Provides opportunities for project partners to discuss and </a:t>
            </a:r>
            <a:r>
              <a:rPr b="1"/>
              <a:t>refine plans</a:t>
            </a:r>
            <a:r>
              <a:rPr/>
              <a:t> before data collection</a:t>
            </a:r>
          </a:p>
          <a:p>
            <a:pPr lvl="0"/>
            <a:r>
              <a:rPr/>
              <a:t>Detailed research plans provide </a:t>
            </a:r>
            <a:r>
              <a:rPr b="1"/>
              <a:t>clarity</a:t>
            </a:r>
            <a:r>
              <a:rPr/>
              <a:t> for project partners, which is increasingly important in the era of </a:t>
            </a:r>
            <a:r>
              <a:rPr b="1"/>
              <a:t>large-scale collaborations</a:t>
            </a:r>
          </a:p>
        </p:txBody>
      </p:sp>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Benefits to wider research ecosystem</a:t>
            </a:r>
          </a:p>
        </p:txBody>
      </p:sp>
      <p:sp>
        <p:nvSpPr>
          <p:cNvPr id="3" name="Content Placeholder 2"/>
          <p:cNvSpPr>
            <a:spLocks noGrp="1"/>
          </p:cNvSpPr>
          <p:nvPr>
            <p:ph idx="1"/>
          </p:nvPr>
        </p:nvSpPr>
        <p:spPr/>
        <p:txBody>
          <a:bodyPr/>
          <a:lstStyle/>
          <a:p>
            <a:pPr lvl="0" indent="0" marL="0">
              <a:buNone/>
            </a:pPr>
            <a:r>
              <a:rPr/>
              <a:t>Increase research credibility and bias</a:t>
            </a:r>
          </a:p>
          <a:p>
            <a:pPr lvl="0"/>
            <a:r>
              <a:rPr b="1"/>
              <a:t>Mitigates</a:t>
            </a:r>
            <a:r>
              <a:rPr/>
              <a:t> against questionable research practices</a:t>
            </a:r>
          </a:p>
          <a:p>
            <a:pPr lvl="0"/>
            <a:r>
              <a:rPr/>
              <a:t>Offers more complete reporting and </a:t>
            </a:r>
            <a:r>
              <a:rPr b="1"/>
              <a:t>transparency</a:t>
            </a:r>
            <a:r>
              <a:rPr/>
              <a:t> of research project</a:t>
            </a:r>
          </a:p>
          <a:p>
            <a:pPr lvl="0"/>
            <a:r>
              <a:rPr b="1"/>
              <a:t>Reduces publication bias</a:t>
            </a:r>
            <a:r>
              <a:rPr/>
              <a:t>, as preregistration/registered report is available to read (if not embargoed)</a:t>
            </a:r>
          </a:p>
          <a:p>
            <a:pPr lvl="0" indent="0" marL="0">
              <a:buNone/>
            </a:pPr>
            <a:r>
              <a:rPr/>
              <a:t>Check thinking</a:t>
            </a:r>
          </a:p>
          <a:p>
            <a:pPr lvl="0"/>
            <a:r>
              <a:rPr/>
              <a:t>Other people reading your findings can </a:t>
            </a:r>
            <a:r>
              <a:rPr b="1"/>
              <a:t>follow your thought process</a:t>
            </a:r>
          </a:p>
          <a:p>
            <a:pPr lvl="0"/>
            <a:r>
              <a:rPr/>
              <a:t>Gain a deeper understanding of a project and make an </a:t>
            </a:r>
            <a:r>
              <a:rPr b="1"/>
              <a:t>informed assessment</a:t>
            </a:r>
            <a:r>
              <a:rPr/>
              <a:t> (Binney et al., 2025)</a:t>
            </a:r>
          </a:p>
        </p:txBody>
      </p:sp>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Benefits recap</a:t>
            </a:r>
          </a:p>
        </p:txBody>
      </p:sp>
      <p:sp>
        <p:nvSpPr>
          <p:cNvPr id="3" name="Content Placeholder 2"/>
          <p:cNvSpPr>
            <a:spLocks noGrp="1"/>
          </p:cNvSpPr>
          <p:nvPr>
            <p:ph idx="1"/>
          </p:nvPr>
        </p:nvSpPr>
        <p:spPr/>
        <p:txBody>
          <a:bodyPr/>
          <a:lstStyle/>
          <a:p>
            <a:pPr lvl="0"/>
            <a:r>
              <a:rPr/>
              <a:t>There are many benefits to doing a preregistration for individual researchers, teams and the wider research ecosystem.</a:t>
            </a:r>
          </a:p>
          <a:p>
            <a:pPr lvl="0"/>
            <a:r>
              <a:rPr/>
              <a:t>Overall, by taking the time to carefully plan your study design, data collection and approach to analysis, research becomes more rigorous, transparent and credible.</a:t>
            </a:r>
          </a:p>
          <a:p>
            <a:pPr lvl="0" indent="0" marL="1270000">
              <a:buNone/>
            </a:pPr>
            <a:r>
              <a:rPr sz="2000" b="1"/>
              <a:t>Reflection point</a:t>
            </a:r>
          </a:p>
          <a:p>
            <a:pPr lvl="0" indent="0" marL="1270000">
              <a:buNone/>
            </a:pPr>
            <a:r>
              <a:rPr sz="2000"/>
              <a:t>Do you relate to the benefits of preregistration mentioned? Are there any other benefits you can think of?</a:t>
            </a:r>
          </a:p>
          <a:p>
            <a:pPr lvl="0" indent="0" marL="1270000">
              <a:buNone/>
            </a:pPr>
            <a:r>
              <a:rPr sz="2000" b="1"/>
              <a:t>Find out more</a:t>
            </a:r>
          </a:p>
          <a:p>
            <a:pPr lvl="0" indent="0" marL="1270000">
              <a:buNone/>
            </a:pPr>
            <a:r>
              <a:rPr sz="2000"/>
              <a:t>More benefits about preregistration and registered reports from a student, author and journal editor perspective are outlined by Gya et al. (2023).</a:t>
            </a:r>
          </a:p>
        </p:txBody>
      </p:sp>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Barriers to preregistration</a:t>
            </a:r>
          </a:p>
        </p:txBody>
      </p:sp>
      <p:sp>
        <p:nvSpPr>
          <p:cNvPr id="3" name="Content Placeholder 2"/>
          <p:cNvSpPr>
            <a:spLocks noGrp="1"/>
          </p:cNvSpPr>
          <p:nvPr>
            <p:ph idx="1"/>
          </p:nvPr>
        </p:nvSpPr>
        <p:spPr/>
        <p:txBody>
          <a:bodyPr/>
          <a:lstStyle/>
          <a:p>
            <a:pPr lvl="0" indent="0" marL="0">
              <a:buNone/>
            </a:pPr>
            <a:r>
              <a:rPr/>
              <a:t>Wider context:</a:t>
            </a:r>
          </a:p>
          <a:p>
            <a:pPr lvl="0"/>
            <a:r>
              <a:rPr/>
              <a:t>There are significant challenges present in the current </a:t>
            </a:r>
            <a:r>
              <a:rPr b="1"/>
              <a:t>research</a:t>
            </a:r>
            <a:r>
              <a:rPr/>
              <a:t> and </a:t>
            </a:r>
            <a:r>
              <a:rPr b="1"/>
              <a:t>assessment</a:t>
            </a:r>
            <a:r>
              <a:rPr/>
              <a:t> </a:t>
            </a:r>
            <a:r>
              <a:rPr b="1"/>
              <a:t>culture</a:t>
            </a:r>
            <a:r>
              <a:rPr/>
              <a:t> (e.g. “publish or perish”) which influences the uptake of preregistration.</a:t>
            </a:r>
          </a:p>
          <a:p>
            <a:pPr lvl="0"/>
            <a:r>
              <a:rPr/>
              <a:t>Researchers have </a:t>
            </a:r>
            <a:r>
              <a:rPr b="1"/>
              <a:t>different knowledge</a:t>
            </a:r>
            <a:r>
              <a:rPr/>
              <a:t> and </a:t>
            </a:r>
            <a:r>
              <a:rPr b="1"/>
              <a:t>experience</a:t>
            </a:r>
            <a:r>
              <a:rPr/>
              <a:t> levels with Open Science practices that reflect in </a:t>
            </a:r>
            <a:r>
              <a:rPr b="1"/>
              <a:t>attitudes</a:t>
            </a:r>
            <a:r>
              <a:rPr/>
              <a:t> and </a:t>
            </a:r>
            <a:r>
              <a:rPr b="1"/>
              <a:t>adoption</a:t>
            </a:r>
            <a:r>
              <a:rPr/>
              <a:t> of preregistration.</a:t>
            </a:r>
          </a:p>
        </p:txBody>
      </p:sp>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Challenges: time</a:t>
            </a:r>
          </a:p>
        </p:txBody>
      </p:sp>
      <p:sp>
        <p:nvSpPr>
          <p:cNvPr id="3" name="Content Placeholder 2"/>
          <p:cNvSpPr>
            <a:spLocks noGrp="1"/>
          </p:cNvSpPr>
          <p:nvPr>
            <p:ph idx="1"/>
          </p:nvPr>
        </p:nvSpPr>
        <p:spPr/>
        <p:txBody>
          <a:bodyPr/>
          <a:lstStyle/>
          <a:p>
            <a:pPr lvl="0" indent="0" marL="0">
              <a:buNone/>
            </a:pPr>
            <a:r>
              <a:rPr b="1"/>
              <a:t>Time</a:t>
            </a:r>
            <a:r>
              <a:rPr/>
              <a:t>: </a:t>
            </a:r>
            <a:r>
              <a:rPr i="1"/>
              <a:t>“I haven’t got time to do a preregistration”</a:t>
            </a:r>
          </a:p>
          <a:p>
            <a:pPr lvl="0"/>
            <a:r>
              <a:rPr i="1"/>
              <a:t>Reframing:</a:t>
            </a:r>
            <a:r>
              <a:rPr/>
              <a:t> front-loaded effort during the planning stage can help later on during write up and during peer review (remember the benefits to researchers slide earlier)</a:t>
            </a:r>
          </a:p>
          <a:p>
            <a:pPr lvl="0" indent="0" marL="1270000">
              <a:buNone/>
            </a:pPr>
            <a:r>
              <a:rPr sz="2000" b="1"/>
              <a:t>Did you know?</a:t>
            </a:r>
          </a:p>
          <a:p>
            <a:pPr lvl="0" indent="0" marL="1270000">
              <a:buNone/>
            </a:pPr>
            <a:r>
              <a:rPr sz="2000">
                <a:hlinkClick r:id="rId3"/>
              </a:rPr>
              <a:t>Peer Community in Registered Reports</a:t>
            </a:r>
            <a:r>
              <a:rPr sz="2000"/>
              <a:t> is an initiative where the research community reviews and recommends registered reports. There is the option to speed up the Stage 1 peer review of a registered report with the ‘scheduled review’ </a:t>
            </a:r>
            <a:r>
              <a:rPr sz="2000">
                <a:hlinkClick r:id="rId4"/>
              </a:rPr>
              <a:t>track</a:t>
            </a:r>
            <a:r>
              <a:rPr sz="2000"/>
              <a:t>. Authors initially submit a one-page “snapshot” instead of a full stage 1 report.</a:t>
            </a:r>
          </a:p>
        </p:txBody>
      </p:sp>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Challenges: statistical confidence</a:t>
            </a:r>
          </a:p>
        </p:txBody>
      </p:sp>
      <p:sp>
        <p:nvSpPr>
          <p:cNvPr id="3" name="Content Placeholder 2"/>
          <p:cNvSpPr>
            <a:spLocks noGrp="1"/>
          </p:cNvSpPr>
          <p:nvPr>
            <p:ph idx="1"/>
          </p:nvPr>
        </p:nvSpPr>
        <p:spPr/>
        <p:txBody>
          <a:bodyPr/>
          <a:lstStyle/>
          <a:p>
            <a:pPr lvl="0" indent="0" marL="0">
              <a:buNone/>
            </a:pPr>
            <a:r>
              <a:rPr b="1"/>
              <a:t>Statistical confidence</a:t>
            </a:r>
            <a:r>
              <a:rPr/>
              <a:t>: </a:t>
            </a:r>
            <a:r>
              <a:rPr i="1"/>
              <a:t>“How do I know my planned statistical analysis is the right one?”</a:t>
            </a:r>
          </a:p>
          <a:p>
            <a:pPr lvl="0"/>
            <a:r>
              <a:rPr i="1"/>
              <a:t>Strategy:</a:t>
            </a:r>
            <a:r>
              <a:rPr/>
              <a:t> Simulate random data with the distribution and sample size of expected real data and run the statistical test planned for the study.</a:t>
            </a:r>
          </a:p>
          <a:p>
            <a:pPr lvl="0"/>
            <a:r>
              <a:rPr/>
              <a:t>Repeat the statistical test (e.g. 100 x) and check results are within the false-positive finding rate of 5%</a:t>
            </a:r>
          </a:p>
          <a:p>
            <a:pPr lvl="0"/>
            <a:r>
              <a:rPr/>
              <a:t>Run a power analysis by simulating data with the expected effect size for the study and check model registers effect at least 80% of the time</a:t>
            </a:r>
          </a:p>
          <a:p>
            <a:pPr lvl="0" indent="0" marL="1270000">
              <a:buNone/>
            </a:pPr>
            <a:r>
              <a:rPr sz="2000" b="1"/>
              <a:t>Additional resource</a:t>
            </a:r>
          </a:p>
          <a:p>
            <a:pPr lvl="0" indent="0" marL="1270000">
              <a:buNone/>
            </a:pPr>
            <a:r>
              <a:rPr sz="2000">
                <a:hlinkClick r:id="rId3"/>
              </a:rPr>
              <a:t>Training materials</a:t>
            </a:r>
            <a:r>
              <a:rPr sz="2000"/>
              <a:t> for novices: Introduction to simulations and power analysis in R.</a:t>
            </a:r>
          </a:p>
        </p:txBody>
      </p:sp>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Challenges: inflexible</a:t>
            </a:r>
          </a:p>
        </p:txBody>
      </p:sp>
      <p:sp>
        <p:nvSpPr>
          <p:cNvPr id="3" name="Content Placeholder 2"/>
          <p:cNvSpPr>
            <a:spLocks noGrp="1"/>
          </p:cNvSpPr>
          <p:nvPr>
            <p:ph idx="1"/>
          </p:nvPr>
        </p:nvSpPr>
        <p:spPr/>
        <p:txBody>
          <a:bodyPr/>
          <a:lstStyle/>
          <a:p>
            <a:pPr lvl="0" indent="0" marL="0">
              <a:buNone/>
            </a:pPr>
            <a:r>
              <a:rPr b="1"/>
              <a:t>Lack of flexibility:</a:t>
            </a:r>
            <a:r>
              <a:rPr/>
              <a:t> </a:t>
            </a:r>
            <a:r>
              <a:rPr i="1"/>
              <a:t>“Preregistration keeps you in a box”</a:t>
            </a:r>
          </a:p>
          <a:p>
            <a:pPr lvl="0"/>
            <a:r>
              <a:rPr i="1"/>
              <a:t>Reframing:</a:t>
            </a:r>
            <a:r>
              <a:rPr/>
              <a:t> Preregistrations are a “plan not a prison” as you can document any deviations from your plan when you write up the research findings (DeHaven, 2017).</a:t>
            </a:r>
          </a:p>
          <a:p>
            <a:pPr lvl="0"/>
            <a:r>
              <a:rPr/>
              <a:t>Preregistrations can be tailored to the study type (e.g incremental</a:t>
            </a:r>
          </a:p>
          <a:p>
            <a:pPr lvl="0"/>
            <a:r>
              <a:rPr/>
              <a:t>transparently documenting exploratory-confirmatory pathway or sequential - multi-stage contingent experiments).</a:t>
            </a:r>
          </a:p>
          <a:p>
            <a:pPr lvl="0" indent="0" marL="1270000">
              <a:buNone/>
            </a:pPr>
            <a:r>
              <a:rPr sz="2000" b="1"/>
              <a:t>Find out more</a:t>
            </a:r>
          </a:p>
          <a:p>
            <a:pPr lvl="0" indent="0" marL="1270000">
              <a:buNone/>
            </a:pPr>
            <a:r>
              <a:rPr sz="2000"/>
              <a:t>Binney et al. (2025) discuss practical guidance of balancing mitigating biases with flexibility in the research process. Lakens (2024) discusses when and how to deviate from a preregistration.</a:t>
            </a:r>
          </a:p>
        </p:txBody>
      </p:sp>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Challenges: scooping?</a:t>
            </a:r>
          </a:p>
        </p:txBody>
      </p:sp>
      <p:sp>
        <p:nvSpPr>
          <p:cNvPr id="3" name="Content Placeholder 2"/>
          <p:cNvSpPr>
            <a:spLocks noGrp="1"/>
          </p:cNvSpPr>
          <p:nvPr>
            <p:ph idx="1"/>
          </p:nvPr>
        </p:nvSpPr>
        <p:spPr/>
        <p:txBody>
          <a:bodyPr/>
          <a:lstStyle/>
          <a:p>
            <a:pPr lvl="0" indent="0" marL="0">
              <a:buNone/>
            </a:pPr>
            <a:r>
              <a:rPr b="1"/>
              <a:t>Fear of scooping</a:t>
            </a:r>
            <a:r>
              <a:rPr/>
              <a:t>: </a:t>
            </a:r>
            <a:r>
              <a:rPr i="1"/>
              <a:t>“What if someone steals my ideas before they are published?”</a:t>
            </a:r>
          </a:p>
          <a:p>
            <a:pPr lvl="0"/>
            <a:r>
              <a:rPr i="1"/>
              <a:t>Counterargument:</a:t>
            </a:r>
            <a:r>
              <a:rPr/>
              <a:t> Preregistrations do not need to be made public right away and can be embargoed for a period of years (e.g. </a:t>
            </a:r>
            <a:r>
              <a:rPr>
                <a:hlinkClick r:id="rId3"/>
              </a:rPr>
              <a:t>Open Science Framework preregistrations</a:t>
            </a:r>
            <a:r>
              <a:rPr/>
              <a:t> can be embargoed for 4 years from first submission)</a:t>
            </a:r>
          </a:p>
          <a:p>
            <a:pPr lvl="0"/>
            <a:r>
              <a:rPr/>
              <a:t>The embargo period allows researchers time after preregistering their study to conduct the research, analyse, write up and publish their findings.</a:t>
            </a:r>
          </a:p>
        </p:txBody>
      </p:sp>
    </p:spTree>
  </p:cSl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Challenges: incentives</a:t>
            </a:r>
          </a:p>
        </p:txBody>
      </p:sp>
      <p:sp>
        <p:nvSpPr>
          <p:cNvPr id="3" name="Content Placeholder 2"/>
          <p:cNvSpPr>
            <a:spLocks noGrp="1"/>
          </p:cNvSpPr>
          <p:nvPr>
            <p:ph idx="1"/>
          </p:nvPr>
        </p:nvSpPr>
        <p:spPr/>
        <p:txBody>
          <a:bodyPr/>
          <a:lstStyle/>
          <a:p>
            <a:pPr lvl="0" indent="0" marL="0">
              <a:buNone/>
            </a:pPr>
            <a:r>
              <a:rPr b="1"/>
              <a:t>Lack of incentives</a:t>
            </a:r>
            <a:r>
              <a:rPr/>
              <a:t>: </a:t>
            </a:r>
            <a:r>
              <a:rPr i="1"/>
              <a:t>“I don’t see the point”</a:t>
            </a:r>
          </a:p>
          <a:p>
            <a:pPr lvl="0"/>
            <a:r>
              <a:rPr i="1"/>
              <a:t>Counterargument:</a:t>
            </a:r>
            <a:r>
              <a:rPr/>
              <a:t> aside from individual researcher benefits (increased reflection, better planning, reduced likelihood of systematic errors), journals are increasingly prioritizing preregistrations.</a:t>
            </a:r>
          </a:p>
          <a:p>
            <a:pPr lvl="0" indent="0" marL="1270000">
              <a:buNone/>
            </a:pPr>
            <a:r>
              <a:rPr sz="2000" b="1"/>
              <a:t>Find out more</a:t>
            </a:r>
          </a:p>
          <a:p>
            <a:pPr lvl="0" indent="0" marL="1270000">
              <a:buNone/>
            </a:pPr>
            <a:r>
              <a:rPr sz="2000"/>
              <a:t>Next time you read a journal article in your field, take a look at the journal’s webpage and see if they accept preregistered studies and if there are guidelines for publishing registered reports. This information is usually in the author resources/guidelines section.</a:t>
            </a:r>
          </a:p>
        </p:txBody>
      </p:sp>
    </p:spTree>
  </p:cSl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Challenges: overwhelm</a:t>
            </a:r>
          </a:p>
        </p:txBody>
      </p:sp>
      <p:sp>
        <p:nvSpPr>
          <p:cNvPr id="3" name="Content Placeholder 2"/>
          <p:cNvSpPr>
            <a:spLocks noGrp="1"/>
          </p:cNvSpPr>
          <p:nvPr>
            <p:ph idx="1"/>
          </p:nvPr>
        </p:nvSpPr>
        <p:spPr/>
        <p:txBody>
          <a:bodyPr/>
          <a:lstStyle/>
          <a:p>
            <a:pPr lvl="0" indent="0" marL="0">
              <a:buNone/>
            </a:pPr>
            <a:r>
              <a:rPr b="1"/>
              <a:t>Overwhelm</a:t>
            </a:r>
            <a:r>
              <a:rPr/>
              <a:t>: </a:t>
            </a:r>
            <a:r>
              <a:rPr i="1"/>
              <a:t>“There is so much that goes into a preregistration”</a:t>
            </a:r>
          </a:p>
          <a:p>
            <a:pPr lvl="0"/>
            <a:r>
              <a:rPr i="1"/>
              <a:t>Counterargument:</a:t>
            </a:r>
            <a:r>
              <a:rPr/>
              <a:t> templates and FAQ pages can guide you and if you are unable to officially register a study, adopting principles of study preregistration is a good step (e.g. Open Science Buffet approach (Bergmann, 2023).</a:t>
            </a:r>
          </a:p>
          <a:p>
            <a:pPr lvl="0" indent="0" marL="1270000">
              <a:buNone/>
            </a:pPr>
            <a:r>
              <a:rPr sz="2000" b="1"/>
              <a:t>Find out more</a:t>
            </a:r>
          </a:p>
          <a:p>
            <a:pPr lvl="0" indent="0" marL="1270000">
              <a:buNone/>
            </a:pPr>
            <a:r>
              <a:rPr sz="2000"/>
              <a:t>The Open Science Framework (OSF) has a </a:t>
            </a:r>
            <a:r>
              <a:rPr sz="2000">
                <a:hlinkClick r:id="rId3"/>
              </a:rPr>
              <a:t>frequently asked questions</a:t>
            </a:r>
            <a:r>
              <a:rPr sz="2000"/>
              <a:t> page on preregistrations and registered reports.</a:t>
            </a:r>
          </a:p>
        </p:txBody>
      </p:sp>
    </p:spTree>
  </p:cSl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Challenges: lack of support</a:t>
            </a:r>
          </a:p>
        </p:txBody>
      </p:sp>
      <p:sp>
        <p:nvSpPr>
          <p:cNvPr id="3" name="Content Placeholder 2"/>
          <p:cNvSpPr>
            <a:spLocks noGrp="1"/>
          </p:cNvSpPr>
          <p:nvPr>
            <p:ph idx="1"/>
          </p:nvPr>
        </p:nvSpPr>
        <p:spPr/>
        <p:txBody>
          <a:bodyPr/>
          <a:lstStyle/>
          <a:p>
            <a:pPr lvl="0" indent="0" marL="0">
              <a:buNone/>
            </a:pPr>
            <a:r>
              <a:rPr b="1"/>
              <a:t>Lack of support</a:t>
            </a:r>
            <a:r>
              <a:rPr/>
              <a:t>: </a:t>
            </a:r>
            <a:r>
              <a:rPr i="1"/>
              <a:t>“No one in my team knows or cares about preregistration”</a:t>
            </a:r>
          </a:p>
          <a:p>
            <a:pPr lvl="0"/>
            <a:r>
              <a:rPr i="1"/>
              <a:t>Strategy:</a:t>
            </a:r>
            <a:r>
              <a:rPr/>
              <a:t> Often a reluctance to try out preregistration comes from a place of lack of familiarity with the process.</a:t>
            </a:r>
          </a:p>
          <a:p>
            <a:pPr lvl="0"/>
            <a:r>
              <a:rPr/>
              <a:t>Sharing resources, and suggest a group meeting to discuss/learn more about preregistration to increase familiarity.</a:t>
            </a:r>
          </a:p>
          <a:p>
            <a:pPr lvl="0"/>
            <a:r>
              <a:rPr/>
              <a:t>Reframe preregistration as a creative opportunity to plan great science! Planning is where the science is, as other research processes, like data collection can be delegated</a:t>
            </a:r>
          </a:p>
          <a:p>
            <a:pPr lvl="0" indent="0" marL="1270000">
              <a:buNone/>
            </a:pPr>
            <a:r>
              <a:rPr sz="2000" b="1"/>
              <a:t>Additional resource</a:t>
            </a:r>
          </a:p>
          <a:p>
            <a:pPr lvl="0" indent="0" marL="1270000">
              <a:buNone/>
            </a:pPr>
            <a:r>
              <a:rPr sz="2000"/>
              <a:t>Relate to this challenge? See the preregistration </a:t>
            </a:r>
            <a:r>
              <a:rPr sz="2000">
                <a:hlinkClick r:id="rId3"/>
              </a:rPr>
              <a:t>case study</a:t>
            </a:r>
            <a:r>
              <a:rPr sz="2000"/>
              <a:t> which provides strategies.</a:t>
            </a:r>
          </a:p>
        </p:txBody>
      </p:sp>
    </p:spTree>
  </p:cSl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What preregistration is not</a:t>
            </a:r>
          </a:p>
        </p:txBody>
      </p:sp>
      <p:sp>
        <p:nvSpPr>
          <p:cNvPr id="3" name="Content Placeholder 2"/>
          <p:cNvSpPr>
            <a:spLocks noGrp="1"/>
          </p:cNvSpPr>
          <p:nvPr>
            <p:ph idx="1"/>
          </p:nvPr>
        </p:nvSpPr>
        <p:spPr/>
        <p:txBody>
          <a:bodyPr/>
          <a:lstStyle/>
          <a:p>
            <a:pPr lvl="0" indent="0" marL="0">
              <a:buNone/>
            </a:pPr>
            <a:r>
              <a:rPr/>
              <a:t>Preregistration does not prevent fraud or research misconduct (e.g. PARKing), but it does make it harder.</a:t>
            </a:r>
          </a:p>
          <a:p>
            <a:pPr lvl="0" indent="0" marL="0">
              <a:buNone/>
            </a:pPr>
          </a:p>
          <a:p>
            <a:pPr lvl="0" indent="0" marL="1270000">
              <a:buNone/>
            </a:pPr>
            <a:r>
              <a:rPr sz="2000" b="1"/>
              <a:t>Definition</a:t>
            </a:r>
          </a:p>
          <a:p>
            <a:pPr lvl="0" indent="0" marL="1270000">
              <a:buNone/>
            </a:pPr>
            <a:r>
              <a:rPr sz="2000" b="1"/>
              <a:t>PARKing</a:t>
            </a:r>
            <a:r>
              <a:rPr sz="2000"/>
              <a:t>: “Preregistrating after the results are known” is considered research misconduct where researchers complete an experiment before preregistering which invalidates the purpose of preregistration (Parsons et al., 2022).</a:t>
            </a:r>
          </a:p>
        </p:txBody>
      </p:sp>
    </p:spTree>
  </p:cSl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Challenges recap</a:t>
            </a:r>
          </a:p>
        </p:txBody>
      </p:sp>
      <p:sp>
        <p:nvSpPr>
          <p:cNvPr id="3" name="Content Placeholder 2"/>
          <p:cNvSpPr>
            <a:spLocks noGrp="1"/>
          </p:cNvSpPr>
          <p:nvPr>
            <p:ph idx="1"/>
          </p:nvPr>
        </p:nvSpPr>
        <p:spPr/>
        <p:txBody>
          <a:bodyPr/>
          <a:lstStyle/>
          <a:p>
            <a:pPr lvl="0"/>
            <a:r>
              <a:rPr/>
              <a:t>The lack of time and incentives, feelings of overwhelm and lack of support are common barriers that often overlap when in it comes to preregistration.</a:t>
            </a:r>
          </a:p>
          <a:p>
            <a:pPr lvl="0"/>
            <a:r>
              <a:rPr/>
              <a:t>There is lots of support available and you are not alone!</a:t>
            </a:r>
          </a:p>
          <a:p>
            <a:pPr lvl="0" indent="0" marL="1270000">
              <a:buNone/>
            </a:pPr>
            <a:r>
              <a:rPr sz="2000" b="1"/>
              <a:t>Find out more</a:t>
            </a:r>
          </a:p>
          <a:p>
            <a:pPr lvl="0" indent="0" marL="1270000">
              <a:buNone/>
            </a:pPr>
            <a:r>
              <a:rPr sz="2000"/>
              <a:t>Have a browse of some of the challenges and strategies to address barriers to preregistration here [Preregistration tutorial coming soon!]</a:t>
            </a:r>
          </a:p>
        </p:txBody>
      </p:sp>
    </p:spTree>
  </p:cSl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Quiz</a:t>
            </a:r>
          </a:p>
        </p:txBody>
      </p:sp>
    </p:spTree>
  </p:cSl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Q1. Which options below are benefits of registered reports</a:t>
            </a:r>
          </a:p>
          <a:p>
            <a:pPr lvl="0"/>
            <a:r>
              <a:rPr/>
              <a:t>☐ In-principle acceptance (IPA) of manuscripts</a:t>
            </a:r>
          </a:p>
          <a:p>
            <a:pPr lvl="0"/>
            <a:r>
              <a:rPr/>
              <a:t>☐ Prevents fraud</a:t>
            </a:r>
          </a:p>
          <a:p>
            <a:pPr lvl="0"/>
            <a:r>
              <a:rPr/>
              <a:t>☐ Mitigates publication bias</a:t>
            </a:r>
          </a:p>
          <a:p>
            <a:pPr lvl="0"/>
            <a:r>
              <a:rPr/>
              <a:t>☐ Opportunity for community feedback on project plans</a:t>
            </a:r>
          </a:p>
        </p:txBody>
      </p:sp>
    </p:spTree>
  </p:cSl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A1. Which option(s) below are benefits of registered reports</a:t>
            </a:r>
          </a:p>
          <a:p>
            <a:pPr lvl="0"/>
            <a:r>
              <a:rPr/>
              <a:t>☒ In-principle acceptance (IPA) of manuscripts</a:t>
            </a:r>
          </a:p>
          <a:p>
            <a:pPr lvl="0"/>
            <a:r>
              <a:rPr/>
              <a:t>☐ Prevents fraud</a:t>
            </a:r>
          </a:p>
          <a:p>
            <a:pPr lvl="0"/>
            <a:r>
              <a:rPr/>
              <a:t>☒ Mitigates publication bias</a:t>
            </a:r>
          </a:p>
          <a:p>
            <a:pPr lvl="0"/>
            <a:r>
              <a:rPr/>
              <a:t>☒ Opportunity for community feedback on project plans</a:t>
            </a:r>
          </a:p>
          <a:p>
            <a:pPr lvl="0" indent="0" marL="1270000">
              <a:buNone/>
            </a:pPr>
            <a:r>
              <a:rPr sz="2000" b="1"/>
              <a:t>Reflecting on answer</a:t>
            </a:r>
          </a:p>
          <a:p>
            <a:pPr lvl="0" indent="0" marL="1270000">
              <a:buNone/>
            </a:pPr>
            <a:r>
              <a:rPr sz="2000"/>
              <a:t>Although registered reports (and preregistrations) mitigate against questionable research practices, they do not prevent research misconduct or fraud (Yamada, 2018).</a:t>
            </a:r>
          </a:p>
        </p:txBody>
      </p:sp>
    </p:spTree>
  </p:cSl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Q2. Which from the options below is an example of how preregistrations benefit the wider research ecosystem level?</a:t>
            </a:r>
          </a:p>
          <a:p>
            <a:pPr lvl="0"/>
            <a:r>
              <a:rPr/>
              <a:t>☐ Mitigates publication bias</a:t>
            </a:r>
          </a:p>
          <a:p>
            <a:pPr lvl="0"/>
            <a:r>
              <a:rPr/>
              <a:t>☐ Improves planning and project management</a:t>
            </a:r>
          </a:p>
          <a:p>
            <a:pPr lvl="0"/>
            <a:r>
              <a:rPr/>
              <a:t>☐ Builds up reputation</a:t>
            </a:r>
          </a:p>
          <a:p>
            <a:pPr lvl="0"/>
            <a:r>
              <a:rPr/>
              <a:t>☐ Visible productivity</a:t>
            </a:r>
          </a:p>
        </p:txBody>
      </p:sp>
    </p:spTree>
  </p:cSl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A2. Which from the options below is an example of how preregistrations benefit the wider research ecosystem level?</a:t>
            </a:r>
          </a:p>
          <a:p>
            <a:pPr lvl="0"/>
            <a:r>
              <a:rPr/>
              <a:t>☒ Mitigates publication bias</a:t>
            </a:r>
          </a:p>
          <a:p>
            <a:pPr lvl="0"/>
            <a:r>
              <a:rPr/>
              <a:t>☐ Improves planning and project management</a:t>
            </a:r>
          </a:p>
          <a:p>
            <a:pPr lvl="0"/>
            <a:r>
              <a:rPr/>
              <a:t>☐ Builds up reputation</a:t>
            </a:r>
          </a:p>
          <a:p>
            <a:pPr lvl="0"/>
            <a:r>
              <a:rPr/>
              <a:t>☐ Visible productivity</a:t>
            </a:r>
          </a:p>
          <a:p>
            <a:pPr lvl="0" indent="0" marL="1270000">
              <a:buNone/>
            </a:pPr>
            <a:r>
              <a:rPr sz="2000" b="1"/>
              <a:t>Reflecting on answer</a:t>
            </a:r>
          </a:p>
          <a:p>
            <a:pPr lvl="0" indent="0" marL="1270000">
              <a:buNone/>
            </a:pPr>
            <a:r>
              <a:rPr sz="2000"/>
              <a:t>Improves planning and project management, building up reputation and visible productivity are examples of benefits at the individual researcher level.</a:t>
            </a:r>
          </a:p>
        </p:txBody>
      </p:sp>
    </p:spTree>
  </p:cSl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Q3. What can I do if I feel overwhelmed or lack time to do a preregistration?</a:t>
            </a:r>
          </a:p>
          <a:p>
            <a:pPr lvl="0"/>
            <a:r>
              <a:rPr/>
              <a:t>☐ Give up on trying out a preregistration</a:t>
            </a:r>
          </a:p>
          <a:p>
            <a:pPr lvl="0"/>
            <a:r>
              <a:rPr/>
              <a:t>☐ Find a preregistration template</a:t>
            </a:r>
          </a:p>
          <a:p>
            <a:pPr lvl="0"/>
            <a:r>
              <a:rPr/>
              <a:t>☐ Reading Frequently Asked Question pages</a:t>
            </a:r>
          </a:p>
          <a:p>
            <a:pPr lvl="0"/>
            <a:r>
              <a:rPr/>
              <a:t>☐ Trying an Open Science Buffet approach (Bergmann, 2023)</a:t>
            </a:r>
          </a:p>
        </p:txBody>
      </p:sp>
    </p:spTree>
  </p:cSl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A3. What can I do if I feel overwhelmed or lack time to do a preregistration?</a:t>
            </a:r>
          </a:p>
          <a:p>
            <a:pPr lvl="0"/>
            <a:r>
              <a:rPr/>
              <a:t>☐ Give up on trying out a preregistration</a:t>
            </a:r>
          </a:p>
          <a:p>
            <a:pPr lvl="0"/>
            <a:r>
              <a:rPr/>
              <a:t>☒ Find a preregistration template</a:t>
            </a:r>
          </a:p>
          <a:p>
            <a:pPr lvl="0"/>
            <a:r>
              <a:rPr/>
              <a:t>☒ Reading Frequently Asked Question pages</a:t>
            </a:r>
          </a:p>
          <a:p>
            <a:pPr lvl="0"/>
            <a:r>
              <a:rPr/>
              <a:t>☒ Trying an Open Science Buffet approach (Bergmann, 2023)</a:t>
            </a:r>
          </a:p>
          <a:p>
            <a:pPr lvl="0" indent="0" marL="1270000">
              <a:buNone/>
            </a:pPr>
            <a:r>
              <a:rPr sz="2000" b="1"/>
              <a:t>Reflecting on answer</a:t>
            </a:r>
          </a:p>
          <a:p>
            <a:pPr lvl="0" indent="0" marL="1270000">
              <a:buNone/>
            </a:pPr>
            <a:r>
              <a:rPr sz="2000"/>
              <a:t>When trying out a new way of working, it is common for things to feel overwhelming. The Open Science Framework (OSF) has a </a:t>
            </a:r>
            <a:r>
              <a:rPr sz="2000">
                <a:hlinkClick r:id="rId3"/>
              </a:rPr>
              <a:t>frequently asked questions</a:t>
            </a:r>
            <a:r>
              <a:rPr sz="2000"/>
              <a:t> page on preregistrations and registered reports.</a:t>
            </a:r>
          </a:p>
        </p:txBody>
      </p:sp>
    </p:spTree>
  </p:cSl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Summary of section 1</a:t>
            </a:r>
          </a:p>
        </p:txBody>
      </p:sp>
      <p:sp>
        <p:nvSpPr>
          <p:cNvPr id="3" name="Content Placeholder 2"/>
          <p:cNvSpPr>
            <a:spLocks noGrp="1"/>
          </p:cNvSpPr>
          <p:nvPr>
            <p:ph idx="1"/>
          </p:nvPr>
        </p:nvSpPr>
        <p:spPr/>
        <p:txBody>
          <a:bodyPr/>
          <a:lstStyle/>
          <a:p>
            <a:pPr lvl="0"/>
            <a:r>
              <a:rPr/>
              <a:t>Taking the time to </a:t>
            </a:r>
            <a:r>
              <a:rPr b="1"/>
              <a:t>carefully plan</a:t>
            </a:r>
            <a:r>
              <a:rPr/>
              <a:t> your study design, data collection and approach to analysis, leads to more </a:t>
            </a:r>
            <a:r>
              <a:rPr b="1"/>
              <a:t>rigorous</a:t>
            </a:r>
            <a:r>
              <a:rPr/>
              <a:t>, </a:t>
            </a:r>
            <a:r>
              <a:rPr b="1"/>
              <a:t>transparent</a:t>
            </a:r>
            <a:r>
              <a:rPr/>
              <a:t> and </a:t>
            </a:r>
            <a:r>
              <a:rPr b="1"/>
              <a:t>credible research</a:t>
            </a:r>
            <a:r>
              <a:rPr/>
              <a:t>.</a:t>
            </a:r>
            <a:br/>
          </a:p>
          <a:p>
            <a:pPr lvl="0"/>
            <a:r>
              <a:rPr/>
              <a:t>Lack of time or incentives are two common barriers to adopting the practice of study preregistration</a:t>
            </a:r>
          </a:p>
          <a:p>
            <a:pPr lvl="0"/>
            <a:r>
              <a:rPr/>
              <a:t>It is important to openly discuss and address challenges</a:t>
            </a:r>
          </a:p>
          <a:p>
            <a:pPr lvl="0"/>
            <a:r>
              <a:rPr/>
              <a:t>Preregistration does not prevent fraud or research misconduct (e.g. PARKing).</a:t>
            </a:r>
          </a:p>
          <a:p>
            <a:pPr lvl="0" indent="0" marL="1270000">
              <a:buNone/>
            </a:pPr>
            <a:r>
              <a:rPr sz="2000" b="1"/>
              <a:t>Reflection point</a:t>
            </a:r>
          </a:p>
          <a:p>
            <a:pPr lvl="0" indent="0" marL="1270000">
              <a:buNone/>
            </a:pPr>
            <a:r>
              <a:rPr sz="2000"/>
              <a:t>Which benefit and barrier resonated with you most?</a:t>
            </a:r>
          </a:p>
        </p:txBody>
      </p:sp>
    </p:spTree>
  </p:cSl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Break! 15 minutes</a:t>
            </a:r>
          </a:p>
        </p:txBody>
      </p:sp>
    </p:spTree>
  </p:cSl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Section 2: Build up your preregistration toolkit!</a:t>
            </a:r>
          </a:p>
        </p:txBody>
      </p:sp>
    </p:spTree>
  </p:cSl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Main preregistration elements</a:t>
            </a:r>
          </a:p>
        </p:txBody>
      </p:sp>
      <p:sp>
        <p:nvSpPr>
          <p:cNvPr id="3" name="Content Placeholder 2"/>
          <p:cNvSpPr>
            <a:spLocks noGrp="1"/>
          </p:cNvSpPr>
          <p:nvPr>
            <p:ph idx="1"/>
          </p:nvPr>
        </p:nvSpPr>
        <p:spPr/>
        <p:txBody>
          <a:bodyPr/>
          <a:lstStyle/>
          <a:p>
            <a:pPr lvl="0" indent="0" marL="0">
              <a:buNone/>
            </a:pPr>
            <a:r>
              <a:rPr/>
              <a:t>Recap of the main elements that make up a preregistration document:</a:t>
            </a:r>
          </a:p>
          <a:p>
            <a:pPr lvl="0"/>
            <a:r>
              <a:rPr/>
              <a:t>☐ Research questions and hypotheses</a:t>
            </a:r>
          </a:p>
          <a:p>
            <a:pPr lvl="0"/>
            <a:r>
              <a:rPr/>
              <a:t>☐ Sampling plan</a:t>
            </a:r>
          </a:p>
          <a:p>
            <a:pPr lvl="0"/>
            <a:r>
              <a:rPr/>
              <a:t>☐ Design plan</a:t>
            </a:r>
          </a:p>
          <a:p>
            <a:pPr lvl="0"/>
            <a:r>
              <a:rPr/>
              <a:t>☐ Outliers and exceptions</a:t>
            </a:r>
          </a:p>
          <a:p>
            <a:pPr lvl="0"/>
            <a:r>
              <a:rPr/>
              <a:t>☐ Analysis plan</a:t>
            </a:r>
          </a:p>
          <a:p>
            <a:pPr lvl="0" indent="0" marL="1270000">
              <a:buNone/>
            </a:pPr>
            <a:r>
              <a:rPr sz="2000" b="1"/>
              <a:t>Tip</a:t>
            </a:r>
          </a:p>
          <a:p>
            <a:pPr lvl="0" indent="0" marL="1270000">
              <a:buNone/>
            </a:pPr>
            <a:r>
              <a:rPr sz="2000"/>
              <a:t>If you need a reminder of the essential and recommended elements that make up a preregistration document see preregistration part I (LINK).</a:t>
            </a:r>
          </a:p>
        </p:txBody>
      </p:sp>
    </p:spTree>
  </p:cSld>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Exercise instructions</a:t>
            </a:r>
          </a:p>
        </p:txBody>
      </p:sp>
      <p:sp>
        <p:nvSpPr>
          <p:cNvPr id="3" name="Content Placeholder 2"/>
          <p:cNvSpPr>
            <a:spLocks noGrp="1"/>
          </p:cNvSpPr>
          <p:nvPr>
            <p:ph idx="1"/>
          </p:nvPr>
        </p:nvSpPr>
        <p:spPr/>
        <p:txBody>
          <a:bodyPr/>
          <a:lstStyle/>
          <a:p>
            <a:pPr lvl="0" indent="0" marL="0">
              <a:buNone/>
            </a:pPr>
            <a:r>
              <a:rPr/>
              <a:t>The objective of the build up your preregistration toolkit exercise is to:</a:t>
            </a:r>
          </a:p>
          <a:p>
            <a:pPr lvl="0"/>
            <a:r>
              <a:rPr b="1"/>
              <a:t>Identify</a:t>
            </a:r>
            <a:r>
              <a:rPr/>
              <a:t> what makes preregistration elements vague</a:t>
            </a:r>
          </a:p>
          <a:p>
            <a:pPr lvl="0"/>
            <a:r>
              <a:rPr b="1"/>
              <a:t>Practice</a:t>
            </a:r>
            <a:r>
              <a:rPr/>
              <a:t> improving the precision and clarity of preregistration elements</a:t>
            </a:r>
          </a:p>
          <a:p>
            <a:pPr lvl="0" indent="0" marL="0">
              <a:buNone/>
            </a:pPr>
            <a:r>
              <a:rPr/>
              <a:t>Steps:</a:t>
            </a:r>
          </a:p>
          <a:p>
            <a:pPr lvl="0" indent="-342900" marL="342900">
              <a:buAutoNum type="arabicPeriod"/>
            </a:pPr>
            <a:r>
              <a:rPr i="1"/>
              <a:t>Group practice</a:t>
            </a:r>
            <a:r>
              <a:rPr/>
              <a:t> on one example preregistration snippet</a:t>
            </a:r>
          </a:p>
          <a:p>
            <a:pPr lvl="0" indent="-342900" marL="342900">
              <a:buAutoNum type="arabicPeriod"/>
            </a:pPr>
            <a:r>
              <a:rPr i="1"/>
              <a:t>Work individually</a:t>
            </a:r>
            <a:r>
              <a:rPr/>
              <a:t> on worksheet with 8 snippets (40 minutes)</a:t>
            </a:r>
          </a:p>
        </p:txBody>
      </p:sp>
    </p:spTree>
  </p:cSld>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Group exercise</a:t>
            </a:r>
          </a:p>
        </p:txBody>
      </p:sp>
      <p:sp>
        <p:nvSpPr>
          <p:cNvPr id="3" name="Content Placeholder 2"/>
          <p:cNvSpPr>
            <a:spLocks noGrp="1"/>
          </p:cNvSpPr>
          <p:nvPr>
            <p:ph idx="1"/>
          </p:nvPr>
        </p:nvSpPr>
        <p:spPr/>
        <p:txBody>
          <a:bodyPr/>
          <a:lstStyle/>
          <a:p>
            <a:pPr lvl="0" indent="0" marL="0">
              <a:buNone/>
            </a:pPr>
            <a:r>
              <a:rPr/>
              <a:t>A research team wants to do a study on the topic of how indoor plants impact a person’s mood. Take a look at this research question:</a:t>
            </a:r>
          </a:p>
          <a:p>
            <a:pPr lvl="0" indent="0" marL="0">
              <a:buNone/>
            </a:pPr>
            <a:r>
              <a:rPr b="1"/>
              <a:t>How do indoor plants benefit people?</a:t>
            </a:r>
          </a:p>
          <a:p>
            <a:pPr lvl="0" indent="-342900" marL="342900">
              <a:buAutoNum type="arabicPeriod"/>
            </a:pPr>
            <a:r>
              <a:rPr/>
              <a:t>On your own, </a:t>
            </a:r>
            <a:r>
              <a:rPr i="1"/>
              <a:t>think</a:t>
            </a:r>
            <a:r>
              <a:rPr/>
              <a:t> about how the question can be improved</a:t>
            </a:r>
          </a:p>
          <a:p>
            <a:pPr lvl="0" indent="-342900" marL="342900">
              <a:buAutoNum type="arabicPeriod"/>
            </a:pPr>
            <a:r>
              <a:rPr i="1"/>
              <a:t>Discuss</a:t>
            </a:r>
            <a:r>
              <a:rPr/>
              <a:t> answer with neighbor and </a:t>
            </a:r>
            <a:r>
              <a:rPr i="1"/>
              <a:t>write</a:t>
            </a:r>
            <a:r>
              <a:rPr/>
              <a:t> out a joint answer</a:t>
            </a:r>
          </a:p>
          <a:p>
            <a:pPr lvl="0" indent="-342900" marL="342900">
              <a:buAutoNum type="arabicPeriod"/>
            </a:pPr>
            <a:r>
              <a:rPr/>
              <a:t>We will </a:t>
            </a:r>
            <a:r>
              <a:rPr i="1"/>
              <a:t>share</a:t>
            </a:r>
            <a:r>
              <a:rPr/>
              <a:t> our answers in class</a:t>
            </a:r>
          </a:p>
          <a:p>
            <a:pPr lvl="0" indent="0" marL="1270000">
              <a:buNone/>
            </a:pPr>
            <a:r>
              <a:rPr sz="2000" b="1"/>
              <a:t>Guiding questions</a:t>
            </a:r>
          </a:p>
          <a:p>
            <a:pPr lvl="0" indent="0" marL="1270000">
              <a:buNone/>
            </a:pPr>
            <a:r>
              <a:rPr sz="2000"/>
              <a:t>What is ambiguous about this question? How would you measure “benefit”? How would you study the interaction between plants and people?</a:t>
            </a:r>
          </a:p>
        </p:txBody>
      </p:sp>
    </p:spTree>
  </p:cSld>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Group exercise: answer</a:t>
            </a:r>
          </a:p>
        </p:txBody>
      </p:sp>
      <p:sp>
        <p:nvSpPr>
          <p:cNvPr id="3" name="Content Placeholder 2"/>
          <p:cNvSpPr>
            <a:spLocks noGrp="1"/>
          </p:cNvSpPr>
          <p:nvPr>
            <p:ph idx="1"/>
          </p:nvPr>
        </p:nvSpPr>
        <p:spPr/>
        <p:txBody>
          <a:bodyPr/>
          <a:lstStyle/>
          <a:p>
            <a:pPr lvl="0" indent="0" marL="0">
              <a:buNone/>
            </a:pPr>
            <a:r>
              <a:rPr i="1"/>
              <a:t>From:</a:t>
            </a:r>
            <a:r>
              <a:rPr/>
              <a:t> How do indoor plants benefit people?</a:t>
            </a:r>
          </a:p>
          <a:p>
            <a:pPr lvl="0" indent="0" marL="0">
              <a:buNone/>
            </a:pPr>
          </a:p>
          <a:p>
            <a:pPr lvl="0" indent="0" marL="0">
              <a:buNone/>
            </a:pPr>
            <a:r>
              <a:rPr i="1"/>
              <a:t>To:</a:t>
            </a:r>
            <a:r>
              <a:rPr/>
              <a:t> How does having physical contact with indoor plants reduce psychological and physiological stress in young-adult office workers?</a:t>
            </a:r>
          </a:p>
          <a:p>
            <a:pPr lvl="0" indent="0" marL="1270000">
              <a:buNone/>
            </a:pPr>
            <a:r>
              <a:rPr sz="2000" b="1"/>
              <a:t>Note</a:t>
            </a:r>
          </a:p>
          <a:p>
            <a:pPr lvl="0" indent="0" marL="1270000">
              <a:buNone/>
            </a:pPr>
            <a:r>
              <a:rPr sz="2000"/>
              <a:t>Notice how the improved answer states the type of interaction between plants and people, more specific details about types of benefits of interest and the target demographic (e.g. young-adult office workers).</a:t>
            </a:r>
          </a:p>
        </p:txBody>
      </p:sp>
    </p:spTree>
  </p:cSld>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Now it is your turn!</a:t>
            </a:r>
          </a:p>
        </p:txBody>
      </p:sp>
      <p:sp>
        <p:nvSpPr>
          <p:cNvPr id="3" name="Content Placeholder 2"/>
          <p:cNvSpPr>
            <a:spLocks noGrp="1"/>
          </p:cNvSpPr>
          <p:nvPr>
            <p:ph idx="1"/>
          </p:nvPr>
        </p:nvSpPr>
        <p:spPr/>
        <p:txBody>
          <a:bodyPr/>
          <a:lstStyle/>
          <a:p>
            <a:pPr lvl="0" indent="-342900" marL="342900">
              <a:buAutoNum type="arabicPeriod"/>
            </a:pPr>
            <a:r>
              <a:rPr b="1"/>
              <a:t>Access</a:t>
            </a:r>
            <a:r>
              <a:rPr/>
              <a:t> worksheet [LINK]</a:t>
            </a:r>
          </a:p>
          <a:p>
            <a:pPr lvl="0" indent="-342900" marL="342900">
              <a:buAutoNum type="arabicPeriod"/>
            </a:pPr>
            <a:r>
              <a:rPr b="1"/>
              <a:t>Read</a:t>
            </a:r>
            <a:r>
              <a:rPr/>
              <a:t> instructions</a:t>
            </a:r>
          </a:p>
          <a:p>
            <a:pPr lvl="0" indent="-342900" marL="342900">
              <a:buAutoNum type="arabicPeriod"/>
            </a:pPr>
            <a:r>
              <a:rPr b="1"/>
              <a:t>Work</a:t>
            </a:r>
            <a:r>
              <a:rPr/>
              <a:t> through improving the snippets (40 minutes)</a:t>
            </a:r>
          </a:p>
        </p:txBody>
      </p:sp>
    </p:spTree>
  </p:cSld>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Exercise reflections</a:t>
            </a:r>
          </a:p>
        </p:txBody>
      </p:sp>
    </p:spTree>
  </p:cSld>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Assignment</a:t>
            </a:r>
          </a:p>
        </p:txBody>
      </p:sp>
      <p:sp>
        <p:nvSpPr>
          <p:cNvPr id="3" name="Content Placeholder 2"/>
          <p:cNvSpPr>
            <a:spLocks noGrp="1"/>
          </p:cNvSpPr>
          <p:nvPr>
            <p:ph idx="1"/>
          </p:nvPr>
        </p:nvSpPr>
        <p:spPr/>
        <p:txBody>
          <a:bodyPr/>
          <a:lstStyle/>
          <a:p>
            <a:pPr lvl="0" indent="0" marL="0">
              <a:buNone/>
            </a:pPr>
            <a:r>
              <a:rPr/>
              <a:t>One step at a time, then tell a buddy!</a:t>
            </a:r>
          </a:p>
          <a:p>
            <a:pPr lvl="0" indent="-342900" marL="342900">
              <a:buAutoNum type="arabicPeriod"/>
            </a:pPr>
            <a:r>
              <a:rPr i="1"/>
              <a:t>Self-reflect</a:t>
            </a:r>
            <a:r>
              <a:rPr/>
              <a:t> and commit to taking one action related to the preregistration process</a:t>
            </a:r>
          </a:p>
          <a:p>
            <a:pPr lvl="0" indent="-342900" marL="342900">
              <a:buAutoNum type="arabicPeriod"/>
            </a:pPr>
            <a:r>
              <a:rPr/>
              <a:t>Once you have chosen an action, </a:t>
            </a:r>
            <a:r>
              <a:rPr i="1"/>
              <a:t>tell a friend</a:t>
            </a:r>
            <a:r>
              <a:rPr/>
              <a:t> for accountability!</a:t>
            </a:r>
          </a:p>
          <a:p>
            <a:pPr lvl="0" indent="0" marL="1270000">
              <a:buNone/>
            </a:pPr>
            <a:r>
              <a:rPr sz="2000" b="1"/>
              <a:t>Possible actions</a:t>
            </a:r>
          </a:p>
          <a:p>
            <a:pPr lvl="0" indent="0" marL="1270000">
              <a:buNone/>
            </a:pPr>
            <a:r>
              <a:rPr sz="2000"/>
              <a:t>Writing out clearer hypotheses, researching a study registration template for your subject area. See “additional resources” in build up your preregistration toolkit worksheet.</a:t>
            </a:r>
          </a:p>
        </p:txBody>
      </p:sp>
    </p:spTree>
  </p:cSld>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To conclude: Survey time!</a:t>
            </a:r>
          </a:p>
        </p:txBody>
      </p:sp>
    </p:spTree>
  </p:cSld>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1. What is your level of familiarity with the key components of a preregistration (e.g., elements found in a preregistration document )?</a:t>
            </a:r>
          </a:p>
          <a:p>
            <a:pPr lvl="0"/>
            <a:r>
              <a:rPr/>
              <a:t>☐ 1. I don’t know</a:t>
            </a:r>
          </a:p>
          <a:p>
            <a:pPr lvl="0"/>
            <a:r>
              <a:rPr/>
              <a:t>☐ 2. I know a few key components</a:t>
            </a:r>
          </a:p>
          <a:p>
            <a:pPr lvl="0"/>
            <a:r>
              <a:rPr/>
              <a:t>☐ 3. I have a good grasp of the key components</a:t>
            </a:r>
          </a:p>
          <a:p>
            <a:pPr lvl="0"/>
            <a:r>
              <a:rPr/>
              <a:t>☐ 4. I am very familiar/have done a preregistration before</a:t>
            </a:r>
          </a:p>
        </p:txBody>
      </p:sp>
    </p:spTree>
  </p:cSld>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2. How would you rate your confidence to carry out a preregistration for your study?</a:t>
            </a:r>
            <a:r>
              <a:rPr/>
              <a:t>   (1 to 5 scale: </a:t>
            </a:r>
            <a:r>
              <a:rPr b="1"/>
              <a:t>1</a:t>
            </a:r>
            <a:r>
              <a:rPr/>
              <a:t> = Not confident at all, </a:t>
            </a:r>
            <a:r>
              <a:rPr b="1"/>
              <a:t>2</a:t>
            </a:r>
            <a:r>
              <a:rPr/>
              <a:t> = Slightly confident, </a:t>
            </a:r>
            <a:r>
              <a:rPr b="1"/>
              <a:t>3</a:t>
            </a:r>
            <a:r>
              <a:rPr/>
              <a:t> = Somewhat confident, </a:t>
            </a:r>
            <a:r>
              <a:rPr b="1"/>
              <a:t>4</a:t>
            </a:r>
            <a:r>
              <a:rPr/>
              <a:t> = Very confident, </a:t>
            </a:r>
            <a:r>
              <a:rPr b="1"/>
              <a:t>5</a:t>
            </a:r>
            <a:r>
              <a:rPr/>
              <a:t> = Completely confident)</a:t>
            </a:r>
          </a:p>
          <a:p>
            <a:pPr lvl="0"/>
            <a:r>
              <a:rPr/>
              <a:t>☐ 1. Not confident at all</a:t>
            </a:r>
          </a:p>
          <a:p>
            <a:pPr lvl="0"/>
            <a:r>
              <a:rPr/>
              <a:t>☐ 2. Slightly confident</a:t>
            </a:r>
          </a:p>
          <a:p>
            <a:pPr lvl="0"/>
            <a:r>
              <a:rPr/>
              <a:t>☐ 3. Somewhat confident</a:t>
            </a:r>
          </a:p>
          <a:p>
            <a:pPr lvl="0"/>
            <a:r>
              <a:rPr/>
              <a:t>☐ 4. Very confident</a:t>
            </a:r>
          </a:p>
          <a:p>
            <a:pPr lvl="0"/>
            <a:r>
              <a:rPr/>
              <a:t>☐ 5. Completely confident</a:t>
            </a:r>
          </a:p>
        </p:txBody>
      </p:sp>
    </p:spTree>
  </p:cSld>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Final Summary</a:t>
            </a:r>
          </a:p>
        </p:txBody>
      </p:sp>
      <p:sp>
        <p:nvSpPr>
          <p:cNvPr id="3" name="Content Placeholder 2"/>
          <p:cNvSpPr>
            <a:spLocks noGrp="1"/>
          </p:cNvSpPr>
          <p:nvPr>
            <p:ph idx="1"/>
          </p:nvPr>
        </p:nvSpPr>
        <p:spPr/>
        <p:txBody>
          <a:bodyPr/>
          <a:lstStyle/>
          <a:p>
            <a:pPr lvl="0"/>
            <a:r>
              <a:rPr/>
              <a:t>Preregistration and registered reports offer many </a:t>
            </a:r>
            <a:r>
              <a:rPr b="1"/>
              <a:t>benefits</a:t>
            </a:r>
            <a:r>
              <a:rPr/>
              <a:t> to researchers, teams and the wider community (e.g. </a:t>
            </a:r>
            <a:r>
              <a:rPr b="1"/>
              <a:t>building reputation</a:t>
            </a:r>
            <a:r>
              <a:rPr/>
              <a:t> and more </a:t>
            </a:r>
            <a:r>
              <a:rPr b="1"/>
              <a:t>rigorous</a:t>
            </a:r>
            <a:r>
              <a:rPr/>
              <a:t>, </a:t>
            </a:r>
            <a:r>
              <a:rPr b="1"/>
              <a:t>transparent</a:t>
            </a:r>
            <a:r>
              <a:rPr/>
              <a:t> and </a:t>
            </a:r>
            <a:r>
              <a:rPr b="1"/>
              <a:t>credible research</a:t>
            </a:r>
            <a:r>
              <a:rPr/>
              <a:t>).</a:t>
            </a:r>
          </a:p>
          <a:p>
            <a:pPr lvl="0"/>
            <a:r>
              <a:rPr/>
              <a:t>A number of </a:t>
            </a:r>
            <a:r>
              <a:rPr b="1"/>
              <a:t>challenges</a:t>
            </a:r>
            <a:r>
              <a:rPr/>
              <a:t> exist to the wider uptake of preregistration (e.g. perceived inflexibility, time commitment, overwhelm).</a:t>
            </a:r>
          </a:p>
          <a:p>
            <a:pPr lvl="0"/>
            <a:r>
              <a:rPr/>
              <a:t>Adopting a </a:t>
            </a:r>
            <a:r>
              <a:rPr b="1"/>
              <a:t>few elements</a:t>
            </a:r>
            <a:r>
              <a:rPr/>
              <a:t> of study preregistration at a time is good approach to working your way up completing a preregistration or registered report.</a:t>
            </a:r>
          </a:p>
          <a:p>
            <a:pPr lvl="0"/>
            <a:r>
              <a:rPr/>
              <a:t>There are lots of places to get </a:t>
            </a:r>
            <a:r>
              <a:rPr b="1"/>
              <a:t>support</a:t>
            </a:r>
            <a:r>
              <a:rPr/>
              <a:t> (e.g. Open Science Framework community pages).</a:t>
            </a:r>
          </a:p>
        </p:txBody>
      </p:sp>
    </p:spTree>
  </p:cSld>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Additional resources</a:t>
            </a:r>
          </a:p>
        </p:txBody>
      </p:sp>
      <p:sp>
        <p:nvSpPr>
          <p:cNvPr id="3" name="Content Placeholder 2"/>
          <p:cNvSpPr>
            <a:spLocks noGrp="1"/>
          </p:cNvSpPr>
          <p:nvPr>
            <p:ph idx="1"/>
          </p:nvPr>
        </p:nvSpPr>
        <p:spPr/>
        <p:txBody>
          <a:bodyPr/>
          <a:lstStyle/>
          <a:p>
            <a:pPr lvl="0" indent="0" marL="0">
              <a:buNone/>
            </a:pPr>
            <a:r>
              <a:rPr>
                <a:hlinkClick r:id="rId2"/>
              </a:rPr>
              <a:t>Discussion</a:t>
            </a:r>
            <a:r>
              <a:rPr/>
              <a:t> about merits vs limits of study preregistration from IEEE Visualization Conference 2022</a:t>
            </a:r>
          </a:p>
        </p:txBody>
      </p:sp>
    </p:spTree>
  </p:cSld>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References</a:t>
            </a:r>
          </a:p>
        </p:txBody>
      </p:sp>
      <p:sp>
        <p:nvSpPr>
          <p:cNvPr id="3" name="Content Placeholder 2"/>
          <p:cNvSpPr>
            <a:spLocks noGrp="1"/>
          </p:cNvSpPr>
          <p:nvPr>
            <p:ph idx="1"/>
          </p:nvPr>
        </p:nvSpPr>
        <p:spPr/>
        <p:txBody>
          <a:bodyPr/>
          <a:lstStyle/>
          <a:p>
            <a:pPr lvl="0" indent="0" marL="0">
              <a:buNone/>
            </a:pPr>
            <a:r>
              <a:rPr/>
              <a:t>Bergmann, C. (2023). </a:t>
            </a:r>
            <a:r>
              <a:rPr i="1"/>
              <a:t>The Buffet Approach to Open Science</a:t>
            </a:r>
            <a:r>
              <a:rPr/>
              <a:t>.</a:t>
            </a:r>
          </a:p>
          <a:p>
            <a:pPr lvl="0" indent="0" marL="0">
              <a:buNone/>
            </a:pPr>
            <a:r>
              <a:rPr/>
              <a:t>Binney, R. J., Smith, L. J., Rossit, S., Demeyere, N., Learmonth, G., Olgiati, E., Halai, A. D., Rounis, E., Evans, J., Edelstyn, N. M. J., &amp; McIntosh, R. D. (2025). Practical routes to preregistration: A guide to enhanced transparency and rigour in neuropsychological research. </a:t>
            </a:r>
            <a:r>
              <a:rPr i="1"/>
              <a:t>Brain Communications</a:t>
            </a:r>
            <a:r>
              <a:rPr/>
              <a:t>, </a:t>
            </a:r>
            <a:r>
              <a:rPr i="1"/>
              <a:t>7</a:t>
            </a:r>
            <a:r>
              <a:rPr/>
              <a:t>(3), fcaf162. </a:t>
            </a:r>
            <a:r>
              <a:rPr>
                <a:hlinkClick r:id="rId2"/>
              </a:rPr>
              <a:t>https://doi.org/10.1093/braincomms/fcaf162</a:t>
            </a:r>
          </a:p>
          <a:p>
            <a:pPr lvl="0" indent="0" marL="0">
              <a:buNone/>
            </a:pPr>
            <a:r>
              <a:rPr/>
              <a:t>DeHaven, A. C. (2017). Preregistration: A Plan, Not a Prison. In </a:t>
            </a:r>
            <a:r>
              <a:rPr i="1"/>
              <a:t>Preregistration: A Plan, Not a Prison</a:t>
            </a:r>
            <a:r>
              <a:rPr/>
              <a:t>.</a:t>
            </a:r>
          </a:p>
          <a:p>
            <a:pPr lvl="0" indent="0" marL="0">
              <a:buNone/>
            </a:pPr>
            <a:r>
              <a:rPr/>
              <a:t>Gya, R., Birkeli, K., Dahle, I. J., Foote, C. G., Geange, S. R., Lynn, J. S., Töpper, J. P., Vandvik, V., Zernichow, C., &amp; Jenkins, G. B. (2023). Registered Reports: A new chapter at </a:t>
            </a:r>
            <a:r>
              <a:rPr i="1"/>
              <a:t>Ecology</a:t>
            </a:r>
            <a:r>
              <a:rPr/>
              <a:t> </a:t>
            </a:r>
            <a:r>
              <a:rPr i="1"/>
              <a:t>&amp;</a:t>
            </a:r>
            <a:r>
              <a:rPr/>
              <a:t> </a:t>
            </a:r>
            <a:r>
              <a:rPr i="1"/>
              <a:t>Evolution</a:t>
            </a:r>
            <a:r>
              <a:rPr/>
              <a:t>. </a:t>
            </a:r>
            <a:r>
              <a:rPr i="1"/>
              <a:t>Ecology and Evolution</a:t>
            </a:r>
            <a:r>
              <a:rPr/>
              <a:t>, </a:t>
            </a:r>
            <a:r>
              <a:rPr i="1"/>
              <a:t>13</a:t>
            </a:r>
            <a:r>
              <a:rPr/>
              <a:t>(4), e10023. </a:t>
            </a:r>
            <a:r>
              <a:rPr>
                <a:hlinkClick r:id="rId3"/>
              </a:rPr>
              <a:t>https://doi.org/10.1002/ece3.10023</a:t>
            </a:r>
          </a:p>
          <a:p>
            <a:pPr lvl="0" indent="0" marL="0">
              <a:buNone/>
            </a:pPr>
            <a:r>
              <a:rPr/>
              <a:t>Lakens, D. (2024). When and How to Deviate From a Preregistration. </a:t>
            </a:r>
            <a:r>
              <a:rPr i="1"/>
              <a:t>Collabra: Psychology</a:t>
            </a:r>
            <a:r>
              <a:rPr/>
              <a:t>, </a:t>
            </a:r>
            <a:r>
              <a:rPr i="1"/>
              <a:t>10</a:t>
            </a:r>
            <a:r>
              <a:rPr/>
              <a:t>(1), 117094. </a:t>
            </a:r>
            <a:r>
              <a:rPr>
                <a:hlinkClick r:id="rId4"/>
              </a:rPr>
              <a:t>https://doi.org/10.1525/collabra.117094</a:t>
            </a:r>
          </a:p>
          <a:p>
            <a:pPr lvl="0" indent="0" marL="0">
              <a:buNone/>
            </a:pPr>
            <a:r>
              <a:rPr/>
              <a:t>Parsons, S., Azevedo, F., Elsherif, M. M., Guay, S., Shahim, O. N., Govaart, G. H., Norris, E., O’Mahony, A., Parker, A. J., Todorovic, A., Pennington, C. R., Garcia-Pelegrin, E., Lazić, A., Robertson, O., Middleton, S. L., Valentini, B., McCuaig, J., Baker, B. J., Collins, E., … Aczel, B. (2022). A community-sourced glossary of open scholarship terms. </a:t>
            </a:r>
            <a:r>
              <a:rPr i="1"/>
              <a:t>Nature Human Behaviour</a:t>
            </a:r>
            <a:r>
              <a:rPr/>
              <a:t>, </a:t>
            </a:r>
            <a:r>
              <a:rPr i="1"/>
              <a:t>6</a:t>
            </a:r>
            <a:r>
              <a:rPr/>
              <a:t>(3), 312–318. </a:t>
            </a:r>
            <a:r>
              <a:rPr>
                <a:hlinkClick r:id="rId5"/>
              </a:rPr>
              <a:t>https://doi.org/10.1038/s41562-021-01269-4</a:t>
            </a:r>
          </a:p>
          <a:p>
            <a:pPr lvl="0" indent="0" marL="0">
              <a:buNone/>
            </a:pPr>
            <a:r>
              <a:rPr/>
              <a:t>Wagenmakers, E.-J., &amp; Dutilh, G. (2016). </a:t>
            </a:r>
            <a:r>
              <a:rPr i="1"/>
              <a:t>Seven Selfish Reasons for Preregistration</a:t>
            </a:r>
            <a:r>
              <a:rPr/>
              <a:t>.</a:t>
            </a:r>
          </a:p>
          <a:p>
            <a:pPr lvl="0" indent="0" marL="0">
              <a:buNone/>
            </a:pPr>
            <a:r>
              <a:rPr/>
              <a:t>Yamada, Y. (2018). How to Crack Pre-registration: Toward Transparent and Open Science. </a:t>
            </a:r>
            <a:r>
              <a:rPr i="1"/>
              <a:t>Frontiers in Psychology</a:t>
            </a:r>
            <a:r>
              <a:rPr/>
              <a:t>, </a:t>
            </a:r>
            <a:r>
              <a:rPr i="1"/>
              <a:t>9</a:t>
            </a:r>
            <a:r>
              <a:rPr/>
              <a:t>, 1831. </a:t>
            </a:r>
            <a:r>
              <a:rPr>
                <a:hlinkClick r:id="rId6"/>
              </a:rPr>
              <a:t>https://doi.org/10.3389/fpsyg.2018.01831</a:t>
            </a:r>
          </a:p>
        </p:txBody>
      </p:sp>
    </p:spTree>
  </p:cSld>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Licence and citation statement</a:t>
            </a:r>
          </a:p>
        </p:txBody>
      </p:sp>
      <p:sp>
        <p:nvSpPr>
          <p:cNvPr id="3" name="Content Placeholder 2"/>
          <p:cNvSpPr>
            <a:spLocks noGrp="1"/>
          </p:cNvSpPr>
          <p:nvPr>
            <p:ph idx="1"/>
          </p:nvPr>
        </p:nvSpPr>
        <p:spPr/>
        <p:txBody>
          <a:bodyPr/>
          <a:lstStyle/>
          <a:p>
            <a:pPr lvl="0" indent="0" marL="0">
              <a:buNone/>
            </a:pPr>
          </a:p>
          <a:p>
            <a:pPr lvl="0" indent="0" marL="0">
              <a:buNone/>
            </a:pPr>
          </a:p>
          <a:p>
            <a:pPr lvl="0" indent="0" marL="0">
              <a:buNone/>
            </a:pPr>
            <a:r>
              <a:rPr/>
              <a:t>This current work by Sara Lil Middleton and Malika Ihle is licensed under a </a:t>
            </a:r>
            <a:r>
              <a:rPr>
                <a:hlinkClick r:id="rId3"/>
              </a:rPr>
              <a:t>Creative Commons Attribution 4.0 International SA License</a:t>
            </a:r>
            <a:r>
              <a:rPr/>
              <a:t> (CC-BY-SA 4.0).</a:t>
            </a:r>
          </a:p>
          <a:p>
            <a:pPr lvl="0" indent="0" marL="0">
              <a:buNone/>
            </a:pPr>
            <a:r>
              <a:rPr/>
              <a:t>Please cite these materials as: Middleton, L. S. &amp; Ihle, M. (2026). </a:t>
            </a:r>
            <a:r>
              <a:rPr i="1"/>
              <a:t>Preregistration part II: benefits, barriers and building up skills</a:t>
            </a:r>
            <a:r>
              <a:rPr/>
              <a:t> [Quarto slides]. </a:t>
            </a:r>
            <a:r>
              <a:rPr>
                <a:hlinkClick r:id="rId4"/>
              </a:rPr>
              <a:t>LMU Open Science Center</a:t>
            </a:r>
            <a:r>
              <a:rPr/>
              <a:t> and </a:t>
            </a:r>
            <a:r>
              <a:rPr>
                <a:hlinkClick r:id="rId5"/>
              </a:rPr>
              <a:t>FORRT</a:t>
            </a:r>
            <a:r>
              <a:rPr/>
              <a:t>. </a:t>
            </a:r>
            <a:r>
              <a:rPr>
                <a:hlinkClick r:id="rId6"/>
              </a:rPr>
              <a:t>https://lmu-osc.github.io/teaching-material-for-novices/open-research-principles/preregistration-part-II</a:t>
            </a:r>
          </a:p>
        </p:txBody>
      </p:sp>
    </p:spTree>
  </p:cSld>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Contribution statement</a:t>
            </a:r>
          </a:p>
        </p:txBody>
      </p:sp>
      <p:sp>
        <p:nvSpPr>
          <p:cNvPr id="3" name="Content Placeholder 2"/>
          <p:cNvSpPr>
            <a:spLocks noGrp="1"/>
          </p:cNvSpPr>
          <p:nvPr>
            <p:ph idx="1"/>
          </p:nvPr>
        </p:nvSpPr>
        <p:spPr/>
        <p:txBody>
          <a:bodyPr/>
          <a:lstStyle/>
          <a:p>
            <a:pPr lvl="0" indent="0" marL="0">
              <a:buNone/>
            </a:pPr>
            <a:r>
              <a:rPr b="1"/>
              <a:t>Creator</a:t>
            </a:r>
            <a:r>
              <a:rPr/>
              <a:t>: Middleton, Sara Lil (</a:t>
            </a:r>
            <a:r>
              <a:rPr>
                <a:hlinkClick r:id="rId2"/>
              </a:rPr>
              <a:t>0000-0001-5307-8029</a:t>
            </a:r>
            <a:r>
              <a:rPr/>
              <a:t>)</a:t>
            </a:r>
          </a:p>
          <a:p>
            <a:pPr lvl="0" indent="0" marL="0">
              <a:buNone/>
            </a:pPr>
            <a:r>
              <a:rPr b="1"/>
              <a:t>Reviewer</a:t>
            </a:r>
            <a:r>
              <a:rPr/>
              <a:t>: Ihle, Malika ( </a:t>
            </a:r>
            <a:r>
              <a:rPr>
                <a:hlinkClick r:id="rId3"/>
              </a:rPr>
              <a:t>0000-0002-3242-5981</a:t>
            </a:r>
            <a:r>
              <a:rPr/>
              <a:t>)</a:t>
            </a:r>
          </a:p>
          <a:p>
            <a:pPr lvl="0" indent="0" marL="0">
              <a:buNone/>
            </a:pPr>
            <a:r>
              <a:rPr b="1"/>
              <a:t>Acknowledgments</a:t>
            </a:r>
            <a:r>
              <a:rPr/>
              <a:t>: Gracia Prum and Dejana Damjanovic</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Preregistration part II: benefits, barriers and building up skills</dc:title>
  <dc:creator>Sara Lil Middleton</dc:creator>
  <cp:keywords/>
  <dcterms:created xsi:type="dcterms:W3CDTF">2026-10-29T10:49:19Z</dcterms:created>
  <dcterms:modified xsi:type="dcterms:W3CDTF">2026-10-29T10:49:19Z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uthors">
    <vt:lpwstr/>
  </property>
  <property fmtid="{D5CDD505-2E9C-101B-9397-08002B2CF9AE}" pid="3" name="biblio-config">
    <vt:lpwstr>True</vt:lpwstr>
  </property>
  <property fmtid="{D5CDD505-2E9C-101B-9397-08002B2CF9AE}" pid="4" name="bibliography">
    <vt:lpwstr>../../assets/references.bib</vt:lpwstr>
  </property>
  <property fmtid="{D5CDD505-2E9C-101B-9397-08002B2CF9AE}" pid="5" name="by-author">
    <vt:lpwstr/>
  </property>
  <property fmtid="{D5CDD505-2E9C-101B-9397-08002B2CF9AE}" pid="6" name="csl">
    <vt:lpwstr>../../assets/apa.csl</vt:lpwstr>
  </property>
  <property fmtid="{D5CDD505-2E9C-101B-9397-08002B2CF9AE}" pid="7" name="date">
    <vt:lpwstr>29/10/2026</vt:lpwstr>
  </property>
  <property fmtid="{D5CDD505-2E9C-101B-9397-08002B2CF9AE}" pid="8" name="date-format">
    <vt:lpwstr>DD/MM/YYYY</vt:lpwstr>
  </property>
  <property fmtid="{D5CDD505-2E9C-101B-9397-08002B2CF9AE}" pid="9" name="draft">
    <vt:lpwstr>True</vt:lpwstr>
  </property>
  <property fmtid="{D5CDD505-2E9C-101B-9397-08002B2CF9AE}" pid="10" name="editor">
    <vt:lpwstr/>
  </property>
  <property fmtid="{D5CDD505-2E9C-101B-9397-08002B2CF9AE}" pid="11" name="execute">
    <vt:lpwstr/>
  </property>
  <property fmtid="{D5CDD505-2E9C-101B-9397-08002B2CF9AE}" pid="12" name="header-includes">
    <vt:lpwstr/>
  </property>
  <property fmtid="{D5CDD505-2E9C-101B-9397-08002B2CF9AE}" pid="13" name="include-after">
    <vt:lpwstr/>
  </property>
  <property fmtid="{D5CDD505-2E9C-101B-9397-08002B2CF9AE}" pid="14" name="include-before">
    <vt:lpwstr/>
  </property>
  <property fmtid="{D5CDD505-2E9C-101B-9397-08002B2CF9AE}" pid="15" name="labels">
    <vt:lpwstr/>
  </property>
  <property fmtid="{D5CDD505-2E9C-101B-9397-08002B2CF9AE}" pid="16" name="repo-url">
    <vt:lpwstr>https://github.com/lmu-osc/teaching-material-for-novices</vt:lpwstr>
  </property>
  <property fmtid="{D5CDD505-2E9C-101B-9397-08002B2CF9AE}" pid="17" name="toc-title">
    <vt:lpwstr>Table of contents</vt:lpwstr>
  </property>
</Properties>
</file>