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9753600" cx="13004800"/>
  <p:notesSz cx="6858000" cy="9144000"/>
  <p:embeddedFontLst>
    <p:embeddedFont>
      <p:font typeface="Radley"/>
      <p:regular r:id="rId40"/>
      <p:italic r:id="rId41"/>
    </p:embeddedFont>
    <p:embeddedFont>
      <p:font typeface="Helvetica Neue"/>
      <p:regular r:id="rId42"/>
      <p:bold r:id="rId43"/>
      <p:italic r:id="rId44"/>
      <p:boldItalic r:id="rId45"/>
    </p:embeddedFont>
    <p:embeddedFont>
      <p:font typeface="Gill Sans"/>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adley-regular.fntdata"/><Relationship Id="rId20" Type="http://schemas.openxmlformats.org/officeDocument/2006/relationships/slide" Target="slides/slide16.xml"/><Relationship Id="rId42" Type="http://schemas.openxmlformats.org/officeDocument/2006/relationships/font" Target="fonts/HelveticaNeue-regular.fntdata"/><Relationship Id="rId41" Type="http://schemas.openxmlformats.org/officeDocument/2006/relationships/font" Target="fonts/Radley-italic.fntdata"/><Relationship Id="rId22" Type="http://schemas.openxmlformats.org/officeDocument/2006/relationships/slide" Target="slides/slide18.xml"/><Relationship Id="rId44" Type="http://schemas.openxmlformats.org/officeDocument/2006/relationships/font" Target="fonts/HelveticaNeue-italic.fntdata"/><Relationship Id="rId21" Type="http://schemas.openxmlformats.org/officeDocument/2006/relationships/slide" Target="slides/slide17.xml"/><Relationship Id="rId43" Type="http://schemas.openxmlformats.org/officeDocument/2006/relationships/font" Target="fonts/HelveticaNeue-bold.fntdata"/><Relationship Id="rId24" Type="http://schemas.openxmlformats.org/officeDocument/2006/relationships/slide" Target="slides/slide20.xml"/><Relationship Id="rId46" Type="http://schemas.openxmlformats.org/officeDocument/2006/relationships/font" Target="fonts/GillSans-regular.fntdata"/><Relationship Id="rId23" Type="http://schemas.openxmlformats.org/officeDocument/2006/relationships/slide" Target="slides/slide19.xml"/><Relationship Id="rId45" Type="http://schemas.openxmlformats.org/officeDocument/2006/relationships/font" Target="fonts/HelveticaNeue-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47" Type="http://schemas.openxmlformats.org/officeDocument/2006/relationships/font" Target="fonts/GillSans-bold.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6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6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6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6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6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6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6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6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600" u="none" cap="none" strike="noStrike">
                <a:solidFill>
                  <a:srgbClr val="000000"/>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ubsonline.informs.org/doi/10.1287/mnsc.2023.03556" TargetMode="External"/><Relationship Id="rId3" Type="http://schemas.openxmlformats.org/officeDocument/2006/relationships/hyperlink" Target="https://pubsonline.informs.org/doi/10.1287/mnsc.2023.03556"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0" Type="http://schemas.openxmlformats.org/officeDocument/2006/relationships/hyperlink" Target="https://www.gesis.org/en/gesis-panel/about-gesis-panel" TargetMode="External"/><Relationship Id="rId11" Type="http://schemas.openxmlformats.org/officeDocument/2006/relationships/hyperlink" Target="https://ojs.ub.uni-konstanz.de/srm/article/view/8473/7740" TargetMode="External"/><Relationship Id="rId22" Type="http://schemas.openxmlformats.org/officeDocument/2006/relationships/hyperlink" Target="https://www.gesis.org/en/gesis-panel" TargetMode="External"/><Relationship Id="rId10" Type="http://schemas.openxmlformats.org/officeDocument/2006/relationships/hyperlink" Target="https://www.diw.de/en/diw_01.c.615551.en/research_infrastructure__socio-economic_panel__soep.html" TargetMode="External"/><Relationship Id="rId21" Type="http://schemas.openxmlformats.org/officeDocument/2006/relationships/hyperlink" Target="https://www.gesis.org/en/gesis-panel" TargetMode="External"/><Relationship Id="rId13" Type="http://schemas.openxmlformats.org/officeDocument/2006/relationships/hyperlink" Target="https://www.gesis.org/en/gesis-panel" TargetMode="External"/><Relationship Id="rId12" Type="http://schemas.openxmlformats.org/officeDocument/2006/relationships/hyperlink" Target="https://www.gesis.org/en/gesis-panel" TargetMode="External"/><Relationship Id="rId1" Type="http://schemas.openxmlformats.org/officeDocument/2006/relationships/notesMaster" Target="../notesMasters/notesMaster1.xml"/><Relationship Id="rId2" Type="http://schemas.openxmlformats.org/officeDocument/2006/relationships/hyperlink" Target="https://www.diw.de/en/diw_01.c.615551.en/research_infrastructure__socio-economic_panel__soep.html" TargetMode="External"/><Relationship Id="rId3" Type="http://schemas.openxmlformats.org/officeDocument/2006/relationships/hyperlink" Target="https://www.gesis.org/en/gesis-panel" TargetMode="External"/><Relationship Id="rId4" Type="http://schemas.openxmlformats.org/officeDocument/2006/relationships/hyperlink" Target="https://www.gesis.org/en/gesis-panel" TargetMode="External"/><Relationship Id="rId9" Type="http://schemas.openxmlformats.org/officeDocument/2006/relationships/hyperlink" Target="https://www.diw.de/en/diw_01.c.615551.en/research_infrastructure__socio-economic_panel__soep.html" TargetMode="External"/><Relationship Id="rId15" Type="http://schemas.openxmlformats.org/officeDocument/2006/relationships/hyperlink" Target="https://www.gesis.org/en/gesis-panel" TargetMode="External"/><Relationship Id="rId14" Type="http://schemas.openxmlformats.org/officeDocument/2006/relationships/hyperlink" Target="https://www.gesis.org/en/gesis-panel" TargetMode="External"/><Relationship Id="rId17" Type="http://schemas.openxmlformats.org/officeDocument/2006/relationships/hyperlink" Target="https://www.gesis.org/en/gesis-panel" TargetMode="External"/><Relationship Id="rId16" Type="http://schemas.openxmlformats.org/officeDocument/2006/relationships/hyperlink" Target="https://www.gesis.org/en/gesis-panel/about-gesis-panel" TargetMode="External"/><Relationship Id="rId5" Type="http://schemas.openxmlformats.org/officeDocument/2006/relationships/hyperlink" Target="https://www.diw.de/en/diw_01.c.615551.en/research_infrastructure__socio-economic_panel__soep.html" TargetMode="External"/><Relationship Id="rId19" Type="http://schemas.openxmlformats.org/officeDocument/2006/relationships/hyperlink" Target="https://www.gesis.org/en/gesis-panel/about-gesis-panel" TargetMode="External"/><Relationship Id="rId6" Type="http://schemas.openxmlformats.org/officeDocument/2006/relationships/hyperlink" Target="https://www.diw.de/documents/publikationen/73/diw_01.c.1003843.de/diw_ssp1644.pdf" TargetMode="External"/><Relationship Id="rId18" Type="http://schemas.openxmlformats.org/officeDocument/2006/relationships/hyperlink" Target="https://www.gesis.org/en/gesis-panel/about-gesis-panel" TargetMode="External"/><Relationship Id="rId7" Type="http://schemas.openxmlformats.org/officeDocument/2006/relationships/hyperlink" Target="https://www.diw.de/en/diw_01.c.997313.en/edition/soep-core_v41t__data_1984-2024__teaching_edition.html" TargetMode="External"/><Relationship Id="rId8" Type="http://schemas.openxmlformats.org/officeDocument/2006/relationships/hyperlink" Target="https://www.diw.de/en/diw_01.c.997313.en/edition/soep-core_v41t__data_1984-2024__teaching_edition.html"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 name="Google Shape;32;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Good morning, everyone. This </a:t>
            </a:r>
            <a:r>
              <a:rPr lang="en-US"/>
              <a:t>talk</a:t>
            </a:r>
            <a:r>
              <a:rPr b="0" i="0" lang="en-US" sz="1600" u="none" cap="none" strike="noStrike">
                <a:solidFill>
                  <a:srgbClr val="000000"/>
                </a:solidFill>
                <a:latin typeface="Calibri"/>
                <a:ea typeface="Calibri"/>
                <a:cs typeface="Calibri"/>
                <a:sym typeface="Calibri"/>
              </a:rPr>
              <a:t> is an introduction to open research data, and it builds on Felix Schönbrodt's material from last year, which he </a:t>
            </a:r>
            <a:r>
              <a:rPr lang="en-US"/>
              <a:t>generously shared and allowed to adapt and reuse.</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We will tackle two questions: why should I share my data at all, and, </a:t>
            </a:r>
            <a:r>
              <a:rPr lang="en-US"/>
              <a:t>something you might be thinking</a:t>
            </a:r>
            <a:r>
              <a:rPr b="0" i="0" lang="en-US" sz="1600" u="none" cap="none" strike="noStrike">
                <a:solidFill>
                  <a:srgbClr val="000000"/>
                </a:solidFill>
                <a:latin typeface="Calibri"/>
                <a:ea typeface="Calibri"/>
                <a:cs typeface="Calibri"/>
                <a:sym typeface="Calibri"/>
              </a:rPr>
              <a:t>, do I get a co-authorship for it or not?</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US"/>
              <a:t>—</a:t>
            </a:r>
            <a:endParaRPr/>
          </a:p>
          <a:p>
            <a:pPr indent="-228600" lvl="0" marL="457200" rtl="0" algn="l">
              <a:spcBef>
                <a:spcPts val="0"/>
              </a:spcBef>
              <a:spcAft>
                <a:spcPts val="0"/>
              </a:spcAft>
              <a:buClr>
                <a:schemeClr val="dk1"/>
              </a:buClr>
              <a:buSzPts val="1400"/>
              <a:buFont typeface="Arial"/>
              <a:buNone/>
            </a:pPr>
            <a:r>
              <a:rPr lang="en-US">
                <a:solidFill>
                  <a:schemeClr val="dk1"/>
                </a:solidFill>
              </a:rPr>
              <a:t>One thing to know upfront: many examples come from psychology. Partly that is because the Open Science Center sits in the psychology department, but mainly it is because psychology went through the replication crisis early and painfully, so it is the field with the most concrete numbers, worked-out policies and community debates. I will use it as the worked example throughout; keep asking yourself what the equivalent is in your field.</a:t>
            </a:r>
            <a:endParaRPr/>
          </a:p>
          <a:p>
            <a:pPr indent="0" lvl="0" marL="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So the f</a:t>
            </a:r>
            <a:r>
              <a:rPr b="0" i="0" lang="en-US" sz="1600" u="none" cap="none" strike="noStrike">
                <a:latin typeface="Calibri"/>
                <a:ea typeface="Calibri"/>
                <a:cs typeface="Calibri"/>
                <a:sym typeface="Calibri"/>
              </a:rPr>
              <a:t>irst question: why should we even have open data? I will give five reasons to </a:t>
            </a:r>
            <a:r>
              <a:rPr lang="en-US"/>
              <a:t>convenience</a:t>
            </a:r>
            <a:r>
              <a:rPr lang="en-US"/>
              <a:t> to as to</a:t>
            </a:r>
            <a:r>
              <a:rPr b="0" i="0" lang="en-US" sz="1600" u="none" cap="none" strike="noStrike">
                <a:latin typeface="Calibri"/>
                <a:ea typeface="Calibri"/>
                <a:cs typeface="Calibri"/>
                <a:sym typeface="Calibri"/>
              </a:rPr>
              <a:t> why open data is a good idea.</a:t>
            </a:r>
            <a:endParaRPr/>
          </a:p>
        </p:txBody>
      </p:sp>
      <p:sp>
        <p:nvSpPr>
          <p:cNvPr id="44" name="Google Shape;4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Reason </a:t>
            </a:r>
            <a:r>
              <a:rPr lang="en-US"/>
              <a:t>number one,</a:t>
            </a:r>
            <a:r>
              <a:rPr b="0" i="0" lang="en-US" sz="1600" u="none" cap="none" strike="noStrike">
                <a:latin typeface="Calibri"/>
                <a:ea typeface="Calibri"/>
                <a:cs typeface="Calibri"/>
                <a:sym typeface="Calibri"/>
              </a:rPr>
              <a:t> Nullius in verba, take nobody's word for it. That is the motto of the Royal Society, the oldest continually existing scientific society,</a:t>
            </a:r>
            <a:r>
              <a:rPr lang="en-US"/>
              <a:t> and it echoes that s</a:t>
            </a:r>
            <a:r>
              <a:rPr b="0" i="0" lang="en-US" sz="1600" u="none" cap="none" strike="noStrike">
                <a:latin typeface="Calibri"/>
                <a:ea typeface="Calibri"/>
                <a:cs typeface="Calibri"/>
                <a:sym typeface="Calibri"/>
              </a:rPr>
              <a:t>cience is not built on blind trust but on verifiability.</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Robert K. Merton, an American sociologist of science, described</a:t>
            </a:r>
            <a:r>
              <a:rPr lang="en-US"/>
              <a:t> </a:t>
            </a:r>
            <a:r>
              <a:rPr b="0" i="0" lang="en-US" sz="1600" u="none" cap="none" strike="noStrike">
                <a:latin typeface="Calibri"/>
                <a:ea typeface="Calibri"/>
                <a:cs typeface="Calibri"/>
                <a:sym typeface="Calibri"/>
              </a:rPr>
              <a:t>a set of norms that characterize how science works. One of them is 'organized skepticism'</a:t>
            </a:r>
            <a:r>
              <a:rPr lang="en-US"/>
              <a:t>, that is,</a:t>
            </a:r>
            <a:r>
              <a:rPr b="0" i="0" lang="en-US" sz="1600" u="none" cap="none" strike="noStrike">
                <a:latin typeface="Calibri"/>
                <a:ea typeface="Calibri"/>
                <a:cs typeface="Calibri"/>
                <a:sym typeface="Calibri"/>
              </a:rPr>
              <a:t> scientific claims are not accepted on authority or trust, the community systematically scrutinizes them before</a:t>
            </a:r>
            <a:r>
              <a:rPr lang="en-US"/>
              <a:t> </a:t>
            </a:r>
            <a:r>
              <a:rPr b="0" i="0" lang="en-US" sz="1600" u="none" cap="none" strike="noStrike">
                <a:latin typeface="Calibri"/>
                <a:ea typeface="Calibri"/>
                <a:cs typeface="Calibri"/>
                <a:sym typeface="Calibri"/>
              </a:rPr>
              <a:t>they count as knowledge. This is one of the foundations of science and one of the things that distinguishes the scientific method from other ways of gaining knowledge.</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And </a:t>
            </a:r>
            <a:r>
              <a:rPr lang="en-US"/>
              <a:t>o</a:t>
            </a:r>
            <a:r>
              <a:rPr b="0" i="0" lang="en-US" sz="1600" u="none" cap="none" strike="noStrike">
                <a:latin typeface="Calibri"/>
                <a:ea typeface="Calibri"/>
                <a:cs typeface="Calibri"/>
                <a:sym typeface="Calibri"/>
              </a:rPr>
              <a:t>nly when the raw data and other research materials are shared can </a:t>
            </a:r>
            <a:r>
              <a:rPr lang="en-US"/>
              <a:t>this principle </a:t>
            </a:r>
            <a:r>
              <a:rPr b="0" i="0" lang="en-US" sz="1600" u="none" cap="none" strike="noStrike">
                <a:latin typeface="Calibri"/>
                <a:ea typeface="Calibri"/>
                <a:cs typeface="Calibri"/>
                <a:sym typeface="Calibri"/>
              </a:rPr>
              <a:t>be enacted, and only then can science really be self-correcting. We always claim that science is self-correcting, but to be self-correcting we</a:t>
            </a:r>
            <a:r>
              <a:rPr lang="en-US"/>
              <a:t> </a:t>
            </a:r>
            <a:r>
              <a:rPr b="0" i="0" lang="en-US" sz="1600" u="none" cap="none" strike="noStrike">
                <a:latin typeface="Calibri"/>
                <a:ea typeface="Calibri"/>
                <a:cs typeface="Calibri"/>
                <a:sym typeface="Calibri"/>
              </a:rPr>
              <a:t>need access to the data. </a:t>
            </a:r>
            <a:r>
              <a:rPr lang="en-US"/>
              <a:t>So put</a:t>
            </a:r>
            <a:r>
              <a:rPr b="0" i="0" lang="en-US" sz="1600" u="none" cap="none" strike="noStrike">
                <a:latin typeface="Calibri"/>
                <a:ea typeface="Calibri"/>
                <a:cs typeface="Calibri"/>
                <a:sym typeface="Calibri"/>
              </a:rPr>
              <a:t> simply, open data is just one part of good scientific practice.</a:t>
            </a:r>
            <a:endParaRPr/>
          </a:p>
        </p:txBody>
      </p:sp>
      <p:sp>
        <p:nvSpPr>
          <p:cNvPr id="50" name="Google Shape;5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The 90 percent excel gate from the 2010s is an example of self-correction made possible by sharing data. There was a famous study published, titled, </a:t>
            </a:r>
            <a:r>
              <a:rPr lang="en-US">
                <a:solidFill>
                  <a:schemeClr val="dk1"/>
                </a:solidFill>
              </a:rPr>
              <a:t>'Growth in a Time of Debt'</a:t>
            </a:r>
            <a:r>
              <a:rPr lang="en-US"/>
              <a:t>, with the headline finding that </a:t>
            </a:r>
            <a:r>
              <a:rPr lang="en-US">
                <a:solidFill>
                  <a:schemeClr val="dk1"/>
                </a:solidFill>
              </a:rPr>
              <a:t>when a country's public debt exceeds 90 percent of GDP, economic growth drops off sharply. The red bars you see on the plot here. That number became hugely influential; politicians cited it to justify austerity policies after the financial crisis.</a:t>
            </a:r>
            <a:endParaRPr>
              <a:solidFill>
                <a:schemeClr val="dk1"/>
              </a:solidFill>
            </a:endParaRPr>
          </a:p>
          <a:p>
            <a:pPr indent="-228600" lvl="0" marL="457200" marR="0" rtl="0" algn="l">
              <a:lnSpc>
                <a:spcPct val="100000"/>
              </a:lnSpc>
              <a:spcBef>
                <a:spcPts val="0"/>
              </a:spcBef>
              <a:spcAft>
                <a:spcPts val="0"/>
              </a:spcAft>
              <a:buClr>
                <a:srgbClr val="000000"/>
              </a:buClr>
              <a:buSzPts val="1400"/>
              <a:buFont typeface="Arial"/>
              <a:buNone/>
            </a:pPr>
            <a:r>
              <a:t/>
            </a:r>
            <a:endParaRPr>
              <a:solidFill>
                <a:schemeClr val="dk1"/>
              </a:solidFill>
            </a:endParaRPr>
          </a:p>
          <a:p>
            <a:pPr indent="-228600" lvl="0" marL="457200" marR="0" rtl="0" algn="l">
              <a:lnSpc>
                <a:spcPct val="100000"/>
              </a:lnSpc>
              <a:spcBef>
                <a:spcPts val="0"/>
              </a:spcBef>
              <a:spcAft>
                <a:spcPts val="0"/>
              </a:spcAft>
              <a:buClr>
                <a:srgbClr val="000000"/>
              </a:buClr>
              <a:buSzPts val="1400"/>
              <a:buFont typeface="Arial"/>
              <a:buNone/>
            </a:pPr>
            <a:r>
              <a:rPr lang="en-US">
                <a:solidFill>
                  <a:schemeClr val="dk1"/>
                </a:solidFill>
              </a:rPr>
              <a:t>Later in 2013, a graduate student was trying to reproduce the analysis for a course assignment and could not get the same numbers. He asked the authors, and they sent him their actual Excel spreadsheet. In it, amongst three prominent issues, he found, a spreadsheet error, that the formula skipped several countries. With the errors corrected, the dramatic growth cliff at 90 percent largely disappeared.</a:t>
            </a:r>
            <a:endParaRPr>
              <a:solidFill>
                <a:schemeClr val="dk1"/>
              </a:solidFill>
            </a:endParaRPr>
          </a:p>
          <a:p>
            <a:pPr indent="-228600" lvl="0" marL="457200" marR="0" rtl="0" algn="l">
              <a:lnSpc>
                <a:spcPct val="100000"/>
              </a:lnSpc>
              <a:spcBef>
                <a:spcPts val="0"/>
              </a:spcBef>
              <a:spcAft>
                <a:spcPts val="0"/>
              </a:spcAft>
              <a:buClr>
                <a:srgbClr val="000000"/>
              </a:buClr>
              <a:buSzPts val="1400"/>
              <a:buFont typeface="Arial"/>
              <a:buNone/>
            </a:pPr>
            <a:r>
              <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rPr lang="en-US">
                <a:solidFill>
                  <a:schemeClr val="dk1"/>
                </a:solidFill>
              </a:rPr>
              <a:t>This story became a talking point but take away of the story should not be the mistake; honest mistakes happen everywhere. The point is that the original authors shared their raw spreadsheet, and only because of that could the error be found and corrected. That is science working as it should: we make mistakes, we correct them, and advance scientific knowledge.</a:t>
            </a:r>
            <a:endParaRPr>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a:solidFill>
                <a:schemeClr val="dk1"/>
              </a:solidFill>
            </a:endParaRPr>
          </a:p>
          <a:p>
            <a:pPr indent="-228600" lvl="0" marL="457200" marR="0" rtl="0" algn="l">
              <a:lnSpc>
                <a:spcPct val="100000"/>
              </a:lnSpc>
              <a:spcBef>
                <a:spcPts val="0"/>
              </a:spcBef>
              <a:spcAft>
                <a:spcPts val="0"/>
              </a:spcAft>
              <a:buClr>
                <a:srgbClr val="000000"/>
              </a:buClr>
              <a:buSzPts val="1400"/>
              <a:buFont typeface="Arial"/>
              <a:buNone/>
            </a:pPr>
            <a:r>
              <a:rPr lang="en-US"/>
              <a:t>—</a:t>
            </a:r>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In 2010, the Harvard economists Carmen Reinhart and Kenneth Rogoff published a famous study, 'Growth in a Time of Debt'.In 2013, Thomas Herndon, a graduate student, tried to reproduce the analysis for a course assignment and The</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US"/>
              <a:t>Correcting all three problems (a spreadsheet coding error that dropped five countries, selective exclusion of years, and unconventional weighting) raised average growth above 90% from -0.1% to 2.2%. The famous Excel error was real but was the least important of the three.</a:t>
            </a:r>
            <a:br>
              <a:rPr lang="en-US"/>
            </a:br>
            <a:br>
              <a:rPr lang="en-US"/>
            </a:br>
            <a:br>
              <a:rPr lang="en-US"/>
            </a:br>
            <a:r>
              <a:rPr lang="en-US"/>
              <a:t>—</a:t>
            </a:r>
            <a:br>
              <a:rPr lang="en-US"/>
            </a:br>
            <a:br>
              <a:rPr lang="en-US"/>
            </a:br>
            <a:r>
              <a:rPr lang="en-US"/>
              <a:t>Hardwicke et al. 2018 (Cognition) </a:t>
            </a:r>
            <a:r>
              <a:rPr lang="en-US" sz="1100">
                <a:solidFill>
                  <a:schemeClr val="dk1"/>
                </a:solidFill>
                <a:latin typeface="Arial"/>
                <a:ea typeface="Arial"/>
                <a:cs typeface="Arial"/>
                <a:sym typeface="Arial"/>
              </a:rPr>
              <a:t>Data-available statements rose from </a:t>
            </a:r>
            <a:r>
              <a:rPr b="1" lang="en-US" sz="1100">
                <a:solidFill>
                  <a:schemeClr val="dk1"/>
                </a:solidFill>
                <a:latin typeface="Arial"/>
                <a:ea typeface="Arial"/>
                <a:cs typeface="Arial"/>
                <a:sym typeface="Arial"/>
              </a:rPr>
              <a:t>104/417 (25%) pre-policy to 136/174 (78%) post-policy</a:t>
            </a:r>
            <a:r>
              <a:rPr lang="en-US" sz="1100">
                <a:solidFill>
                  <a:schemeClr val="dk1"/>
                </a:solidFill>
                <a:latin typeface="Arial"/>
                <a:ea typeface="Arial"/>
                <a:cs typeface="Arial"/>
                <a:sym typeface="Arial"/>
              </a:rPr>
              <a:t>; reusable data </a:t>
            </a:r>
            <a:r>
              <a:rPr b="1" lang="en-US" sz="1100">
                <a:solidFill>
                  <a:schemeClr val="dk1"/>
                </a:solidFill>
                <a:latin typeface="Arial"/>
                <a:ea typeface="Arial"/>
                <a:cs typeface="Arial"/>
                <a:sym typeface="Arial"/>
              </a:rPr>
              <a:t>22% to 62%</a:t>
            </a:r>
            <a:r>
              <a:rPr lang="en-US" sz="1100">
                <a:solidFill>
                  <a:schemeClr val="dk1"/>
                </a:solidFill>
                <a:latin typeface="Arial"/>
                <a:ea typeface="Arial"/>
                <a:cs typeface="Arial"/>
                <a:sym typeface="Arial"/>
              </a:rPr>
              <a:t>.</a:t>
            </a:r>
            <a:endParaRPr sz="1100">
              <a:solidFill>
                <a:schemeClr val="dk1"/>
              </a:solidFill>
              <a:latin typeface="Arial"/>
              <a:ea typeface="Arial"/>
              <a:cs typeface="Arial"/>
              <a:sym typeface="Arial"/>
            </a:endParaRPr>
          </a:p>
          <a:p>
            <a:pPr indent="-228600" lvl="0" marL="457200" rtl="0" algn="l">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For </a:t>
            </a:r>
            <a:r>
              <a:rPr b="1" lang="en-US" sz="1100">
                <a:solidFill>
                  <a:schemeClr val="dk1"/>
                </a:solidFill>
                <a:latin typeface="Arial"/>
                <a:ea typeface="Arial"/>
                <a:cs typeface="Arial"/>
                <a:sym typeface="Arial"/>
              </a:rPr>
              <a:t>35 articles</a:t>
            </a:r>
            <a:r>
              <a:rPr lang="en-US" sz="1100">
                <a:solidFill>
                  <a:schemeClr val="dk1"/>
                </a:solidFill>
                <a:latin typeface="Arial"/>
                <a:ea typeface="Arial"/>
                <a:cs typeface="Arial"/>
                <a:sym typeface="Arial"/>
              </a:rPr>
              <a:t> with reusable data they attempted to reproduce </a:t>
            </a:r>
            <a:r>
              <a:rPr b="1" lang="en-US" sz="1100">
                <a:solidFill>
                  <a:schemeClr val="dk1"/>
                </a:solidFill>
                <a:latin typeface="Arial"/>
                <a:ea typeface="Arial"/>
                <a:cs typeface="Arial"/>
                <a:sym typeface="Arial"/>
              </a:rPr>
              <a:t>1,324 target values</a:t>
            </a:r>
            <a:r>
              <a:rPr lang="en-US" sz="1100">
                <a:solidFill>
                  <a:schemeClr val="dk1"/>
                </a:solidFill>
                <a:latin typeface="Arial"/>
                <a:ea typeface="Arial"/>
                <a:cs typeface="Arial"/>
                <a:sym typeface="Arial"/>
              </a:rPr>
              <a:t>; </a:t>
            </a:r>
            <a:r>
              <a:rPr b="1" lang="en-US" sz="1100">
                <a:solidFill>
                  <a:schemeClr val="dk1"/>
                </a:solidFill>
                <a:latin typeface="Arial"/>
                <a:ea typeface="Arial"/>
                <a:cs typeface="Arial"/>
                <a:sym typeface="Arial"/>
              </a:rPr>
              <a:t>64 values (5%, CI 4-6) could not be reproduced even after author assistance</a:t>
            </a:r>
            <a:r>
              <a:rPr lang="en-US" sz="1100">
                <a:solidFill>
                  <a:schemeClr val="dk1"/>
                </a:solidFill>
                <a:latin typeface="Arial"/>
                <a:ea typeface="Arial"/>
                <a:cs typeface="Arial"/>
                <a:sym typeface="Arial"/>
              </a:rPr>
              <a:t>.</a:t>
            </a:r>
            <a:endParaRPr sz="1100">
              <a:solidFill>
                <a:schemeClr val="dk1"/>
              </a:solidFill>
              <a:latin typeface="Arial"/>
              <a:ea typeface="Arial"/>
              <a:cs typeface="Arial"/>
              <a:sym typeface="Arial"/>
            </a:endParaRPr>
          </a:p>
          <a:p>
            <a:pPr indent="-228600" lvl="0" marL="457200" rtl="0" algn="l">
              <a:spcBef>
                <a:spcPts val="0"/>
              </a:spcBef>
              <a:spcAft>
                <a:spcPts val="0"/>
              </a:spcAft>
              <a:buClr>
                <a:schemeClr val="dk1"/>
              </a:buClr>
              <a:buSzPts val="1100"/>
              <a:buFont typeface="Arial"/>
              <a:buNone/>
            </a:pPr>
            <a:r>
              <a:rPr b="1" lang="en-US" sz="1100">
                <a:solidFill>
                  <a:schemeClr val="dk1"/>
                </a:solidFill>
                <a:latin typeface="Arial"/>
                <a:ea typeface="Arial"/>
                <a:cs typeface="Arial"/>
                <a:sym typeface="Arial"/>
              </a:rPr>
              <a:t>22 articles fully reproduced (11 required author assistance); 13 articles had at least one non-reproducible value despite assistance.</a:t>
            </a:r>
            <a:endParaRPr b="1" sz="1100">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lang="en-US"/>
              <a:t>there were no clear indications that original conclusions were seriously impacted</a:t>
            </a:r>
            <a:br>
              <a:rPr lang="en-US"/>
            </a:br>
            <a:br>
              <a:rPr lang="en-US"/>
            </a:br>
            <a:r>
              <a:rPr b="1" lang="en-US" sz="1100">
                <a:solidFill>
                  <a:schemeClr val="dk1"/>
                </a:solidFill>
                <a:latin typeface="Arial"/>
                <a:ea typeface="Arial"/>
                <a:cs typeface="Arial"/>
                <a:sym typeface="Arial"/>
              </a:rPr>
              <a:t>Fišar et al. 2024, Management Science 70(3):1343-1356, DOI 10.1287/mnsc.2023.03556 — "&gt;95% reproduced when data accessible, 68% across all articles," 2019 policy</a:t>
            </a:r>
            <a:endParaRPr sz="1100">
              <a:solidFill>
                <a:schemeClr val="dk1"/>
              </a:solidFill>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latin typeface="Arial"/>
                <a:ea typeface="Arial"/>
                <a:cs typeface="Arial"/>
                <a:sym typeface="Arial"/>
              </a:rPr>
              <a:t>Verbatim: "the results of more than 95% of articles under the new disclosure policy could be fully or largely computationally reproduced. However, for 29% of articles, at least part of the data set was not accessible... Considering all articles in our sample reduces the share of reproduced articles to 68%."</a:t>
            </a:r>
            <a:r>
              <a:rPr lang="en-US" sz="1100">
                <a:solidFill>
                  <a:schemeClr val="dk1"/>
                </a:solidFill>
                <a:uFill>
                  <a:noFill/>
                </a:uFill>
                <a:latin typeface="Arial"/>
                <a:ea typeface="Arial"/>
                <a:cs typeface="Arial"/>
                <a:sym typeface="Arial"/>
                <a:hlinkClick r:id="rId2">
                  <a:extLst>
                    <a:ext uri="{A12FA001-AC4F-418D-AE19-62706E023703}">
                      <ahyp:hlinkClr val="tx"/>
                    </a:ext>
                  </a:extLst>
                </a:hlinkClick>
              </a:rPr>
              <a:t> </a:t>
            </a:r>
            <a:r>
              <a:rPr lang="en-US" sz="1100" u="sng">
                <a:solidFill>
                  <a:schemeClr val="hlink"/>
                </a:solidFill>
                <a:latin typeface="Arial"/>
                <a:ea typeface="Arial"/>
                <a:cs typeface="Arial"/>
                <a:sym typeface="Arial"/>
                <a:hlinkClick r:id="rId3"/>
              </a:rPr>
              <a:t>INFORMS</a:t>
            </a:r>
            <a:r>
              <a:rPr lang="en-US" sz="1100">
                <a:solidFill>
                  <a:schemeClr val="dk1"/>
                </a:solidFill>
                <a:latin typeface="Arial"/>
                <a:ea typeface="Arial"/>
                <a:cs typeface="Arial"/>
                <a:sym typeface="Arial"/>
              </a:rPr>
              <a:t> Nearly 500 articles; 700+ reviewers; Data and Code Disclosure policy introduced 2019.</a:t>
            </a:r>
            <a:endParaRPr/>
          </a:p>
        </p:txBody>
      </p:sp>
      <p:sp>
        <p:nvSpPr>
          <p:cNvPr id="59" name="Google Shape;5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If this wasn’t reason enough, the second is </a:t>
            </a:r>
            <a:r>
              <a:rPr b="0" i="0" lang="en-US" sz="1600" u="none" cap="none" strike="noStrike">
                <a:latin typeface="Calibri"/>
                <a:ea typeface="Calibri"/>
                <a:cs typeface="Calibri"/>
                <a:sym typeface="Calibri"/>
              </a:rPr>
              <a:t>efficiency and inclusiveness. The COVID outbreak showed how important open data is. We can have really speedy responses to outbreaks if we share the data, especially hard-to-collect data, which is even more valuable to share.</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There were headlines at the highest political level, for example the OECD policy response on why open science is critical to combating COVID-19. And there is this nice tweet: let's remember how open science shortened the time to find the treatment, and let's never go back to the old ways again. The moral necessity of open access and open data to all taxpayer-funded research is unassailable.</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The Ebola example on the right: the red bars show continuous outbreaks, the blue bars show released genomic sequences. You can see gaps where no genomic data was released even though we know from the case numbers that there were outbreaks</a:t>
            </a:r>
            <a:r>
              <a:rPr lang="en-US"/>
              <a:t>, hinting that there is still a long way to go for even data of such high importance.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Another reason is</a:t>
            </a:r>
            <a:r>
              <a:rPr b="0" i="0" lang="en-US" sz="1600" u="none" cap="none" strike="noStrike">
                <a:latin typeface="Calibri"/>
                <a:ea typeface="Calibri"/>
                <a:cs typeface="Calibri"/>
                <a:sym typeface="Calibri"/>
              </a:rPr>
              <a:t> public money means it is a public good. There is a big initiative called Public Money, Public Code, and we should extend that: public money, public data.</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Publicly funded research data does not belong to the researcher who collected it. Many researchers have the gut feeling that after years of work in the lab the data somehow belongs to them. I would not say that is correct. Researchers who put in the effort of data collection have the right of primary usage: you should be the first to publish with the data and be able to exploit it for a while. But at the end of the day the data should be public, of course always respecting privacy rights and copyright.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Now, </a:t>
            </a:r>
            <a:r>
              <a:rPr b="0" i="0" lang="en-US" sz="1600" u="none" cap="none" strike="noStrike">
                <a:latin typeface="Calibri"/>
                <a:ea typeface="Calibri"/>
                <a:cs typeface="Calibri"/>
                <a:sym typeface="Calibri"/>
              </a:rPr>
              <a:t>Reason number 4, a very practical one: data persistence. Once your data is on a proper repository with a proper backup strategy, you will never lose it to a crashed hard drive. It happens so often that someone wants to check or reuse existing research and the original authors say: sorry, the hard drive broke, the dog ate the data.</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Open data also allows independent copies in multiple places. There recently was a data rescue hackathon with the Safeguarding Research project: in the US, politically inconvenient research data (climate change, transgender research, research on minorities) is being systematically deleted from repositories, and initiatives around the globe are making copies to save it. Only because this data was made openly accessible data</a:t>
            </a:r>
            <a:r>
              <a:rPr lang="en-US"/>
              <a:t>, it </a:t>
            </a:r>
            <a:r>
              <a:rPr b="0" i="0" lang="en-US" sz="1600" u="none" cap="none" strike="noStrike">
                <a:latin typeface="Calibri"/>
                <a:ea typeface="Calibri"/>
                <a:cs typeface="Calibri"/>
                <a:sym typeface="Calibri"/>
              </a:rPr>
              <a:t>can be copied like that. This creates resilience</a:t>
            </a:r>
            <a:r>
              <a:rPr lang="en-US"/>
              <a:t> and </a:t>
            </a:r>
            <a:r>
              <a:rPr lang="en-US"/>
              <a:t>sustenance</a:t>
            </a:r>
            <a:r>
              <a:rPr lang="en-US"/>
              <a:t> of scientific knowledge</a:t>
            </a:r>
            <a:r>
              <a:rPr b="0" i="0" lang="en-US" sz="1600" u="none" cap="none" strike="noStrike">
                <a:latin typeface="Calibri"/>
                <a:ea typeface="Calibri"/>
                <a:cs typeface="Calibri"/>
                <a:sym typeface="Calibri"/>
              </a:rPr>
              <a:t>.</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So the right place for your data is a publicly funded repository, ideally in a country that values academic freedom. </a:t>
            </a:r>
            <a:r>
              <a:rPr lang="en-US"/>
              <a:t>What is n</a:t>
            </a:r>
            <a:r>
              <a:rPr b="0" i="0" lang="en-US" sz="1600" u="none" cap="none" strike="noStrike">
                <a:latin typeface="Calibri"/>
                <a:ea typeface="Calibri"/>
                <a:cs typeface="Calibri"/>
                <a:sym typeface="Calibri"/>
              </a:rPr>
              <a:t>ot appropriate</a:t>
            </a:r>
            <a:r>
              <a:rPr lang="en-US"/>
              <a:t> is </a:t>
            </a:r>
            <a:r>
              <a:rPr b="0" i="0" lang="en-US" sz="1600" u="none" cap="none" strike="noStrike">
                <a:latin typeface="Calibri"/>
                <a:ea typeface="Calibri"/>
                <a:cs typeface="Calibri"/>
                <a:sym typeface="Calibri"/>
              </a:rPr>
              <a:t>your USB stick, or </a:t>
            </a:r>
            <a:r>
              <a:rPr lang="en-US"/>
              <a:t>any website that is not persistent, for example, your personal university website</a:t>
            </a:r>
            <a:r>
              <a:rPr b="0" i="0" lang="en-US" sz="1600" u="none" cap="none" strike="noStrike">
                <a:latin typeface="Calibri"/>
                <a:ea typeface="Calibri"/>
                <a:cs typeface="Calibri"/>
                <a:sym typeface="Calibri"/>
              </a:rPr>
              <a:t>. </a:t>
            </a:r>
            <a:r>
              <a:rPr lang="en-US"/>
              <a:t>If you t</a:t>
            </a:r>
            <a:r>
              <a:rPr b="0" i="0" lang="en-US" sz="1600" u="none" cap="none" strike="noStrike">
                <a:latin typeface="Calibri"/>
                <a:ea typeface="Calibri"/>
                <a:cs typeface="Calibri"/>
                <a:sym typeface="Calibri"/>
              </a:rPr>
              <a:t>ry clicking a data link in a paper from before 2010</a:t>
            </a:r>
            <a:r>
              <a:rPr lang="en-US"/>
              <a:t>,</a:t>
            </a:r>
            <a:r>
              <a:rPr b="0" i="0" lang="en-US" sz="1600" u="none" cap="none" strike="noStrike">
                <a:latin typeface="Calibri"/>
                <a:ea typeface="Calibri"/>
                <a:cs typeface="Calibri"/>
                <a:sym typeface="Calibri"/>
              </a:rPr>
              <a:t> chances are high it is dead. Also not the journal's online supplemental material: it often sits behind a paywall, and you can never be sure the journal will not take it down someday.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9cab6f70e_1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g3f9cab6f70e_1_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Here is the analysis by Tom Hardwicke and colleagues. They first looked at whether data and analysis scripts are available in the first place. Back then, up to 2017, in psychology and the social sciences data was available for only 2 to 7 percent of papers, and analysis scripts for only 1 percent. The updated study found a positive trend, with data availability rising from 2 percent to 14 percent and code from 1 to 8.5 percent (articles from 2022). Better, but still rare.</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lang="en-US"/>
              <a:t>—</a:t>
            </a:r>
            <a:endParaRPr/>
          </a:p>
          <a:p>
            <a:pPr indent="0" lvl="0" marL="0" marR="0" rtl="0" algn="l">
              <a:lnSpc>
                <a:spcPct val="100000"/>
              </a:lnSpc>
              <a:spcBef>
                <a:spcPts val="0"/>
              </a:spcBef>
              <a:spcAft>
                <a:spcPts val="0"/>
              </a:spcAft>
              <a:buClr>
                <a:srgbClr val="000000"/>
              </a:buClr>
              <a:buSzPts val="1400"/>
              <a:buFont typeface="Arial"/>
              <a:buNone/>
            </a:pPr>
            <a:r>
              <a:rPr lang="en-US"/>
              <a:t>Hardwicke et al. (2024), "Prevalence of Transparent Research Practices in Psychology: A Cross-Sectional Study of Empirical Articles Published in 2022", Advances in Methods and Practices in Psychological Science 7(4), DOI 10.1177/25152459241283477: Raw data 14% [7%, 21%]; analysis scripts 8.5% [4.5%, 13%]; preregistration 7%; materials 16%.</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en-US">
                <a:solidFill>
                  <a:schemeClr val="dk1"/>
                </a:solidFill>
              </a:rPr>
              <a:t>Now, due to any legitimate reasons, if a paper said something like “Data available upon request”, or even better, 'upon reasonable request'. then who decides what is reasonable? The original authors, of course. So if you doubt my analysis, I would say that is not a reasonable request.</a:t>
            </a:r>
            <a:endParaRPr>
              <a:solidFill>
                <a:schemeClr val="dk1"/>
              </a:solidFill>
            </a:endParaRPr>
          </a:p>
          <a:p>
            <a:pPr indent="0" lvl="0" marL="0" rtl="0" algn="l">
              <a:spcBef>
                <a:spcPts val="0"/>
              </a:spcBef>
              <a:spcAft>
                <a:spcPts val="0"/>
              </a:spcAft>
              <a:buSzPts val="1400"/>
              <a:buNone/>
            </a:pPr>
            <a:r>
              <a:t/>
            </a:r>
            <a:endParaRPr>
              <a:solidFill>
                <a:schemeClr val="dk1"/>
              </a:solidFill>
            </a:endParaRPr>
          </a:p>
          <a:p>
            <a:pPr indent="0" lvl="0" marL="0" rtl="0" algn="l">
              <a:spcBef>
                <a:spcPts val="0"/>
              </a:spcBef>
              <a:spcAft>
                <a:spcPts val="0"/>
              </a:spcAft>
              <a:buClr>
                <a:schemeClr val="dk1"/>
              </a:buClr>
              <a:buSzPts val="1400"/>
              <a:buFont typeface="Arial"/>
              <a:buNone/>
            </a:pPr>
            <a:r>
              <a:rPr lang="en-US">
                <a:solidFill>
                  <a:schemeClr val="dk1"/>
                </a:solidFill>
              </a:rPr>
              <a:t>But let us be hopeful and assume that the data, WILL be made available.. upon request…right?</a:t>
            </a:r>
            <a:endParaRPr>
              <a:solidFill>
                <a:schemeClr val="dk1"/>
              </a:solidFill>
            </a:endParaRPr>
          </a:p>
          <a:p>
            <a:pPr indent="-228600" lvl="0" marL="457200" marR="0" rtl="0" algn="l">
              <a:lnSpc>
                <a:spcPct val="100000"/>
              </a:lnSpc>
              <a:spcBef>
                <a:spcPts val="0"/>
              </a:spcBef>
              <a:spcAft>
                <a:spcPts val="0"/>
              </a:spcAft>
              <a:buSzPts val="1400"/>
              <a:buNone/>
            </a:pPr>
            <a:r>
              <a:t/>
            </a:r>
            <a:endParaRPr/>
          </a:p>
        </p:txBody>
      </p:sp>
      <p:sp>
        <p:nvSpPr>
          <p:cNvPr id="123" name="Google Shape;12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9cab6f70e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g3f9cab6f70e_1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Hardwicke and other</a:t>
            </a:r>
            <a:r>
              <a:rPr b="0" i="0" lang="en-US" sz="1600" u="none" cap="none" strike="noStrike">
                <a:solidFill>
                  <a:srgbClr val="000000"/>
                </a:solidFill>
                <a:latin typeface="Calibri"/>
                <a:ea typeface="Calibri"/>
                <a:cs typeface="Calibri"/>
                <a:sym typeface="Calibri"/>
              </a:rPr>
              <a:t> a meta-scientific stud</a:t>
            </a:r>
            <a:r>
              <a:rPr lang="en-US"/>
              <a:t>ies</a:t>
            </a:r>
            <a:r>
              <a:rPr b="0" i="0" lang="en-US" sz="1600" u="none" cap="none" strike="noStrike">
                <a:solidFill>
                  <a:srgbClr val="000000"/>
                </a:solidFill>
                <a:latin typeface="Calibri"/>
                <a:ea typeface="Calibri"/>
                <a:cs typeface="Calibri"/>
                <a:sym typeface="Calibri"/>
              </a:rPr>
              <a:t>, </a:t>
            </a:r>
            <a:r>
              <a:rPr lang="en-US"/>
              <a:t>went ahead and actually</a:t>
            </a:r>
            <a:r>
              <a:rPr b="0" i="0" lang="en-US" sz="1600" u="none" cap="none" strike="noStrike">
                <a:solidFill>
                  <a:srgbClr val="000000"/>
                </a:solidFill>
                <a:latin typeface="Calibri"/>
                <a:ea typeface="Calibri"/>
                <a:cs typeface="Calibri"/>
                <a:sym typeface="Calibri"/>
              </a:rPr>
              <a:t> requested the data for such papers. This should be at 100 percent. In fact, only about 20 percent of requests actually got the data.</a:t>
            </a:r>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Another similar meta study with a larger sample size found that only 6.8 percent of researchers shared usable data (Gabelica et al. 2022).</a:t>
            </a:r>
            <a:endParaRPr b="0" i="0" sz="1600" u="none" cap="none" strike="noStrike">
              <a:solidFill>
                <a:srgbClr val="000000"/>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US"/>
              <a:t>The trend holds in other fields such as</a:t>
            </a:r>
            <a:r>
              <a:rPr b="0" i="0" lang="en-US" sz="1600" u="none" cap="none" strike="noStrike">
                <a:solidFill>
                  <a:srgbClr val="000000"/>
                </a:solidFill>
                <a:latin typeface="Calibri"/>
                <a:ea typeface="Calibri"/>
                <a:cs typeface="Calibri"/>
                <a:sym typeface="Calibri"/>
              </a:rPr>
              <a:t> medicine</a:t>
            </a:r>
            <a:r>
              <a:rPr lang="en-US"/>
              <a:t>, where</a:t>
            </a:r>
            <a:r>
              <a:rPr b="0" i="0" lang="en-US" sz="1600" u="none" cap="none" strike="noStrike">
                <a:solidFill>
                  <a:srgbClr val="000000"/>
                </a:solidFill>
                <a:latin typeface="Calibri"/>
                <a:ea typeface="Calibri"/>
                <a:cs typeface="Calibri"/>
                <a:sym typeface="Calibri"/>
              </a:rPr>
              <a:t>, about 8% of articles declare open data and about 2% actually share it (Hamilton et al. 2023, BMJ 382: e075767, 700,054 articles). </a:t>
            </a:r>
            <a:endParaRPr b="0" i="0" sz="1600" u="none" cap="none" strike="noStrike">
              <a:solidFill>
                <a:srgbClr val="000000"/>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US"/>
              <a:t>Furthermore, it was reported that in fact the availability statement did not have too much of a difference about its real availability to begin with.</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The chances of getting hold of the data also </a:t>
            </a:r>
            <a:r>
              <a:rPr lang="en-US"/>
              <a:t>depends</a:t>
            </a:r>
            <a:r>
              <a:rPr lang="en-US"/>
              <a:t> on the age of the paper.</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US"/>
              <a:t>In</a:t>
            </a:r>
            <a:r>
              <a:rPr b="0" i="0" lang="en-US" sz="1600" u="none" cap="none" strike="noStrike">
                <a:solidFill>
                  <a:srgbClr val="000000"/>
                </a:solidFill>
                <a:latin typeface="Calibri"/>
                <a:ea typeface="Calibri"/>
                <a:cs typeface="Calibri"/>
                <a:sym typeface="Calibri"/>
              </a:rPr>
              <a:t> social learning research</a:t>
            </a:r>
            <a:r>
              <a:rPr lang="en-US"/>
              <a:t>, </a:t>
            </a:r>
            <a:r>
              <a:rPr b="0" i="0" lang="en-US" sz="1600" u="none" cap="none" strike="noStrike">
                <a:solidFill>
                  <a:srgbClr val="000000"/>
                </a:solidFill>
                <a:latin typeface="Calibri"/>
                <a:ea typeface="Calibri"/>
                <a:cs typeface="Calibri"/>
                <a:sym typeface="Calibri"/>
              </a:rPr>
              <a:t>they looked at the probability of data recovery depending on the age of the paper, and you see this declining curve. They concluded that the probability of finding material for any publication halves every six years, and for papers older than 20 years it is close to zero.</a:t>
            </a:r>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Vines et al. (2014, Current Biology) generalizes decay beyond psychology: (516 articles aged 2 to 22 years;) odds of the dataset still existing fell 17% per year, odds of a working author email fell 7% per year. Authors of old papers responded just as often; the data was simply lost or on dead media.</a:t>
            </a:r>
            <a:endParaRPr b="0" i="0" sz="1600" u="none" cap="none" strike="noStrike">
              <a:solidFill>
                <a:srgbClr val="000000"/>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rtl="0" algn="l">
              <a:spcBef>
                <a:spcPts val="0"/>
              </a:spcBef>
              <a:spcAft>
                <a:spcPts val="0"/>
              </a:spcAft>
              <a:buClr>
                <a:schemeClr val="dk1"/>
              </a:buClr>
              <a:buSzPts val="1400"/>
              <a:buFont typeface="Arial"/>
              <a:buNone/>
            </a:pPr>
            <a:r>
              <a:rPr lang="en-US">
                <a:solidFill>
                  <a:schemeClr val="dk1"/>
                </a:solidFill>
              </a:rPr>
              <a:t>That research was done before public repositories and the open science movement really took hold. My hope is that this has gotten much better. At least we now have the technical infrastructure with repositories and persistent resources to make it better. It is now a matter of adoption.</a:t>
            </a:r>
            <a:endParaRPr>
              <a:solidFill>
                <a:schemeClr val="dk1"/>
              </a:solidFill>
            </a:endParaRPr>
          </a:p>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39" name="Google Shape;13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Finally, </a:t>
            </a:r>
            <a:r>
              <a:rPr b="0" i="0" lang="en-US" sz="1600" u="none" cap="none" strike="noStrike">
                <a:latin typeface="Calibri"/>
                <a:ea typeface="Calibri"/>
                <a:cs typeface="Calibri"/>
                <a:sym typeface="Calibri"/>
              </a:rPr>
              <a:t>Reason 5, also very practical: more and more funders and journals demand it. The TOP guidelines (Transparency and Openness Promotion) are a kind of rating system for journals. The data transparency level goes from 0 to 3. Zero: the journal says nothing. One: open data is encouraged but not checked and not mandatory, so more of a lip service. Level 3 is the highest: the data must be posted to a trusted repository, and the reported analyses are independently reproduced before publication. That is a really high transparency level, and quite a few journals already have it. If you want to publish in the Journal of Politics, for example, you simply must post the data, unless you have very good justified reasons not to.</a:t>
            </a:r>
            <a:endParaRPr/>
          </a:p>
          <a:p>
            <a:pPr indent="0" lvl="0" marL="228600" marR="0" rtl="0" algn="l">
              <a:lnSpc>
                <a:spcPct val="100000"/>
              </a:lnSpc>
              <a:spcBef>
                <a:spcPts val="0"/>
              </a:spcBef>
              <a:spcAft>
                <a:spcPts val="0"/>
              </a:spcAft>
              <a:buSzPts val="1400"/>
              <a:buNone/>
            </a:pPr>
            <a:r>
              <a:t/>
            </a:r>
            <a:endParaRPr/>
          </a:p>
        </p:txBody>
      </p:sp>
      <p:sp>
        <p:nvSpPr>
          <p:cNvPr id="148" name="Google Shape;14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9cab6f70e_1_29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T</a:t>
            </a:r>
            <a:r>
              <a:rPr b="0" i="0" lang="en-US" sz="1600" u="none" cap="none" strike="noStrike">
                <a:solidFill>
                  <a:srgbClr val="000000"/>
                </a:solidFill>
                <a:latin typeface="Calibri"/>
                <a:ea typeface="Calibri"/>
                <a:cs typeface="Calibri"/>
                <a:sym typeface="Calibri"/>
              </a:rPr>
              <a:t>his is reflected in the policies themselves in 2026. The DFG Code of Conduct (2019, Guideline 13) makes data availability part of good scientific practice, and it is binding for every German university that takes DFG money, which is all of them.</a:t>
            </a:r>
            <a:r>
              <a:rPr lang="en-US"/>
              <a:t> </a:t>
            </a:r>
            <a:r>
              <a:rPr lang="en-US">
                <a:solidFill>
                  <a:schemeClr val="dk1"/>
                </a:solidFill>
              </a:rPr>
              <a:t>Since 2022 the DFG also requires a statement on research data handling in every proposal, and costs for data curation can be requested in the proposal itself.</a:t>
            </a:r>
            <a:endParaRPr>
              <a:solidFill>
                <a:schemeClr val="dk1"/>
              </a:solidFill>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Horizon Europe (since 2021) made data management plans plus deposit in a trusted repository mandatory for funded projects</a:t>
            </a:r>
            <a:r>
              <a:rPr lang="en-US"/>
              <a:t> with the </a:t>
            </a:r>
            <a:r>
              <a:rPr lang="en-US"/>
              <a:t>guiding</a:t>
            </a:r>
            <a:r>
              <a:rPr lang="en-US"/>
              <a:t> principle, </a:t>
            </a:r>
            <a:r>
              <a:rPr b="0" i="0" lang="en-US" sz="1600" u="none" cap="none" strike="noStrike">
                <a:solidFill>
                  <a:srgbClr val="000000"/>
                </a:solidFill>
                <a:latin typeface="Calibri"/>
                <a:ea typeface="Calibri"/>
                <a:cs typeface="Calibri"/>
                <a:sym typeface="Calibri"/>
              </a:rPr>
              <a:t>'as open as possible, as closed as necessary'</a:t>
            </a:r>
            <a:r>
              <a:rPr lang="en-US"/>
              <a:t>.</a:t>
            </a:r>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Since January 2023, every grant funded by NIH, largest public research funder needs a data management and sharing plan</a:t>
            </a:r>
            <a:r>
              <a:rPr lang="en-US"/>
              <a:t>. </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The takeaway for you as an early-career researcher: this is no longer a values debate you have to win with your PI. Increasingly it is simply a compliance requirement of the funders and the journals.</a:t>
            </a:r>
            <a:endParaRPr/>
          </a:p>
        </p:txBody>
      </p:sp>
      <p:sp>
        <p:nvSpPr>
          <p:cNvPr id="161" name="Google Shape;161;g3f9cab6f70e_1_2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Those were, in my view, five good reasons for open data. But now comes the question: what actually is open data?</a:t>
            </a:r>
            <a:endParaRPr/>
          </a:p>
        </p:txBody>
      </p:sp>
      <p:sp>
        <p:nvSpPr>
          <p:cNvPr id="169" name="Google Shape;16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What is data? Two definitions. The formal one: 'the recorded factual material commonly retained by and accepted in the scientific community as necessary to validate research findings'. That is a bit complicated, so here is a simpler one: anything and everything produced in the course of research. A very broad definition.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That means it really depends on the discipline what counts as data, and as raw data. We need field-specific definitions: what is research data, and on what level of granularity?</a:t>
            </a:r>
            <a:endParaRPr/>
          </a:p>
          <a:p>
            <a:pPr indent="-228600" lvl="0" marL="457200" marR="0" rtl="0" algn="l">
              <a:lnSpc>
                <a:spcPct val="100000"/>
              </a:lnSpc>
              <a:spcBef>
                <a:spcPts val="0"/>
              </a:spcBef>
              <a:spcAft>
                <a:spcPts val="0"/>
              </a:spcAft>
              <a:buSzPts val="1400"/>
              <a:buNone/>
            </a:pPr>
            <a:r>
              <a:rPr lang="en-US"/>
              <a:t>This could be </a:t>
            </a:r>
            <a:r>
              <a:rPr b="0" i="0" lang="en-US" sz="1600" u="none" cap="none" strike="noStrike">
                <a:latin typeface="Calibri"/>
                <a:ea typeface="Calibri"/>
                <a:cs typeface="Calibri"/>
                <a:sym typeface="Calibri"/>
              </a:rPr>
              <a:t>MRI scans, geographical information, data from technical devices like smartphones, videos of animal behavior, microscope images, audio recordings. </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[depending on time, engage people?]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In psychology, </a:t>
            </a:r>
            <a:r>
              <a:rPr b="0" i="0" lang="en-US" sz="1600" u="none" cap="none" strike="noStrike">
                <a:latin typeface="Calibri"/>
                <a:ea typeface="Calibri"/>
                <a:cs typeface="Calibri"/>
                <a:sym typeface="Calibri"/>
              </a:rPr>
              <a:t>10 to 15 years ago there was a big discussion in the community about what research data actually is. Some people said: I published the means and standard deviations in the article, that is all the data you need, you could recompute the t-test from that. Most people said: no, sorry, that is a summary statistic, aggregated data, not enough.</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But beyond that it is genuinely not easy. If participants fill in a questionnaire on paper, what is the primary data: the paper sheet you would have to conserve in an archive, or the first digitized version?</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Out of these discussions, a committee of the German Psychological Society wrote a white paper defining data for the field: primary data are the unaltered (untransformed, not aggregated) quantitative or qualitative data in digital form. Every manipulated and measured variable of every experimental session. Importantly, primary data also include cases excluded from the analyses, so outliers stay in, except where participants withdrew their consent.</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In short: primary data is the set of all data points collected during a study, as initially digitized but otherwise completely unaltered. Now it is defined, the community knows what data is, and the paper questionnaire sheets can be thrown away. That was not clear before.</a:t>
            </a:r>
            <a:endParaRPr/>
          </a:p>
          <a:p>
            <a:pPr indent="-228600" lvl="0" marL="457200" marR="0" rtl="0" algn="l">
              <a:lnSpc>
                <a:spcPct val="100000"/>
              </a:lnSpc>
              <a:spcBef>
                <a:spcPts val="0"/>
              </a:spcBef>
              <a:spcAft>
                <a:spcPts val="0"/>
              </a:spcAft>
              <a:buSzPts val="1400"/>
              <a:buNone/>
            </a:pPr>
            <a:r>
              <a:rPr lang="en-US"/>
              <a:t>This is one the first questions worth asking, w</a:t>
            </a:r>
            <a:r>
              <a:rPr b="0" i="0" lang="en-US" sz="1600" u="none" cap="none" strike="noStrike">
                <a:latin typeface="Calibri"/>
                <a:ea typeface="Calibri"/>
                <a:cs typeface="Calibri"/>
                <a:sym typeface="Calibri"/>
              </a:rPr>
              <a:t>hat would count as data, raw data, primary data, </a:t>
            </a:r>
            <a:r>
              <a:rPr lang="en-US"/>
              <a:t>secondary data, etc or its </a:t>
            </a:r>
            <a:r>
              <a:rPr lang="en-US"/>
              <a:t>equivalents</a:t>
            </a:r>
            <a:r>
              <a:rPr lang="en-US"/>
              <a:t> in your fields</a:t>
            </a:r>
            <a:r>
              <a:rPr b="0" i="0" lang="en-US" sz="1600" u="none" cap="none" strike="noStrike">
                <a:latin typeface="Calibri"/>
                <a:ea typeface="Calibri"/>
                <a:cs typeface="Calibri"/>
                <a:sym typeface="Calibri"/>
              </a:rPr>
              <a:t> in your field?</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The German Research Foundation (DFG) encouraged all disciplines to develop such data guidelines, and multiple fields have them by now. </a:t>
            </a:r>
            <a:r>
              <a:rPr lang="en-US"/>
              <a:t>This could be </a:t>
            </a:r>
            <a:r>
              <a:rPr lang="en-US"/>
              <a:t>worth</a:t>
            </a:r>
            <a:r>
              <a:rPr lang="en-US"/>
              <a:t> checking to decide on how you manage and share your data.</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228600" marR="0" rtl="0" algn="l">
              <a:lnSpc>
                <a:spcPct val="100000"/>
              </a:lnSpc>
              <a:spcBef>
                <a:spcPts val="0"/>
              </a:spcBef>
              <a:spcAft>
                <a:spcPts val="0"/>
              </a:spcAft>
              <a:buClr>
                <a:srgbClr val="000000"/>
              </a:buClr>
              <a:buSzPts val="1400"/>
              <a:buFont typeface="Arial"/>
              <a:buNone/>
            </a:pPr>
            <a:r>
              <a:rPr lang="en-US"/>
              <a:t>T</a:t>
            </a:r>
            <a:r>
              <a:rPr b="0" i="0" lang="en-US" sz="1600" u="none" cap="none" strike="noStrike">
                <a:solidFill>
                  <a:srgbClr val="000000"/>
                </a:solidFill>
                <a:latin typeface="Calibri"/>
                <a:ea typeface="Calibri"/>
                <a:cs typeface="Calibri"/>
                <a:sym typeface="Calibri"/>
              </a:rPr>
              <a:t>he discussion </a:t>
            </a:r>
            <a:r>
              <a:rPr lang="en-US"/>
              <a:t>in the scientific community</a:t>
            </a:r>
            <a:r>
              <a:rPr b="0" i="0" lang="en-US" sz="1600" u="none" cap="none" strike="noStrike">
                <a:solidFill>
                  <a:srgbClr val="000000"/>
                </a:solidFill>
                <a:latin typeface="Calibri"/>
                <a:ea typeface="Calibri"/>
                <a:cs typeface="Calibri"/>
                <a:sym typeface="Calibri"/>
              </a:rPr>
              <a:t> has moved a bit from 'open data' to ' open and FAIR data', because 'open' is a </a:t>
            </a:r>
            <a:r>
              <a:rPr lang="en-US"/>
              <a:t>broad term and does not </a:t>
            </a:r>
            <a:r>
              <a:rPr lang="en-US"/>
              <a:t>characterize</a:t>
            </a:r>
            <a:r>
              <a:rPr lang="en-US"/>
              <a:t> the usefulness of the data for all the reasons and more that we looked at before</a:t>
            </a:r>
            <a:r>
              <a:rPr b="0" i="0" lang="en-US" sz="1600" u="none" cap="none" strike="noStrike">
                <a:solidFill>
                  <a:srgbClr val="000000"/>
                </a:solidFill>
                <a:latin typeface="Calibri"/>
                <a:ea typeface="Calibri"/>
                <a:cs typeface="Calibri"/>
                <a:sym typeface="Calibri"/>
              </a:rPr>
              <a:t>. The FAIR principles give a more fine-grained definition of </a:t>
            </a:r>
            <a:r>
              <a:rPr lang="en-US"/>
              <a:t>characteristics</a:t>
            </a:r>
            <a:r>
              <a:rPr b="0" i="0" lang="en-US" sz="1600" u="none" cap="none" strike="noStrike">
                <a:solidFill>
                  <a:srgbClr val="000000"/>
                </a:solidFill>
                <a:latin typeface="Calibri"/>
                <a:ea typeface="Calibri"/>
                <a:cs typeface="Calibri"/>
                <a:sym typeface="Calibri"/>
              </a:rPr>
              <a:t> of the data, the how of data sharing: findable, accessible, interoperable, reusable. What these four terms mean in practice is exactly what we will cover in </a:t>
            </a:r>
            <a:r>
              <a:rPr lang="en-US"/>
              <a:t>a </a:t>
            </a:r>
            <a:r>
              <a:rPr b="0" i="0" lang="en-US" sz="1600" u="none" cap="none" strike="noStrike">
                <a:solidFill>
                  <a:srgbClr val="000000"/>
                </a:solidFill>
                <a:latin typeface="Calibri"/>
                <a:ea typeface="Calibri"/>
                <a:cs typeface="Calibri"/>
                <a:sym typeface="Calibri"/>
              </a:rPr>
              <a:t>workshop later on. </a:t>
            </a:r>
            <a:r>
              <a:rPr lang="en-US"/>
              <a:t>A well managed research data qualifies a lot of criterias of FAIR and can be made open with minimal effort.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For those not attending the workshop, let us try to go over the FAIR principles following the </a:t>
            </a:r>
            <a:r>
              <a:rPr lang="en-US">
                <a:solidFill>
                  <a:schemeClr val="dk1"/>
                </a:solidFill>
              </a:rPr>
              <a:t>Pareto principle, with some effort you quickly get 80 percent of the output; getting to 100 percent is complicated, but we should grab the easy 80 percent, with what is FAIR enough.</a:t>
            </a:r>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Findable: the data needs an persistent identifier, links that do not break like a DOI and should be findable re</a:t>
            </a:r>
            <a:r>
              <a:rPr lang="en-US"/>
              <a:t>liably</a:t>
            </a:r>
            <a:r>
              <a:rPr b="0" i="0" lang="en-US" sz="1600" u="none" cap="none" strike="noStrike">
                <a:solidFill>
                  <a:srgbClr val="000000"/>
                </a:solidFill>
                <a:latin typeface="Calibri"/>
                <a:ea typeface="Calibri"/>
                <a:cs typeface="Calibri"/>
                <a:sym typeface="Calibri"/>
              </a:rPr>
              <a:t>. You get this simply by putting your data into a professional repository.</a:t>
            </a:r>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Accessible</a:t>
            </a:r>
            <a:r>
              <a:rPr lang="en-US"/>
              <a:t> and Interoperable: the technical accessibility and interoperability of your dataset as a web resource is taken care of by the choice of a repository. In the workshop, we will extend these </a:t>
            </a:r>
            <a:r>
              <a:rPr lang="en-US"/>
              <a:t>principles</a:t>
            </a:r>
            <a:r>
              <a:rPr lang="en-US"/>
              <a:t> to the contents of your research data itself.</a:t>
            </a:r>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Reusable: here you have some work. Assign a license, preferably an open one like CC0 (public domain). Describe who was involved in the creation, management and curation of the data set. Just like CRediT contributor roles for papers, there are roles for data sets: who did what. Record the data collection date, and use data versioning. Sometimes we correct errors in data sets, and then we need to know exactly which version a paper refers to.</a:t>
            </a:r>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Cautionary tale: the European Social Survey, a large cross-national survey run across Europe with very professional data management, once corrected an error but forgot to create a new official version. Two data sets had the same version number but different data, and existing analyses could not be reproduced. So: every data set needs a version number.</a:t>
            </a:r>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Finally, write a codebook, otherwise nobody understands your variables, and use a structured, open, non-proprietary format. Please do not store your data as a PDF.</a:t>
            </a:r>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That is it. It is doable, and with that you fulfill most of the FAIR criteria.</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US"/>
              <a:t>We will go into the specific during the workshop where I will also invite you to think about these domain agnostic FAIR principles and how it applies to your research context.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rPr lang="en-US"/>
              <a:t>But before that, a bit more social side of open data sharing. </a:t>
            </a:r>
            <a:r>
              <a:rPr b="0" i="0" lang="en-US" sz="1600" u="none" cap="none" strike="noStrike">
                <a:latin typeface="Calibri"/>
                <a:ea typeface="Calibri"/>
                <a:cs typeface="Calibri"/>
                <a:sym typeface="Calibri"/>
              </a:rPr>
              <a:t>When we talk about open data in the community of scientists, we typically see three fields of tension that need to be balanced. These tensions surfaced most explicitly when the psychology community discussed its data sharing recommendations, but they apply to research data in every field.</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To begin, the tension between open data and </a:t>
            </a:r>
            <a:r>
              <a:rPr lang="en-US"/>
              <a:t>privacy</a:t>
            </a:r>
            <a:r>
              <a:rPr lang="en-US"/>
              <a:t> rights of subjects. </a:t>
            </a:r>
            <a:r>
              <a:rPr b="0" i="0" lang="en-US" sz="1600" u="none" cap="none" strike="noStrike">
                <a:latin typeface="Calibri"/>
                <a:ea typeface="Calibri"/>
                <a:cs typeface="Calibri"/>
                <a:sym typeface="Calibri"/>
              </a:rPr>
              <a:t>As a general heuristic: privacy rights beat openness. But the GDPR, the EU's General Data Protection Regulation, also mentions a legitimate interest of research, which could overrule its restrictions. The problem</a:t>
            </a:r>
            <a:r>
              <a:rPr lang="en-US"/>
              <a:t> is legal decisions draw on </a:t>
            </a:r>
            <a:r>
              <a:rPr lang="en-US"/>
              <a:t>existing</a:t>
            </a:r>
            <a:r>
              <a:rPr lang="en-US"/>
              <a:t> rulings for concrete advice, but</a:t>
            </a:r>
            <a:r>
              <a:rPr b="0" i="0" lang="en-US" sz="1600" u="none" cap="none" strike="noStrike">
                <a:latin typeface="Calibri"/>
                <a:ea typeface="Calibri"/>
                <a:cs typeface="Calibri"/>
                <a:sym typeface="Calibri"/>
              </a:rPr>
              <a:t> </a:t>
            </a:r>
            <a:r>
              <a:rPr lang="en-US"/>
              <a:t>t</a:t>
            </a:r>
            <a:r>
              <a:rPr b="0" i="0" lang="en-US" sz="1600" u="none" cap="none" strike="noStrike">
                <a:latin typeface="Calibri"/>
                <a:ea typeface="Calibri"/>
                <a:cs typeface="Calibri"/>
                <a:sym typeface="Calibri"/>
              </a:rPr>
              <a:t>o date there have been essentially no court rulings on the GDPR in th</a:t>
            </a:r>
            <a:r>
              <a:rPr lang="en-US"/>
              <a:t>e research </a:t>
            </a:r>
            <a:r>
              <a:rPr b="0" i="0" lang="en-US" sz="1600" u="none" cap="none" strike="noStrike">
                <a:latin typeface="Calibri"/>
                <a:ea typeface="Calibri"/>
                <a:cs typeface="Calibri"/>
                <a:sym typeface="Calibri"/>
              </a:rPr>
              <a:t>context as far as I am aware, so nobody can delineate the gray area precisely yet.</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Still, we can do things. First, ask participants for broad consent to open reuse. We sometimes assume participants want to lock their data away; often it is the other way around. In one case, a sample of people with a rare disease said: please reuse my data for any research, we want a cure for this disease, for our kids and for others affected. But we have to ask them.</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Second, tiered access levels. Putting data plainly on the internet where Google and Meta can download it is not the only way to share. Scientific use files sit on a repository under restricted conditions: typically only people with a university affiliation can apply, they write a one-paragraph proposal stating their research question, and they sign a contract promising not to re-identify anyone and to delete the data after the analysis. If they misbehave, they are liable, not you. This is a very good way to integrate privacy rights with openness, and scientific use files still count as open data. From the scientific point of view it is good enough.</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Third, publish aggregated data. Video recordings of mothers interacting with their children are hard to publish, and I would not. But typically we analyze such videos, counting how often the mother smiles, how the child reacts, and those ratings are perfectly anonymous. Publish the ratings and your paper is reproducible without the problematic videos.</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In general, sharing something is always better than sharing nothing. It is not binary, open or closed. It is a continuum: as open as possible, as restricted as necessary.</a:t>
            </a:r>
            <a:endParaRPr/>
          </a:p>
        </p:txBody>
      </p:sp>
      <p:sp>
        <p:nvSpPr>
          <p:cNvPr id="263" name="Google Shape;26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The second tension: on one hand the right of first usage, since collecting data must be incentivized, rewarded and valued. On the other hand we want optimal, efficient gain of knowledge through data reuse.</a:t>
            </a:r>
            <a:endParaRPr/>
          </a:p>
        </p:txBody>
      </p:sp>
      <p:sp>
        <p:nvSpPr>
          <p:cNvPr id="274" name="Google Shape;274;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This is a scene from Game of Thrones, chosen because there was a lot of fighting. When two researchers fight, one says: I spent three years in the lab collecting my data, no research parasite will profit from it. </a:t>
            </a:r>
            <a:r>
              <a:rPr lang="en-US"/>
              <a:t>And that</a:t>
            </a:r>
            <a:r>
              <a:rPr b="0" i="0" lang="en-US" sz="1600" u="none" cap="none" strike="noStrike">
                <a:solidFill>
                  <a:srgbClr val="000000"/>
                </a:solidFill>
                <a:latin typeface="Calibri"/>
                <a:ea typeface="Calibri"/>
                <a:cs typeface="Calibri"/>
                <a:sym typeface="Calibri"/>
              </a:rPr>
              <a:t> term is real: in 2016 the editors of the New England Journal of Medicine, one of the most prestigious medical journals, wrote an editorial warning about 'research parasites', meaning people who reuse others' data without investing the hard work of collection. </a:t>
            </a:r>
            <a:endParaRPr b="0" i="0" sz="1600" u="none" cap="none" strike="noStrike">
              <a:solidFill>
                <a:srgbClr val="000000"/>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And one can understand the feeling: you spend three years in the lab, then some random person takes your data and publishes more papers than you do.</a:t>
            </a:r>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On the other hand, people who reuse data have a legitimate position too: I do important and good research by reanalyzing existing data sets, for example the big longitudinal </a:t>
            </a:r>
            <a:r>
              <a:rPr lang="en-US"/>
              <a:t>studies that need data collected through years from different people</a:t>
            </a:r>
            <a:r>
              <a:rPr b="0" i="0" lang="en-US" sz="1600" u="none" cap="none" strike="noStrike">
                <a:solidFill>
                  <a:srgbClr val="000000"/>
                </a:solidFill>
                <a:latin typeface="Calibri"/>
                <a:ea typeface="Calibri"/>
                <a:cs typeface="Calibri"/>
                <a:sym typeface="Calibri"/>
              </a:rPr>
              <a:t>. That data is enormously valuable, of course it should be reanalyzed. Please do not devalue my style of research.</a:t>
            </a:r>
            <a:br>
              <a:rPr b="0" i="0" lang="en-US" sz="1600" u="none" cap="none" strike="noStrike">
                <a:solidFill>
                  <a:srgbClr val="000000"/>
                </a:solidFill>
                <a:latin typeface="Calibri"/>
                <a:ea typeface="Calibri"/>
                <a:cs typeface="Calibri"/>
                <a:sym typeface="Calibri"/>
              </a:rPr>
            </a:br>
            <a:br>
              <a:rPr lang="en-US"/>
            </a:br>
            <a:br>
              <a:rPr lang="en-US"/>
            </a:br>
            <a:endParaRPr/>
          </a:p>
          <a:p>
            <a:pPr indent="0" lvl="0" marL="0" rtl="0" algn="l">
              <a:lnSpc>
                <a:spcPct val="115000"/>
              </a:lnSpc>
              <a:spcBef>
                <a:spcPts val="0"/>
              </a:spcBef>
              <a:spcAft>
                <a:spcPts val="0"/>
              </a:spcAft>
              <a:buClr>
                <a:schemeClr val="dk1"/>
              </a:buClr>
              <a:buSzPts val="1100"/>
              <a:buFont typeface="Arial"/>
              <a:buNone/>
            </a:pPr>
            <a:r>
              <a:rPr b="1" lang="en-US" sz="1200">
                <a:solidFill>
                  <a:schemeClr val="dk1"/>
                </a:solidFill>
                <a:latin typeface="Arial"/>
                <a:ea typeface="Arial"/>
                <a:cs typeface="Arial"/>
                <a:sym typeface="Arial"/>
              </a:rPr>
              <a:t>SOEP</a:t>
            </a:r>
            <a:r>
              <a:rPr lang="en-US" sz="1200">
                <a:solidFill>
                  <a:schemeClr val="dk1"/>
                </a:solidFill>
                <a:latin typeface="Arial"/>
                <a:ea typeface="Arial"/>
                <a:cs typeface="Arial"/>
                <a:sym typeface="Arial"/>
              </a:rPr>
              <a:t> and the </a:t>
            </a:r>
            <a:r>
              <a:rPr b="1" lang="en-US" sz="1200">
                <a:solidFill>
                  <a:schemeClr val="dk1"/>
                </a:solidFill>
                <a:latin typeface="Arial"/>
                <a:ea typeface="Arial"/>
                <a:cs typeface="Arial"/>
                <a:sym typeface="Arial"/>
              </a:rPr>
              <a:t>GESIS Panel</a:t>
            </a:r>
            <a:r>
              <a:rPr lang="en-US" sz="1200">
                <a:solidFill>
                  <a:schemeClr val="dk1"/>
                </a:solidFill>
                <a:latin typeface="Arial"/>
                <a:ea typeface="Arial"/>
                <a:cs typeface="Arial"/>
                <a:sym typeface="Arial"/>
              </a:rPr>
              <a:t> are two of Germany's most prominent long-term social science research infrastructures that collect large-scale survey data on the population. [</a:t>
            </a:r>
            <a:r>
              <a:rPr lang="en-US" sz="1200" u="sng">
                <a:solidFill>
                  <a:schemeClr val="hlink"/>
                </a:solidFill>
                <a:latin typeface="Arial"/>
                <a:ea typeface="Arial"/>
                <a:cs typeface="Arial"/>
                <a:sym typeface="Arial"/>
                <a:hlinkClick r:id="rId2"/>
              </a:rPr>
              <a:t>1</a:t>
            </a:r>
            <a:r>
              <a:rPr lang="en-US" sz="1200">
                <a:solidFill>
                  <a:schemeClr val="dk1"/>
                </a:solidFill>
                <a:latin typeface="Arial"/>
                <a:ea typeface="Arial"/>
                <a:cs typeface="Arial"/>
                <a:sym typeface="Arial"/>
              </a:rPr>
              <a:t>,</a:t>
            </a:r>
            <a:r>
              <a:rPr lang="en-US" sz="1200">
                <a:solidFill>
                  <a:schemeClr val="dk1"/>
                </a:solidFill>
                <a:uFill>
                  <a:noFill/>
                </a:uFill>
                <a:latin typeface="Arial"/>
                <a:ea typeface="Arial"/>
                <a:cs typeface="Arial"/>
                <a:sym typeface="Arial"/>
                <a:hlinkClick r:id="rId3">
                  <a:extLst>
                    <a:ext uri="{A12FA001-AC4F-418D-AE19-62706E023703}">
                      <ahyp:hlinkClr val="tx"/>
                    </a:ext>
                  </a:extLst>
                </a:hlinkClick>
              </a:rPr>
              <a:t> </a:t>
            </a:r>
            <a:r>
              <a:rPr lang="en-US" sz="1200" u="sng">
                <a:solidFill>
                  <a:schemeClr val="hlink"/>
                </a:solidFill>
                <a:latin typeface="Arial"/>
                <a:ea typeface="Arial"/>
                <a:cs typeface="Arial"/>
                <a:sym typeface="Arial"/>
                <a:hlinkClick r:id="rId4"/>
              </a:rPr>
              <a:t>2</a:t>
            </a:r>
            <a:r>
              <a:rPr lang="en-US" sz="1200">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rPr lang="en-US" sz="1500">
                <a:solidFill>
                  <a:schemeClr val="dk1"/>
                </a:solidFill>
                <a:latin typeface="Arial"/>
                <a:ea typeface="Arial"/>
                <a:cs typeface="Arial"/>
                <a:sym typeface="Arial"/>
              </a:rPr>
              <a:t>SOEP (Socio-Economic Panel)</a:t>
            </a:r>
            <a:endParaRPr sz="1500">
              <a:solidFill>
                <a:schemeClr val="dk1"/>
              </a:solidFill>
              <a:latin typeface="Arial"/>
              <a:ea typeface="Arial"/>
              <a:cs typeface="Arial"/>
              <a:sym typeface="Arial"/>
            </a:endParaRPr>
          </a:p>
          <a:p>
            <a:pPr indent="-304800" lvl="0" marL="457200" rtl="0" algn="l">
              <a:lnSpc>
                <a:spcPct val="115000"/>
              </a:lnSpc>
              <a:spcBef>
                <a:spcPts val="900"/>
              </a:spcBef>
              <a:spcAft>
                <a:spcPts val="0"/>
              </a:spcAft>
              <a:buClr>
                <a:schemeClr val="dk1"/>
              </a:buClr>
              <a:buSzPts val="1200"/>
              <a:buChar char="●"/>
            </a:pPr>
            <a:r>
              <a:rPr b="1" lang="en-US" sz="1200">
                <a:solidFill>
                  <a:schemeClr val="dk1"/>
                </a:solidFill>
                <a:latin typeface="Arial"/>
                <a:ea typeface="Arial"/>
                <a:cs typeface="Arial"/>
                <a:sym typeface="Arial"/>
              </a:rPr>
              <a:t>What it is:</a:t>
            </a:r>
            <a:r>
              <a:rPr lang="en-US" sz="1200">
                <a:solidFill>
                  <a:schemeClr val="dk1"/>
                </a:solidFill>
                <a:latin typeface="Arial"/>
                <a:ea typeface="Arial"/>
                <a:cs typeface="Arial"/>
                <a:sym typeface="Arial"/>
              </a:rPr>
              <a:t> A massive, long-running longitudinal household survey tracking individuals and families in Germany.</a:t>
            </a:r>
            <a:endParaRPr sz="1200">
              <a:solidFill>
                <a:schemeClr val="dk1"/>
              </a:solidFill>
              <a:latin typeface="Arial"/>
              <a:ea typeface="Arial"/>
              <a:cs typeface="Arial"/>
              <a:sym typeface="Aria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latin typeface="Arial"/>
                <a:ea typeface="Arial"/>
                <a:cs typeface="Arial"/>
                <a:sym typeface="Arial"/>
              </a:rPr>
              <a:t>Run by:</a:t>
            </a:r>
            <a:r>
              <a:rPr lang="en-US" sz="1200">
                <a:solidFill>
                  <a:schemeClr val="dk1"/>
                </a:solidFill>
                <a:latin typeface="Arial"/>
                <a:ea typeface="Arial"/>
                <a:cs typeface="Arial"/>
                <a:sym typeface="Arial"/>
              </a:rPr>
              <a:t> The German Institute for Economic Research (</a:t>
            </a:r>
            <a:r>
              <a:rPr lang="en-US" sz="1200" u="sng">
                <a:solidFill>
                  <a:schemeClr val="hlink"/>
                </a:solidFill>
                <a:latin typeface="Arial"/>
                <a:ea typeface="Arial"/>
                <a:cs typeface="Arial"/>
                <a:sym typeface="Arial"/>
                <a:hlinkClick r:id="rId5"/>
              </a:rPr>
              <a:t>DIW Berlin</a:t>
            </a:r>
            <a:r>
              <a:rPr lang="en-US" sz="1200">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latin typeface="Arial"/>
                <a:ea typeface="Arial"/>
                <a:cs typeface="Arial"/>
                <a:sym typeface="Arial"/>
              </a:rPr>
              <a:t>Started:</a:t>
            </a:r>
            <a:r>
              <a:rPr lang="en-US" sz="1200">
                <a:solidFill>
                  <a:schemeClr val="dk1"/>
                </a:solidFill>
                <a:latin typeface="Arial"/>
                <a:ea typeface="Arial"/>
                <a:cs typeface="Arial"/>
                <a:sym typeface="Arial"/>
              </a:rPr>
              <a:t> 1984 (making it one of the oldest and largest of its kind globally).</a:t>
            </a:r>
            <a:endParaRPr sz="1200">
              <a:solidFill>
                <a:schemeClr val="dk1"/>
              </a:solidFill>
              <a:latin typeface="Arial"/>
              <a:ea typeface="Arial"/>
              <a:cs typeface="Arial"/>
              <a:sym typeface="Aria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latin typeface="Arial"/>
                <a:ea typeface="Arial"/>
                <a:cs typeface="Arial"/>
                <a:sym typeface="Arial"/>
              </a:rPr>
              <a:t>Scope:</a:t>
            </a:r>
            <a:r>
              <a:rPr lang="en-US" sz="1200">
                <a:solidFill>
                  <a:schemeClr val="dk1"/>
                </a:solidFill>
                <a:latin typeface="Arial"/>
                <a:ea typeface="Arial"/>
                <a:cs typeface="Arial"/>
                <a:sym typeface="Arial"/>
              </a:rPr>
              <a:t> Surveys roughly 30,000 people across 20,000 households annually.</a:t>
            </a:r>
            <a:endParaRPr sz="1200">
              <a:solidFill>
                <a:schemeClr val="dk1"/>
              </a:solidFill>
              <a:latin typeface="Arial"/>
              <a:ea typeface="Arial"/>
              <a:cs typeface="Arial"/>
              <a:sym typeface="Aria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latin typeface="Arial"/>
                <a:ea typeface="Arial"/>
                <a:cs typeface="Arial"/>
                <a:sym typeface="Arial"/>
              </a:rPr>
              <a:t>Focus:</a:t>
            </a:r>
            <a:r>
              <a:rPr lang="en-US" sz="1200">
                <a:solidFill>
                  <a:schemeClr val="dk1"/>
                </a:solidFill>
                <a:latin typeface="Arial"/>
                <a:ea typeface="Arial"/>
                <a:cs typeface="Arial"/>
                <a:sym typeface="Arial"/>
              </a:rPr>
              <a:t> Gathers data on income, employment, education, health, and family dynamics to study long-term life trajectories and societal changes. [</a:t>
            </a:r>
            <a:r>
              <a:rPr lang="en-US" sz="1200" u="sng">
                <a:solidFill>
                  <a:schemeClr val="hlink"/>
                </a:solidFill>
                <a:latin typeface="Arial"/>
                <a:ea typeface="Arial"/>
                <a:cs typeface="Arial"/>
                <a:sym typeface="Arial"/>
                <a:hlinkClick r:id="rId6"/>
              </a:rPr>
              <a:t>1</a:t>
            </a:r>
            <a:r>
              <a:rPr lang="en-US" sz="1200">
                <a:solidFill>
                  <a:schemeClr val="dk1"/>
                </a:solidFill>
                <a:latin typeface="Arial"/>
                <a:ea typeface="Arial"/>
                <a:cs typeface="Arial"/>
                <a:sym typeface="Arial"/>
              </a:rPr>
              <a:t>,</a:t>
            </a:r>
            <a:r>
              <a:rPr lang="en-US" sz="1200">
                <a:solidFill>
                  <a:schemeClr val="dk1"/>
                </a:solidFill>
                <a:uFill>
                  <a:noFill/>
                </a:uFill>
                <a:latin typeface="Arial"/>
                <a:ea typeface="Arial"/>
                <a:cs typeface="Arial"/>
                <a:sym typeface="Arial"/>
                <a:hlinkClick r:id="rId7">
                  <a:extLst>
                    <a:ext uri="{A12FA001-AC4F-418D-AE19-62706E023703}">
                      <ahyp:hlinkClr val="tx"/>
                    </a:ext>
                  </a:extLst>
                </a:hlinkClick>
              </a:rPr>
              <a:t> </a:t>
            </a:r>
            <a:r>
              <a:rPr lang="en-US" sz="1200" u="sng">
                <a:solidFill>
                  <a:schemeClr val="hlink"/>
                </a:solidFill>
                <a:latin typeface="Arial"/>
                <a:ea typeface="Arial"/>
                <a:cs typeface="Arial"/>
                <a:sym typeface="Arial"/>
                <a:hlinkClick r:id="rId8"/>
              </a:rPr>
              <a:t>2</a:t>
            </a:r>
            <a:r>
              <a:rPr lang="en-US" sz="1200">
                <a:solidFill>
                  <a:schemeClr val="dk1"/>
                </a:solidFill>
                <a:latin typeface="Arial"/>
                <a:ea typeface="Arial"/>
                <a:cs typeface="Arial"/>
                <a:sym typeface="Arial"/>
              </a:rPr>
              <a:t>,</a:t>
            </a:r>
            <a:r>
              <a:rPr lang="en-US" sz="1200">
                <a:solidFill>
                  <a:schemeClr val="dk1"/>
                </a:solidFill>
                <a:uFill>
                  <a:noFill/>
                </a:uFill>
                <a:latin typeface="Arial"/>
                <a:ea typeface="Arial"/>
                <a:cs typeface="Arial"/>
                <a:sym typeface="Arial"/>
                <a:hlinkClick r:id="rId9">
                  <a:extLst>
                    <a:ext uri="{A12FA001-AC4F-418D-AE19-62706E023703}">
                      <ahyp:hlinkClr val="tx"/>
                    </a:ext>
                  </a:extLst>
                </a:hlinkClick>
              </a:rPr>
              <a:t> </a:t>
            </a:r>
            <a:r>
              <a:rPr lang="en-US" sz="1200" u="sng">
                <a:solidFill>
                  <a:schemeClr val="hlink"/>
                </a:solidFill>
                <a:latin typeface="Arial"/>
                <a:ea typeface="Arial"/>
                <a:cs typeface="Arial"/>
                <a:sym typeface="Arial"/>
                <a:hlinkClick r:id="rId10"/>
              </a:rPr>
              <a:t>3</a:t>
            </a:r>
            <a:r>
              <a:rPr lang="en-US" sz="1200">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a:p>
            <a:pPr indent="0" lvl="0" marL="0" rtl="0" algn="l">
              <a:lnSpc>
                <a:spcPct val="115000"/>
              </a:lnSpc>
              <a:spcBef>
                <a:spcPts val="2100"/>
              </a:spcBef>
              <a:spcAft>
                <a:spcPts val="0"/>
              </a:spcAft>
              <a:buClr>
                <a:schemeClr val="dk1"/>
              </a:buClr>
              <a:buSzPts val="1100"/>
              <a:buFont typeface="Arial"/>
              <a:buNone/>
            </a:pPr>
            <a:r>
              <a:rPr lang="en-US" sz="1500">
                <a:solidFill>
                  <a:schemeClr val="dk1"/>
                </a:solidFill>
                <a:latin typeface="Arial"/>
                <a:ea typeface="Arial"/>
                <a:cs typeface="Arial"/>
                <a:sym typeface="Arial"/>
              </a:rPr>
              <a:t>GESIS Panel</a:t>
            </a:r>
            <a:endParaRPr sz="1500">
              <a:solidFill>
                <a:schemeClr val="dk1"/>
              </a:solidFill>
              <a:latin typeface="Arial"/>
              <a:ea typeface="Arial"/>
              <a:cs typeface="Arial"/>
              <a:sym typeface="Arial"/>
            </a:endParaRPr>
          </a:p>
          <a:p>
            <a:pPr indent="-304800" lvl="0" marL="457200" rtl="0" algn="l">
              <a:lnSpc>
                <a:spcPct val="115000"/>
              </a:lnSpc>
              <a:spcBef>
                <a:spcPts val="900"/>
              </a:spcBef>
              <a:spcAft>
                <a:spcPts val="0"/>
              </a:spcAft>
              <a:buClr>
                <a:schemeClr val="dk1"/>
              </a:buClr>
              <a:buSzPts val="1200"/>
              <a:buChar char="●"/>
            </a:pPr>
            <a:r>
              <a:rPr b="1" lang="en-US" sz="1200">
                <a:solidFill>
                  <a:schemeClr val="dk1"/>
                </a:solidFill>
                <a:latin typeface="Arial"/>
                <a:ea typeface="Arial"/>
                <a:cs typeface="Arial"/>
                <a:sym typeface="Arial"/>
              </a:rPr>
              <a:t>What it is:</a:t>
            </a:r>
            <a:r>
              <a:rPr lang="en-US" sz="1200">
                <a:solidFill>
                  <a:schemeClr val="dk1"/>
                </a:solidFill>
                <a:latin typeface="Arial"/>
                <a:ea typeface="Arial"/>
                <a:cs typeface="Arial"/>
                <a:sym typeface="Arial"/>
              </a:rPr>
              <a:t> A mixed-mode probability-based omnibus panel (a survey carrying multiple topics from different researchers) designed for social science research. [</a:t>
            </a:r>
            <a:r>
              <a:rPr lang="en-US" sz="1200" u="sng">
                <a:solidFill>
                  <a:schemeClr val="hlink"/>
                </a:solidFill>
                <a:latin typeface="Arial"/>
                <a:ea typeface="Arial"/>
                <a:cs typeface="Arial"/>
                <a:sym typeface="Arial"/>
                <a:hlinkClick r:id="rId11"/>
              </a:rPr>
              <a:t>1</a:t>
            </a:r>
            <a:r>
              <a:rPr lang="en-US" sz="1200">
                <a:solidFill>
                  <a:schemeClr val="dk1"/>
                </a:solidFill>
                <a:latin typeface="Arial"/>
                <a:ea typeface="Arial"/>
                <a:cs typeface="Arial"/>
                <a:sym typeface="Arial"/>
              </a:rPr>
              <a:t>,</a:t>
            </a:r>
            <a:r>
              <a:rPr lang="en-US" sz="1200">
                <a:solidFill>
                  <a:schemeClr val="dk1"/>
                </a:solidFill>
                <a:uFill>
                  <a:noFill/>
                </a:uFill>
                <a:latin typeface="Arial"/>
                <a:ea typeface="Arial"/>
                <a:cs typeface="Arial"/>
                <a:sym typeface="Arial"/>
                <a:hlinkClick r:id="rId12">
                  <a:extLst>
                    <a:ext uri="{A12FA001-AC4F-418D-AE19-62706E023703}">
                      <ahyp:hlinkClr val="tx"/>
                    </a:ext>
                  </a:extLst>
                </a:hlinkClick>
              </a:rPr>
              <a:t> </a:t>
            </a:r>
            <a:r>
              <a:rPr lang="en-US" sz="1200" u="sng">
                <a:solidFill>
                  <a:schemeClr val="hlink"/>
                </a:solidFill>
                <a:latin typeface="Arial"/>
                <a:ea typeface="Arial"/>
                <a:cs typeface="Arial"/>
                <a:sym typeface="Arial"/>
                <a:hlinkClick r:id="rId13"/>
              </a:rPr>
              <a:t>2</a:t>
            </a:r>
            <a:r>
              <a:rPr lang="en-US" sz="1200">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latin typeface="Arial"/>
                <a:ea typeface="Arial"/>
                <a:cs typeface="Arial"/>
                <a:sym typeface="Arial"/>
              </a:rPr>
              <a:t>Run by:</a:t>
            </a:r>
            <a:r>
              <a:rPr lang="en-US" sz="1200">
                <a:solidFill>
                  <a:schemeClr val="dk1"/>
                </a:solidFill>
                <a:uFill>
                  <a:noFill/>
                </a:uFill>
                <a:latin typeface="Arial"/>
                <a:ea typeface="Arial"/>
                <a:cs typeface="Arial"/>
                <a:sym typeface="Arial"/>
                <a:hlinkClick r:id="rId14">
                  <a:extLst>
                    <a:ext uri="{A12FA001-AC4F-418D-AE19-62706E023703}">
                      <ahyp:hlinkClr val="tx"/>
                    </a:ext>
                  </a:extLst>
                </a:hlinkClick>
              </a:rPr>
              <a:t> </a:t>
            </a:r>
            <a:r>
              <a:rPr lang="en-US" sz="1200" u="sng">
                <a:solidFill>
                  <a:schemeClr val="hlink"/>
                </a:solidFill>
                <a:latin typeface="Arial"/>
                <a:ea typeface="Arial"/>
                <a:cs typeface="Arial"/>
                <a:sym typeface="Arial"/>
                <a:hlinkClick r:id="rId15"/>
              </a:rPr>
              <a:t>GESIS – Leibniz Institute for the Social Sciences</a:t>
            </a:r>
            <a:r>
              <a:rPr lang="en-US" sz="1200">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latin typeface="Arial"/>
                <a:ea typeface="Arial"/>
                <a:cs typeface="Arial"/>
                <a:sym typeface="Arial"/>
              </a:rPr>
              <a:t>Started:</a:t>
            </a:r>
            <a:r>
              <a:rPr lang="en-US" sz="1200">
                <a:solidFill>
                  <a:schemeClr val="dk1"/>
                </a:solidFill>
                <a:latin typeface="Arial"/>
                <a:ea typeface="Arial"/>
                <a:cs typeface="Arial"/>
                <a:sym typeface="Arial"/>
              </a:rPr>
              <a:t> 2014. [</a:t>
            </a:r>
            <a:r>
              <a:rPr lang="en-US" sz="1200" u="sng">
                <a:solidFill>
                  <a:schemeClr val="hlink"/>
                </a:solidFill>
                <a:latin typeface="Arial"/>
                <a:ea typeface="Arial"/>
                <a:cs typeface="Arial"/>
                <a:sym typeface="Arial"/>
                <a:hlinkClick r:id="rId16"/>
              </a:rPr>
              <a:t>1</a:t>
            </a:r>
            <a:r>
              <a:rPr lang="en-US" sz="1200">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latin typeface="Arial"/>
                <a:ea typeface="Arial"/>
                <a:cs typeface="Arial"/>
                <a:sym typeface="Arial"/>
              </a:rPr>
              <a:t>Scope:</a:t>
            </a:r>
            <a:r>
              <a:rPr lang="en-US" sz="1200">
                <a:solidFill>
                  <a:schemeClr val="dk1"/>
                </a:solidFill>
                <a:latin typeface="Arial"/>
                <a:ea typeface="Arial"/>
                <a:cs typeface="Arial"/>
                <a:sym typeface="Arial"/>
              </a:rPr>
              <a:t> Surveys the German-speaking adult population regularly (e.g., every three months) via web or mail. [</a:t>
            </a:r>
            <a:r>
              <a:rPr lang="en-US" sz="1200" u="sng">
                <a:solidFill>
                  <a:schemeClr val="hlink"/>
                </a:solidFill>
                <a:latin typeface="Arial"/>
                <a:ea typeface="Arial"/>
                <a:cs typeface="Arial"/>
                <a:sym typeface="Arial"/>
                <a:hlinkClick r:id="rId17"/>
              </a:rPr>
              <a:t>1</a:t>
            </a:r>
            <a:r>
              <a:rPr lang="en-US" sz="1200">
                <a:solidFill>
                  <a:schemeClr val="dk1"/>
                </a:solidFill>
                <a:latin typeface="Arial"/>
                <a:ea typeface="Arial"/>
                <a:cs typeface="Arial"/>
                <a:sym typeface="Arial"/>
              </a:rPr>
              <a:t>,</a:t>
            </a:r>
            <a:r>
              <a:rPr lang="en-US" sz="1200">
                <a:solidFill>
                  <a:schemeClr val="dk1"/>
                </a:solidFill>
                <a:uFill>
                  <a:noFill/>
                </a:uFill>
                <a:latin typeface="Arial"/>
                <a:ea typeface="Arial"/>
                <a:cs typeface="Arial"/>
                <a:sym typeface="Arial"/>
                <a:hlinkClick r:id="rId18">
                  <a:extLst>
                    <a:ext uri="{A12FA001-AC4F-418D-AE19-62706E023703}">
                      <ahyp:hlinkClr val="tx"/>
                    </a:ext>
                  </a:extLst>
                </a:hlinkClick>
              </a:rPr>
              <a:t> </a:t>
            </a:r>
            <a:r>
              <a:rPr lang="en-US" sz="1200" u="sng">
                <a:solidFill>
                  <a:schemeClr val="hlink"/>
                </a:solidFill>
                <a:latin typeface="Arial"/>
                <a:ea typeface="Arial"/>
                <a:cs typeface="Arial"/>
                <a:sym typeface="Arial"/>
                <a:hlinkClick r:id="rId19"/>
              </a:rPr>
              <a:t>2</a:t>
            </a:r>
            <a:r>
              <a:rPr lang="en-US" sz="1200">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latin typeface="Arial"/>
                <a:ea typeface="Arial"/>
                <a:cs typeface="Arial"/>
                <a:sym typeface="Arial"/>
              </a:rPr>
              <a:t>Focus:</a:t>
            </a:r>
            <a:r>
              <a:rPr lang="en-US" sz="1200">
                <a:solidFill>
                  <a:schemeClr val="dk1"/>
                </a:solidFill>
                <a:latin typeface="Arial"/>
                <a:ea typeface="Arial"/>
                <a:cs typeface="Arial"/>
                <a:sym typeface="Arial"/>
              </a:rPr>
              <a:t> Acts as a shared infrastructure that allows external academic researchers to submit and collect their own survey questions free of charge, while also providing rich open data for secondary analysis. [</a:t>
            </a:r>
            <a:r>
              <a:rPr lang="en-US" sz="1200" u="sng">
                <a:solidFill>
                  <a:schemeClr val="hlink"/>
                </a:solidFill>
                <a:latin typeface="Arial"/>
                <a:ea typeface="Arial"/>
                <a:cs typeface="Arial"/>
                <a:sym typeface="Arial"/>
                <a:hlinkClick r:id="rId20"/>
              </a:rPr>
              <a:t>1</a:t>
            </a:r>
            <a:r>
              <a:rPr lang="en-US" sz="1200">
                <a:solidFill>
                  <a:schemeClr val="dk1"/>
                </a:solidFill>
                <a:latin typeface="Arial"/>
                <a:ea typeface="Arial"/>
                <a:cs typeface="Arial"/>
                <a:sym typeface="Arial"/>
              </a:rPr>
              <a:t>,</a:t>
            </a:r>
            <a:r>
              <a:rPr lang="en-US" sz="1200">
                <a:solidFill>
                  <a:schemeClr val="dk1"/>
                </a:solidFill>
                <a:uFill>
                  <a:noFill/>
                </a:uFill>
                <a:latin typeface="Arial"/>
                <a:ea typeface="Arial"/>
                <a:cs typeface="Arial"/>
                <a:sym typeface="Arial"/>
                <a:hlinkClick r:id="rId21">
                  <a:extLst>
                    <a:ext uri="{A12FA001-AC4F-418D-AE19-62706E023703}">
                      <ahyp:hlinkClr val="tx"/>
                    </a:ext>
                  </a:extLst>
                </a:hlinkClick>
              </a:rPr>
              <a:t> </a:t>
            </a:r>
            <a:r>
              <a:rPr lang="en-US" sz="1200" u="sng">
                <a:solidFill>
                  <a:schemeClr val="hlink"/>
                </a:solidFill>
                <a:latin typeface="Arial"/>
                <a:ea typeface="Arial"/>
                <a:cs typeface="Arial"/>
                <a:sym typeface="Arial"/>
                <a:hlinkClick r:id="rId22"/>
              </a:rPr>
              <a:t>2</a:t>
            </a:r>
            <a:r>
              <a:rPr lang="en-US" sz="1200">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a:p>
            <a:pPr indent="-228600" lvl="0" marL="457200" marR="0" rtl="0" algn="l">
              <a:lnSpc>
                <a:spcPct val="100000"/>
              </a:lnSpc>
              <a:spcBef>
                <a:spcPts val="2100"/>
              </a:spcBef>
              <a:spcAft>
                <a:spcPts val="0"/>
              </a:spcAft>
              <a:buClr>
                <a:srgbClr val="000000"/>
              </a:buClr>
              <a:buSzPts val="1400"/>
              <a:buFont typeface="Arial"/>
              <a:buNone/>
            </a:pPr>
            <a:r>
              <a:t/>
            </a:r>
            <a:endParaRPr/>
          </a:p>
        </p:txBody>
      </p:sp>
      <p:sp>
        <p:nvSpPr>
          <p:cNvPr id="285" name="Google Shape;28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fa33710e84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en-US">
                <a:solidFill>
                  <a:schemeClr val="dk1"/>
                </a:solidFill>
              </a:rPr>
              <a:t>The resolution psychology proposed, and I think it is the balanced one: yes, collecting primary data is a sine qua non for empirical research. </a:t>
            </a:r>
            <a:endParaRPr>
              <a:solidFill>
                <a:schemeClr val="dk1"/>
              </a:solidFill>
            </a:endParaRPr>
          </a:p>
          <a:p>
            <a:pPr indent="0" lvl="0" marL="0" rtl="0" algn="l">
              <a:spcBef>
                <a:spcPts val="0"/>
              </a:spcBef>
              <a:spcAft>
                <a:spcPts val="0"/>
              </a:spcAft>
              <a:buClr>
                <a:schemeClr val="dk1"/>
              </a:buClr>
              <a:buSzPts val="1400"/>
              <a:buFont typeface="Arial"/>
              <a:buNone/>
            </a:pPr>
            <a:r>
              <a:rPr lang="en-US">
                <a:solidFill>
                  <a:schemeClr val="dk1"/>
                </a:solidFill>
              </a:rPr>
              <a:t>If everybody only reanalyzed existing data, research would soon stop. So data collection must be valued. </a:t>
            </a:r>
            <a:endParaRPr>
              <a:solidFill>
                <a:schemeClr val="dk1"/>
              </a:solidFill>
            </a:endParaRPr>
          </a:p>
          <a:p>
            <a:pPr indent="0" lvl="0" marL="0" rtl="0" algn="l">
              <a:spcBef>
                <a:spcPts val="0"/>
              </a:spcBef>
              <a:spcAft>
                <a:spcPts val="0"/>
              </a:spcAft>
              <a:buClr>
                <a:schemeClr val="dk1"/>
              </a:buClr>
              <a:buSzPts val="1400"/>
              <a:buFont typeface="Arial"/>
              <a:buNone/>
            </a:pPr>
            <a:r>
              <a:rPr lang="en-US">
                <a:solidFill>
                  <a:schemeClr val="dk1"/>
                </a:solidFill>
              </a:rPr>
              <a:t>But no type of research is inherently better, and there is a place for researchers who purely focus on reanalysis. Job committees should simply define what research expertise they are looking for: experience collecting data, or experience reanalyzing existing data. Both are skill sets.</a:t>
            </a:r>
            <a:br>
              <a:rPr lang="en-US">
                <a:solidFill>
                  <a:schemeClr val="dk1"/>
                </a:solidFill>
              </a:rPr>
            </a:br>
            <a:br>
              <a:rPr lang="en-US">
                <a:solidFill>
                  <a:schemeClr val="dk1"/>
                </a:solidFill>
              </a:rPr>
            </a:br>
            <a:br>
              <a:rPr lang="en-US">
                <a:solidFill>
                  <a:schemeClr val="dk1"/>
                </a:solidFill>
              </a:rPr>
            </a:br>
            <a:r>
              <a:rPr b="1" lang="en-US" sz="1200">
                <a:solidFill>
                  <a:schemeClr val="dk1"/>
                </a:solidFill>
                <a:latin typeface="Arial"/>
                <a:ea typeface="Arial"/>
                <a:cs typeface="Arial"/>
                <a:sym typeface="Arial"/>
              </a:rPr>
              <a:t>Sine qua non</a:t>
            </a:r>
            <a:r>
              <a:rPr lang="en-US" sz="1100">
                <a:solidFill>
                  <a:schemeClr val="dk1"/>
                </a:solidFill>
                <a:latin typeface="Arial"/>
                <a:ea typeface="Arial"/>
                <a:cs typeface="Arial"/>
                <a:sym typeface="Arial"/>
              </a:rPr>
              <a:t> is a Latin phrase that means </a:t>
            </a:r>
            <a:r>
              <a:rPr lang="en-US" sz="1200">
                <a:solidFill>
                  <a:schemeClr val="dk1"/>
                </a:solidFill>
                <a:latin typeface="Arial"/>
                <a:ea typeface="Arial"/>
                <a:cs typeface="Arial"/>
                <a:sym typeface="Arial"/>
              </a:rPr>
              <a:t>an essential condition or a necessary requirement without which something is impossible</a:t>
            </a:r>
            <a:endParaRPr/>
          </a:p>
        </p:txBody>
      </p:sp>
      <p:sp>
        <p:nvSpPr>
          <p:cNvPr id="293" name="Google Shape;293;g3fa33710e84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Another discussion: you want to reuse my data? Fine, but only if I get a co-authorship, and not just on this paper, on every paper you publish for the rest of your life. And the poor person on the other side says: I just compute some effect sizes from your data to plan my study, a co-authorship is ridiculous. And by the way, the data does not belong to you but to the public.</a:t>
            </a:r>
            <a:endParaRPr/>
          </a:p>
        </p:txBody>
      </p:sp>
      <p:sp>
        <p:nvSpPr>
          <p:cNvPr id="302" name="Google Shape;30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fa33710e84_0_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en-US">
                <a:solidFill>
                  <a:schemeClr val="dk1"/>
                </a:solidFill>
              </a:rPr>
              <a:t>The answer from the psychology recommendations, and I find it convincing even though it is a bit unsatisfying: co-authorship decisions are already difficult in single-lab papers without any data sharing. What qualifies for co-authorship cannot be solved in the abstract; these are single-case decisions. But: simple reuse does not imply co-authorship. If it did, every meta-analysis would have to list all authors of all primary studies as co-authors, because a meta-analysis reuses their effect sizes. Co-authorship requires something more than providing already existing data; the absolute minimum is reading and commenting on the new paper.</a:t>
            </a:r>
            <a:endParaRPr>
              <a:solidFill>
                <a:schemeClr val="dk1"/>
              </a:solidFill>
            </a:endParaRPr>
          </a:p>
          <a:p>
            <a:pPr indent="-228600" lvl="0" marL="457200" rtl="0" algn="l">
              <a:spcBef>
                <a:spcPts val="0"/>
              </a:spcBef>
              <a:spcAft>
                <a:spcPts val="0"/>
              </a:spcAft>
              <a:buClr>
                <a:schemeClr val="dk1"/>
              </a:buClr>
              <a:buSzPts val="1400"/>
              <a:buFont typeface="Arial"/>
              <a:buNone/>
            </a:pPr>
            <a:r>
              <a:rPr lang="en-US">
                <a:solidFill>
                  <a:schemeClr val="dk1"/>
                </a:solidFill>
              </a:rPr>
              <a:t>In general, the suggestion is to move away from authorship toward contributorship. There is a concrete system for that: the CRediT taxonomy, defining the different roles involved in creating a scientific article. Each role is graded: lead / equal / supporting. Some journals have also adopted it already.</a:t>
            </a:r>
            <a:endParaRPr/>
          </a:p>
        </p:txBody>
      </p:sp>
      <p:sp>
        <p:nvSpPr>
          <p:cNvPr id="310" name="Google Shape;310;g3fa33710e84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The third and final tension: we want reproducibility and verifiability of published analyses, which open data enables. But we also want to protect original authors against inadequate burden and potential attacks. This concern is voiced a lot: bad-faith actors can use open data as a weapon to damage research or researchers. </a:t>
            </a:r>
            <a:endParaRPr b="0" i="0" sz="1600" u="none" cap="none" strike="noStrike">
              <a:latin typeface="Calibri"/>
              <a:ea typeface="Calibri"/>
              <a:cs typeface="Calibri"/>
              <a:sym typeface="Calibri"/>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What can we do? The primary focus should remain on openness and transparency. Correcting errors is painful, nobody enjoys someone else finding an error in their paper, but it is a necessary condition for doing science. </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But data providers should be informed when their data is going to be reused or reanalyzed, so they can at least prepare a reaction. There have been cases where reanalyzers found errors, wrote a really harsh blog post, put it on social media, and a storm broke loose. The original authors happened not to be on Twitter, did not even know it was happening, and had no chance to react. It is only fair to inform them. Before you write the blog post and the tweet, contact the original authors: I reanalyzed the data and I think I found an error, though the error could also be mine, let's talk. We share the common goal of gaining true knowledge, and errors are bad for that goal, so we all want errors fixed. Get into the conversation before you go public.</a:t>
            </a:r>
            <a:br>
              <a:rPr b="0" i="0" lang="en-US" sz="1600" u="none" cap="none" strike="noStrike">
                <a:latin typeface="Calibri"/>
                <a:ea typeface="Calibri"/>
                <a:cs typeface="Calibri"/>
                <a:sym typeface="Calibri"/>
              </a:rPr>
            </a:br>
            <a:br>
              <a:rPr b="0" i="0" lang="en-US" sz="1600" u="none" cap="none" strike="noStrike">
                <a:latin typeface="Calibri"/>
                <a:ea typeface="Calibri"/>
                <a:cs typeface="Calibri"/>
                <a:sym typeface="Calibri"/>
              </a:rPr>
            </a:br>
            <a:r>
              <a:rPr lang="en-US">
                <a:solidFill>
                  <a:schemeClr val="dk1"/>
                </a:solidFill>
              </a:rPr>
              <a:t>We have seen this in climate research and in tobacco research, and it now operates at the level of federal governments. the executive order 'Restoring Gold Standard Science' (EO 14303, May 2025) adopts the vocabulary of open science, reproducibility, transparency, skepticism, while revoking scientific integrity policies, and the Center for Open Science and others warn that it can be used to selectively dismiss inconvenient research as 'not gold standard'. All federal agencies filed implementation plans in 2025. That is a bad-faith usage of the good ideas of open science. (Sources: whitehouse.gov presidential actions, 23 May 2025; cos.io statement on the executive order.)</a:t>
            </a:r>
            <a:endParaRPr>
              <a:solidFill>
                <a:schemeClr val="dk1"/>
              </a:solidFill>
            </a:endParaRPr>
          </a:p>
          <a:p>
            <a:pPr indent="-228600" lvl="0" marL="457200" marR="0" rtl="0" algn="l">
              <a:lnSpc>
                <a:spcPct val="100000"/>
              </a:lnSpc>
              <a:spcBef>
                <a:spcPts val="0"/>
              </a:spcBef>
              <a:spcAft>
                <a:spcPts val="0"/>
              </a:spcAft>
              <a:buSzPts val="1400"/>
              <a:buNone/>
            </a:pPr>
            <a:r>
              <a:t/>
            </a:r>
            <a:endParaRPr/>
          </a:p>
        </p:txBody>
      </p:sp>
      <p:sp>
        <p:nvSpPr>
          <p:cNvPr id="319" name="Google Shape;31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There is a problematic asymmetry. If you provide your data, errors often get detected. And errors are common: meta-research that automatically rechecked the statistics in published psychology papers found that about half contain at least one reporting inconsistency (the statcheck studies by Nuijten and colleagues; similar findings exist for economics). So chances are your paper has an error too. Providing data makes you vulnerable. If you do not provide the data, no errors will ever be detected, and the paper looks perfect, because the default assumption is that everything is fine as long as nobody spots an error. So strategically, for your personal career, it would make sense not to publish the data. That is the problem.</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Making oneself vulnerable is good for science, and therefore it should also be good for your reputation. We need to change the incentives so this behavior is valued. And maybe we should flip the default assumption: when a paper is published without data and without justification, assume there are probably errors, and let your skepticism rise. Just the act of publishing data should earn credit.</a:t>
            </a:r>
            <a:endParaRPr/>
          </a:p>
        </p:txBody>
      </p:sp>
      <p:sp>
        <p:nvSpPr>
          <p:cNvPr id="330" name="Google Shape;33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rtl="0" algn="l">
              <a:spcBef>
                <a:spcPts val="0"/>
              </a:spcBef>
              <a:spcAft>
                <a:spcPts val="0"/>
              </a:spcAft>
              <a:buClr>
                <a:schemeClr val="dk1"/>
              </a:buClr>
              <a:buSzPts val="1400"/>
              <a:buFont typeface="Arial"/>
              <a:buNone/>
            </a:pPr>
            <a:r>
              <a:rPr lang="en-US">
                <a:solidFill>
                  <a:schemeClr val="dk1"/>
                </a:solidFill>
              </a:rPr>
              <a:t>The State of Open Data survey has run for ten years; the 2025 edition collected answers from more than 4,700 researchers in 151 countries.</a:t>
            </a:r>
            <a:endParaRPr>
              <a:solidFill>
                <a:schemeClr val="dk1"/>
              </a:solidFill>
            </a:endParaRPr>
          </a:p>
          <a:p>
            <a:pPr indent="-228600" lvl="0" marL="457200" rtl="0" algn="l">
              <a:spcBef>
                <a:spcPts val="0"/>
              </a:spcBef>
              <a:spcAft>
                <a:spcPts val="0"/>
              </a:spcAft>
              <a:buClr>
                <a:schemeClr val="dk1"/>
              </a:buClr>
              <a:buSzPts val="1400"/>
              <a:buFont typeface="Arial"/>
              <a:buNone/>
            </a:pPr>
            <a:r>
              <a:rPr lang="en-US">
                <a:solidFill>
                  <a:schemeClr val="dk1"/>
                </a:solidFill>
              </a:rPr>
              <a:t>The headline: researchers are already convinced. 81 percent support open data. Awareness of the FAIR principles has nearly tripled since 2018, from 15 to 41 percent.</a:t>
            </a:r>
            <a:endParaRPr>
              <a:solidFill>
                <a:schemeClr val="dk1"/>
              </a:solidFill>
            </a:endParaRPr>
          </a:p>
          <a:p>
            <a:pPr indent="-228600" lvl="0" marL="457200" rtl="0" algn="l">
              <a:spcBef>
                <a:spcPts val="0"/>
              </a:spcBef>
              <a:spcAft>
                <a:spcPts val="0"/>
              </a:spcAft>
              <a:buClr>
                <a:schemeClr val="dk1"/>
              </a:buClr>
              <a:buSzPts val="1400"/>
              <a:buFont typeface="Arial"/>
              <a:buNone/>
            </a:pPr>
            <a:r>
              <a:rPr lang="en-US">
                <a:solidFill>
                  <a:schemeClr val="dk1"/>
                </a:solidFill>
              </a:rPr>
              <a:t>But 69 percent say researchers get too little credit for sharing data. That number was 78 percent in 2020, so it is improving, slowly.</a:t>
            </a:r>
            <a:endParaRPr>
              <a:solidFill>
                <a:schemeClr val="dk1"/>
              </a:solidFill>
            </a:endParaRPr>
          </a:p>
          <a:p>
            <a:pPr indent="-228600" lvl="0" marL="457200" rtl="0" algn="l">
              <a:spcBef>
                <a:spcPts val="0"/>
              </a:spcBef>
              <a:spcAft>
                <a:spcPts val="0"/>
              </a:spcAft>
              <a:buClr>
                <a:schemeClr val="dk1"/>
              </a:buClr>
              <a:buSzPts val="1400"/>
              <a:buFont typeface="Arial"/>
              <a:buNone/>
            </a:pPr>
            <a:r>
              <a:rPr lang="en-US">
                <a:solidFill>
                  <a:schemeClr val="dk1"/>
                </a:solidFill>
              </a:rPr>
              <a:t>So the bottleneck is not conviction, and mostly not technology either. It is credit and recognition. Which is exactly what the next slides are about.</a:t>
            </a:r>
            <a:endParaRPr>
              <a:solidFill>
                <a:schemeClr val="dk1"/>
              </a:solidFill>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There are first steps toward incentivizing open data sharing. CoARA, the Coalition for Advancing Research Assessment, explicitly says that recognition includes early sharing of data, for example when you apply for a position or funding. And the DFG says performance assessment explicitly includes the entire spectrum of publication types in CVs: preprints, data sets, software packages. Data sets are now valued by the DFG if you publish them.</a:t>
            </a:r>
            <a:endParaRPr b="0" i="0" sz="1600" u="none" cap="none" strike="noStrike">
              <a:solidFill>
                <a:srgbClr val="000000"/>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US"/>
              <a:t>—</a:t>
            </a:r>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If asked what actually changes behaviour, the evidence: journal mandates reliably work (Cognition data statements 25% to 78%, Hardwicke et al. 2018; PLOS Computational Biology code 53% to 87%, Cadwallader et al. 2022). Badges are mixed: open data at Psychological Science rose from under 3% to 23% after badges (Kidwell et al. 2016), but that is observational, and a randomized trial of badges at BMJ Open found no effect (Rowhani-Farid et al. 2020). Strongest package: mandatory deposit plus verification, as at Management Science or AJPS with the Odum Institute. Kidwell figure available at images/kidwell-2016-fig2-badges.png (CC BY) if a slide is ever wanted.</a:t>
            </a:r>
            <a:endParaRPr/>
          </a:p>
        </p:txBody>
      </p:sp>
      <p:sp>
        <p:nvSpPr>
          <p:cNvPr id="342" name="Google Shape;342;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Within psychology, </a:t>
            </a:r>
            <a:r>
              <a:rPr lang="en-US"/>
              <a:t>our </a:t>
            </a:r>
            <a:r>
              <a:rPr b="0" i="0" lang="en-US" sz="1600" u="none" cap="none" strike="noStrike">
                <a:latin typeface="Calibri"/>
                <a:ea typeface="Calibri"/>
                <a:cs typeface="Calibri"/>
                <a:sym typeface="Calibri"/>
              </a:rPr>
              <a:t>colleagues developed RESQUE, the Research Quality Evaluation framework. It also says explicitly: data sets are a valid research output next to journal articles, on the same level.</a:t>
            </a:r>
            <a:endParaRPr/>
          </a:p>
        </p:txBody>
      </p:sp>
      <p:sp>
        <p:nvSpPr>
          <p:cNvPr id="355" name="Google Shape;355;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In RESQUE you get a so-called relative rigor score. In this example profile, the applicant submitted nine of their best papers. For open data, the graph shows: six papers had open data (green), one did not although it could have (red), and for two open data was not applicable (gray), for instance a simulation study without data. The framework also looks at the quality of the open data: is there a good codebook, is it on a proper repository? Then you get quality points.</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This RESQUE profile is starting to be used by hiring committees for professorships. Again, it is about transparency: it simply shows what you have done in your research and publishing activity.</a:t>
            </a:r>
            <a:endParaRPr/>
          </a:p>
        </p:txBody>
      </p:sp>
      <p:sp>
        <p:nvSpPr>
          <p:cNvPr id="365" name="Google Shape;365;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f9cab6f70e_1_3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In addition to the COVID story from before, another big success story comes from structural biology: the Protein Data Bank. Structural biologists have deposited their experimentally determined protein structures openly since 1971, over</a:t>
            </a:r>
            <a:r>
              <a:rPr lang="en-US"/>
              <a:t> two </a:t>
            </a:r>
            <a:r>
              <a:rPr lang="en-US"/>
              <a:t>hundred</a:t>
            </a:r>
            <a:r>
              <a:rPr lang="en-US"/>
              <a:t> thousands</a:t>
            </a:r>
            <a:r>
              <a:rPr b="0" i="0" lang="en-US" sz="1600" u="none" cap="none" strike="noStrike">
                <a:solidFill>
                  <a:srgbClr val="000000"/>
                </a:solidFill>
                <a:latin typeface="Calibri"/>
                <a:ea typeface="Calibri"/>
                <a:cs typeface="Calibri"/>
                <a:sym typeface="Calibri"/>
              </a:rPr>
              <a:t> of them. That fifty-year-old open data set is what AlphaFold was trained on. AlphaFold has now predicted more than 200 million protein structures, shared them freely, has been used by over two million researchers in 190 countries, and in 2024 the Nobel Prize in Chemistr</a:t>
            </a:r>
            <a:r>
              <a:rPr lang="en-US"/>
              <a:t>y.</a:t>
            </a:r>
            <a:br>
              <a:rPr b="0" i="0" lang="en-US" sz="1600" u="none" cap="none" strike="noStrike">
                <a:solidFill>
                  <a:srgbClr val="000000"/>
                </a:solidFill>
                <a:latin typeface="Calibri"/>
                <a:ea typeface="Calibri"/>
                <a:cs typeface="Calibri"/>
                <a:sym typeface="Calibri"/>
              </a:rPr>
            </a:br>
            <a:r>
              <a:rPr b="0" i="0" lang="en-US" sz="1600" u="none" cap="none" strike="noStrike">
                <a:solidFill>
                  <a:srgbClr val="000000"/>
                </a:solidFill>
                <a:latin typeface="Calibri"/>
                <a:ea typeface="Calibri"/>
                <a:cs typeface="Calibri"/>
                <a:sym typeface="Calibri"/>
              </a:rPr>
              <a:t>	</a:t>
            </a:r>
            <a:endParaRPr/>
          </a:p>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Another is the UK Biobank: half a million participants, whose data ha</a:t>
            </a:r>
            <a:r>
              <a:rPr lang="en-US"/>
              <a:t>s</a:t>
            </a:r>
            <a:r>
              <a:rPr b="0" i="0" lang="en-US" sz="1600" u="none" cap="none" strike="noStrike">
                <a:solidFill>
                  <a:srgbClr val="000000"/>
                </a:solidFill>
                <a:latin typeface="Calibri"/>
                <a:ea typeface="Calibri"/>
                <a:cs typeface="Calibri"/>
                <a:sym typeface="Calibri"/>
              </a:rPr>
              <a:t> produced over 18,000 peer-reviewed papers. The people who built that cohort could never have written those papers alone.</a:t>
            </a:r>
            <a:br>
              <a:rPr b="0" i="0" lang="en-US" sz="1600" u="none" cap="none" strike="noStrike">
                <a:solidFill>
                  <a:srgbClr val="000000"/>
                </a:solidFill>
                <a:latin typeface="Calibri"/>
                <a:ea typeface="Calibri"/>
                <a:cs typeface="Calibri"/>
                <a:sym typeface="Calibri"/>
              </a:rPr>
            </a:br>
            <a:br>
              <a:rPr b="0" i="0" lang="en-US" sz="1600" u="none" cap="none" strike="noStrike">
                <a:solidFill>
                  <a:srgbClr val="000000"/>
                </a:solidFill>
                <a:latin typeface="Calibri"/>
                <a:ea typeface="Calibri"/>
                <a:cs typeface="Calibri"/>
                <a:sym typeface="Calibri"/>
              </a:rPr>
            </a:br>
            <a:r>
              <a:rPr b="0" i="0" lang="en-US" sz="1600" u="none" cap="none" strike="noStrike">
                <a:solidFill>
                  <a:srgbClr val="000000"/>
                </a:solidFill>
                <a:latin typeface="Calibri"/>
                <a:ea typeface="Calibri"/>
                <a:cs typeface="Calibri"/>
                <a:sym typeface="Calibri"/>
              </a:rPr>
              <a:t>This is where we see collective benefits to science with independent reuse of data. None of these outcomes was foreseeable when the data was shared. In addition to transparency, this is what excites me. With more and more data collection with sophisticated technologies, you cannot predict what your data enables.</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Calibri"/>
              <a:ea typeface="Calibri"/>
              <a:cs typeface="Calibri"/>
              <a:sym typeface="Calibri"/>
            </a:endParaRPr>
          </a:p>
        </p:txBody>
      </p:sp>
      <p:sp>
        <p:nvSpPr>
          <p:cNvPr id="375" name="Google Shape;375;g3f9cab6f70e_1_3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600" u="none" cap="none" strike="noStrike">
                <a:solidFill>
                  <a:srgbClr val="000000"/>
                </a:solidFill>
                <a:latin typeface="Calibri"/>
                <a:ea typeface="Calibri"/>
                <a:cs typeface="Calibri"/>
                <a:sym typeface="Calibri"/>
              </a:rPr>
              <a:t>Thank you for your attention.</a:t>
            </a:r>
            <a:endParaRPr/>
          </a:p>
        </p:txBody>
      </p:sp>
      <p:sp>
        <p:nvSpPr>
          <p:cNvPr id="389" name="Google Shape;389;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5" name="Google Shape;395;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Before you conclude that data sharing is pure altruism, there is decent evidence of private benefits, and I want to give you the honest version with both numbers.</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The largest study, Colavizza and colleagues 2020, looked at over half a million articles and found that papers linking to data in a repository received up to 25 percent more citations. Their 2024 follow-up, using more conservative causal methods, finds about 4 percent. So the honest range is somewhere between four and twenty-five percent. The direction is consistently positive across studies, and importantly, no study finds a citation penalty for sharing.</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And sharing itself is becoming normal: in PLOS journals, articles with data in a repository rose from 23 to 28 percent between 2018 and 2023.</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So the pitch to your career-self: this is not a lottery ticket, it is a small but consistent positive effect, on top of everything else in this lecture.</a:t>
            </a:r>
            <a:endParaRPr/>
          </a:p>
          <a:p>
            <a:pPr indent="-228600" lvl="0" marL="457200" marR="0" rtl="0" algn="l">
              <a:lnSpc>
                <a:spcPct val="100000"/>
              </a:lnSpc>
              <a:spcBef>
                <a:spcPts val="0"/>
              </a:spcBef>
              <a:spcAft>
                <a:spcPts val="0"/>
              </a:spcAft>
              <a:buSzPts val="1400"/>
              <a:buNone/>
            </a:pPr>
            <a:r>
              <a:rPr b="0" i="0" lang="en-US" sz="1600" u="none" cap="none" strike="noStrike">
                <a:latin typeface="Calibri"/>
                <a:ea typeface="Calibri"/>
                <a:cs typeface="Calibri"/>
                <a:sym typeface="Calibri"/>
              </a:rPr>
              <a:t>Sources: Colavizza et al. 2020, PLOS ONE 15(4) e0230416; Colavizza et al. 2024, PLOS ONE 19(10) e0311493; PLOS Open Science Indicators dataset on Figshare.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rtseite" type="tx">
  <p:cSld name="TITLE_AND_BODY">
    <p:spTree>
      <p:nvGrpSpPr>
        <p:cNvPr id="9" name="Shape 9"/>
        <p:cNvGrpSpPr/>
        <p:nvPr/>
      </p:nvGrpSpPr>
      <p:grpSpPr>
        <a:xfrm>
          <a:off x="0" y="0"/>
          <a:ext cx="0" cy="0"/>
          <a:chOff x="0" y="0"/>
          <a:chExt cx="0" cy="0"/>
        </a:xfrm>
      </p:grpSpPr>
      <p:sp>
        <p:nvSpPr>
          <p:cNvPr id="10" name="Google Shape;10;p2"/>
          <p:cNvSpPr txBox="1"/>
          <p:nvPr>
            <p:ph idx="1" type="body"/>
          </p:nvPr>
        </p:nvSpPr>
        <p:spPr>
          <a:xfrm>
            <a:off x="1567766" y="3690288"/>
            <a:ext cx="9869268" cy="1031749"/>
          </a:xfrm>
          <a:prstGeom prst="rect">
            <a:avLst/>
          </a:prstGeom>
          <a:noFill/>
          <a:ln>
            <a:noFill/>
          </a:ln>
        </p:spPr>
        <p:txBody>
          <a:bodyPr anchorCtr="0" anchor="ctr" bIns="65000" lIns="65000" spcFirstLastPara="1" rIns="65000" wrap="square" tIns="65000">
            <a:noAutofit/>
          </a:bodyPr>
          <a:lstStyle>
            <a:lvl1pPr indent="-228600" lvl="0" marL="457200" algn="ctr">
              <a:lnSpc>
                <a:spcPct val="100000"/>
              </a:lnSpc>
              <a:spcBef>
                <a:spcPts val="0"/>
              </a:spcBef>
              <a:spcAft>
                <a:spcPts val="0"/>
              </a:spcAft>
              <a:buClr>
                <a:srgbClr val="232323"/>
              </a:buClr>
              <a:buSzPts val="6200"/>
              <a:buFont typeface="Gill Sans"/>
              <a:buNone/>
              <a:defRPr sz="6200">
                <a:solidFill>
                  <a:srgbClr val="232323"/>
                </a:solidFill>
              </a:defRPr>
            </a:lvl1pPr>
            <a:lvl2pPr indent="-322326" lvl="1" marL="914400" algn="l">
              <a:lnSpc>
                <a:spcPct val="120000"/>
              </a:lnSpc>
              <a:spcBef>
                <a:spcPts val="3000"/>
              </a:spcBef>
              <a:spcAft>
                <a:spcPts val="0"/>
              </a:spcAft>
              <a:buSzPts val="1476"/>
              <a:buChar char="•"/>
              <a:defRPr/>
            </a:lvl2pPr>
            <a:lvl3pPr indent="-322326" lvl="2" marL="1371600" algn="l">
              <a:lnSpc>
                <a:spcPct val="120000"/>
              </a:lnSpc>
              <a:spcBef>
                <a:spcPts val="3000"/>
              </a:spcBef>
              <a:spcAft>
                <a:spcPts val="0"/>
              </a:spcAft>
              <a:buSzPts val="1476"/>
              <a:buChar char="•"/>
              <a:defRPr/>
            </a:lvl3pPr>
            <a:lvl4pPr indent="-322326" lvl="3" marL="1828800" algn="l">
              <a:lnSpc>
                <a:spcPct val="120000"/>
              </a:lnSpc>
              <a:spcBef>
                <a:spcPts val="3000"/>
              </a:spcBef>
              <a:spcAft>
                <a:spcPts val="0"/>
              </a:spcAft>
              <a:buSzPts val="1476"/>
              <a:buChar char="•"/>
              <a:defRPr/>
            </a:lvl4pPr>
            <a:lvl5pPr indent="-322326" lvl="4" marL="2286000" algn="l">
              <a:lnSpc>
                <a:spcPct val="120000"/>
              </a:lnSpc>
              <a:spcBef>
                <a:spcPts val="3000"/>
              </a:spcBef>
              <a:spcAft>
                <a:spcPts val="0"/>
              </a:spcAft>
              <a:buSzPts val="1476"/>
              <a:buChar char="•"/>
              <a:defRPr/>
            </a:lvl5pPr>
            <a:lvl6pPr indent="-322326" lvl="5" marL="2743200" algn="l">
              <a:lnSpc>
                <a:spcPct val="120000"/>
              </a:lnSpc>
              <a:spcBef>
                <a:spcPts val="3000"/>
              </a:spcBef>
              <a:spcAft>
                <a:spcPts val="0"/>
              </a:spcAft>
              <a:buSzPts val="1476"/>
              <a:buChar char="•"/>
              <a:defRPr/>
            </a:lvl6pPr>
            <a:lvl7pPr indent="-322326" lvl="6" marL="3200400" algn="l">
              <a:lnSpc>
                <a:spcPct val="120000"/>
              </a:lnSpc>
              <a:spcBef>
                <a:spcPts val="3000"/>
              </a:spcBef>
              <a:spcAft>
                <a:spcPts val="0"/>
              </a:spcAft>
              <a:buSzPts val="1476"/>
              <a:buChar char="•"/>
              <a:defRPr/>
            </a:lvl7pPr>
            <a:lvl8pPr indent="-322326" lvl="7" marL="3657600" algn="l">
              <a:lnSpc>
                <a:spcPct val="120000"/>
              </a:lnSpc>
              <a:spcBef>
                <a:spcPts val="3000"/>
              </a:spcBef>
              <a:spcAft>
                <a:spcPts val="0"/>
              </a:spcAft>
              <a:buSzPts val="1476"/>
              <a:buChar char="•"/>
              <a:defRPr/>
            </a:lvl8pPr>
            <a:lvl9pPr indent="-322326" lvl="8" marL="4114800" algn="l">
              <a:lnSpc>
                <a:spcPct val="120000"/>
              </a:lnSpc>
              <a:spcBef>
                <a:spcPts val="3000"/>
              </a:spcBef>
              <a:spcAft>
                <a:spcPts val="0"/>
              </a:spcAft>
              <a:buSzPts val="1476"/>
              <a:buChar char="•"/>
              <a:defRPr/>
            </a:lvl9pPr>
          </a:lstStyle>
          <a:p/>
        </p:txBody>
      </p:sp>
      <p:sp>
        <p:nvSpPr>
          <p:cNvPr id="11" name="Google Shape;11;p2"/>
          <p:cNvSpPr txBox="1"/>
          <p:nvPr>
            <p:ph idx="2" type="body"/>
          </p:nvPr>
        </p:nvSpPr>
        <p:spPr>
          <a:xfrm>
            <a:off x="2653638" y="4924095"/>
            <a:ext cx="7697523" cy="663449"/>
          </a:xfrm>
          <a:prstGeom prst="rect">
            <a:avLst/>
          </a:prstGeom>
          <a:noFill/>
          <a:ln>
            <a:noFill/>
          </a:ln>
        </p:spPr>
        <p:txBody>
          <a:bodyPr anchorCtr="0" anchor="ctr" bIns="65000" lIns="65000" spcFirstLastPara="1" rIns="65000" wrap="square" tIns="65000">
            <a:noAutofit/>
          </a:bodyPr>
          <a:lstStyle>
            <a:lvl1pPr indent="-228600" lvl="0" marL="457200" algn="ctr">
              <a:lnSpc>
                <a:spcPct val="100000"/>
              </a:lnSpc>
              <a:spcBef>
                <a:spcPts val="0"/>
              </a:spcBef>
              <a:spcAft>
                <a:spcPts val="0"/>
              </a:spcAft>
              <a:buClr>
                <a:srgbClr val="5F605F"/>
              </a:buClr>
              <a:buSzPts val="3700"/>
              <a:buFont typeface="Gill Sans"/>
              <a:buNone/>
              <a:defRPr sz="3700">
                <a:solidFill>
                  <a:srgbClr val="5F605F"/>
                </a:solidFill>
              </a:defRPr>
            </a:lvl1pPr>
            <a:lvl2pPr indent="-322326" lvl="1" marL="914400" algn="l">
              <a:lnSpc>
                <a:spcPct val="120000"/>
              </a:lnSpc>
              <a:spcBef>
                <a:spcPts val="3000"/>
              </a:spcBef>
              <a:spcAft>
                <a:spcPts val="0"/>
              </a:spcAft>
              <a:buSzPts val="1476"/>
              <a:buChar char="•"/>
              <a:defRPr/>
            </a:lvl2pPr>
            <a:lvl3pPr indent="-322326" lvl="2" marL="1371600" algn="l">
              <a:lnSpc>
                <a:spcPct val="120000"/>
              </a:lnSpc>
              <a:spcBef>
                <a:spcPts val="3000"/>
              </a:spcBef>
              <a:spcAft>
                <a:spcPts val="0"/>
              </a:spcAft>
              <a:buSzPts val="1476"/>
              <a:buChar char="•"/>
              <a:defRPr/>
            </a:lvl3pPr>
            <a:lvl4pPr indent="-322326" lvl="3" marL="1828800" algn="l">
              <a:lnSpc>
                <a:spcPct val="120000"/>
              </a:lnSpc>
              <a:spcBef>
                <a:spcPts val="3000"/>
              </a:spcBef>
              <a:spcAft>
                <a:spcPts val="0"/>
              </a:spcAft>
              <a:buSzPts val="1476"/>
              <a:buChar char="•"/>
              <a:defRPr/>
            </a:lvl4pPr>
            <a:lvl5pPr indent="-322326" lvl="4" marL="2286000" algn="l">
              <a:lnSpc>
                <a:spcPct val="120000"/>
              </a:lnSpc>
              <a:spcBef>
                <a:spcPts val="3000"/>
              </a:spcBef>
              <a:spcAft>
                <a:spcPts val="0"/>
              </a:spcAft>
              <a:buSzPts val="1476"/>
              <a:buChar char="•"/>
              <a:defRPr/>
            </a:lvl5pPr>
            <a:lvl6pPr indent="-322326" lvl="5" marL="2743200" algn="l">
              <a:lnSpc>
                <a:spcPct val="120000"/>
              </a:lnSpc>
              <a:spcBef>
                <a:spcPts val="3000"/>
              </a:spcBef>
              <a:spcAft>
                <a:spcPts val="0"/>
              </a:spcAft>
              <a:buSzPts val="1476"/>
              <a:buChar char="•"/>
              <a:defRPr/>
            </a:lvl6pPr>
            <a:lvl7pPr indent="-322326" lvl="6" marL="3200400" algn="l">
              <a:lnSpc>
                <a:spcPct val="120000"/>
              </a:lnSpc>
              <a:spcBef>
                <a:spcPts val="3000"/>
              </a:spcBef>
              <a:spcAft>
                <a:spcPts val="0"/>
              </a:spcAft>
              <a:buSzPts val="1476"/>
              <a:buChar char="•"/>
              <a:defRPr/>
            </a:lvl7pPr>
            <a:lvl8pPr indent="-322326" lvl="7" marL="3657600" algn="l">
              <a:lnSpc>
                <a:spcPct val="120000"/>
              </a:lnSpc>
              <a:spcBef>
                <a:spcPts val="3000"/>
              </a:spcBef>
              <a:spcAft>
                <a:spcPts val="0"/>
              </a:spcAft>
              <a:buSzPts val="1476"/>
              <a:buChar char="•"/>
              <a:defRPr/>
            </a:lvl8pPr>
            <a:lvl9pPr indent="-322326" lvl="8" marL="4114800" algn="l">
              <a:lnSpc>
                <a:spcPct val="120000"/>
              </a:lnSpc>
              <a:spcBef>
                <a:spcPts val="3000"/>
              </a:spcBef>
              <a:spcAft>
                <a:spcPts val="0"/>
              </a:spcAft>
              <a:buSzPts val="1476"/>
              <a:buChar char="•"/>
              <a:defRPr/>
            </a:lvl9pPr>
          </a:lstStyle>
          <a:p/>
        </p:txBody>
      </p:sp>
      <p:cxnSp>
        <p:nvCxnSpPr>
          <p:cNvPr id="12" name="Google Shape;12;p2"/>
          <p:cNvCxnSpPr/>
          <p:nvPr/>
        </p:nvCxnSpPr>
        <p:spPr>
          <a:xfrm>
            <a:off x="-10778" y="8291178"/>
            <a:ext cx="13026355" cy="1"/>
          </a:xfrm>
          <a:prstGeom prst="straightConnector1">
            <a:avLst/>
          </a:prstGeom>
          <a:noFill/>
          <a:ln cap="flat" cmpd="sng" w="12700">
            <a:solidFill>
              <a:srgbClr val="DDDDDD"/>
            </a:solidFill>
            <a:prstDash val="solid"/>
            <a:miter lim="0"/>
            <a:headEnd len="sm" w="sm" type="none"/>
            <a:tailEnd len="sm" w="sm" type="none"/>
          </a:ln>
        </p:spPr>
      </p:cxnSp>
      <p:sp>
        <p:nvSpPr>
          <p:cNvPr id="13" name="Google Shape;13;p2"/>
          <p:cNvSpPr txBox="1"/>
          <p:nvPr>
            <p:ph idx="12" type="sldNum"/>
          </p:nvPr>
        </p:nvSpPr>
        <p:spPr>
          <a:xfrm>
            <a:off x="12462933" y="9238826"/>
            <a:ext cx="396953" cy="396749"/>
          </a:xfrm>
          <a:prstGeom prst="rect">
            <a:avLst/>
          </a:prstGeom>
          <a:noFill/>
          <a:ln>
            <a:noFill/>
          </a:ln>
        </p:spPr>
        <p:txBody>
          <a:bodyPr anchorCtr="0" anchor="t" bIns="65000" lIns="65000" spcFirstLastPara="1" rIns="65000" wrap="square" tIns="65000">
            <a:spAutoFit/>
          </a:bodyPr>
          <a:lstStyle>
            <a:lvl1pPr indent="0" lvl="0" marL="0" marR="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535353"/>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Kopie">
  <p:cSld name="Titel und Inhalt Kopie">
    <p:spTree>
      <p:nvGrpSpPr>
        <p:cNvPr id="14" name="Shape 14"/>
        <p:cNvGrpSpPr/>
        <p:nvPr/>
      </p:nvGrpSpPr>
      <p:grpSpPr>
        <a:xfrm>
          <a:off x="0" y="0"/>
          <a:ext cx="0" cy="0"/>
          <a:chOff x="0" y="0"/>
          <a:chExt cx="0" cy="0"/>
        </a:xfrm>
      </p:grpSpPr>
      <p:pic>
        <p:nvPicPr>
          <p:cNvPr descr="Bild 8" id="15" name="Google Shape;15;p3"/>
          <p:cNvPicPr preferRelativeResize="0"/>
          <p:nvPr/>
        </p:nvPicPr>
        <p:blipFill rotWithShape="1">
          <a:blip r:embed="rId2">
            <a:alphaModFix/>
          </a:blip>
          <a:srcRect b="0" l="0" r="0" t="0"/>
          <a:stretch/>
        </p:blipFill>
        <p:spPr>
          <a:xfrm>
            <a:off x="9924893" y="60861"/>
            <a:ext cx="2944372" cy="1334598"/>
          </a:xfrm>
          <a:prstGeom prst="rect">
            <a:avLst/>
          </a:prstGeom>
          <a:noFill/>
          <a:ln>
            <a:noFill/>
          </a:ln>
        </p:spPr>
      </p:pic>
      <p:sp>
        <p:nvSpPr>
          <p:cNvPr id="16" name="Google Shape;16;p3"/>
          <p:cNvSpPr txBox="1"/>
          <p:nvPr>
            <p:ph type="title"/>
          </p:nvPr>
        </p:nvSpPr>
        <p:spPr>
          <a:xfrm>
            <a:off x="2474806" y="4295694"/>
            <a:ext cx="8246792" cy="1162212"/>
          </a:xfrm>
          <a:prstGeom prst="rect">
            <a:avLst/>
          </a:prstGeom>
          <a:noFill/>
          <a:ln>
            <a:noFill/>
          </a:ln>
        </p:spPr>
        <p:txBody>
          <a:bodyPr anchorCtr="0" anchor="ctr" bIns="65000" lIns="65000" spcFirstLastPara="1" rIns="65000" wrap="square" tIns="65000">
            <a:normAutofit/>
          </a:bodyPr>
          <a:lstStyle>
            <a:lvl1pPr lvl="0" algn="l">
              <a:lnSpc>
                <a:spcPct val="100000"/>
              </a:lnSpc>
              <a:spcBef>
                <a:spcPts val="0"/>
              </a:spcBef>
              <a:spcAft>
                <a:spcPts val="0"/>
              </a:spcAft>
              <a:buClr>
                <a:srgbClr val="000000"/>
              </a:buClr>
              <a:buSzPts val="5600"/>
              <a:buFont typeface="Arial"/>
              <a:buNone/>
              <a:defRPr b="1" sz="5600" cap="none">
                <a:solidFill>
                  <a:srgbClr val="000000"/>
                </a:solidFill>
                <a:latin typeface="Arial"/>
                <a:ea typeface="Arial"/>
                <a:cs typeface="Arial"/>
                <a:sym typeface="Arial"/>
              </a:defRPr>
            </a:lvl1pPr>
            <a:lvl2pPr lvl="1" algn="ctr">
              <a:lnSpc>
                <a:spcPct val="100000"/>
              </a:lnSpc>
              <a:spcBef>
                <a:spcPts val="0"/>
              </a:spcBef>
              <a:spcAft>
                <a:spcPts val="0"/>
              </a:spcAft>
              <a:buClr>
                <a:srgbClr val="535353"/>
              </a:buClr>
              <a:buSzPts val="1800"/>
              <a:buNone/>
              <a:defRPr/>
            </a:lvl2pPr>
            <a:lvl3pPr lvl="2" algn="ctr">
              <a:lnSpc>
                <a:spcPct val="100000"/>
              </a:lnSpc>
              <a:spcBef>
                <a:spcPts val="0"/>
              </a:spcBef>
              <a:spcAft>
                <a:spcPts val="0"/>
              </a:spcAft>
              <a:buClr>
                <a:srgbClr val="535353"/>
              </a:buClr>
              <a:buSzPts val="1800"/>
              <a:buNone/>
              <a:defRPr/>
            </a:lvl3pPr>
            <a:lvl4pPr lvl="3" algn="ctr">
              <a:lnSpc>
                <a:spcPct val="100000"/>
              </a:lnSpc>
              <a:spcBef>
                <a:spcPts val="0"/>
              </a:spcBef>
              <a:spcAft>
                <a:spcPts val="0"/>
              </a:spcAft>
              <a:buClr>
                <a:srgbClr val="535353"/>
              </a:buClr>
              <a:buSzPts val="1800"/>
              <a:buNone/>
              <a:defRPr/>
            </a:lvl4pPr>
            <a:lvl5pPr lvl="4" algn="ctr">
              <a:lnSpc>
                <a:spcPct val="100000"/>
              </a:lnSpc>
              <a:spcBef>
                <a:spcPts val="0"/>
              </a:spcBef>
              <a:spcAft>
                <a:spcPts val="0"/>
              </a:spcAft>
              <a:buClr>
                <a:srgbClr val="535353"/>
              </a:buClr>
              <a:buSzPts val="1800"/>
              <a:buNone/>
              <a:defRPr/>
            </a:lvl5pPr>
            <a:lvl6pPr lvl="5" algn="ctr">
              <a:lnSpc>
                <a:spcPct val="100000"/>
              </a:lnSpc>
              <a:spcBef>
                <a:spcPts val="0"/>
              </a:spcBef>
              <a:spcAft>
                <a:spcPts val="0"/>
              </a:spcAft>
              <a:buClr>
                <a:srgbClr val="535353"/>
              </a:buClr>
              <a:buSzPts val="1800"/>
              <a:buNone/>
              <a:defRPr/>
            </a:lvl6pPr>
            <a:lvl7pPr lvl="6" algn="ctr">
              <a:lnSpc>
                <a:spcPct val="100000"/>
              </a:lnSpc>
              <a:spcBef>
                <a:spcPts val="0"/>
              </a:spcBef>
              <a:spcAft>
                <a:spcPts val="0"/>
              </a:spcAft>
              <a:buClr>
                <a:srgbClr val="535353"/>
              </a:buClr>
              <a:buSzPts val="1800"/>
              <a:buNone/>
              <a:defRPr/>
            </a:lvl7pPr>
            <a:lvl8pPr lvl="7" algn="ctr">
              <a:lnSpc>
                <a:spcPct val="100000"/>
              </a:lnSpc>
              <a:spcBef>
                <a:spcPts val="0"/>
              </a:spcBef>
              <a:spcAft>
                <a:spcPts val="0"/>
              </a:spcAft>
              <a:buClr>
                <a:srgbClr val="535353"/>
              </a:buClr>
              <a:buSzPts val="1800"/>
              <a:buNone/>
              <a:defRPr/>
            </a:lvl8pPr>
            <a:lvl9pPr lvl="8" algn="ctr">
              <a:lnSpc>
                <a:spcPct val="100000"/>
              </a:lnSpc>
              <a:spcBef>
                <a:spcPts val="0"/>
              </a:spcBef>
              <a:spcAft>
                <a:spcPts val="0"/>
              </a:spcAft>
              <a:buClr>
                <a:srgbClr val="535353"/>
              </a:buClr>
              <a:buSzPts val="1800"/>
              <a:buNone/>
              <a:defRPr/>
            </a:lvl9pPr>
          </a:lstStyle>
          <a:p/>
        </p:txBody>
      </p:sp>
      <p:sp>
        <p:nvSpPr>
          <p:cNvPr id="17" name="Google Shape;17;p3"/>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lvl1pPr indent="0" lvl="0"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1pPr>
            <a:lvl2pPr indent="0" lvl="1"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2pPr>
            <a:lvl3pPr indent="0" lvl="2"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3pPr>
            <a:lvl4pPr indent="0" lvl="3"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4pPr>
            <a:lvl5pPr indent="0" lvl="4"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5pPr>
            <a:lvl6pPr indent="0" lvl="5"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6pPr>
            <a:lvl7pPr indent="0" lvl="6"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7pPr>
            <a:lvl8pPr indent="0" lvl="7"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8pPr>
            <a:lvl9pPr indent="0" lvl="8"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sz="14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p:cSld name="Titel und Inhalt">
    <p:spTree>
      <p:nvGrpSpPr>
        <p:cNvPr id="18" name="Shape 18"/>
        <p:cNvGrpSpPr/>
        <p:nvPr/>
      </p:nvGrpSpPr>
      <p:grpSpPr>
        <a:xfrm>
          <a:off x="0" y="0"/>
          <a:ext cx="0" cy="0"/>
          <a:chOff x="0" y="0"/>
          <a:chExt cx="0" cy="0"/>
        </a:xfrm>
      </p:grpSpPr>
      <p:pic>
        <p:nvPicPr>
          <p:cNvPr descr="Bild 8" id="19" name="Google Shape;19;p4"/>
          <p:cNvPicPr preferRelativeResize="0"/>
          <p:nvPr/>
        </p:nvPicPr>
        <p:blipFill rotWithShape="1">
          <a:blip r:embed="rId2">
            <a:alphaModFix/>
          </a:blip>
          <a:srcRect b="0" l="0" r="0" t="0"/>
          <a:stretch/>
        </p:blipFill>
        <p:spPr>
          <a:xfrm>
            <a:off x="9924893" y="60861"/>
            <a:ext cx="2944372" cy="1334598"/>
          </a:xfrm>
          <a:prstGeom prst="rect">
            <a:avLst/>
          </a:prstGeom>
          <a:noFill/>
          <a:ln>
            <a:noFill/>
          </a:ln>
        </p:spPr>
      </p:pic>
      <p:sp>
        <p:nvSpPr>
          <p:cNvPr id="20" name="Google Shape;20;p4"/>
          <p:cNvSpPr txBox="1"/>
          <p:nvPr>
            <p:ph type="title"/>
          </p:nvPr>
        </p:nvSpPr>
        <p:spPr>
          <a:xfrm>
            <a:off x="379306" y="147054"/>
            <a:ext cx="8246792" cy="1162212"/>
          </a:xfrm>
          <a:prstGeom prst="rect">
            <a:avLst/>
          </a:prstGeom>
          <a:noFill/>
          <a:ln>
            <a:noFill/>
          </a:ln>
        </p:spPr>
        <p:txBody>
          <a:bodyPr anchorCtr="0" anchor="ctr" bIns="65000" lIns="65000" spcFirstLastPara="1" rIns="65000" wrap="square" tIns="65000">
            <a:normAutofit/>
          </a:bodyPr>
          <a:lstStyle>
            <a:lvl1pPr lvl="0" algn="l">
              <a:lnSpc>
                <a:spcPct val="100000"/>
              </a:lnSpc>
              <a:spcBef>
                <a:spcPts val="0"/>
              </a:spcBef>
              <a:spcAft>
                <a:spcPts val="0"/>
              </a:spcAft>
              <a:buClr>
                <a:srgbClr val="000000"/>
              </a:buClr>
              <a:buSzPts val="5900"/>
              <a:buFont typeface="Arial"/>
              <a:buNone/>
              <a:defRPr b="1" sz="5900" cap="none">
                <a:solidFill>
                  <a:srgbClr val="000000"/>
                </a:solidFill>
                <a:latin typeface="Arial"/>
                <a:ea typeface="Arial"/>
                <a:cs typeface="Arial"/>
                <a:sym typeface="Arial"/>
              </a:defRPr>
            </a:lvl1pPr>
            <a:lvl2pPr lvl="1" algn="ctr">
              <a:lnSpc>
                <a:spcPct val="100000"/>
              </a:lnSpc>
              <a:spcBef>
                <a:spcPts val="0"/>
              </a:spcBef>
              <a:spcAft>
                <a:spcPts val="0"/>
              </a:spcAft>
              <a:buClr>
                <a:srgbClr val="535353"/>
              </a:buClr>
              <a:buSzPts val="1800"/>
              <a:buNone/>
              <a:defRPr/>
            </a:lvl2pPr>
            <a:lvl3pPr lvl="2" algn="ctr">
              <a:lnSpc>
                <a:spcPct val="100000"/>
              </a:lnSpc>
              <a:spcBef>
                <a:spcPts val="0"/>
              </a:spcBef>
              <a:spcAft>
                <a:spcPts val="0"/>
              </a:spcAft>
              <a:buClr>
                <a:srgbClr val="535353"/>
              </a:buClr>
              <a:buSzPts val="1800"/>
              <a:buNone/>
              <a:defRPr/>
            </a:lvl3pPr>
            <a:lvl4pPr lvl="3" algn="ctr">
              <a:lnSpc>
                <a:spcPct val="100000"/>
              </a:lnSpc>
              <a:spcBef>
                <a:spcPts val="0"/>
              </a:spcBef>
              <a:spcAft>
                <a:spcPts val="0"/>
              </a:spcAft>
              <a:buClr>
                <a:srgbClr val="535353"/>
              </a:buClr>
              <a:buSzPts val="1800"/>
              <a:buNone/>
              <a:defRPr/>
            </a:lvl4pPr>
            <a:lvl5pPr lvl="4" algn="ctr">
              <a:lnSpc>
                <a:spcPct val="100000"/>
              </a:lnSpc>
              <a:spcBef>
                <a:spcPts val="0"/>
              </a:spcBef>
              <a:spcAft>
                <a:spcPts val="0"/>
              </a:spcAft>
              <a:buClr>
                <a:srgbClr val="535353"/>
              </a:buClr>
              <a:buSzPts val="1800"/>
              <a:buNone/>
              <a:defRPr/>
            </a:lvl5pPr>
            <a:lvl6pPr lvl="5" algn="ctr">
              <a:lnSpc>
                <a:spcPct val="100000"/>
              </a:lnSpc>
              <a:spcBef>
                <a:spcPts val="0"/>
              </a:spcBef>
              <a:spcAft>
                <a:spcPts val="0"/>
              </a:spcAft>
              <a:buClr>
                <a:srgbClr val="535353"/>
              </a:buClr>
              <a:buSzPts val="1800"/>
              <a:buNone/>
              <a:defRPr/>
            </a:lvl6pPr>
            <a:lvl7pPr lvl="6" algn="ctr">
              <a:lnSpc>
                <a:spcPct val="100000"/>
              </a:lnSpc>
              <a:spcBef>
                <a:spcPts val="0"/>
              </a:spcBef>
              <a:spcAft>
                <a:spcPts val="0"/>
              </a:spcAft>
              <a:buClr>
                <a:srgbClr val="535353"/>
              </a:buClr>
              <a:buSzPts val="1800"/>
              <a:buNone/>
              <a:defRPr/>
            </a:lvl7pPr>
            <a:lvl8pPr lvl="7" algn="ctr">
              <a:lnSpc>
                <a:spcPct val="100000"/>
              </a:lnSpc>
              <a:spcBef>
                <a:spcPts val="0"/>
              </a:spcBef>
              <a:spcAft>
                <a:spcPts val="0"/>
              </a:spcAft>
              <a:buClr>
                <a:srgbClr val="535353"/>
              </a:buClr>
              <a:buSzPts val="1800"/>
              <a:buNone/>
              <a:defRPr/>
            </a:lvl8pPr>
            <a:lvl9pPr lvl="8" algn="ctr">
              <a:lnSpc>
                <a:spcPct val="100000"/>
              </a:lnSpc>
              <a:spcBef>
                <a:spcPts val="0"/>
              </a:spcBef>
              <a:spcAft>
                <a:spcPts val="0"/>
              </a:spcAft>
              <a:buClr>
                <a:srgbClr val="535353"/>
              </a:buClr>
              <a:buSzPts val="1800"/>
              <a:buNone/>
              <a:defRPr/>
            </a:lvl9pPr>
          </a:lstStyle>
          <a:p/>
        </p:txBody>
      </p:sp>
      <p:sp>
        <p:nvSpPr>
          <p:cNvPr id="21" name="Google Shape;21;p4"/>
          <p:cNvSpPr txBox="1"/>
          <p:nvPr>
            <p:ph idx="1" type="body"/>
          </p:nvPr>
        </p:nvSpPr>
        <p:spPr>
          <a:xfrm>
            <a:off x="344169" y="1794030"/>
            <a:ext cx="12161592" cy="7203075"/>
          </a:xfrm>
          <a:prstGeom prst="rect">
            <a:avLst/>
          </a:prstGeom>
          <a:noFill/>
          <a:ln>
            <a:noFill/>
          </a:ln>
        </p:spPr>
        <p:txBody>
          <a:bodyPr anchorCtr="0" anchor="t" bIns="65000" lIns="65000" spcFirstLastPara="1" rIns="65000" wrap="square" tIns="65000">
            <a:normAutofit/>
          </a:bodyPr>
          <a:lstStyle>
            <a:lvl1pPr indent="-457200" lvl="0" marL="457200" algn="l">
              <a:lnSpc>
                <a:spcPct val="100000"/>
              </a:lnSpc>
              <a:spcBef>
                <a:spcPts val="800"/>
              </a:spcBef>
              <a:spcAft>
                <a:spcPts val="0"/>
              </a:spcAft>
              <a:buClr>
                <a:srgbClr val="000000"/>
              </a:buClr>
              <a:buSzPts val="3600"/>
              <a:buFont typeface="Arial"/>
              <a:buChar char="•"/>
              <a:defRPr sz="3600">
                <a:solidFill>
                  <a:srgbClr val="000000"/>
                </a:solidFill>
                <a:latin typeface="Arial"/>
                <a:ea typeface="Arial"/>
                <a:cs typeface="Arial"/>
                <a:sym typeface="Arial"/>
              </a:defRPr>
            </a:lvl1pPr>
            <a:lvl2pPr indent="-419100" lvl="1" marL="914400" algn="l">
              <a:lnSpc>
                <a:spcPct val="100000"/>
              </a:lnSpc>
              <a:spcBef>
                <a:spcPts val="800"/>
              </a:spcBef>
              <a:spcAft>
                <a:spcPts val="0"/>
              </a:spcAft>
              <a:buClr>
                <a:srgbClr val="000000"/>
              </a:buClr>
              <a:buSzPts val="3000"/>
              <a:buFont typeface="Arial"/>
              <a:buChar char="–"/>
              <a:defRPr sz="3000">
                <a:solidFill>
                  <a:srgbClr val="000000"/>
                </a:solidFill>
                <a:latin typeface="Arial"/>
                <a:ea typeface="Arial"/>
                <a:cs typeface="Arial"/>
                <a:sym typeface="Arial"/>
              </a:defRPr>
            </a:lvl2pPr>
            <a:lvl3pPr indent="-393700" lvl="2" marL="1371600" algn="l">
              <a:lnSpc>
                <a:spcPct val="100000"/>
              </a:lnSpc>
              <a:spcBef>
                <a:spcPts val="800"/>
              </a:spcBef>
              <a:spcAft>
                <a:spcPts val="0"/>
              </a:spcAft>
              <a:buClr>
                <a:srgbClr val="000000"/>
              </a:buClr>
              <a:buSzPts val="2600"/>
              <a:buFont typeface="Arial"/>
              <a:buChar char="•"/>
              <a:defRPr sz="2600">
                <a:solidFill>
                  <a:srgbClr val="000000"/>
                </a:solidFill>
                <a:latin typeface="Arial"/>
                <a:ea typeface="Arial"/>
                <a:cs typeface="Arial"/>
                <a:sym typeface="Arial"/>
              </a:defRPr>
            </a:lvl3pPr>
            <a:lvl4pPr indent="-444500" lvl="3" marL="1828800" algn="l">
              <a:lnSpc>
                <a:spcPct val="100000"/>
              </a:lnSpc>
              <a:spcBef>
                <a:spcPts val="800"/>
              </a:spcBef>
              <a:spcAft>
                <a:spcPts val="0"/>
              </a:spcAft>
              <a:buClr>
                <a:srgbClr val="000000"/>
              </a:buClr>
              <a:buSzPts val="3400"/>
              <a:buFont typeface="Arial"/>
              <a:buChar char="–"/>
              <a:defRPr sz="3400">
                <a:solidFill>
                  <a:srgbClr val="000000"/>
                </a:solidFill>
                <a:latin typeface="Arial"/>
                <a:ea typeface="Arial"/>
                <a:cs typeface="Arial"/>
                <a:sym typeface="Arial"/>
              </a:defRPr>
            </a:lvl4pPr>
            <a:lvl5pPr indent="-444500" lvl="4" marL="2286000" algn="l">
              <a:lnSpc>
                <a:spcPct val="100000"/>
              </a:lnSpc>
              <a:spcBef>
                <a:spcPts val="800"/>
              </a:spcBef>
              <a:spcAft>
                <a:spcPts val="0"/>
              </a:spcAft>
              <a:buClr>
                <a:srgbClr val="000000"/>
              </a:buClr>
              <a:buSzPts val="3400"/>
              <a:buFont typeface="Arial"/>
              <a:buChar char="»"/>
              <a:defRPr sz="3400">
                <a:solidFill>
                  <a:srgbClr val="000000"/>
                </a:solidFill>
                <a:latin typeface="Arial"/>
                <a:ea typeface="Arial"/>
                <a:cs typeface="Arial"/>
                <a:sym typeface="Arial"/>
              </a:defRPr>
            </a:lvl5pPr>
            <a:lvl6pPr indent="-322326" lvl="5" marL="2743200" algn="l">
              <a:lnSpc>
                <a:spcPct val="120000"/>
              </a:lnSpc>
              <a:spcBef>
                <a:spcPts val="3000"/>
              </a:spcBef>
              <a:spcAft>
                <a:spcPts val="0"/>
              </a:spcAft>
              <a:buSzPts val="1476"/>
              <a:buChar char="•"/>
              <a:defRPr/>
            </a:lvl6pPr>
            <a:lvl7pPr indent="-322326" lvl="6" marL="3200400" algn="l">
              <a:lnSpc>
                <a:spcPct val="120000"/>
              </a:lnSpc>
              <a:spcBef>
                <a:spcPts val="3000"/>
              </a:spcBef>
              <a:spcAft>
                <a:spcPts val="0"/>
              </a:spcAft>
              <a:buSzPts val="1476"/>
              <a:buChar char="•"/>
              <a:defRPr/>
            </a:lvl7pPr>
            <a:lvl8pPr indent="-322326" lvl="7" marL="3657600" algn="l">
              <a:lnSpc>
                <a:spcPct val="120000"/>
              </a:lnSpc>
              <a:spcBef>
                <a:spcPts val="3000"/>
              </a:spcBef>
              <a:spcAft>
                <a:spcPts val="0"/>
              </a:spcAft>
              <a:buSzPts val="1476"/>
              <a:buChar char="•"/>
              <a:defRPr/>
            </a:lvl8pPr>
            <a:lvl9pPr indent="-322326" lvl="8" marL="4114800" algn="l">
              <a:lnSpc>
                <a:spcPct val="120000"/>
              </a:lnSpc>
              <a:spcBef>
                <a:spcPts val="3000"/>
              </a:spcBef>
              <a:spcAft>
                <a:spcPts val="0"/>
              </a:spcAft>
              <a:buSzPts val="1476"/>
              <a:buChar char="•"/>
              <a:defRPr/>
            </a:lvl9pPr>
          </a:lstStyle>
          <a:p/>
        </p:txBody>
      </p:sp>
      <p:sp>
        <p:nvSpPr>
          <p:cNvPr id="22" name="Google Shape;22;p4"/>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lvl1pPr indent="0" lvl="0"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1pPr>
            <a:lvl2pPr indent="0" lvl="1"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2pPr>
            <a:lvl3pPr indent="0" lvl="2"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3pPr>
            <a:lvl4pPr indent="0" lvl="3"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4pPr>
            <a:lvl5pPr indent="0" lvl="4"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5pPr>
            <a:lvl6pPr indent="0" lvl="5"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6pPr>
            <a:lvl7pPr indent="0" lvl="6"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7pPr>
            <a:lvl8pPr indent="0" lvl="7"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8pPr>
            <a:lvl9pPr indent="0" lvl="8"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sz="14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oben">
  <p:cSld name="Titel oben">
    <p:spTree>
      <p:nvGrpSpPr>
        <p:cNvPr id="23" name="Shape 23"/>
        <p:cNvGrpSpPr/>
        <p:nvPr/>
      </p:nvGrpSpPr>
      <p:grpSpPr>
        <a:xfrm>
          <a:off x="0" y="0"/>
          <a:ext cx="0" cy="0"/>
          <a:chOff x="0" y="0"/>
          <a:chExt cx="0" cy="0"/>
        </a:xfrm>
      </p:grpSpPr>
      <p:sp>
        <p:nvSpPr>
          <p:cNvPr id="24" name="Google Shape;24;p5"/>
          <p:cNvSpPr txBox="1"/>
          <p:nvPr>
            <p:ph type="title"/>
          </p:nvPr>
        </p:nvSpPr>
        <p:spPr>
          <a:xfrm>
            <a:off x="357632" y="260096"/>
            <a:ext cx="12289537" cy="1219201"/>
          </a:xfrm>
          <a:prstGeom prst="rect">
            <a:avLst/>
          </a:prstGeom>
          <a:noFill/>
          <a:ln>
            <a:noFill/>
          </a:ln>
        </p:spPr>
        <p:txBody>
          <a:bodyPr anchorCtr="0" anchor="ctr" bIns="48750" lIns="48750" spcFirstLastPara="1" rIns="48750" wrap="square" tIns="48750">
            <a:noAutofit/>
          </a:bodyPr>
          <a:lstStyle>
            <a:lvl1pPr lvl="0" algn="l">
              <a:lnSpc>
                <a:spcPct val="100000"/>
              </a:lnSpc>
              <a:spcBef>
                <a:spcPts val="0"/>
              </a:spcBef>
              <a:spcAft>
                <a:spcPts val="0"/>
              </a:spcAft>
              <a:buClr>
                <a:srgbClr val="000000"/>
              </a:buClr>
              <a:buSzPts val="7000"/>
              <a:buFont typeface="Gill Sans"/>
              <a:buNone/>
              <a:defRPr sz="7000" cap="none">
                <a:solidFill>
                  <a:srgbClr val="000000"/>
                </a:solidFill>
              </a:defRPr>
            </a:lvl1pPr>
            <a:lvl2pPr lvl="1" algn="ctr">
              <a:lnSpc>
                <a:spcPct val="100000"/>
              </a:lnSpc>
              <a:spcBef>
                <a:spcPts val="0"/>
              </a:spcBef>
              <a:spcAft>
                <a:spcPts val="0"/>
              </a:spcAft>
              <a:buClr>
                <a:srgbClr val="535353"/>
              </a:buClr>
              <a:buSzPts val="1800"/>
              <a:buNone/>
              <a:defRPr/>
            </a:lvl2pPr>
            <a:lvl3pPr lvl="2" algn="ctr">
              <a:lnSpc>
                <a:spcPct val="100000"/>
              </a:lnSpc>
              <a:spcBef>
                <a:spcPts val="0"/>
              </a:spcBef>
              <a:spcAft>
                <a:spcPts val="0"/>
              </a:spcAft>
              <a:buClr>
                <a:srgbClr val="535353"/>
              </a:buClr>
              <a:buSzPts val="1800"/>
              <a:buNone/>
              <a:defRPr/>
            </a:lvl3pPr>
            <a:lvl4pPr lvl="3" algn="ctr">
              <a:lnSpc>
                <a:spcPct val="100000"/>
              </a:lnSpc>
              <a:spcBef>
                <a:spcPts val="0"/>
              </a:spcBef>
              <a:spcAft>
                <a:spcPts val="0"/>
              </a:spcAft>
              <a:buClr>
                <a:srgbClr val="535353"/>
              </a:buClr>
              <a:buSzPts val="1800"/>
              <a:buNone/>
              <a:defRPr/>
            </a:lvl4pPr>
            <a:lvl5pPr lvl="4" algn="ctr">
              <a:lnSpc>
                <a:spcPct val="100000"/>
              </a:lnSpc>
              <a:spcBef>
                <a:spcPts val="0"/>
              </a:spcBef>
              <a:spcAft>
                <a:spcPts val="0"/>
              </a:spcAft>
              <a:buClr>
                <a:srgbClr val="535353"/>
              </a:buClr>
              <a:buSzPts val="1800"/>
              <a:buNone/>
              <a:defRPr/>
            </a:lvl5pPr>
            <a:lvl6pPr lvl="5" algn="ctr">
              <a:lnSpc>
                <a:spcPct val="100000"/>
              </a:lnSpc>
              <a:spcBef>
                <a:spcPts val="0"/>
              </a:spcBef>
              <a:spcAft>
                <a:spcPts val="0"/>
              </a:spcAft>
              <a:buClr>
                <a:srgbClr val="535353"/>
              </a:buClr>
              <a:buSzPts val="1800"/>
              <a:buNone/>
              <a:defRPr/>
            </a:lvl6pPr>
            <a:lvl7pPr lvl="6" algn="ctr">
              <a:lnSpc>
                <a:spcPct val="100000"/>
              </a:lnSpc>
              <a:spcBef>
                <a:spcPts val="0"/>
              </a:spcBef>
              <a:spcAft>
                <a:spcPts val="0"/>
              </a:spcAft>
              <a:buClr>
                <a:srgbClr val="535353"/>
              </a:buClr>
              <a:buSzPts val="1800"/>
              <a:buNone/>
              <a:defRPr/>
            </a:lvl7pPr>
            <a:lvl8pPr lvl="7" algn="ctr">
              <a:lnSpc>
                <a:spcPct val="100000"/>
              </a:lnSpc>
              <a:spcBef>
                <a:spcPts val="0"/>
              </a:spcBef>
              <a:spcAft>
                <a:spcPts val="0"/>
              </a:spcAft>
              <a:buClr>
                <a:srgbClr val="535353"/>
              </a:buClr>
              <a:buSzPts val="1800"/>
              <a:buNone/>
              <a:defRPr/>
            </a:lvl8pPr>
            <a:lvl9pPr lvl="8" algn="ctr">
              <a:lnSpc>
                <a:spcPct val="100000"/>
              </a:lnSpc>
              <a:spcBef>
                <a:spcPts val="0"/>
              </a:spcBef>
              <a:spcAft>
                <a:spcPts val="0"/>
              </a:spcAft>
              <a:buClr>
                <a:srgbClr val="535353"/>
              </a:buClr>
              <a:buSzPts val="1800"/>
              <a:buNone/>
              <a:defRPr/>
            </a:lvl9pPr>
          </a:lstStyle>
          <a:p/>
        </p:txBody>
      </p:sp>
      <p:sp>
        <p:nvSpPr>
          <p:cNvPr id="25" name="Google Shape;25;p5"/>
          <p:cNvSpPr txBox="1"/>
          <p:nvPr>
            <p:ph idx="12" type="sldNum"/>
          </p:nvPr>
        </p:nvSpPr>
        <p:spPr>
          <a:xfrm>
            <a:off x="12466066" y="9249664"/>
            <a:ext cx="345949" cy="358649"/>
          </a:xfrm>
          <a:prstGeom prst="rect">
            <a:avLst/>
          </a:prstGeom>
          <a:noFill/>
          <a:ln>
            <a:noFill/>
          </a:ln>
        </p:spPr>
        <p:txBody>
          <a:bodyPr anchorCtr="0" anchor="t" bIns="65000" lIns="65000" spcFirstLastPara="1" rIns="65000" wrap="square" tIns="65000">
            <a:spAutoFit/>
          </a:bodyPr>
          <a:lstStyle>
            <a:lvl1pPr indent="0" lvl="0"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1pPr>
            <a:lvl2pPr indent="0" lvl="1"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2pPr>
            <a:lvl3pPr indent="0" lvl="2"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3pPr>
            <a:lvl4pPr indent="0" lvl="3"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4pPr>
            <a:lvl5pPr indent="0" lvl="4"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5pPr>
            <a:lvl6pPr indent="0" lvl="5"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6pPr>
            <a:lvl7pPr indent="0" lvl="6"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7pPr>
            <a:lvl8pPr indent="0" lvl="7"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8pPr>
            <a:lvl9pPr indent="0" lvl="8"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sz="14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p:cSld name="Leer">
    <p:spTree>
      <p:nvGrpSpPr>
        <p:cNvPr id="26" name="Shape 26"/>
        <p:cNvGrpSpPr/>
        <p:nvPr/>
      </p:nvGrpSpPr>
      <p:grpSpPr>
        <a:xfrm>
          <a:off x="0" y="0"/>
          <a:ext cx="0" cy="0"/>
          <a:chOff x="0" y="0"/>
          <a:chExt cx="0" cy="0"/>
        </a:xfrm>
      </p:grpSpPr>
      <p:sp>
        <p:nvSpPr>
          <p:cNvPr id="27" name="Google Shape;27;p6"/>
          <p:cNvSpPr txBox="1"/>
          <p:nvPr>
            <p:ph idx="12" type="sldNum"/>
          </p:nvPr>
        </p:nvSpPr>
        <p:spPr>
          <a:xfrm>
            <a:off x="12466066" y="9249664"/>
            <a:ext cx="345949" cy="358649"/>
          </a:xfrm>
          <a:prstGeom prst="rect">
            <a:avLst/>
          </a:prstGeom>
          <a:noFill/>
          <a:ln>
            <a:noFill/>
          </a:ln>
        </p:spPr>
        <p:txBody>
          <a:bodyPr anchorCtr="0" anchor="t" bIns="65000" lIns="65000" spcFirstLastPara="1" rIns="65000" wrap="square" tIns="65000">
            <a:spAutoFit/>
          </a:bodyPr>
          <a:lstStyle>
            <a:lvl1pPr indent="0" lvl="0"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1pPr>
            <a:lvl2pPr indent="0" lvl="1"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2pPr>
            <a:lvl3pPr indent="0" lvl="2"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3pPr>
            <a:lvl4pPr indent="0" lvl="3"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4pPr>
            <a:lvl5pPr indent="0" lvl="4"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5pPr>
            <a:lvl6pPr indent="0" lvl="5"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6pPr>
            <a:lvl7pPr indent="0" lvl="6"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7pPr>
            <a:lvl8pPr indent="0" lvl="7"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8pPr>
            <a:lvl9pPr indent="0" lvl="8" marL="0" marR="0" algn="ctr">
              <a:lnSpc>
                <a:spcPct val="100000"/>
              </a:lnSpc>
              <a:spcBef>
                <a:spcPts val="0"/>
              </a:spcBef>
              <a:spcAft>
                <a:spcPts val="0"/>
              </a:spcAft>
              <a:buClr>
                <a:srgbClr val="535353"/>
              </a:buClr>
              <a:buSzPts val="1600"/>
              <a:buFont typeface="Gill Sans"/>
              <a:buNone/>
              <a:defRPr b="0" i="0" sz="1600" u="none" cap="none" strike="noStrike">
                <a:solidFill>
                  <a:srgbClr val="535353"/>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sz="14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p:cSld name="Leer 2">
    <p:spTree>
      <p:nvGrpSpPr>
        <p:cNvPr id="28" name="Shape 28"/>
        <p:cNvGrpSpPr/>
        <p:nvPr/>
      </p:nvGrpSpPr>
      <p:grpSpPr>
        <a:xfrm>
          <a:off x="0" y="0"/>
          <a:ext cx="0" cy="0"/>
          <a:chOff x="0" y="0"/>
          <a:chExt cx="0" cy="0"/>
        </a:xfrm>
      </p:grpSpPr>
      <p:sp>
        <p:nvSpPr>
          <p:cNvPr id="29" name="Google Shape;29;p7"/>
          <p:cNvSpPr txBox="1"/>
          <p:nvPr>
            <p:ph idx="12" type="sldNum"/>
          </p:nvPr>
        </p:nvSpPr>
        <p:spPr>
          <a:xfrm>
            <a:off x="12478766" y="9249663"/>
            <a:ext cx="320549" cy="333249"/>
          </a:xfrm>
          <a:prstGeom prst="rect">
            <a:avLst/>
          </a:prstGeom>
          <a:noFill/>
          <a:ln>
            <a:noFill/>
          </a:ln>
        </p:spPr>
        <p:txBody>
          <a:bodyPr anchorCtr="0" anchor="t" bIns="65000" lIns="65000" spcFirstLastPara="1" rIns="65000" wrap="square" tIns="65000">
            <a:spAutoFit/>
          </a:bodyPr>
          <a:lstStyle>
            <a:lvl1pPr indent="0" lvl="0" marL="0" marR="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1pPr>
            <a:lvl2pPr indent="0" lvl="1" marL="0" marR="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2pPr>
            <a:lvl3pPr indent="0" lvl="2" marL="0" marR="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3pPr>
            <a:lvl4pPr indent="0" lvl="3" marL="0" marR="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4pPr>
            <a:lvl5pPr indent="0" lvl="4" marL="0" marR="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5pPr>
            <a:lvl6pPr indent="0" lvl="5" marL="0" marR="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6pPr>
            <a:lvl7pPr indent="0" lvl="6" marL="0" marR="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7pPr>
            <a:lvl8pPr indent="0" lvl="7" marL="0" marR="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8pPr>
            <a:lvl9pPr indent="0" lvl="8" marL="0" marR="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12478766" y="9249663"/>
            <a:ext cx="320549" cy="333249"/>
          </a:xfrm>
          <a:prstGeom prst="rect">
            <a:avLst/>
          </a:prstGeom>
          <a:noFill/>
          <a:ln>
            <a:noFill/>
          </a:ln>
        </p:spPr>
        <p:txBody>
          <a:bodyPr anchorCtr="0" anchor="t" bIns="65000" lIns="65000" spcFirstLastPara="1" rIns="65000" wrap="square" tIns="65000">
            <a:spAutoFit/>
          </a:bodyPr>
          <a:lstStyle>
            <a:lvl1pPr indent="0" lvl="0" marL="0" marR="0" rtl="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1pPr>
            <a:lvl2pPr indent="0" lvl="1" marL="0" marR="0" rtl="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2pPr>
            <a:lvl3pPr indent="0" lvl="2" marL="0" marR="0" rtl="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3pPr>
            <a:lvl4pPr indent="0" lvl="3" marL="0" marR="0" rtl="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4pPr>
            <a:lvl5pPr indent="0" lvl="4" marL="0" marR="0" rtl="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5pPr>
            <a:lvl6pPr indent="0" lvl="5" marL="0" marR="0" rtl="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6pPr>
            <a:lvl7pPr indent="0" lvl="6" marL="0" marR="0" rtl="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7pPr>
            <a:lvl8pPr indent="0" lvl="7" marL="0" marR="0" rtl="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8pPr>
            <a:lvl9pPr indent="0" lvl="8" marL="0" marR="0" rtl="0" algn="ctr">
              <a:lnSpc>
                <a:spcPct val="100000"/>
              </a:lnSpc>
              <a:spcBef>
                <a:spcPts val="0"/>
              </a:spcBef>
              <a:spcAft>
                <a:spcPts val="0"/>
              </a:spcAft>
              <a:buClr>
                <a:srgbClr val="535353"/>
              </a:buClr>
              <a:buSzPts val="1400"/>
              <a:buFont typeface="Gill Sans"/>
              <a:buNone/>
              <a:defRPr b="0" i="0" sz="1400" u="none" cap="none" strike="noStrike">
                <a:solidFill>
                  <a:srgbClr val="535353"/>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
        <p:nvSpPr>
          <p:cNvPr id="7" name="Google Shape;7;p1"/>
          <p:cNvSpPr txBox="1"/>
          <p:nvPr>
            <p:ph type="title"/>
          </p:nvPr>
        </p:nvSpPr>
        <p:spPr>
          <a:xfrm>
            <a:off x="357631" y="260095"/>
            <a:ext cx="12289538" cy="2438401"/>
          </a:xfrm>
          <a:prstGeom prst="rect">
            <a:avLst/>
          </a:prstGeom>
          <a:noFill/>
          <a:ln>
            <a:noFill/>
          </a:ln>
        </p:spPr>
        <p:txBody>
          <a:bodyPr anchorCtr="0" anchor="ctr" bIns="48750" lIns="48750" spcFirstLastPara="1" rIns="48750" wrap="square" tIns="48750">
            <a:noAutofit/>
          </a:bodyPr>
          <a:lstStyle>
            <a:lvl1pPr lvl="0" marR="0" rtl="0" algn="ctr">
              <a:lnSpc>
                <a:spcPct val="100000"/>
              </a:lnSpc>
              <a:spcBef>
                <a:spcPts val="0"/>
              </a:spcBef>
              <a:spcAft>
                <a:spcPts val="0"/>
              </a:spcAft>
              <a:buClr>
                <a:srgbClr val="535353"/>
              </a:buClr>
              <a:buSzPts val="6800"/>
              <a:buFont typeface="Gill Sans"/>
              <a:buNone/>
              <a:defRPr b="0" i="0" sz="6800" u="none" cap="none" strike="noStrike">
                <a:solidFill>
                  <a:srgbClr val="535353"/>
                </a:solidFill>
                <a:latin typeface="Gill Sans"/>
                <a:ea typeface="Gill Sans"/>
                <a:cs typeface="Gill Sans"/>
                <a:sym typeface="Gill Sans"/>
              </a:defRPr>
            </a:lvl1pPr>
            <a:lvl2pPr lvl="1" marR="0" rtl="0" algn="ctr">
              <a:lnSpc>
                <a:spcPct val="100000"/>
              </a:lnSpc>
              <a:spcBef>
                <a:spcPts val="0"/>
              </a:spcBef>
              <a:spcAft>
                <a:spcPts val="0"/>
              </a:spcAft>
              <a:buClr>
                <a:srgbClr val="535353"/>
              </a:buClr>
              <a:buSzPts val="6800"/>
              <a:buFont typeface="Gill Sans"/>
              <a:buNone/>
              <a:defRPr b="0" i="0" sz="6800" u="none" cap="none" strike="noStrike">
                <a:solidFill>
                  <a:srgbClr val="535353"/>
                </a:solidFill>
                <a:latin typeface="Gill Sans"/>
                <a:ea typeface="Gill Sans"/>
                <a:cs typeface="Gill Sans"/>
                <a:sym typeface="Gill Sans"/>
              </a:defRPr>
            </a:lvl2pPr>
            <a:lvl3pPr lvl="2" marR="0" rtl="0" algn="ctr">
              <a:lnSpc>
                <a:spcPct val="100000"/>
              </a:lnSpc>
              <a:spcBef>
                <a:spcPts val="0"/>
              </a:spcBef>
              <a:spcAft>
                <a:spcPts val="0"/>
              </a:spcAft>
              <a:buClr>
                <a:srgbClr val="535353"/>
              </a:buClr>
              <a:buSzPts val="6800"/>
              <a:buFont typeface="Gill Sans"/>
              <a:buNone/>
              <a:defRPr b="0" i="0" sz="6800" u="none" cap="none" strike="noStrike">
                <a:solidFill>
                  <a:srgbClr val="535353"/>
                </a:solidFill>
                <a:latin typeface="Gill Sans"/>
                <a:ea typeface="Gill Sans"/>
                <a:cs typeface="Gill Sans"/>
                <a:sym typeface="Gill Sans"/>
              </a:defRPr>
            </a:lvl3pPr>
            <a:lvl4pPr lvl="3" marR="0" rtl="0" algn="ctr">
              <a:lnSpc>
                <a:spcPct val="100000"/>
              </a:lnSpc>
              <a:spcBef>
                <a:spcPts val="0"/>
              </a:spcBef>
              <a:spcAft>
                <a:spcPts val="0"/>
              </a:spcAft>
              <a:buClr>
                <a:srgbClr val="535353"/>
              </a:buClr>
              <a:buSzPts val="6800"/>
              <a:buFont typeface="Gill Sans"/>
              <a:buNone/>
              <a:defRPr b="0" i="0" sz="6800" u="none" cap="none" strike="noStrike">
                <a:solidFill>
                  <a:srgbClr val="535353"/>
                </a:solidFill>
                <a:latin typeface="Gill Sans"/>
                <a:ea typeface="Gill Sans"/>
                <a:cs typeface="Gill Sans"/>
                <a:sym typeface="Gill Sans"/>
              </a:defRPr>
            </a:lvl4pPr>
            <a:lvl5pPr lvl="4" marR="0" rtl="0" algn="ctr">
              <a:lnSpc>
                <a:spcPct val="100000"/>
              </a:lnSpc>
              <a:spcBef>
                <a:spcPts val="0"/>
              </a:spcBef>
              <a:spcAft>
                <a:spcPts val="0"/>
              </a:spcAft>
              <a:buClr>
                <a:srgbClr val="535353"/>
              </a:buClr>
              <a:buSzPts val="6800"/>
              <a:buFont typeface="Gill Sans"/>
              <a:buNone/>
              <a:defRPr b="0" i="0" sz="6800" u="none" cap="none" strike="noStrike">
                <a:solidFill>
                  <a:srgbClr val="535353"/>
                </a:solidFill>
                <a:latin typeface="Gill Sans"/>
                <a:ea typeface="Gill Sans"/>
                <a:cs typeface="Gill Sans"/>
                <a:sym typeface="Gill Sans"/>
              </a:defRPr>
            </a:lvl5pPr>
            <a:lvl6pPr lvl="5" marR="0" rtl="0" algn="ctr">
              <a:lnSpc>
                <a:spcPct val="100000"/>
              </a:lnSpc>
              <a:spcBef>
                <a:spcPts val="0"/>
              </a:spcBef>
              <a:spcAft>
                <a:spcPts val="0"/>
              </a:spcAft>
              <a:buClr>
                <a:srgbClr val="535353"/>
              </a:buClr>
              <a:buSzPts val="6800"/>
              <a:buFont typeface="Gill Sans"/>
              <a:buNone/>
              <a:defRPr b="0" i="0" sz="6800" u="none" cap="none" strike="noStrike">
                <a:solidFill>
                  <a:srgbClr val="535353"/>
                </a:solidFill>
                <a:latin typeface="Gill Sans"/>
                <a:ea typeface="Gill Sans"/>
                <a:cs typeface="Gill Sans"/>
                <a:sym typeface="Gill Sans"/>
              </a:defRPr>
            </a:lvl6pPr>
            <a:lvl7pPr lvl="6" marR="0" rtl="0" algn="ctr">
              <a:lnSpc>
                <a:spcPct val="100000"/>
              </a:lnSpc>
              <a:spcBef>
                <a:spcPts val="0"/>
              </a:spcBef>
              <a:spcAft>
                <a:spcPts val="0"/>
              </a:spcAft>
              <a:buClr>
                <a:srgbClr val="535353"/>
              </a:buClr>
              <a:buSzPts val="6800"/>
              <a:buFont typeface="Gill Sans"/>
              <a:buNone/>
              <a:defRPr b="0" i="0" sz="6800" u="none" cap="none" strike="noStrike">
                <a:solidFill>
                  <a:srgbClr val="535353"/>
                </a:solidFill>
                <a:latin typeface="Gill Sans"/>
                <a:ea typeface="Gill Sans"/>
                <a:cs typeface="Gill Sans"/>
                <a:sym typeface="Gill Sans"/>
              </a:defRPr>
            </a:lvl7pPr>
            <a:lvl8pPr lvl="7" marR="0" rtl="0" algn="ctr">
              <a:lnSpc>
                <a:spcPct val="100000"/>
              </a:lnSpc>
              <a:spcBef>
                <a:spcPts val="0"/>
              </a:spcBef>
              <a:spcAft>
                <a:spcPts val="0"/>
              </a:spcAft>
              <a:buClr>
                <a:srgbClr val="535353"/>
              </a:buClr>
              <a:buSzPts val="6800"/>
              <a:buFont typeface="Gill Sans"/>
              <a:buNone/>
              <a:defRPr b="0" i="0" sz="6800" u="none" cap="none" strike="noStrike">
                <a:solidFill>
                  <a:srgbClr val="535353"/>
                </a:solidFill>
                <a:latin typeface="Gill Sans"/>
                <a:ea typeface="Gill Sans"/>
                <a:cs typeface="Gill Sans"/>
                <a:sym typeface="Gill Sans"/>
              </a:defRPr>
            </a:lvl8pPr>
            <a:lvl9pPr lvl="8" marR="0" rtl="0" algn="ctr">
              <a:lnSpc>
                <a:spcPct val="100000"/>
              </a:lnSpc>
              <a:spcBef>
                <a:spcPts val="0"/>
              </a:spcBef>
              <a:spcAft>
                <a:spcPts val="0"/>
              </a:spcAft>
              <a:buClr>
                <a:srgbClr val="535353"/>
              </a:buClr>
              <a:buSzPts val="6800"/>
              <a:buFont typeface="Gill Sans"/>
              <a:buNone/>
              <a:defRPr b="0" i="0" sz="6800" u="none" cap="none" strike="noStrike">
                <a:solidFill>
                  <a:srgbClr val="535353"/>
                </a:solidFill>
                <a:latin typeface="Gill Sans"/>
                <a:ea typeface="Gill Sans"/>
                <a:cs typeface="Gill Sans"/>
                <a:sym typeface="Gill Sans"/>
              </a:defRPr>
            </a:lvl9pPr>
          </a:lstStyle>
          <a:p/>
        </p:txBody>
      </p:sp>
      <p:sp>
        <p:nvSpPr>
          <p:cNvPr id="8" name="Google Shape;8;p1"/>
          <p:cNvSpPr txBox="1"/>
          <p:nvPr>
            <p:ph idx="1" type="body"/>
          </p:nvPr>
        </p:nvSpPr>
        <p:spPr>
          <a:xfrm>
            <a:off x="357631" y="260095"/>
            <a:ext cx="12289538" cy="9233409"/>
          </a:xfrm>
          <a:prstGeom prst="rect">
            <a:avLst/>
          </a:prstGeom>
          <a:noFill/>
          <a:ln>
            <a:noFill/>
          </a:ln>
        </p:spPr>
        <p:txBody>
          <a:bodyPr anchorCtr="0" anchor="ctr" bIns="48750" lIns="48750" spcFirstLastPara="1" rIns="48750" wrap="square" tIns="48750">
            <a:noAutofit/>
          </a:bodyPr>
          <a:lstStyle>
            <a:lvl1pPr indent="-426466" lvl="0" marL="457200" marR="0" rtl="0" algn="l">
              <a:lnSpc>
                <a:spcPct val="120000"/>
              </a:lnSpc>
              <a:spcBef>
                <a:spcPts val="3000"/>
              </a:spcBef>
              <a:spcAft>
                <a:spcPts val="0"/>
              </a:spcAft>
              <a:buClr>
                <a:srgbClr val="535353"/>
              </a:buClr>
              <a:buSzPts val="3116"/>
              <a:buFont typeface="Gill Sans"/>
              <a:buChar char="•"/>
              <a:defRPr b="0" i="0" sz="3800" u="none" cap="none" strike="noStrike">
                <a:solidFill>
                  <a:srgbClr val="535353"/>
                </a:solidFill>
                <a:latin typeface="Gill Sans"/>
                <a:ea typeface="Gill Sans"/>
                <a:cs typeface="Gill Sans"/>
                <a:sym typeface="Gill Sans"/>
              </a:defRPr>
            </a:lvl1pPr>
            <a:lvl2pPr indent="-426466" lvl="1" marL="914400" marR="0" rtl="0" algn="l">
              <a:lnSpc>
                <a:spcPct val="120000"/>
              </a:lnSpc>
              <a:spcBef>
                <a:spcPts val="3000"/>
              </a:spcBef>
              <a:spcAft>
                <a:spcPts val="0"/>
              </a:spcAft>
              <a:buClr>
                <a:srgbClr val="535353"/>
              </a:buClr>
              <a:buSzPts val="3116"/>
              <a:buFont typeface="Gill Sans"/>
              <a:buChar char="•"/>
              <a:defRPr b="0" i="0" sz="3800" u="none" cap="none" strike="noStrike">
                <a:solidFill>
                  <a:srgbClr val="535353"/>
                </a:solidFill>
                <a:latin typeface="Gill Sans"/>
                <a:ea typeface="Gill Sans"/>
                <a:cs typeface="Gill Sans"/>
                <a:sym typeface="Gill Sans"/>
              </a:defRPr>
            </a:lvl2pPr>
            <a:lvl3pPr indent="-426466" lvl="2" marL="1371600" marR="0" rtl="0" algn="l">
              <a:lnSpc>
                <a:spcPct val="120000"/>
              </a:lnSpc>
              <a:spcBef>
                <a:spcPts val="3000"/>
              </a:spcBef>
              <a:spcAft>
                <a:spcPts val="0"/>
              </a:spcAft>
              <a:buClr>
                <a:srgbClr val="535353"/>
              </a:buClr>
              <a:buSzPts val="3116"/>
              <a:buFont typeface="Gill Sans"/>
              <a:buChar char="•"/>
              <a:defRPr b="0" i="0" sz="3800" u="none" cap="none" strike="noStrike">
                <a:solidFill>
                  <a:srgbClr val="535353"/>
                </a:solidFill>
                <a:latin typeface="Gill Sans"/>
                <a:ea typeface="Gill Sans"/>
                <a:cs typeface="Gill Sans"/>
                <a:sym typeface="Gill Sans"/>
              </a:defRPr>
            </a:lvl3pPr>
            <a:lvl4pPr indent="-426466" lvl="3" marL="1828800" marR="0" rtl="0" algn="l">
              <a:lnSpc>
                <a:spcPct val="120000"/>
              </a:lnSpc>
              <a:spcBef>
                <a:spcPts val="3000"/>
              </a:spcBef>
              <a:spcAft>
                <a:spcPts val="0"/>
              </a:spcAft>
              <a:buClr>
                <a:srgbClr val="535353"/>
              </a:buClr>
              <a:buSzPts val="3116"/>
              <a:buFont typeface="Gill Sans"/>
              <a:buChar char="•"/>
              <a:defRPr b="0" i="0" sz="3800" u="none" cap="none" strike="noStrike">
                <a:solidFill>
                  <a:srgbClr val="535353"/>
                </a:solidFill>
                <a:latin typeface="Gill Sans"/>
                <a:ea typeface="Gill Sans"/>
                <a:cs typeface="Gill Sans"/>
                <a:sym typeface="Gill Sans"/>
              </a:defRPr>
            </a:lvl4pPr>
            <a:lvl5pPr indent="-426466" lvl="4" marL="2286000" marR="0" rtl="0" algn="l">
              <a:lnSpc>
                <a:spcPct val="120000"/>
              </a:lnSpc>
              <a:spcBef>
                <a:spcPts val="3000"/>
              </a:spcBef>
              <a:spcAft>
                <a:spcPts val="0"/>
              </a:spcAft>
              <a:buClr>
                <a:srgbClr val="535353"/>
              </a:buClr>
              <a:buSzPts val="3116"/>
              <a:buFont typeface="Gill Sans"/>
              <a:buChar char="•"/>
              <a:defRPr b="0" i="0" sz="3800" u="none" cap="none" strike="noStrike">
                <a:solidFill>
                  <a:srgbClr val="535353"/>
                </a:solidFill>
                <a:latin typeface="Gill Sans"/>
                <a:ea typeface="Gill Sans"/>
                <a:cs typeface="Gill Sans"/>
                <a:sym typeface="Gill Sans"/>
              </a:defRPr>
            </a:lvl5pPr>
            <a:lvl6pPr indent="-426466" lvl="5" marL="2743200" marR="0" rtl="0" algn="l">
              <a:lnSpc>
                <a:spcPct val="120000"/>
              </a:lnSpc>
              <a:spcBef>
                <a:spcPts val="3000"/>
              </a:spcBef>
              <a:spcAft>
                <a:spcPts val="0"/>
              </a:spcAft>
              <a:buClr>
                <a:srgbClr val="535353"/>
              </a:buClr>
              <a:buSzPts val="3116"/>
              <a:buFont typeface="Gill Sans"/>
              <a:buChar char="•"/>
              <a:defRPr b="0" i="0" sz="3800" u="none" cap="none" strike="noStrike">
                <a:solidFill>
                  <a:srgbClr val="535353"/>
                </a:solidFill>
                <a:latin typeface="Gill Sans"/>
                <a:ea typeface="Gill Sans"/>
                <a:cs typeface="Gill Sans"/>
                <a:sym typeface="Gill Sans"/>
              </a:defRPr>
            </a:lvl6pPr>
            <a:lvl7pPr indent="-426466" lvl="6" marL="3200400" marR="0" rtl="0" algn="l">
              <a:lnSpc>
                <a:spcPct val="120000"/>
              </a:lnSpc>
              <a:spcBef>
                <a:spcPts val="3000"/>
              </a:spcBef>
              <a:spcAft>
                <a:spcPts val="0"/>
              </a:spcAft>
              <a:buClr>
                <a:srgbClr val="535353"/>
              </a:buClr>
              <a:buSzPts val="3116"/>
              <a:buFont typeface="Gill Sans"/>
              <a:buChar char="•"/>
              <a:defRPr b="0" i="0" sz="3800" u="none" cap="none" strike="noStrike">
                <a:solidFill>
                  <a:srgbClr val="535353"/>
                </a:solidFill>
                <a:latin typeface="Gill Sans"/>
                <a:ea typeface="Gill Sans"/>
                <a:cs typeface="Gill Sans"/>
                <a:sym typeface="Gill Sans"/>
              </a:defRPr>
            </a:lvl7pPr>
            <a:lvl8pPr indent="-426466" lvl="7" marL="3657600" marR="0" rtl="0" algn="l">
              <a:lnSpc>
                <a:spcPct val="120000"/>
              </a:lnSpc>
              <a:spcBef>
                <a:spcPts val="3000"/>
              </a:spcBef>
              <a:spcAft>
                <a:spcPts val="0"/>
              </a:spcAft>
              <a:buClr>
                <a:srgbClr val="535353"/>
              </a:buClr>
              <a:buSzPts val="3116"/>
              <a:buFont typeface="Gill Sans"/>
              <a:buChar char="•"/>
              <a:defRPr b="0" i="0" sz="3800" u="none" cap="none" strike="noStrike">
                <a:solidFill>
                  <a:srgbClr val="535353"/>
                </a:solidFill>
                <a:latin typeface="Gill Sans"/>
                <a:ea typeface="Gill Sans"/>
                <a:cs typeface="Gill Sans"/>
                <a:sym typeface="Gill Sans"/>
              </a:defRPr>
            </a:lvl8pPr>
            <a:lvl9pPr indent="-426466" lvl="8" marL="4114800" marR="0" rtl="0" algn="l">
              <a:lnSpc>
                <a:spcPct val="120000"/>
              </a:lnSpc>
              <a:spcBef>
                <a:spcPts val="3000"/>
              </a:spcBef>
              <a:spcAft>
                <a:spcPts val="0"/>
              </a:spcAft>
              <a:buClr>
                <a:srgbClr val="535353"/>
              </a:buClr>
              <a:buSzPts val="3116"/>
              <a:buFont typeface="Gill Sans"/>
              <a:buChar char="•"/>
              <a:defRPr b="0" i="0" sz="3800" u="none" cap="none" strike="noStrike">
                <a:solidFill>
                  <a:srgbClr val="535353"/>
                </a:solidFill>
                <a:latin typeface="Gill Sans"/>
                <a:ea typeface="Gill Sans"/>
                <a:cs typeface="Gill Sans"/>
                <a:sym typeface="Gill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hyperlink" Target="http://www.osc.uni-muenchen.d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1" Type="http://schemas.openxmlformats.org/officeDocument/2006/relationships/image" Target="../media/image11.png"/><Relationship Id="rId10" Type="http://schemas.openxmlformats.org/officeDocument/2006/relationships/image" Target="../media/image1.png"/><Relationship Id="rId12" Type="http://schemas.openxmlformats.org/officeDocument/2006/relationships/image" Target="../media/image9.png"/><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10.png"/><Relationship Id="rId9" Type="http://schemas.openxmlformats.org/officeDocument/2006/relationships/image" Target="../media/image17.jpg"/><Relationship Id="rId5" Type="http://schemas.openxmlformats.org/officeDocument/2006/relationships/image" Target="../media/image14.jpg"/><Relationship Id="rId6" Type="http://schemas.openxmlformats.org/officeDocument/2006/relationships/image" Target="../media/image2.png"/><Relationship Id="rId7" Type="http://schemas.openxmlformats.org/officeDocument/2006/relationships/hyperlink" Target="http://economix.blogs.nytimes.com/2013/04/16/flaws-are-cited-in-a-landmark-study-on-debt-and-growth/?smid=tw-share&amp;_r=0" TargetMode="External"/><Relationship Id="rId8" Type="http://schemas.openxmlformats.org/officeDocument/2006/relationships/hyperlink" Target="https://www.aeaweb.org/articles.php?doi=10.1257/aer.100.2.573"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image" Target="../media/image29.png"/><Relationship Id="rId6"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hyperlink" Target="https://publiccode.eu"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sciop.net" TargetMode="External"/><Relationship Id="rId4"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41.jpg"/><Relationship Id="rId6" Type="http://schemas.openxmlformats.org/officeDocument/2006/relationships/image" Target="../media/image25.jpg"/><Relationship Id="rId7" Type="http://schemas.openxmlformats.org/officeDocument/2006/relationships/image" Target="../media/image22.jpg"/><Relationship Id="rId8" Type="http://schemas.openxmlformats.org/officeDocument/2006/relationships/image" Target="../media/image2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3.png"/><Relationship Id="rId4" Type="http://schemas.openxmlformats.org/officeDocument/2006/relationships/hyperlink" Target="https://psyarxiv.com/24nc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dfg.de/foerderung/antrag_gutachter_gremien/antragstellende/nachnutzung_forschungsdaten/index.html" TargetMode="Externa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23.png"/><Relationship Id="rId6" Type="http://schemas.openxmlformats.org/officeDocument/2006/relationships/image" Target="../media/image26.png"/></Relationships>
</file>

<file path=ppt/slides/_rels/slide20.xml.rels><?xml version="1.0" encoding="UTF-8" standalone="yes"?><Relationships xmlns="http://schemas.openxmlformats.org/package/2006/relationships"><Relationship Id="rId10" Type="http://schemas.openxmlformats.org/officeDocument/2006/relationships/hyperlink" Target="https://www.wsl.ch/datacredit/" TargetMode="External"/><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0.png"/><Relationship Id="rId4" Type="http://schemas.openxmlformats.org/officeDocument/2006/relationships/image" Target="../media/image28.png"/><Relationship Id="rId9" Type="http://schemas.openxmlformats.org/officeDocument/2006/relationships/hyperlink" Target="https://lmu-osc.github.io/code-publishing/choose_license.html" TargetMode="External"/><Relationship Id="rId5" Type="http://schemas.openxmlformats.org/officeDocument/2006/relationships/image" Target="../media/image23.png"/><Relationship Id="rId6" Type="http://schemas.openxmlformats.org/officeDocument/2006/relationships/image" Target="../media/image26.png"/><Relationship Id="rId7" Type="http://schemas.openxmlformats.org/officeDocument/2006/relationships/hyperlink" Target="https://www.psycharchives.org" TargetMode="External"/><Relationship Id="rId8" Type="http://schemas.openxmlformats.org/officeDocument/2006/relationships/hyperlink" Target="https://www.re3data.or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3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3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4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4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doi.org/10.6084/m9.figshare.30823079" TargetMode="External"/><Relationship Id="rId4" Type="http://schemas.openxmlformats.org/officeDocument/2006/relationships/hyperlink" Target="https://coara.eu/agreement/the-commitments/" TargetMode="External"/><Relationship Id="rId5" Type="http://schemas.openxmlformats.org/officeDocument/2006/relationships/hyperlink" Target="https://www.dfg.de/en/news/news-topics/announcements-proposals/2022/info-wissenschaft-22-61" TargetMode="External"/><Relationship Id="rId6" Type="http://schemas.openxmlformats.org/officeDocument/2006/relationships/image" Target="../media/image37.png"/><Relationship Id="rId7" Type="http://schemas.openxmlformats.org/officeDocument/2006/relationships/image" Target="../media/image3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www.resque.info" TargetMode="External"/><Relationship Id="rId4" Type="http://schemas.openxmlformats.org/officeDocument/2006/relationships/image" Target="../media/image36.png"/><Relationship Id="rId5" Type="http://schemas.openxmlformats.org/officeDocument/2006/relationships/hyperlink" Target="https://doi.org/10.31234/osf.io/rgh5b"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4.png"/><Relationship Id="rId4" Type="http://schemas.openxmlformats.org/officeDocument/2006/relationships/hyperlink" Target="https://www.resque.info/includes/demo_profile.html" TargetMode="External"/><Relationship Id="rId5" Type="http://schemas.openxmlformats.org/officeDocument/2006/relationships/image" Target="../media/image4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4.png"/><Relationship Id="rId4" Type="http://schemas.openxmlformats.org/officeDocument/2006/relationships/image" Target="../media/image45.png"/><Relationship Id="rId9" Type="http://schemas.openxmlformats.org/officeDocument/2006/relationships/hyperlink" Target="https://doi.org/10.1111/bph.70254" TargetMode="External"/><Relationship Id="rId5" Type="http://schemas.openxmlformats.org/officeDocument/2006/relationships/image" Target="../media/image47.png"/><Relationship Id="rId6" Type="http://schemas.openxmlformats.org/officeDocument/2006/relationships/image" Target="../media/image43.png"/><Relationship Id="rId7" Type="http://schemas.openxmlformats.org/officeDocument/2006/relationships/image" Target="../media/image40.png"/><Relationship Id="rId8" Type="http://schemas.openxmlformats.org/officeDocument/2006/relationships/hyperlink" Target="https://doi.org/10.1111/bph.70254"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8"/>
          <p:cNvSpPr txBox="1"/>
          <p:nvPr>
            <p:ph idx="1" type="body"/>
          </p:nvPr>
        </p:nvSpPr>
        <p:spPr>
          <a:xfrm>
            <a:off x="1567766" y="3055288"/>
            <a:ext cx="9869268" cy="1897256"/>
          </a:xfrm>
          <a:prstGeom prst="rect">
            <a:avLst/>
          </a:prstGeom>
          <a:noFill/>
          <a:ln>
            <a:noFill/>
          </a:ln>
        </p:spPr>
        <p:txBody>
          <a:bodyPr anchorCtr="0" anchor="ctr" bIns="65000" lIns="65000" spcFirstLastPara="1" rIns="65000" wrap="square" tIns="65000">
            <a:noAutofit/>
          </a:bodyPr>
          <a:lstStyle/>
          <a:p>
            <a:pPr indent="0" lvl="0" marL="0" rtl="0" algn="ctr">
              <a:lnSpc>
                <a:spcPct val="100000"/>
              </a:lnSpc>
              <a:spcBef>
                <a:spcPts val="0"/>
              </a:spcBef>
              <a:spcAft>
                <a:spcPts val="0"/>
              </a:spcAft>
              <a:buSzPts val="6200"/>
              <a:buFont typeface="Gill Sans"/>
              <a:buNone/>
            </a:pPr>
            <a:r>
              <a:rPr b="1" lang="en-US" sz="6200">
                <a:solidFill>
                  <a:srgbClr val="232323"/>
                </a:solidFill>
                <a:latin typeface="Arial"/>
                <a:ea typeface="Arial"/>
                <a:cs typeface="Arial"/>
                <a:sym typeface="Arial"/>
              </a:rPr>
              <a:t>Introduction to </a:t>
            </a:r>
            <a:br>
              <a:rPr lang="en-US" sz="6200">
                <a:solidFill>
                  <a:srgbClr val="232323"/>
                </a:solidFill>
              </a:rPr>
            </a:br>
            <a:r>
              <a:rPr b="1" lang="en-US" sz="6200">
                <a:solidFill>
                  <a:srgbClr val="232323"/>
                </a:solidFill>
                <a:latin typeface="Arial"/>
                <a:ea typeface="Arial"/>
                <a:cs typeface="Arial"/>
                <a:sym typeface="Arial"/>
              </a:rPr>
              <a:t>Open Research Data</a:t>
            </a:r>
            <a:endParaRPr/>
          </a:p>
        </p:txBody>
      </p:sp>
      <p:sp>
        <p:nvSpPr>
          <p:cNvPr id="35" name="Google Shape;35;p8"/>
          <p:cNvSpPr txBox="1"/>
          <p:nvPr>
            <p:ph idx="2" type="body"/>
          </p:nvPr>
        </p:nvSpPr>
        <p:spPr>
          <a:xfrm>
            <a:off x="2653639" y="5212137"/>
            <a:ext cx="7697522" cy="1308718"/>
          </a:xfrm>
          <a:prstGeom prst="rect">
            <a:avLst/>
          </a:prstGeom>
          <a:noFill/>
          <a:ln>
            <a:noFill/>
          </a:ln>
        </p:spPr>
        <p:txBody>
          <a:bodyPr anchorCtr="0" anchor="ctr" bIns="65000" lIns="65000" spcFirstLastPara="1" rIns="65000" wrap="square" tIns="65000">
            <a:noAutofit/>
          </a:bodyPr>
          <a:lstStyle/>
          <a:p>
            <a:pPr indent="0" lvl="0" marL="0" rtl="0" algn="ctr">
              <a:lnSpc>
                <a:spcPct val="100000"/>
              </a:lnSpc>
              <a:spcBef>
                <a:spcPts val="0"/>
              </a:spcBef>
              <a:spcAft>
                <a:spcPts val="0"/>
              </a:spcAft>
              <a:buSzPts val="3700"/>
              <a:buFont typeface="Gill Sans"/>
              <a:buNone/>
            </a:pPr>
            <a:r>
              <a:rPr lang="en-US" sz="3700">
                <a:solidFill>
                  <a:srgbClr val="5F605F"/>
                </a:solidFill>
                <a:latin typeface="Arial"/>
                <a:ea typeface="Arial"/>
                <a:cs typeface="Arial"/>
                <a:sym typeface="Arial"/>
              </a:rPr>
              <a:t>Why should we share data? </a:t>
            </a:r>
            <a:endParaRPr/>
          </a:p>
          <a:p>
            <a:pPr indent="0" lvl="0" marL="0" rtl="0" algn="ctr">
              <a:lnSpc>
                <a:spcPct val="100000"/>
              </a:lnSpc>
              <a:spcBef>
                <a:spcPts val="0"/>
              </a:spcBef>
              <a:spcAft>
                <a:spcPts val="0"/>
              </a:spcAft>
              <a:buSzPts val="3700"/>
              <a:buFont typeface="Gill Sans"/>
              <a:buNone/>
            </a:pPr>
            <a:r>
              <a:rPr lang="en-US" sz="3700">
                <a:solidFill>
                  <a:srgbClr val="5F605F"/>
                </a:solidFill>
                <a:latin typeface="Arial"/>
                <a:ea typeface="Arial"/>
                <a:cs typeface="Arial"/>
                <a:sym typeface="Arial"/>
              </a:rPr>
              <a:t>(And do I get a co-authorship?)</a:t>
            </a:r>
            <a:endParaRPr/>
          </a:p>
        </p:txBody>
      </p:sp>
      <p:cxnSp>
        <p:nvCxnSpPr>
          <p:cNvPr id="36" name="Google Shape;36;p8"/>
          <p:cNvCxnSpPr/>
          <p:nvPr/>
        </p:nvCxnSpPr>
        <p:spPr>
          <a:xfrm>
            <a:off x="-10778" y="8291178"/>
            <a:ext cx="13026355" cy="1"/>
          </a:xfrm>
          <a:prstGeom prst="straightConnector1">
            <a:avLst/>
          </a:prstGeom>
          <a:noFill/>
          <a:ln cap="flat" cmpd="sng" w="12700">
            <a:solidFill>
              <a:srgbClr val="DDDDDD"/>
            </a:solidFill>
            <a:prstDash val="solid"/>
            <a:miter lim="0"/>
            <a:headEnd len="sm" w="sm" type="none"/>
            <a:tailEnd len="sm" w="sm" type="none"/>
          </a:ln>
        </p:spPr>
      </p:cxnSp>
      <p:pic>
        <p:nvPicPr>
          <p:cNvPr descr="Bild 8" id="37" name="Google Shape;37;p8"/>
          <p:cNvPicPr preferRelativeResize="0"/>
          <p:nvPr/>
        </p:nvPicPr>
        <p:blipFill rotWithShape="1">
          <a:blip r:embed="rId3">
            <a:alphaModFix/>
          </a:blip>
          <a:srcRect b="0" l="0" r="0" t="0"/>
          <a:stretch/>
        </p:blipFill>
        <p:spPr>
          <a:xfrm>
            <a:off x="6236834" y="8536580"/>
            <a:ext cx="2313148" cy="1048484"/>
          </a:xfrm>
          <a:prstGeom prst="rect">
            <a:avLst/>
          </a:prstGeom>
          <a:noFill/>
          <a:ln>
            <a:noFill/>
          </a:ln>
        </p:spPr>
      </p:pic>
      <p:pic>
        <p:nvPicPr>
          <p:cNvPr descr="pasted-image.png" id="38" name="Google Shape;38;p8"/>
          <p:cNvPicPr preferRelativeResize="0"/>
          <p:nvPr/>
        </p:nvPicPr>
        <p:blipFill rotWithShape="1">
          <a:blip r:embed="rId4">
            <a:alphaModFix/>
          </a:blip>
          <a:srcRect b="0" l="0" r="0" t="0"/>
          <a:stretch/>
        </p:blipFill>
        <p:spPr>
          <a:xfrm>
            <a:off x="11814082" y="188968"/>
            <a:ext cx="1073014" cy="377994"/>
          </a:xfrm>
          <a:prstGeom prst="rect">
            <a:avLst/>
          </a:prstGeom>
          <a:noFill/>
          <a:ln>
            <a:noFill/>
          </a:ln>
        </p:spPr>
      </p:pic>
      <p:sp>
        <p:nvSpPr>
          <p:cNvPr id="39" name="Google Shape;39;p8"/>
          <p:cNvSpPr txBox="1"/>
          <p:nvPr/>
        </p:nvSpPr>
        <p:spPr>
          <a:xfrm>
            <a:off x="180975" y="8515225"/>
            <a:ext cx="5333400" cy="1063500"/>
          </a:xfrm>
          <a:prstGeom prst="rect">
            <a:avLst/>
          </a:prstGeom>
          <a:noFill/>
          <a:ln>
            <a:noFill/>
          </a:ln>
        </p:spPr>
        <p:txBody>
          <a:bodyPr anchorCtr="0" anchor="ctr" bIns="69350" lIns="69350" spcFirstLastPara="1" rIns="69350" wrap="square" tIns="69350">
            <a:spAutoFit/>
          </a:bodyPr>
          <a:lstStyle/>
          <a:p>
            <a:pPr indent="0" lvl="0" marL="0" marR="0" rtl="0" algn="l">
              <a:lnSpc>
                <a:spcPct val="100000"/>
              </a:lnSpc>
              <a:spcBef>
                <a:spcPts val="0"/>
              </a:spcBef>
              <a:spcAft>
                <a:spcPts val="0"/>
              </a:spcAft>
              <a:buClr>
                <a:srgbClr val="000000"/>
              </a:buClr>
              <a:buSzPts val="2200"/>
              <a:buFont typeface="Gill Sans"/>
              <a:buNone/>
            </a:pPr>
            <a:r>
              <a:rPr b="0" i="0" lang="en-US" sz="2000" u="none" cap="none" strike="noStrike">
                <a:solidFill>
                  <a:srgbClr val="000000"/>
                </a:solidFill>
                <a:latin typeface="Gill Sans"/>
                <a:ea typeface="Gill Sans"/>
                <a:cs typeface="Gill Sans"/>
                <a:sym typeface="Gill Sans"/>
              </a:rPr>
              <a:t>Reema Gupta, </a:t>
            </a:r>
            <a:r>
              <a:rPr b="0" i="0" lang="en-US" sz="2000" u="none" cap="none" strike="noStrike">
                <a:solidFill>
                  <a:schemeClr val="dk1"/>
                </a:solidFill>
                <a:latin typeface="Gill Sans"/>
                <a:ea typeface="Gill Sans"/>
                <a:cs typeface="Gill Sans"/>
                <a:sym typeface="Gill Sans"/>
              </a:rPr>
              <a:t>Ludwig-Maximilians-Universität München </a:t>
            </a:r>
            <a:r>
              <a:rPr b="0" i="0" lang="en-US" sz="2000" u="none" cap="none" strike="noStrike">
                <a:solidFill>
                  <a:srgbClr val="000000"/>
                </a:solidFill>
                <a:latin typeface="Gill Sans"/>
                <a:ea typeface="Gill Sans"/>
                <a:cs typeface="Gill Sans"/>
                <a:sym typeface="Gill Sans"/>
              </a:rPr>
              <a:t>using material from </a:t>
            </a:r>
            <a:endParaRPr b="0" i="0" sz="20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2200"/>
              <a:buFont typeface="Gill Sans"/>
              <a:buNone/>
            </a:pPr>
            <a:r>
              <a:rPr b="0" i="0" lang="en-US" sz="2000" u="none" cap="none" strike="noStrike">
                <a:solidFill>
                  <a:schemeClr val="dk1"/>
                </a:solidFill>
                <a:latin typeface="Gill Sans"/>
                <a:ea typeface="Gill Sans"/>
                <a:cs typeface="Gill Sans"/>
                <a:sym typeface="Gill Sans"/>
              </a:rPr>
              <a:t>Prof. Dr. Felix Schönbrodt</a:t>
            </a:r>
            <a:endParaRPr b="0" i="0" sz="1200" u="none" cap="none" strike="noStrike">
              <a:solidFill>
                <a:srgbClr val="000000"/>
              </a:solidFill>
              <a:latin typeface="Arial"/>
              <a:ea typeface="Arial"/>
              <a:cs typeface="Arial"/>
              <a:sym typeface="Arial"/>
            </a:endParaRPr>
          </a:p>
        </p:txBody>
      </p:sp>
      <p:sp>
        <p:nvSpPr>
          <p:cNvPr id="40" name="Google Shape;40;p8"/>
          <p:cNvSpPr txBox="1"/>
          <p:nvPr/>
        </p:nvSpPr>
        <p:spPr>
          <a:xfrm>
            <a:off x="8939401" y="8710875"/>
            <a:ext cx="3947700" cy="699900"/>
          </a:xfrm>
          <a:prstGeom prst="rect">
            <a:avLst/>
          </a:prstGeom>
          <a:noFill/>
          <a:ln>
            <a:noFill/>
          </a:ln>
        </p:spPr>
        <p:txBody>
          <a:bodyPr anchorCtr="0" anchor="ctr" bIns="72225" lIns="72225" spcFirstLastPara="1" rIns="72225" wrap="square" tIns="72225">
            <a:spAutoFit/>
          </a:bodyPr>
          <a:lstStyle/>
          <a:p>
            <a:pPr indent="0" lvl="0" marL="0" marR="0" rtl="0" algn="r">
              <a:lnSpc>
                <a:spcPct val="100000"/>
              </a:lnSpc>
              <a:spcBef>
                <a:spcPts val="0"/>
              </a:spcBef>
              <a:spcAft>
                <a:spcPts val="0"/>
              </a:spcAft>
              <a:buClr>
                <a:srgbClr val="606060"/>
              </a:buClr>
              <a:buSzPts val="2200"/>
              <a:buFont typeface="Gill Sans"/>
              <a:buNone/>
            </a:pPr>
            <a:r>
              <a:rPr b="0" i="0" lang="en-US" sz="2200" u="sng" cap="none" strike="noStrike">
                <a:solidFill>
                  <a:srgbClr val="606060"/>
                </a:solidFill>
                <a:latin typeface="Gill Sans"/>
                <a:ea typeface="Gill Sans"/>
                <a:cs typeface="Gill Sans"/>
                <a:sym typeface="Gill Sans"/>
                <a:hlinkClick r:id="rId5">
                  <a:extLst>
                    <a:ext uri="{A12FA001-AC4F-418D-AE19-62706E023703}">
                      <ahyp:hlinkClr val="tx"/>
                    </a:ext>
                  </a:extLst>
                </a:hlinkClick>
              </a:rPr>
              <a:t>www.osc.uni-muenchen.de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1016F4"/>
              </a:buClr>
              <a:buSzPts val="2200"/>
              <a:buFont typeface="Gill Sans"/>
              <a:buNone/>
            </a:pPr>
            <a:r>
              <a:t/>
            </a:r>
            <a:endParaRPr b="0" i="0" sz="1400" u="none" cap="none" strike="noStrike">
              <a:solidFill>
                <a:srgbClr val="000000"/>
              </a:solidFill>
              <a:latin typeface="Arial"/>
              <a:ea typeface="Arial"/>
              <a:cs typeface="Arial"/>
              <a:sym typeface="Arial"/>
            </a:endParaRPr>
          </a:p>
        </p:txBody>
      </p:sp>
      <p:sp>
        <p:nvSpPr>
          <p:cNvPr id="41" name="Google Shape;41;p8"/>
          <p:cNvSpPr txBox="1"/>
          <p:nvPr/>
        </p:nvSpPr>
        <p:spPr>
          <a:xfrm>
            <a:off x="11814080" y="566939"/>
            <a:ext cx="1280100" cy="319500"/>
          </a:xfrm>
          <a:prstGeom prst="rect">
            <a:avLst/>
          </a:prstGeom>
          <a:noFill/>
          <a:ln>
            <a:noFill/>
          </a:ln>
        </p:spPr>
        <p:txBody>
          <a:bodyPr anchorCtr="0" anchor="t" bIns="65000" lIns="65000" spcFirstLastPara="1" rIns="65000" wrap="square" tIns="65000">
            <a:noAutofit/>
          </a:bodyPr>
          <a:lstStyle/>
          <a:p>
            <a:pPr indent="0" lvl="0" marL="0" marR="0" rtl="0" algn="l">
              <a:lnSpc>
                <a:spcPct val="100000"/>
              </a:lnSpc>
              <a:spcBef>
                <a:spcPts val="0"/>
              </a:spcBef>
              <a:spcAft>
                <a:spcPts val="0"/>
              </a:spcAft>
              <a:buClr>
                <a:srgbClr val="000000"/>
              </a:buClr>
              <a:buSzPts val="1400"/>
              <a:buFont typeface="Calibri"/>
              <a:buNone/>
            </a:pPr>
            <a:r>
              <a:rPr b="0" i="0" lang="en-US" sz="2000" u="none" cap="none" strike="noStrike">
                <a:solidFill>
                  <a:srgbClr val="000000"/>
                </a:solidFill>
                <a:latin typeface="Gill Sans"/>
                <a:ea typeface="Gill Sans"/>
                <a:cs typeface="Gill Sans"/>
                <a:sym typeface="Gill Sans"/>
              </a:rPr>
              <a:t>2026-09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9"/>
          <p:cNvSpPr txBox="1"/>
          <p:nvPr>
            <p:ph type="title"/>
          </p:nvPr>
        </p:nvSpPr>
        <p:spPr>
          <a:xfrm>
            <a:off x="2474806" y="4295694"/>
            <a:ext cx="8246792" cy="1162212"/>
          </a:xfrm>
          <a:prstGeom prst="rect">
            <a:avLst/>
          </a:prstGeom>
          <a:noFill/>
          <a:ln>
            <a:noFill/>
          </a:ln>
        </p:spPr>
        <p:txBody>
          <a:bodyPr anchorCtr="0" anchor="ctr" bIns="65000" lIns="65000" spcFirstLastPara="1" rIns="65000" wrap="square" tIns="65000">
            <a:normAutofit/>
          </a:bodyPr>
          <a:lstStyle/>
          <a:p>
            <a:pPr indent="0" lvl="0" marL="0" marR="0" rtl="0" algn="ctr">
              <a:lnSpc>
                <a:spcPct val="100000"/>
              </a:lnSpc>
              <a:spcBef>
                <a:spcPts val="0"/>
              </a:spcBef>
              <a:spcAft>
                <a:spcPts val="0"/>
              </a:spcAft>
              <a:buClr>
                <a:srgbClr val="000000"/>
              </a:buClr>
              <a:buSzPts val="5000"/>
              <a:buFont typeface="Calibri"/>
              <a:buNone/>
            </a:pPr>
            <a:r>
              <a:rPr lang="en-US" sz="6000"/>
              <a:t>Why open data?</a:t>
            </a:r>
            <a:endParaRPr/>
          </a:p>
        </p:txBody>
      </p:sp>
      <p:sp>
        <p:nvSpPr>
          <p:cNvPr id="47" name="Google Shape;47;p9"/>
          <p:cNvSpPr txBox="1"/>
          <p:nvPr>
            <p:ph idx="12" type="sldNum"/>
          </p:nvPr>
        </p:nvSpPr>
        <p:spPr>
          <a:xfrm>
            <a:off x="12340759" y="9238826"/>
            <a:ext cx="2443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0"/>
          <p:cNvSpPr txBox="1"/>
          <p:nvPr>
            <p:ph type="title"/>
          </p:nvPr>
        </p:nvSpPr>
        <p:spPr>
          <a:xfrm>
            <a:off x="379306" y="147054"/>
            <a:ext cx="8246792" cy="1162212"/>
          </a:xfrm>
          <a:prstGeom prst="rect">
            <a:avLst/>
          </a:prstGeom>
          <a:noFill/>
          <a:ln>
            <a:noFill/>
          </a:ln>
        </p:spPr>
        <p:txBody>
          <a:bodyPr anchorCtr="0" anchor="ctr" bIns="65000" lIns="65000" spcFirstLastPara="1" rIns="65000" wrap="square" tIns="65000">
            <a:normAutofit/>
          </a:bodyPr>
          <a:lstStyle/>
          <a:p>
            <a:pPr indent="0" lvl="0" marL="0" rtl="0" algn="l">
              <a:lnSpc>
                <a:spcPct val="100000"/>
              </a:lnSpc>
              <a:spcBef>
                <a:spcPts val="0"/>
              </a:spcBef>
              <a:spcAft>
                <a:spcPts val="0"/>
              </a:spcAft>
              <a:buClr>
                <a:srgbClr val="000000"/>
              </a:buClr>
              <a:buSzPts val="5900"/>
              <a:buFont typeface="Arial"/>
              <a:buNone/>
            </a:pPr>
            <a:r>
              <a:rPr b="1" lang="en-US" sz="5900" cap="none">
                <a:solidFill>
                  <a:srgbClr val="000000"/>
                </a:solidFill>
                <a:latin typeface="Arial"/>
                <a:ea typeface="Arial"/>
                <a:cs typeface="Arial"/>
                <a:sym typeface="Arial"/>
              </a:rPr>
              <a:t>Why open data?</a:t>
            </a:r>
            <a:endParaRPr/>
          </a:p>
        </p:txBody>
      </p:sp>
      <p:sp>
        <p:nvSpPr>
          <p:cNvPr id="53" name="Google Shape;53;p10"/>
          <p:cNvSpPr txBox="1"/>
          <p:nvPr>
            <p:ph idx="1" type="body"/>
          </p:nvPr>
        </p:nvSpPr>
        <p:spPr>
          <a:xfrm>
            <a:off x="344169" y="1794030"/>
            <a:ext cx="6876011" cy="7203075"/>
          </a:xfrm>
          <a:prstGeom prst="rect">
            <a:avLst/>
          </a:prstGeom>
          <a:noFill/>
          <a:ln>
            <a:noFill/>
          </a:ln>
        </p:spPr>
        <p:txBody>
          <a:bodyPr anchorCtr="0" anchor="t" bIns="65000" lIns="65000" spcFirstLastPara="1" rIns="65000" wrap="square" tIns="65000">
            <a:normAutofit/>
          </a:bodyPr>
          <a:lstStyle/>
          <a:p>
            <a:pPr indent="0" lvl="0" marL="0" rtl="0" algn="l">
              <a:lnSpc>
                <a:spcPct val="100000"/>
              </a:lnSpc>
              <a:spcBef>
                <a:spcPts val="0"/>
              </a:spcBef>
              <a:spcAft>
                <a:spcPts val="0"/>
              </a:spcAft>
              <a:buSzPts val="3600"/>
              <a:buNone/>
            </a:pPr>
            <a:r>
              <a:rPr lang="en-US" sz="3600">
                <a:solidFill>
                  <a:srgbClr val="000000"/>
                </a:solidFill>
                <a:latin typeface="Arial"/>
                <a:ea typeface="Arial"/>
                <a:cs typeface="Arial"/>
                <a:sym typeface="Arial"/>
              </a:rPr>
              <a:t>1. </a:t>
            </a:r>
            <a:r>
              <a:rPr i="1" lang="en-US">
                <a:latin typeface="Arial"/>
                <a:ea typeface="Arial"/>
                <a:cs typeface="Arial"/>
                <a:sym typeface="Arial"/>
              </a:rPr>
              <a:t>Nullius in verba</a:t>
            </a:r>
            <a:r>
              <a:rPr lang="en-US" sz="3600">
                <a:solidFill>
                  <a:srgbClr val="000000"/>
                </a:solidFill>
                <a:latin typeface="Arial"/>
                <a:ea typeface="Arial"/>
                <a:cs typeface="Arial"/>
                <a:sym typeface="Arial"/>
              </a:rPr>
              <a:t> - </a:t>
            </a:r>
            <a:br>
              <a:rPr lang="en-US" sz="3600">
                <a:solidFill>
                  <a:srgbClr val="000000"/>
                </a:solidFill>
                <a:latin typeface="Arial"/>
                <a:ea typeface="Arial"/>
                <a:cs typeface="Arial"/>
                <a:sym typeface="Arial"/>
              </a:rPr>
            </a:br>
            <a:r>
              <a:rPr lang="en-US" sz="3600">
                <a:solidFill>
                  <a:srgbClr val="000000"/>
                </a:solidFill>
                <a:latin typeface="Arial"/>
                <a:ea typeface="Arial"/>
                <a:cs typeface="Arial"/>
                <a:sym typeface="Arial"/>
              </a:rPr>
              <a:t>take nobody's word for it</a:t>
            </a:r>
            <a:endParaRPr/>
          </a:p>
          <a:p>
            <a:pPr indent="-467590" lvl="1" marL="924790" rtl="0" algn="l">
              <a:lnSpc>
                <a:spcPct val="100000"/>
              </a:lnSpc>
              <a:spcBef>
                <a:spcPts val="800"/>
              </a:spcBef>
              <a:spcAft>
                <a:spcPts val="0"/>
              </a:spcAft>
              <a:buSzPts val="3000"/>
              <a:buChar char="–"/>
            </a:pPr>
            <a:r>
              <a:rPr lang="en-US" sz="3000">
                <a:solidFill>
                  <a:srgbClr val="000000"/>
                </a:solidFill>
                <a:latin typeface="Gill Sans"/>
                <a:ea typeface="Gill Sans"/>
                <a:cs typeface="Gill Sans"/>
                <a:sym typeface="Gill Sans"/>
              </a:rPr>
              <a:t>Motto of the oldest scientific society (Royal Society, founded 1660)</a:t>
            </a:r>
            <a:endParaRPr/>
          </a:p>
          <a:p>
            <a:pPr indent="-467590" lvl="1" marL="924790" rtl="0" algn="l">
              <a:lnSpc>
                <a:spcPct val="100000"/>
              </a:lnSpc>
              <a:spcBef>
                <a:spcPts val="800"/>
              </a:spcBef>
              <a:spcAft>
                <a:spcPts val="0"/>
              </a:spcAft>
              <a:buSzPts val="3000"/>
              <a:buChar char="–"/>
            </a:pPr>
            <a:r>
              <a:rPr lang="en-US" sz="3000">
                <a:solidFill>
                  <a:srgbClr val="000000"/>
                </a:solidFill>
                <a:latin typeface="Gill Sans"/>
                <a:ea typeface="Gill Sans"/>
                <a:cs typeface="Gill Sans"/>
                <a:sym typeface="Gill Sans"/>
              </a:rPr>
              <a:t>Science is not built upon blind trust, but on verifiability.</a:t>
            </a:r>
            <a:endParaRPr/>
          </a:p>
          <a:p>
            <a:pPr indent="-467590" lvl="1" marL="924790" rtl="0" algn="l">
              <a:lnSpc>
                <a:spcPct val="100000"/>
              </a:lnSpc>
              <a:spcBef>
                <a:spcPts val="800"/>
              </a:spcBef>
              <a:spcAft>
                <a:spcPts val="0"/>
              </a:spcAft>
              <a:buSzPts val="3000"/>
              <a:buChar char="–"/>
            </a:pPr>
            <a:r>
              <a:rPr lang="en-US" sz="3000">
                <a:solidFill>
                  <a:srgbClr val="000000"/>
                </a:solidFill>
                <a:latin typeface="Gill Sans"/>
                <a:ea typeface="Gill Sans"/>
                <a:cs typeface="Gill Sans"/>
                <a:sym typeface="Gill Sans"/>
              </a:rPr>
              <a:t>„Organized skepticism“ </a:t>
            </a:r>
            <a:br>
              <a:rPr lang="en-US" sz="3000">
                <a:solidFill>
                  <a:srgbClr val="000000"/>
                </a:solidFill>
                <a:latin typeface="Arial"/>
                <a:ea typeface="Arial"/>
                <a:cs typeface="Arial"/>
                <a:sym typeface="Arial"/>
              </a:rPr>
            </a:br>
            <a:r>
              <a:rPr lang="en-US" sz="3000">
                <a:solidFill>
                  <a:srgbClr val="000000"/>
                </a:solidFill>
                <a:latin typeface="Gill Sans"/>
                <a:ea typeface="Gill Sans"/>
                <a:cs typeface="Gill Sans"/>
                <a:sym typeface="Gill Sans"/>
              </a:rPr>
              <a:t>(Merton, 194</a:t>
            </a:r>
            <a:r>
              <a:rPr lang="en-US">
                <a:latin typeface="Gill Sans"/>
                <a:ea typeface="Gill Sans"/>
                <a:cs typeface="Gill Sans"/>
                <a:sym typeface="Gill Sans"/>
              </a:rPr>
              <a:t>2</a:t>
            </a:r>
            <a:r>
              <a:rPr lang="en-US" sz="3000">
                <a:solidFill>
                  <a:srgbClr val="000000"/>
                </a:solidFill>
                <a:latin typeface="Gill Sans"/>
                <a:ea typeface="Gill Sans"/>
                <a:cs typeface="Gill Sans"/>
                <a:sym typeface="Gill Sans"/>
              </a:rPr>
              <a:t>)</a:t>
            </a:r>
            <a:endParaRPr/>
          </a:p>
        </p:txBody>
      </p:sp>
      <p:sp>
        <p:nvSpPr>
          <p:cNvPr id="54" name="Google Shape;54;p10"/>
          <p:cNvSpPr txBox="1"/>
          <p:nvPr>
            <p:ph idx="12" type="sldNum"/>
          </p:nvPr>
        </p:nvSpPr>
        <p:spPr>
          <a:xfrm>
            <a:off x="12340759" y="9238826"/>
            <a:ext cx="2443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pic>
        <p:nvPicPr>
          <p:cNvPr descr="The_Royal_Society_Coat_of_Arms.svg.png" id="55" name="Google Shape;55;p10"/>
          <p:cNvPicPr preferRelativeResize="0"/>
          <p:nvPr/>
        </p:nvPicPr>
        <p:blipFill rotWithShape="1">
          <a:blip r:embed="rId3">
            <a:alphaModFix/>
          </a:blip>
          <a:srcRect b="0" l="0" r="0" t="0"/>
          <a:stretch/>
        </p:blipFill>
        <p:spPr>
          <a:xfrm>
            <a:off x="7537021" y="1853214"/>
            <a:ext cx="4705791" cy="4878337"/>
          </a:xfrm>
          <a:prstGeom prst="rect">
            <a:avLst/>
          </a:prstGeom>
          <a:noFill/>
          <a:ln>
            <a:noFill/>
          </a:ln>
        </p:spPr>
      </p:pic>
      <p:sp>
        <p:nvSpPr>
          <p:cNvPr id="56" name="Google Shape;56;p10"/>
          <p:cNvSpPr/>
          <p:nvPr/>
        </p:nvSpPr>
        <p:spPr>
          <a:xfrm>
            <a:off x="392187" y="7293562"/>
            <a:ext cx="11954468" cy="1958506"/>
          </a:xfrm>
          <a:prstGeom prst="rect">
            <a:avLst/>
          </a:prstGeom>
          <a:solidFill>
            <a:srgbClr val="F9FFF1"/>
          </a:solidFill>
          <a:ln cap="flat" cmpd="sng" w="25400">
            <a:solidFill>
              <a:srgbClr val="419255"/>
            </a:solidFill>
            <a:prstDash val="solid"/>
            <a:round/>
            <a:headEnd len="sm" w="sm" type="none"/>
            <a:tailEnd len="sm" w="sm" type="none"/>
          </a:ln>
          <a:effectLst>
            <a:outerShdw blurRad="50800" rotWithShape="0" dir="5400000" dist="25400">
              <a:srgbClr val="000000">
                <a:alpha val="34902"/>
              </a:srgbClr>
            </a:outerShdw>
          </a:effectLst>
        </p:spPr>
        <p:txBody>
          <a:bodyPr anchorCtr="0" anchor="ctr" bIns="65000" lIns="65000" spcFirstLastPara="1" rIns="65000" wrap="square" tIns="650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Only when raw data (and other research material) are shared organized skepticism can be enacted, and science can really be self-correcting. Open data is one part of good scientific practice.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grpSp>
        <p:nvGrpSpPr>
          <p:cNvPr id="61" name="Google Shape;61;p11"/>
          <p:cNvGrpSpPr/>
          <p:nvPr/>
        </p:nvGrpSpPr>
        <p:grpSpPr>
          <a:xfrm>
            <a:off x="8136390" y="116395"/>
            <a:ext cx="4237808" cy="4411964"/>
            <a:chOff x="0" y="0"/>
            <a:chExt cx="4237806" cy="4411963"/>
          </a:xfrm>
        </p:grpSpPr>
        <p:pic>
          <p:nvPicPr>
            <p:cNvPr descr="pasted-image.jpg" id="62" name="Google Shape;62;p11"/>
            <p:cNvPicPr preferRelativeResize="0"/>
            <p:nvPr/>
          </p:nvPicPr>
          <p:blipFill rotWithShape="1">
            <a:blip r:embed="rId3">
              <a:alphaModFix/>
            </a:blip>
            <a:srcRect b="0" l="0" r="0" t="0"/>
            <a:stretch/>
          </p:blipFill>
          <p:spPr>
            <a:xfrm>
              <a:off x="165100" y="114300"/>
              <a:ext cx="3907606" cy="3992863"/>
            </a:xfrm>
            <a:prstGeom prst="rect">
              <a:avLst/>
            </a:prstGeom>
            <a:noFill/>
            <a:ln>
              <a:noFill/>
            </a:ln>
          </p:spPr>
        </p:pic>
        <p:pic>
          <p:nvPicPr>
            <p:cNvPr descr="pasted-image.jpg" id="63" name="Google Shape;63;p11"/>
            <p:cNvPicPr preferRelativeResize="0"/>
            <p:nvPr/>
          </p:nvPicPr>
          <p:blipFill rotWithShape="1">
            <a:blip r:embed="rId4">
              <a:alphaModFix/>
            </a:blip>
            <a:srcRect b="0" l="0" r="0" t="0"/>
            <a:stretch/>
          </p:blipFill>
          <p:spPr>
            <a:xfrm>
              <a:off x="0" y="0"/>
              <a:ext cx="4237806" cy="4411963"/>
            </a:xfrm>
            <a:prstGeom prst="rect">
              <a:avLst/>
            </a:prstGeom>
            <a:noFill/>
            <a:ln>
              <a:noFill/>
            </a:ln>
          </p:spPr>
        </p:pic>
      </p:grpSp>
      <p:sp>
        <p:nvSpPr>
          <p:cNvPr id="64" name="Google Shape;64;p11"/>
          <p:cNvSpPr txBox="1"/>
          <p:nvPr>
            <p:ph type="title"/>
          </p:nvPr>
        </p:nvSpPr>
        <p:spPr>
          <a:xfrm>
            <a:off x="357632" y="182880"/>
            <a:ext cx="12289537" cy="1219201"/>
          </a:xfrm>
          <a:prstGeom prst="rect">
            <a:avLst/>
          </a:prstGeom>
          <a:noFill/>
          <a:ln>
            <a:noFill/>
          </a:ln>
        </p:spPr>
        <p:txBody>
          <a:bodyPr anchorCtr="0" anchor="ctr" bIns="48750" lIns="48750" spcFirstLastPara="1" rIns="48750" wrap="square" tIns="48750">
            <a:noAutofit/>
          </a:bodyPr>
          <a:lstStyle/>
          <a:p>
            <a:pPr indent="0" lvl="0" marL="0" rtl="0" algn="l">
              <a:lnSpc>
                <a:spcPct val="100000"/>
              </a:lnSpc>
              <a:spcBef>
                <a:spcPts val="0"/>
              </a:spcBef>
              <a:spcAft>
                <a:spcPts val="0"/>
              </a:spcAft>
              <a:buClr>
                <a:srgbClr val="000000"/>
              </a:buClr>
              <a:buSzPts val="7000"/>
              <a:buFont typeface="Gill Sans"/>
              <a:buNone/>
            </a:pPr>
            <a:r>
              <a:rPr b="1" lang="en-US" sz="5900" cap="none">
                <a:solidFill>
                  <a:srgbClr val="000000"/>
                </a:solidFill>
                <a:latin typeface="Arial"/>
                <a:ea typeface="Arial"/>
                <a:cs typeface="Arial"/>
                <a:sym typeface="Arial"/>
              </a:rPr>
              <a:t>90%-Excel-Gate</a:t>
            </a:r>
            <a:endParaRPr/>
          </a:p>
        </p:txBody>
      </p:sp>
      <p:sp>
        <p:nvSpPr>
          <p:cNvPr id="65" name="Google Shape;65;p11"/>
          <p:cNvSpPr txBox="1"/>
          <p:nvPr>
            <p:ph idx="12" type="sldNum"/>
          </p:nvPr>
        </p:nvSpPr>
        <p:spPr>
          <a:xfrm>
            <a:off x="12516866" y="9249664"/>
            <a:ext cx="2443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grpSp>
        <p:nvGrpSpPr>
          <p:cNvPr id="66" name="Google Shape;66;p11"/>
          <p:cNvGrpSpPr/>
          <p:nvPr/>
        </p:nvGrpSpPr>
        <p:grpSpPr>
          <a:xfrm>
            <a:off x="35474" y="3314343"/>
            <a:ext cx="10672353" cy="2192998"/>
            <a:chOff x="0" y="0"/>
            <a:chExt cx="10672351" cy="2192997"/>
          </a:xfrm>
        </p:grpSpPr>
        <p:pic>
          <p:nvPicPr>
            <p:cNvPr descr="pasted-image.jpg" id="67" name="Google Shape;67;p11"/>
            <p:cNvPicPr preferRelativeResize="0"/>
            <p:nvPr/>
          </p:nvPicPr>
          <p:blipFill rotWithShape="1">
            <a:blip r:embed="rId5">
              <a:alphaModFix/>
            </a:blip>
            <a:srcRect b="0" l="0" r="0" t="0"/>
            <a:stretch/>
          </p:blipFill>
          <p:spPr>
            <a:xfrm>
              <a:off x="165100" y="114300"/>
              <a:ext cx="10342151" cy="1773897"/>
            </a:xfrm>
            <a:prstGeom prst="rect">
              <a:avLst/>
            </a:prstGeom>
            <a:noFill/>
            <a:ln>
              <a:noFill/>
            </a:ln>
          </p:spPr>
        </p:pic>
        <p:pic>
          <p:nvPicPr>
            <p:cNvPr descr="pasted-image.jpg" id="68" name="Google Shape;68;p11"/>
            <p:cNvPicPr preferRelativeResize="0"/>
            <p:nvPr/>
          </p:nvPicPr>
          <p:blipFill rotWithShape="1">
            <a:blip r:embed="rId6">
              <a:alphaModFix/>
            </a:blip>
            <a:srcRect b="0" l="0" r="0" t="0"/>
            <a:stretch/>
          </p:blipFill>
          <p:spPr>
            <a:xfrm>
              <a:off x="0" y="0"/>
              <a:ext cx="10672351" cy="2192997"/>
            </a:xfrm>
            <a:prstGeom prst="rect">
              <a:avLst/>
            </a:prstGeom>
            <a:noFill/>
            <a:ln>
              <a:noFill/>
            </a:ln>
          </p:spPr>
        </p:pic>
      </p:grpSp>
      <p:sp>
        <p:nvSpPr>
          <p:cNvPr id="69" name="Google Shape;69;p11"/>
          <p:cNvSpPr txBox="1"/>
          <p:nvPr/>
        </p:nvSpPr>
        <p:spPr>
          <a:xfrm>
            <a:off x="43614" y="9249664"/>
            <a:ext cx="10361270" cy="531470"/>
          </a:xfrm>
          <a:prstGeom prst="rect">
            <a:avLst/>
          </a:prstGeom>
          <a:noFill/>
          <a:ln>
            <a:noFill/>
          </a:ln>
        </p:spPr>
        <p:txBody>
          <a:bodyPr anchorCtr="0" anchor="ctr" bIns="65000" lIns="65000" spcFirstLastPara="1" rIns="65000" wrap="square" tIns="65000">
            <a:spAutoFit/>
          </a:bodyPr>
          <a:lstStyle/>
          <a:p>
            <a:pPr indent="0" lvl="0" marL="0" marR="0" rtl="0" algn="l">
              <a:lnSpc>
                <a:spcPct val="100000"/>
              </a:lnSpc>
              <a:spcBef>
                <a:spcPts val="0"/>
              </a:spcBef>
              <a:spcAft>
                <a:spcPts val="0"/>
              </a:spcAft>
              <a:buClr>
                <a:srgbClr val="000000"/>
              </a:buClr>
              <a:buSzPts val="1400"/>
              <a:buFont typeface="Helvetica Neue"/>
              <a:buNone/>
            </a:pPr>
            <a:r>
              <a:rPr b="0" i="0" lang="en-US" sz="1400" u="sng" cap="none" strike="noStrike">
                <a:solidFill>
                  <a:schemeClr val="hlink"/>
                </a:solidFill>
                <a:latin typeface="Helvetica Neue"/>
                <a:ea typeface="Helvetica Neue"/>
                <a:cs typeface="Helvetica Neue"/>
                <a:sym typeface="Helvetica Neue"/>
                <a:hlinkClick r:id="rId7"/>
              </a:rPr>
              <a:t>http://economix.blogs.nytimes.com/2013/04/16/flaws-are-cited-in-a-landmark-study-on-debt-and-growth/?smid=tw-share&amp;_r=0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Helvetica Neue"/>
              <a:buNone/>
            </a:pPr>
            <a:r>
              <a:rPr b="0" i="0" lang="en-US" sz="1400" u="sng" cap="none" strike="noStrike">
                <a:solidFill>
                  <a:schemeClr val="hlink"/>
                </a:solidFill>
                <a:latin typeface="Helvetica Neue"/>
                <a:ea typeface="Helvetica Neue"/>
                <a:cs typeface="Helvetica Neue"/>
                <a:sym typeface="Helvetica Neue"/>
                <a:hlinkClick r:id="rId8"/>
              </a:rPr>
              <a:t>https://www.aeaweb.org/articles.php?doi=10.1257/aer.100.2.573</a:t>
            </a:r>
            <a:endParaRPr b="0" i="0" sz="1400" u="none" cap="none" strike="noStrike">
              <a:solidFill>
                <a:srgbClr val="000000"/>
              </a:solidFill>
              <a:latin typeface="Arial"/>
              <a:ea typeface="Arial"/>
              <a:cs typeface="Arial"/>
              <a:sym typeface="Arial"/>
            </a:endParaRPr>
          </a:p>
        </p:txBody>
      </p:sp>
      <p:grpSp>
        <p:nvGrpSpPr>
          <p:cNvPr id="70" name="Google Shape;70;p11"/>
          <p:cNvGrpSpPr/>
          <p:nvPr/>
        </p:nvGrpSpPr>
        <p:grpSpPr>
          <a:xfrm>
            <a:off x="2713810" y="4281396"/>
            <a:ext cx="9419835" cy="3500548"/>
            <a:chOff x="-165100" y="-114300"/>
            <a:chExt cx="9419834" cy="3500546"/>
          </a:xfrm>
        </p:grpSpPr>
        <p:grpSp>
          <p:nvGrpSpPr>
            <p:cNvPr id="71" name="Google Shape;71;p11"/>
            <p:cNvGrpSpPr/>
            <p:nvPr/>
          </p:nvGrpSpPr>
          <p:grpSpPr>
            <a:xfrm>
              <a:off x="-165100" y="-114300"/>
              <a:ext cx="9419834" cy="3500546"/>
              <a:chOff x="0" y="0"/>
              <a:chExt cx="9419833" cy="3500545"/>
            </a:xfrm>
          </p:grpSpPr>
          <p:pic>
            <p:nvPicPr>
              <p:cNvPr descr="pasted-image.jpg" id="72" name="Google Shape;72;p11"/>
              <p:cNvPicPr preferRelativeResize="0"/>
              <p:nvPr/>
            </p:nvPicPr>
            <p:blipFill rotWithShape="1">
              <a:blip r:embed="rId9">
                <a:alphaModFix/>
              </a:blip>
              <a:srcRect b="2907" l="0" r="0" t="15994"/>
              <a:stretch/>
            </p:blipFill>
            <p:spPr>
              <a:xfrm>
                <a:off x="165100" y="114300"/>
                <a:ext cx="9089633" cy="3081446"/>
              </a:xfrm>
              <a:prstGeom prst="rect">
                <a:avLst/>
              </a:prstGeom>
              <a:noFill/>
              <a:ln>
                <a:noFill/>
              </a:ln>
            </p:spPr>
          </p:pic>
          <p:pic>
            <p:nvPicPr>
              <p:cNvPr descr="pasted-image.jpg" id="73" name="Google Shape;73;p11"/>
              <p:cNvPicPr preferRelativeResize="0"/>
              <p:nvPr/>
            </p:nvPicPr>
            <p:blipFill rotWithShape="1">
              <a:blip r:embed="rId10">
                <a:alphaModFix/>
              </a:blip>
              <a:srcRect b="0" l="0" r="0" t="0"/>
              <a:stretch/>
            </p:blipFill>
            <p:spPr>
              <a:xfrm>
                <a:off x="0" y="0"/>
                <a:ext cx="9419833" cy="3500545"/>
              </a:xfrm>
              <a:prstGeom prst="rect">
                <a:avLst/>
              </a:prstGeom>
              <a:noFill/>
              <a:ln>
                <a:noFill/>
              </a:ln>
            </p:spPr>
          </p:pic>
        </p:grpSp>
        <p:pic>
          <p:nvPicPr>
            <p:cNvPr descr="Linien Linien" id="74" name="Google Shape;74;p11"/>
            <p:cNvPicPr preferRelativeResize="0"/>
            <p:nvPr/>
          </p:nvPicPr>
          <p:blipFill rotWithShape="1">
            <a:blip r:embed="rId11">
              <a:alphaModFix/>
            </a:blip>
            <a:srcRect b="0" l="0" r="0" t="0"/>
            <a:stretch/>
          </p:blipFill>
          <p:spPr>
            <a:xfrm>
              <a:off x="7717462" y="2600029"/>
              <a:ext cx="1400364" cy="88901"/>
            </a:xfrm>
            <a:prstGeom prst="rect">
              <a:avLst/>
            </a:prstGeom>
            <a:noFill/>
            <a:ln>
              <a:noFill/>
            </a:ln>
          </p:spPr>
        </p:pic>
        <p:pic>
          <p:nvPicPr>
            <p:cNvPr descr="Linien Linien" id="75" name="Google Shape;75;p11"/>
            <p:cNvPicPr preferRelativeResize="0"/>
            <p:nvPr/>
          </p:nvPicPr>
          <p:blipFill rotWithShape="1">
            <a:blip r:embed="rId12">
              <a:alphaModFix/>
            </a:blip>
            <a:srcRect b="0" l="0" r="0" t="0"/>
            <a:stretch/>
          </p:blipFill>
          <p:spPr>
            <a:xfrm>
              <a:off x="2049610" y="2939285"/>
              <a:ext cx="6350419" cy="88901"/>
            </a:xfrm>
            <a:prstGeom prst="rect">
              <a:avLst/>
            </a:prstGeom>
            <a:noFill/>
            <a:ln>
              <a:noFill/>
            </a:ln>
          </p:spPr>
        </p:pic>
      </p:grpSp>
      <p:sp>
        <p:nvSpPr>
          <p:cNvPr id="76" name="Google Shape;76;p11"/>
          <p:cNvSpPr/>
          <p:nvPr/>
        </p:nvSpPr>
        <p:spPr>
          <a:xfrm>
            <a:off x="402416" y="7712543"/>
            <a:ext cx="12199968" cy="1301721"/>
          </a:xfrm>
          <a:prstGeom prst="rect">
            <a:avLst/>
          </a:prstGeom>
          <a:gradFill>
            <a:gsLst>
              <a:gs pos="0">
                <a:srgbClr val="202DA2"/>
              </a:gs>
              <a:gs pos="100000">
                <a:srgbClr val="425FF8"/>
              </a:gs>
            </a:gsLst>
            <a:lin ang="5400000" scaled="0"/>
          </a:gradFill>
          <a:ln>
            <a:noFill/>
          </a:ln>
          <a:effectLst>
            <a:outerShdw blurRad="63500" rotWithShape="0" dir="2880000" dist="63500">
              <a:srgbClr val="000000">
                <a:alpha val="59608"/>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FFFFFF"/>
              </a:buClr>
              <a:buSzPts val="3000"/>
              <a:buFont typeface="Arial"/>
              <a:buNone/>
            </a:pPr>
            <a:r>
              <a:rPr b="0" i="0" lang="en-US" sz="3000" u="none" cap="none" strike="noStrike">
                <a:solidFill>
                  <a:srgbClr val="FFFFFF"/>
                </a:solidFill>
                <a:latin typeface="Arial"/>
                <a:ea typeface="Arial"/>
                <a:cs typeface="Arial"/>
                <a:sym typeface="Arial"/>
              </a:rPr>
              <a:t>The most important point of the story: The original authors shared their raw data, which made it possible to correct the honest mistake!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
                                        </p:tgtEl>
                                        <p:attrNameLst>
                                          <p:attrName>style.visibility</p:attrName>
                                        </p:attrNameLst>
                                      </p:cBhvr>
                                      <p:to>
                                        <p:strVal val="visible"/>
                                      </p:to>
                                    </p:set>
                                    <p:animEffect filter="fade" transition="in">
                                      <p:cBhvr>
                                        <p:cTn dur="1000"/>
                                        <p:tgtEl>
                                          <p:spTgt spid="6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1000"/>
                                        <p:tgtEl>
                                          <p:spTgt spid="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2"/>
          <p:cNvSpPr txBox="1"/>
          <p:nvPr>
            <p:ph type="title"/>
          </p:nvPr>
        </p:nvSpPr>
        <p:spPr>
          <a:xfrm>
            <a:off x="379306" y="147054"/>
            <a:ext cx="8246792" cy="1162212"/>
          </a:xfrm>
          <a:prstGeom prst="rect">
            <a:avLst/>
          </a:prstGeom>
          <a:noFill/>
          <a:ln>
            <a:noFill/>
          </a:ln>
        </p:spPr>
        <p:txBody>
          <a:bodyPr anchorCtr="0" anchor="ctr" bIns="65000" lIns="65000" spcFirstLastPara="1" rIns="65000" wrap="square" tIns="65000">
            <a:normAutofit/>
          </a:bodyPr>
          <a:lstStyle/>
          <a:p>
            <a:pPr indent="0" lvl="0" marL="0" rtl="0" algn="l">
              <a:lnSpc>
                <a:spcPct val="100000"/>
              </a:lnSpc>
              <a:spcBef>
                <a:spcPts val="0"/>
              </a:spcBef>
              <a:spcAft>
                <a:spcPts val="0"/>
              </a:spcAft>
              <a:buClr>
                <a:srgbClr val="000000"/>
              </a:buClr>
              <a:buSzPts val="5900"/>
              <a:buFont typeface="Arial"/>
              <a:buNone/>
            </a:pPr>
            <a:r>
              <a:rPr b="1" lang="en-US" sz="5900" cap="none">
                <a:solidFill>
                  <a:srgbClr val="000000"/>
                </a:solidFill>
                <a:latin typeface="Arial"/>
                <a:ea typeface="Arial"/>
                <a:cs typeface="Arial"/>
                <a:sym typeface="Arial"/>
              </a:rPr>
              <a:t>Why open data?</a:t>
            </a:r>
            <a:endParaRPr/>
          </a:p>
        </p:txBody>
      </p:sp>
      <p:sp>
        <p:nvSpPr>
          <p:cNvPr id="82" name="Google Shape;82;p12"/>
          <p:cNvSpPr txBox="1"/>
          <p:nvPr>
            <p:ph idx="1" type="body"/>
          </p:nvPr>
        </p:nvSpPr>
        <p:spPr>
          <a:xfrm>
            <a:off x="344169" y="1794030"/>
            <a:ext cx="12161592" cy="7203075"/>
          </a:xfrm>
          <a:prstGeom prst="rect">
            <a:avLst/>
          </a:prstGeom>
          <a:noFill/>
          <a:ln>
            <a:noFill/>
          </a:ln>
        </p:spPr>
        <p:txBody>
          <a:bodyPr anchorCtr="0" anchor="t" bIns="65000" lIns="65000" spcFirstLastPara="1" rIns="65000" wrap="square" tIns="65000">
            <a:normAutofit/>
          </a:bodyPr>
          <a:lstStyle/>
          <a:p>
            <a:pPr indent="0" lvl="0" marL="0" rtl="0" algn="l">
              <a:lnSpc>
                <a:spcPct val="100000"/>
              </a:lnSpc>
              <a:spcBef>
                <a:spcPts val="0"/>
              </a:spcBef>
              <a:spcAft>
                <a:spcPts val="0"/>
              </a:spcAft>
              <a:buSzPts val="3600"/>
              <a:buNone/>
            </a:pPr>
            <a:r>
              <a:rPr lang="en-US" sz="3600">
                <a:solidFill>
                  <a:srgbClr val="000000"/>
                </a:solidFill>
                <a:latin typeface="Arial"/>
                <a:ea typeface="Arial"/>
                <a:cs typeface="Arial"/>
                <a:sym typeface="Arial"/>
              </a:rPr>
              <a:t>2. </a:t>
            </a:r>
            <a:r>
              <a:rPr i="1" lang="en-US" sz="3600">
                <a:latin typeface="Arial"/>
                <a:ea typeface="Arial"/>
                <a:cs typeface="Arial"/>
                <a:sym typeface="Arial"/>
              </a:rPr>
              <a:t>Efficiency and Inclusiveness</a:t>
            </a:r>
            <a:endParaRPr i="1"/>
          </a:p>
          <a:p>
            <a:pPr indent="-467590" lvl="1" marL="924790" rtl="0" algn="l">
              <a:lnSpc>
                <a:spcPct val="100000"/>
              </a:lnSpc>
              <a:spcBef>
                <a:spcPts val="800"/>
              </a:spcBef>
              <a:spcAft>
                <a:spcPts val="0"/>
              </a:spcAft>
              <a:buSzPts val="3000"/>
              <a:buChar char="–"/>
            </a:pPr>
            <a:r>
              <a:rPr lang="en-US">
                <a:latin typeface="Gill Sans"/>
                <a:ea typeface="Gill Sans"/>
                <a:cs typeface="Gill Sans"/>
                <a:sym typeface="Gill Sans"/>
              </a:rPr>
              <a:t>Speedy responses in outbreaks; share rare and hard-to-collect data</a:t>
            </a:r>
            <a:endParaRPr/>
          </a:p>
        </p:txBody>
      </p:sp>
      <p:sp>
        <p:nvSpPr>
          <p:cNvPr id="83" name="Google Shape;83;p12"/>
          <p:cNvSpPr txBox="1"/>
          <p:nvPr>
            <p:ph idx="12" type="sldNum"/>
          </p:nvPr>
        </p:nvSpPr>
        <p:spPr>
          <a:xfrm>
            <a:off x="12340759" y="9238826"/>
            <a:ext cx="2443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pic>
        <p:nvPicPr>
          <p:cNvPr descr="pasted-image.png" id="84" name="Google Shape;84;p12"/>
          <p:cNvPicPr preferRelativeResize="0"/>
          <p:nvPr/>
        </p:nvPicPr>
        <p:blipFill rotWithShape="1">
          <a:blip r:embed="rId3">
            <a:alphaModFix/>
          </a:blip>
          <a:srcRect b="0" l="0" r="0" t="0"/>
          <a:stretch/>
        </p:blipFill>
        <p:spPr>
          <a:xfrm>
            <a:off x="20113" y="3436373"/>
            <a:ext cx="5700326" cy="919020"/>
          </a:xfrm>
          <a:prstGeom prst="rect">
            <a:avLst/>
          </a:prstGeom>
          <a:noFill/>
          <a:ln>
            <a:noFill/>
          </a:ln>
          <a:effectLst>
            <a:outerShdw blurRad="114300" rotWithShape="0" dir="2220895" dist="88900">
              <a:srgbClr val="000000">
                <a:alpha val="28627"/>
              </a:srgbClr>
            </a:outerShdw>
          </a:effectLst>
        </p:spPr>
      </p:pic>
      <p:pic>
        <p:nvPicPr>
          <p:cNvPr descr="pasted-image.png" id="85" name="Google Shape;85;p12"/>
          <p:cNvPicPr preferRelativeResize="0"/>
          <p:nvPr/>
        </p:nvPicPr>
        <p:blipFill rotWithShape="1">
          <a:blip r:embed="rId4">
            <a:alphaModFix/>
          </a:blip>
          <a:srcRect b="0" l="0" r="0" t="0"/>
          <a:stretch/>
        </p:blipFill>
        <p:spPr>
          <a:xfrm>
            <a:off x="414547" y="4735398"/>
            <a:ext cx="5266525" cy="2997711"/>
          </a:xfrm>
          <a:prstGeom prst="rect">
            <a:avLst/>
          </a:prstGeom>
          <a:noFill/>
          <a:ln>
            <a:noFill/>
          </a:ln>
          <a:effectLst>
            <a:outerShdw blurRad="114300" rotWithShape="0" dir="2220895" dist="88900">
              <a:srgbClr val="000000">
                <a:alpha val="28627"/>
              </a:srgbClr>
            </a:outerShdw>
          </a:effectLst>
        </p:spPr>
      </p:pic>
      <p:grpSp>
        <p:nvGrpSpPr>
          <p:cNvPr id="86" name="Google Shape;86;p12"/>
          <p:cNvGrpSpPr/>
          <p:nvPr/>
        </p:nvGrpSpPr>
        <p:grpSpPr>
          <a:xfrm>
            <a:off x="4760675" y="3201076"/>
            <a:ext cx="7825666" cy="5359490"/>
            <a:chOff x="485552" y="0"/>
            <a:chExt cx="7825664" cy="5359488"/>
          </a:xfrm>
        </p:grpSpPr>
        <p:pic>
          <p:nvPicPr>
            <p:cNvPr descr="pasted-image.png" id="87" name="Google Shape;87;p12"/>
            <p:cNvPicPr preferRelativeResize="0"/>
            <p:nvPr/>
          </p:nvPicPr>
          <p:blipFill rotWithShape="1">
            <a:blip r:embed="rId5">
              <a:alphaModFix/>
            </a:blip>
            <a:srcRect b="26828" l="0" r="0" t="0"/>
            <a:stretch/>
          </p:blipFill>
          <p:spPr>
            <a:xfrm>
              <a:off x="2319606" y="0"/>
              <a:ext cx="5700581" cy="1036284"/>
            </a:xfrm>
            <a:prstGeom prst="rect">
              <a:avLst/>
            </a:prstGeom>
            <a:noFill/>
            <a:ln>
              <a:noFill/>
            </a:ln>
            <a:effectLst>
              <a:outerShdw blurRad="114300" rotWithShape="0" dir="2220895" dist="88900">
                <a:srgbClr val="000000">
                  <a:alpha val="28627"/>
                </a:srgbClr>
              </a:outerShdw>
            </a:effectLst>
          </p:spPr>
        </p:pic>
        <p:pic>
          <p:nvPicPr>
            <p:cNvPr descr="Out-4.jpg" id="88" name="Google Shape;88;p12"/>
            <p:cNvPicPr preferRelativeResize="0"/>
            <p:nvPr/>
          </p:nvPicPr>
          <p:blipFill rotWithShape="1">
            <a:blip r:embed="rId6">
              <a:alphaModFix/>
            </a:blip>
            <a:srcRect b="43464" l="0" r="0" t="0"/>
            <a:stretch/>
          </p:blipFill>
          <p:spPr>
            <a:xfrm>
              <a:off x="2337811" y="1027048"/>
              <a:ext cx="3011028" cy="3728057"/>
            </a:xfrm>
            <a:prstGeom prst="rect">
              <a:avLst/>
            </a:prstGeom>
            <a:noFill/>
            <a:ln>
              <a:noFill/>
            </a:ln>
          </p:spPr>
        </p:pic>
        <p:pic>
          <p:nvPicPr>
            <p:cNvPr descr="Out-4.jpg" id="89" name="Google Shape;89;p12"/>
            <p:cNvPicPr preferRelativeResize="0"/>
            <p:nvPr/>
          </p:nvPicPr>
          <p:blipFill rotWithShape="1">
            <a:blip r:embed="rId6">
              <a:alphaModFix/>
            </a:blip>
            <a:srcRect b="0" l="0" r="0" t="56140"/>
            <a:stretch/>
          </p:blipFill>
          <p:spPr>
            <a:xfrm>
              <a:off x="5300189" y="2467359"/>
              <a:ext cx="3011027" cy="2892129"/>
            </a:xfrm>
            <a:prstGeom prst="rect">
              <a:avLst/>
            </a:prstGeom>
            <a:noFill/>
            <a:ln>
              <a:noFill/>
            </a:ln>
          </p:spPr>
        </p:pic>
        <p:sp>
          <p:nvSpPr>
            <p:cNvPr id="90" name="Google Shape;90;p12"/>
            <p:cNvSpPr txBox="1"/>
            <p:nvPr/>
          </p:nvSpPr>
          <p:spPr>
            <a:xfrm>
              <a:off x="485552" y="4662022"/>
              <a:ext cx="4980600" cy="269700"/>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535353"/>
                </a:buClr>
                <a:buSzPts val="900"/>
                <a:buFont typeface="Helvetica Neue"/>
                <a:buNone/>
              </a:pPr>
              <a:r>
                <a:rPr b="0" i="0" lang="en-US" sz="900" u="none" cap="none" strike="noStrike">
                  <a:solidFill>
                    <a:srgbClr val="535353"/>
                  </a:solidFill>
                  <a:latin typeface="Helvetica Neue"/>
                  <a:ea typeface="Helvetica Neue"/>
                  <a:cs typeface="Helvetica Neue"/>
                  <a:sym typeface="Helvetica Neue"/>
                </a:rPr>
                <a:t>https://www.nature.com/news/data-sharing-make-outbreak-research-open-access-1.16966</a:t>
              </a:r>
              <a:endParaRPr b="0" i="0" sz="1400" u="none" cap="none" strike="noStrike">
                <a:solidFill>
                  <a:srgbClr val="000000"/>
                </a:solidFill>
                <a:latin typeface="Arial"/>
                <a:ea typeface="Arial"/>
                <a:cs typeface="Arial"/>
                <a:sym typeface="Arial"/>
              </a:endParaRPr>
            </a:p>
          </p:txBody>
        </p:sp>
      </p:grpSp>
      <p:sp>
        <p:nvSpPr>
          <p:cNvPr id="91" name="Google Shape;91;p12"/>
          <p:cNvSpPr/>
          <p:nvPr/>
        </p:nvSpPr>
        <p:spPr>
          <a:xfrm>
            <a:off x="257625" y="8496050"/>
            <a:ext cx="12489600" cy="1070100"/>
          </a:xfrm>
          <a:prstGeom prst="rect">
            <a:avLst/>
          </a:prstGeom>
          <a:solidFill>
            <a:srgbClr val="F9FFF1"/>
          </a:solidFill>
          <a:ln cap="flat" cmpd="sng" w="25400">
            <a:solidFill>
              <a:srgbClr val="419255"/>
            </a:solidFill>
            <a:prstDash val="solid"/>
            <a:round/>
            <a:headEnd len="sm" w="sm" type="none"/>
            <a:tailEnd len="sm" w="sm" type="none"/>
          </a:ln>
          <a:effectLst>
            <a:outerShdw blurRad="50800" rotWithShape="0" dir="5400000" dist="25400">
              <a:srgbClr val="000000">
                <a:alpha val="34902"/>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000000"/>
              </a:buClr>
              <a:buSzPts val="2400"/>
              <a:buFont typeface="Arial"/>
              <a:buNone/>
            </a:pPr>
            <a:r>
              <a:rPr lang="en-US" sz="2600"/>
              <a:t>The covid-19 pandemic has shown how fast scientific progress can be when we share our data and knowledge freely, and that free knowledge is a moral imperative.</a:t>
            </a:r>
            <a:endParaRPr b="0" i="0" sz="1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3"/>
          <p:cNvSpPr txBox="1"/>
          <p:nvPr>
            <p:ph type="title"/>
          </p:nvPr>
        </p:nvSpPr>
        <p:spPr>
          <a:xfrm>
            <a:off x="379306" y="147054"/>
            <a:ext cx="8246792" cy="1162212"/>
          </a:xfrm>
          <a:prstGeom prst="rect">
            <a:avLst/>
          </a:prstGeom>
          <a:noFill/>
          <a:ln>
            <a:noFill/>
          </a:ln>
        </p:spPr>
        <p:txBody>
          <a:bodyPr anchorCtr="0" anchor="ctr" bIns="65000" lIns="65000" spcFirstLastPara="1" rIns="65000" wrap="square" tIns="65000">
            <a:normAutofit/>
          </a:bodyPr>
          <a:lstStyle/>
          <a:p>
            <a:pPr indent="0" lvl="0" marL="0" rtl="0" algn="l">
              <a:lnSpc>
                <a:spcPct val="100000"/>
              </a:lnSpc>
              <a:spcBef>
                <a:spcPts val="0"/>
              </a:spcBef>
              <a:spcAft>
                <a:spcPts val="0"/>
              </a:spcAft>
              <a:buClr>
                <a:srgbClr val="000000"/>
              </a:buClr>
              <a:buSzPts val="5900"/>
              <a:buFont typeface="Arial"/>
              <a:buNone/>
            </a:pPr>
            <a:r>
              <a:rPr b="1" lang="en-US" sz="5900" cap="none">
                <a:solidFill>
                  <a:srgbClr val="000000"/>
                </a:solidFill>
                <a:latin typeface="Arial"/>
                <a:ea typeface="Arial"/>
                <a:cs typeface="Arial"/>
                <a:sym typeface="Arial"/>
              </a:rPr>
              <a:t>Why open data?</a:t>
            </a:r>
            <a:endParaRPr/>
          </a:p>
        </p:txBody>
      </p:sp>
      <p:sp>
        <p:nvSpPr>
          <p:cNvPr id="97" name="Google Shape;97;p13"/>
          <p:cNvSpPr txBox="1"/>
          <p:nvPr>
            <p:ph idx="1" type="body"/>
          </p:nvPr>
        </p:nvSpPr>
        <p:spPr>
          <a:xfrm>
            <a:off x="421604" y="1715606"/>
            <a:ext cx="12161592" cy="5615556"/>
          </a:xfrm>
          <a:prstGeom prst="rect">
            <a:avLst/>
          </a:prstGeom>
          <a:noFill/>
          <a:ln>
            <a:noFill/>
          </a:ln>
        </p:spPr>
        <p:txBody>
          <a:bodyPr anchorCtr="0" anchor="t" bIns="65000" lIns="65000" spcFirstLastPara="1" rIns="65000" wrap="square" tIns="65000">
            <a:normAutofit/>
          </a:bodyPr>
          <a:lstStyle/>
          <a:p>
            <a:pPr indent="0" lvl="0" marL="0" marR="0" rtl="0" algn="l">
              <a:lnSpc>
                <a:spcPct val="100000"/>
              </a:lnSpc>
              <a:spcBef>
                <a:spcPts val="0"/>
              </a:spcBef>
              <a:spcAft>
                <a:spcPts val="0"/>
              </a:spcAft>
              <a:buSzPts val="3600"/>
              <a:buNone/>
            </a:pPr>
            <a:r>
              <a:rPr i="1" lang="en-US" sz="3600">
                <a:latin typeface="Arial"/>
                <a:ea typeface="Arial"/>
                <a:cs typeface="Arial"/>
                <a:sym typeface="Arial"/>
              </a:rPr>
              <a:t>3. Public money = public good</a:t>
            </a:r>
            <a:endParaRPr/>
          </a:p>
        </p:txBody>
      </p:sp>
      <p:sp>
        <p:nvSpPr>
          <p:cNvPr id="98" name="Google Shape;98;p13"/>
          <p:cNvSpPr txBox="1"/>
          <p:nvPr>
            <p:ph idx="12" type="sldNum"/>
          </p:nvPr>
        </p:nvSpPr>
        <p:spPr>
          <a:xfrm>
            <a:off x="12340759" y="9238826"/>
            <a:ext cx="2443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
        <p:nvSpPr>
          <p:cNvPr id="99" name="Google Shape;99;p13"/>
          <p:cNvSpPr/>
          <p:nvPr/>
        </p:nvSpPr>
        <p:spPr>
          <a:xfrm>
            <a:off x="257637" y="8104840"/>
            <a:ext cx="12489526" cy="1461485"/>
          </a:xfrm>
          <a:prstGeom prst="rect">
            <a:avLst/>
          </a:prstGeom>
          <a:solidFill>
            <a:srgbClr val="F9FFF1"/>
          </a:solidFill>
          <a:ln cap="flat" cmpd="sng" w="25400">
            <a:solidFill>
              <a:srgbClr val="419255"/>
            </a:solidFill>
            <a:prstDash val="solid"/>
            <a:round/>
            <a:headEnd len="sm" w="sm" type="none"/>
            <a:tailEnd len="sm" w="sm" type="none"/>
          </a:ln>
          <a:effectLst>
            <a:outerShdw blurRad="50800" rotWithShape="0" dir="5400000" dist="25400">
              <a:srgbClr val="000000">
                <a:alpha val="34902"/>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Publicly funded research data does not belong to the researcher who collected it. </a:t>
            </a:r>
            <a:br>
              <a:rPr b="0" i="0" lang="en-US" sz="2400" u="none" cap="none" strike="noStrike">
                <a:solidFill>
                  <a:srgbClr val="000000"/>
                </a:solidFill>
                <a:latin typeface="Arial"/>
                <a:ea typeface="Arial"/>
                <a:cs typeface="Arial"/>
                <a:sym typeface="Arial"/>
              </a:rPr>
            </a:br>
            <a:r>
              <a:rPr b="0" i="0" lang="en-US" sz="2400" u="none" cap="none" strike="noStrike">
                <a:solidFill>
                  <a:srgbClr val="000000"/>
                </a:solidFill>
                <a:latin typeface="Arial"/>
                <a:ea typeface="Arial"/>
                <a:cs typeface="Arial"/>
                <a:sym typeface="Arial"/>
              </a:rPr>
              <a:t>They have the right of primary usage, but after that the data should be considered a public good (of course respecting privacy rights and applicable copyrights).</a:t>
            </a:r>
            <a:endParaRPr b="0" i="0" sz="1400" u="none" cap="none" strike="noStrike">
              <a:solidFill>
                <a:srgbClr val="000000"/>
              </a:solidFill>
              <a:latin typeface="Arial"/>
              <a:ea typeface="Arial"/>
              <a:cs typeface="Arial"/>
              <a:sym typeface="Arial"/>
            </a:endParaRPr>
          </a:p>
        </p:txBody>
      </p:sp>
      <p:pic>
        <p:nvPicPr>
          <p:cNvPr descr="pasted-image.png" id="100" name="Google Shape;100;p13"/>
          <p:cNvPicPr preferRelativeResize="0"/>
          <p:nvPr/>
        </p:nvPicPr>
        <p:blipFill rotWithShape="1">
          <a:blip r:embed="rId3">
            <a:alphaModFix/>
          </a:blip>
          <a:srcRect b="0" l="0" r="0" t="0"/>
          <a:stretch/>
        </p:blipFill>
        <p:spPr>
          <a:xfrm>
            <a:off x="2782719" y="3559851"/>
            <a:ext cx="7438215" cy="3096727"/>
          </a:xfrm>
          <a:prstGeom prst="rect">
            <a:avLst/>
          </a:prstGeom>
          <a:noFill/>
          <a:ln>
            <a:noFill/>
          </a:ln>
        </p:spPr>
      </p:pic>
      <p:sp>
        <p:nvSpPr>
          <p:cNvPr id="101" name="Google Shape;101;p13"/>
          <p:cNvSpPr txBox="1"/>
          <p:nvPr/>
        </p:nvSpPr>
        <p:spPr>
          <a:xfrm>
            <a:off x="7785623" y="6670275"/>
            <a:ext cx="2405100" cy="346800"/>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1016F4"/>
              </a:buClr>
              <a:buSzPts val="1400"/>
              <a:buFont typeface="Helvetica Neue"/>
              <a:buNone/>
            </a:pPr>
            <a:r>
              <a:rPr b="0" i="0" lang="en-US" sz="1400" u="sng" cap="none" strike="noStrike">
                <a:solidFill>
                  <a:srgbClr val="1016F4"/>
                </a:solidFill>
                <a:latin typeface="Helvetica Neue"/>
                <a:ea typeface="Helvetica Neue"/>
                <a:cs typeface="Helvetica Neue"/>
                <a:sym typeface="Helvetica Neue"/>
                <a:hlinkClick r:id="rId4">
                  <a:extLst>
                    <a:ext uri="{A12FA001-AC4F-418D-AE19-62706E023703}">
                      <ahyp:hlinkClr val="tx"/>
                    </a:ext>
                  </a:extLst>
                </a:hlinkClick>
              </a:rPr>
              <a:t>https://publiccode.eu</a:t>
            </a:r>
            <a:endParaRPr b="0" i="0" sz="1400" u="none" cap="none" strike="noStrike">
              <a:solidFill>
                <a:srgbClr val="000000"/>
              </a:solidFill>
              <a:latin typeface="Arial"/>
              <a:ea typeface="Arial"/>
              <a:cs typeface="Arial"/>
              <a:sym typeface="Arial"/>
            </a:endParaRPr>
          </a:p>
        </p:txBody>
      </p:sp>
      <p:sp>
        <p:nvSpPr>
          <p:cNvPr id="102" name="Google Shape;102;p13"/>
          <p:cNvSpPr txBox="1"/>
          <p:nvPr/>
        </p:nvSpPr>
        <p:spPr>
          <a:xfrm>
            <a:off x="7868383" y="5476986"/>
            <a:ext cx="2256689" cy="752349"/>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FFFFFF"/>
              </a:buClr>
              <a:buSzPts val="3900"/>
              <a:buFont typeface="Radley"/>
              <a:buNone/>
            </a:pPr>
            <a:r>
              <a:rPr b="1" i="0" lang="en-US" sz="3900" u="none" cap="none" strike="noStrike">
                <a:solidFill>
                  <a:srgbClr val="FFFFFF"/>
                </a:solidFill>
                <a:latin typeface="Radley"/>
                <a:ea typeface="Radley"/>
                <a:cs typeface="Radley"/>
                <a:sym typeface="Radley"/>
              </a:rPr>
              <a:t>and data!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4"/>
          <p:cNvSpPr txBox="1"/>
          <p:nvPr>
            <p:ph type="title"/>
          </p:nvPr>
        </p:nvSpPr>
        <p:spPr>
          <a:xfrm>
            <a:off x="379306" y="147054"/>
            <a:ext cx="8246792" cy="1162212"/>
          </a:xfrm>
          <a:prstGeom prst="rect">
            <a:avLst/>
          </a:prstGeom>
          <a:noFill/>
          <a:ln>
            <a:noFill/>
          </a:ln>
        </p:spPr>
        <p:txBody>
          <a:bodyPr anchorCtr="0" anchor="ctr" bIns="65000" lIns="65000" spcFirstLastPara="1" rIns="65000" wrap="square" tIns="65000">
            <a:normAutofit/>
          </a:bodyPr>
          <a:lstStyle/>
          <a:p>
            <a:pPr indent="0" lvl="0" marL="0" rtl="0" algn="l">
              <a:lnSpc>
                <a:spcPct val="100000"/>
              </a:lnSpc>
              <a:spcBef>
                <a:spcPts val="0"/>
              </a:spcBef>
              <a:spcAft>
                <a:spcPts val="0"/>
              </a:spcAft>
              <a:buClr>
                <a:srgbClr val="000000"/>
              </a:buClr>
              <a:buSzPts val="5900"/>
              <a:buFont typeface="Arial"/>
              <a:buNone/>
            </a:pPr>
            <a:r>
              <a:rPr b="1" lang="en-US" sz="5900" cap="none">
                <a:solidFill>
                  <a:srgbClr val="000000"/>
                </a:solidFill>
                <a:latin typeface="Arial"/>
                <a:ea typeface="Arial"/>
                <a:cs typeface="Arial"/>
                <a:sym typeface="Arial"/>
              </a:rPr>
              <a:t>Why open data?</a:t>
            </a:r>
            <a:endParaRPr/>
          </a:p>
        </p:txBody>
      </p:sp>
      <p:sp>
        <p:nvSpPr>
          <p:cNvPr id="108" name="Google Shape;108;p14"/>
          <p:cNvSpPr txBox="1"/>
          <p:nvPr>
            <p:ph idx="1" type="body"/>
          </p:nvPr>
        </p:nvSpPr>
        <p:spPr>
          <a:xfrm>
            <a:off x="344169" y="1794030"/>
            <a:ext cx="6026302" cy="7203075"/>
          </a:xfrm>
          <a:prstGeom prst="rect">
            <a:avLst/>
          </a:prstGeom>
          <a:noFill/>
          <a:ln>
            <a:noFill/>
          </a:ln>
        </p:spPr>
        <p:txBody>
          <a:bodyPr anchorCtr="0" anchor="t" bIns="65000" lIns="65000" spcFirstLastPara="1" rIns="65000" wrap="square" tIns="65000">
            <a:normAutofit/>
          </a:bodyPr>
          <a:lstStyle/>
          <a:p>
            <a:pPr indent="0" lvl="0" marL="0" rtl="0" algn="l">
              <a:lnSpc>
                <a:spcPct val="100000"/>
              </a:lnSpc>
              <a:spcBef>
                <a:spcPts val="0"/>
              </a:spcBef>
              <a:spcAft>
                <a:spcPts val="0"/>
              </a:spcAft>
              <a:buSzPts val="3600"/>
              <a:buNone/>
            </a:pPr>
            <a:r>
              <a:rPr i="1" lang="en-US" sz="3600">
                <a:latin typeface="Arial"/>
                <a:ea typeface="Arial"/>
                <a:cs typeface="Arial"/>
                <a:sym typeface="Arial"/>
              </a:rPr>
              <a:t>4. Data persistence</a:t>
            </a:r>
            <a:endParaRPr i="1"/>
          </a:p>
          <a:p>
            <a:pPr indent="-467590" lvl="1" marL="924790" rtl="0" algn="l">
              <a:lnSpc>
                <a:spcPct val="100000"/>
              </a:lnSpc>
              <a:spcBef>
                <a:spcPts val="800"/>
              </a:spcBef>
              <a:spcAft>
                <a:spcPts val="0"/>
              </a:spcAft>
              <a:buSzPts val="3000"/>
              <a:buChar char="–"/>
            </a:pPr>
            <a:r>
              <a:rPr lang="en-US">
                <a:latin typeface="Gill Sans"/>
                <a:ea typeface="Gill Sans"/>
                <a:cs typeface="Gill Sans"/>
                <a:sym typeface="Gill Sans"/>
              </a:rPr>
              <a:t>never lose data due to a crashed hard disk drive</a:t>
            </a:r>
            <a:endParaRPr/>
          </a:p>
          <a:p>
            <a:pPr indent="-467590" lvl="1" marL="924790" rtl="0" algn="l">
              <a:lnSpc>
                <a:spcPct val="100000"/>
              </a:lnSpc>
              <a:spcBef>
                <a:spcPts val="800"/>
              </a:spcBef>
              <a:spcAft>
                <a:spcPts val="0"/>
              </a:spcAft>
              <a:buSzPts val="3000"/>
              <a:buChar char="–"/>
            </a:pPr>
            <a:r>
              <a:rPr lang="en-US">
                <a:latin typeface="Gill Sans"/>
                <a:ea typeface="Gill Sans"/>
                <a:cs typeface="Gill Sans"/>
                <a:sym typeface="Gill Sans"/>
              </a:rPr>
              <a:t>Open data allows independent copies at multiple places (e.g. even in </a:t>
            </a:r>
            <a:r>
              <a:rPr lang="en-US" u="sng">
                <a:solidFill>
                  <a:srgbClr val="1016F4"/>
                </a:solidFill>
                <a:latin typeface="Gill Sans"/>
                <a:ea typeface="Gill Sans"/>
                <a:cs typeface="Gill Sans"/>
                <a:sym typeface="Gill Sans"/>
                <a:hlinkClick r:id="rId3">
                  <a:extLst>
                    <a:ext uri="{A12FA001-AC4F-418D-AE19-62706E023703}">
                      <ahyp:hlinkClr val="tx"/>
                    </a:ext>
                  </a:extLst>
                </a:hlinkClick>
              </a:rPr>
              <a:t>decentralized bittorrent swarms</a:t>
            </a:r>
            <a:r>
              <a:rPr lang="en-US">
                <a:latin typeface="Gill Sans"/>
                <a:ea typeface="Gill Sans"/>
                <a:cs typeface="Gill Sans"/>
                <a:sym typeface="Gill Sans"/>
              </a:rPr>
              <a:t>) – create resilience against autocratic regimes that delete „inconvenient“ research data</a:t>
            </a:r>
            <a:endParaRPr/>
          </a:p>
        </p:txBody>
      </p:sp>
      <p:sp>
        <p:nvSpPr>
          <p:cNvPr id="109" name="Google Shape;109;p14"/>
          <p:cNvSpPr txBox="1"/>
          <p:nvPr>
            <p:ph idx="12" type="sldNum"/>
          </p:nvPr>
        </p:nvSpPr>
        <p:spPr>
          <a:xfrm>
            <a:off x="12340759" y="9238826"/>
            <a:ext cx="2443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
        <p:nvSpPr>
          <p:cNvPr id="110" name="Google Shape;110;p14"/>
          <p:cNvSpPr/>
          <p:nvPr/>
        </p:nvSpPr>
        <p:spPr>
          <a:xfrm>
            <a:off x="257637" y="7836685"/>
            <a:ext cx="12489526" cy="1729640"/>
          </a:xfrm>
          <a:prstGeom prst="rect">
            <a:avLst/>
          </a:prstGeom>
          <a:solidFill>
            <a:srgbClr val="F9FFF1"/>
          </a:solidFill>
          <a:ln cap="flat" cmpd="sng" w="25400">
            <a:solidFill>
              <a:srgbClr val="419255"/>
            </a:solidFill>
            <a:prstDash val="solid"/>
            <a:round/>
            <a:headEnd len="sm" w="sm" type="none"/>
            <a:tailEnd len="sm" w="sm" type="none"/>
          </a:ln>
          <a:effectLst>
            <a:outerShdw blurRad="50800" rotWithShape="0" dir="5400000" dist="25400">
              <a:srgbClr val="000000">
                <a:alpha val="34902"/>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A publicly funded repository is the right place for long term storage of research data – not your private USB stick, your personal university website (that vanishes after you change affiliation), or the journal’s online supplemental material that hides the data behind a paywall. Prefer repositories in countries that value academic freedom.</a:t>
            </a:r>
            <a:endParaRPr b="0" i="0" sz="1400" u="none" cap="none" strike="noStrike">
              <a:solidFill>
                <a:srgbClr val="000000"/>
              </a:solidFill>
              <a:latin typeface="Arial"/>
              <a:ea typeface="Arial"/>
              <a:cs typeface="Arial"/>
              <a:sym typeface="Arial"/>
            </a:endParaRPr>
          </a:p>
        </p:txBody>
      </p:sp>
      <p:pic>
        <p:nvPicPr>
          <p:cNvPr descr="480px-Data_loss_of_image_file.JPG" id="111" name="Google Shape;111;p14"/>
          <p:cNvPicPr preferRelativeResize="0"/>
          <p:nvPr/>
        </p:nvPicPr>
        <p:blipFill rotWithShape="1">
          <a:blip r:embed="rId4">
            <a:alphaModFix/>
          </a:blip>
          <a:srcRect b="0" l="0" r="0" t="0"/>
          <a:stretch/>
        </p:blipFill>
        <p:spPr>
          <a:xfrm>
            <a:off x="6843149" y="1935886"/>
            <a:ext cx="4434019" cy="55425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5"/>
          <p:cNvSpPr txBox="1"/>
          <p:nvPr>
            <p:ph idx="12" type="sldNum"/>
          </p:nvPr>
        </p:nvSpPr>
        <p:spPr>
          <a:xfrm>
            <a:off x="12340759" y="9238826"/>
            <a:ext cx="244200" cy="377700"/>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
        <p:nvSpPr>
          <p:cNvPr id="117" name="Google Shape;117;p15"/>
          <p:cNvSpPr txBox="1"/>
          <p:nvPr/>
        </p:nvSpPr>
        <p:spPr>
          <a:xfrm>
            <a:off x="578000" y="5590725"/>
            <a:ext cx="11090400" cy="1431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00"/>
                </a:solidFill>
                <a:latin typeface="Gill Sans"/>
                <a:ea typeface="Gill Sans"/>
                <a:cs typeface="Gill Sans"/>
                <a:sym typeface="Gill Sans"/>
              </a:rPr>
              <a:t>Hardwicke et al. (2024): random samples of psychology articles</a:t>
            </a:r>
            <a:endParaRPr b="0" i="0" sz="27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00000"/>
                </a:solidFill>
                <a:latin typeface="Gill Sans"/>
                <a:ea typeface="Gill Sans"/>
                <a:cs typeface="Gill Sans"/>
                <a:sym typeface="Gill Sans"/>
              </a:rPr>
              <a:t>Data availability 2% → 14%; code availability 1% → 8.5%</a:t>
            </a:r>
            <a:endParaRPr b="1" i="0" sz="2800" u="none" cap="none" strike="noStrike">
              <a:solidFill>
                <a:schemeClr val="dk1"/>
              </a:solidFill>
              <a:latin typeface="Arial"/>
              <a:ea typeface="Arial"/>
              <a:cs typeface="Arial"/>
              <a:sym typeface="Arial"/>
            </a:endParaRPr>
          </a:p>
        </p:txBody>
      </p:sp>
      <p:pic>
        <p:nvPicPr>
          <p:cNvPr descr="pasted-image.png" id="118" name="Google Shape;118;p15"/>
          <p:cNvPicPr preferRelativeResize="0"/>
          <p:nvPr/>
        </p:nvPicPr>
        <p:blipFill rotWithShape="1">
          <a:blip r:embed="rId3">
            <a:alphaModFix/>
          </a:blip>
          <a:srcRect b="56480" l="0" r="0" t="0"/>
          <a:stretch/>
        </p:blipFill>
        <p:spPr>
          <a:xfrm>
            <a:off x="578000" y="1676981"/>
            <a:ext cx="9642625" cy="3488224"/>
          </a:xfrm>
          <a:prstGeom prst="rect">
            <a:avLst/>
          </a:prstGeom>
          <a:noFill/>
          <a:ln>
            <a:noFill/>
          </a:ln>
        </p:spPr>
      </p:pic>
      <p:sp>
        <p:nvSpPr>
          <p:cNvPr id="119" name="Google Shape;119;p15"/>
          <p:cNvSpPr txBox="1"/>
          <p:nvPr>
            <p:ph type="title"/>
          </p:nvPr>
        </p:nvSpPr>
        <p:spPr>
          <a:xfrm>
            <a:off x="379306" y="147054"/>
            <a:ext cx="8246700" cy="1162200"/>
          </a:xfrm>
          <a:prstGeom prst="rect">
            <a:avLst/>
          </a:prstGeom>
          <a:noFill/>
          <a:ln>
            <a:noFill/>
          </a:ln>
        </p:spPr>
        <p:txBody>
          <a:bodyPr anchorCtr="0" anchor="ctr" bIns="65000" lIns="65000" spcFirstLastPara="1" rIns="65000" wrap="square" tIns="65000">
            <a:normAutofit/>
          </a:bodyPr>
          <a:lstStyle/>
          <a:p>
            <a:pPr indent="0" lvl="0" marL="0" rtl="0" algn="l">
              <a:lnSpc>
                <a:spcPct val="100000"/>
              </a:lnSpc>
              <a:spcBef>
                <a:spcPts val="0"/>
              </a:spcBef>
              <a:spcAft>
                <a:spcPts val="0"/>
              </a:spcAft>
              <a:buClr>
                <a:schemeClr val="dk1"/>
              </a:buClr>
              <a:buSzPts val="5900"/>
              <a:buFont typeface="Arial"/>
              <a:buNone/>
            </a:pPr>
            <a:r>
              <a:rPr b="1" lang="en-US" sz="5900">
                <a:solidFill>
                  <a:schemeClr val="dk1"/>
                </a:solidFill>
                <a:latin typeface="Arial"/>
                <a:ea typeface="Arial"/>
                <a:cs typeface="Arial"/>
                <a:sym typeface="Arial"/>
              </a:rPr>
              <a:t>Availability Prevalence</a:t>
            </a:r>
            <a:endParaRPr/>
          </a:p>
        </p:txBody>
      </p:sp>
      <p:sp>
        <p:nvSpPr>
          <p:cNvPr id="120" name="Google Shape;120;p15"/>
          <p:cNvSpPr txBox="1"/>
          <p:nvPr/>
        </p:nvSpPr>
        <p:spPr>
          <a:xfrm>
            <a:off x="365760" y="9235440"/>
            <a:ext cx="1152144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Hardwicke et al. (2022), Perspectives on Psychological Science 17(1): 239–251; Hardwicke et al. (2024), Advances in Methods and Practices in Psychological Science 7(4).</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6"/>
          <p:cNvSpPr txBox="1"/>
          <p:nvPr>
            <p:ph idx="12" type="sldNum"/>
          </p:nvPr>
        </p:nvSpPr>
        <p:spPr>
          <a:xfrm>
            <a:off x="12516866" y="9249664"/>
            <a:ext cx="2443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pic>
        <p:nvPicPr>
          <p:cNvPr descr="pasted-image.png" id="126" name="Google Shape;126;p16"/>
          <p:cNvPicPr preferRelativeResize="0"/>
          <p:nvPr/>
        </p:nvPicPr>
        <p:blipFill rotWithShape="1">
          <a:blip r:embed="rId3">
            <a:alphaModFix/>
          </a:blip>
          <a:srcRect b="0" l="0" r="0" t="0"/>
          <a:stretch/>
        </p:blipFill>
        <p:spPr>
          <a:xfrm>
            <a:off x="2922670" y="1289995"/>
            <a:ext cx="7159460" cy="7173610"/>
          </a:xfrm>
          <a:prstGeom prst="rect">
            <a:avLst/>
          </a:prstGeom>
          <a:noFill/>
          <a:ln>
            <a:noFill/>
          </a:ln>
        </p:spPr>
      </p:pic>
      <p:sp>
        <p:nvSpPr>
          <p:cNvPr id="127" name="Google Shape;127;p16"/>
          <p:cNvSpPr txBox="1"/>
          <p:nvPr/>
        </p:nvSpPr>
        <p:spPr>
          <a:xfrm>
            <a:off x="65464" y="9398965"/>
            <a:ext cx="5537734" cy="328270"/>
          </a:xfrm>
          <a:prstGeom prst="rect">
            <a:avLst/>
          </a:prstGeom>
          <a:noFill/>
          <a:ln>
            <a:noFill/>
          </a:ln>
        </p:spPr>
        <p:txBody>
          <a:bodyPr anchorCtr="0" anchor="ctr" bIns="65000" lIns="65000" spcFirstLastPara="1" rIns="65000" wrap="square" tIns="65000">
            <a:spAutoFit/>
          </a:bodyPr>
          <a:lstStyle/>
          <a:p>
            <a:pPr indent="0" lvl="0" marL="0" marR="0" rtl="0" algn="l">
              <a:lnSpc>
                <a:spcPct val="100000"/>
              </a:lnSpc>
              <a:spcBef>
                <a:spcPts val="0"/>
              </a:spcBef>
              <a:spcAft>
                <a:spcPts val="0"/>
              </a:spcAft>
              <a:buClr>
                <a:srgbClr val="4B4A4B"/>
              </a:buClr>
              <a:buSzPts val="1400"/>
              <a:buFont typeface="Helvetica Neue"/>
              <a:buNone/>
            </a:pPr>
            <a:r>
              <a:rPr b="0" i="0" lang="en-US" sz="1400" u="none" cap="none" strike="noStrike">
                <a:solidFill>
                  <a:srgbClr val="4B4A4B"/>
                </a:solidFill>
                <a:latin typeface="Helvetica Neue"/>
                <a:ea typeface="Helvetica Neue"/>
                <a:cs typeface="Helvetica Neue"/>
                <a:sym typeface="Helvetica Neue"/>
              </a:rPr>
              <a:t>https://twitter.com/JohnBorghi/status/1405227318876905472?s=20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7"/>
          <p:cNvSpPr txBox="1"/>
          <p:nvPr>
            <p:ph type="title"/>
          </p:nvPr>
        </p:nvSpPr>
        <p:spPr>
          <a:xfrm>
            <a:off x="379306" y="147054"/>
            <a:ext cx="8246700" cy="1162200"/>
          </a:xfrm>
          <a:prstGeom prst="rect">
            <a:avLst/>
          </a:prstGeom>
          <a:noFill/>
          <a:ln>
            <a:noFill/>
          </a:ln>
        </p:spPr>
        <p:txBody>
          <a:bodyPr anchorCtr="0" anchor="ctr" bIns="65000" lIns="65000" spcFirstLastPara="1" rIns="65000" wrap="square" tIns="65000">
            <a:normAutofit fontScale="90000"/>
          </a:bodyPr>
          <a:lstStyle/>
          <a:p>
            <a:pPr indent="0" lvl="0" marL="0" rtl="0" algn="l">
              <a:lnSpc>
                <a:spcPct val="100000"/>
              </a:lnSpc>
              <a:spcBef>
                <a:spcPts val="0"/>
              </a:spcBef>
              <a:spcAft>
                <a:spcPts val="0"/>
              </a:spcAft>
              <a:buClr>
                <a:schemeClr val="dk1"/>
              </a:buClr>
              <a:buSzPct val="111111"/>
              <a:buFont typeface="Arial"/>
              <a:buNone/>
            </a:pPr>
            <a:r>
              <a:rPr b="1" lang="en-US" sz="5900">
                <a:solidFill>
                  <a:schemeClr val="dk1"/>
                </a:solidFill>
                <a:latin typeface="Arial"/>
                <a:ea typeface="Arial"/>
                <a:cs typeface="Arial"/>
                <a:sym typeface="Arial"/>
              </a:rPr>
              <a:t>„Available upon request“</a:t>
            </a:r>
            <a:endParaRPr/>
          </a:p>
        </p:txBody>
      </p:sp>
      <p:sp>
        <p:nvSpPr>
          <p:cNvPr id="133" name="Google Shape;133;p17"/>
          <p:cNvSpPr txBox="1"/>
          <p:nvPr>
            <p:ph idx="12" type="sldNum"/>
          </p:nvPr>
        </p:nvSpPr>
        <p:spPr>
          <a:xfrm>
            <a:off x="12340759" y="9238826"/>
            <a:ext cx="244200" cy="377700"/>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
        <p:nvSpPr>
          <p:cNvPr id="134" name="Google Shape;134;p17"/>
          <p:cNvSpPr txBox="1"/>
          <p:nvPr/>
        </p:nvSpPr>
        <p:spPr>
          <a:xfrm>
            <a:off x="507975" y="5839963"/>
            <a:ext cx="12192000" cy="32991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00"/>
                </a:solidFill>
                <a:latin typeface="Gill Sans"/>
                <a:ea typeface="Gill Sans"/>
                <a:cs typeface="Gill Sans"/>
                <a:sym typeface="Gill Sans"/>
              </a:rPr>
              <a:t>Gabelica et al. (2022): wrote to authors of 1,792 articles whose data availability statement promised sharing on request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700"/>
              <a:buFont typeface="Arial"/>
              <a:buNone/>
            </a:pPr>
            <a:r>
              <a:rPr b="1" i="0" lang="en-US" sz="2700" u="none" cap="none" strike="noStrike">
                <a:solidFill>
                  <a:srgbClr val="000000"/>
                </a:solidFill>
                <a:latin typeface="Gill Sans"/>
                <a:ea typeface="Gill Sans"/>
                <a:cs typeface="Gill Sans"/>
                <a:sym typeface="Gill Sans"/>
              </a:rPr>
              <a:t>93% never responded or declined. 6.8% shared </a:t>
            </a:r>
            <a:r>
              <a:rPr b="1" lang="en-US" sz="2700">
                <a:latin typeface="Gill Sans"/>
                <a:ea typeface="Gill Sans"/>
                <a:cs typeface="Gill Sans"/>
                <a:sym typeface="Gill Sans"/>
              </a:rPr>
              <a:t>data enabling reanalysis</a:t>
            </a:r>
            <a:endParaRPr b="1" i="0" sz="32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700"/>
              <a:buFont typeface="Arial"/>
              <a:buNone/>
            </a:pPr>
            <a:r>
              <a:rPr b="0" i="0" lang="en-US" sz="2700" u="none" cap="none" strike="noStrike">
                <a:solidFill>
                  <a:srgbClr val="000000"/>
                </a:solidFill>
                <a:latin typeface="Gill Sans"/>
                <a:ea typeface="Gill Sans"/>
                <a:cs typeface="Gill Sans"/>
                <a:sym typeface="Gill Sans"/>
              </a:rPr>
              <a:t>Medicine (Hamilton et al. 2023): ~8% of articles declare data availability, ~2% actually share it</a:t>
            </a:r>
            <a:endParaRPr b="1" i="0" sz="3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00"/>
                </a:solidFill>
                <a:latin typeface="Gill Sans"/>
                <a:ea typeface="Gill Sans"/>
                <a:cs typeface="Gill Sans"/>
                <a:sym typeface="Gill Sans"/>
              </a:rPr>
              <a:t>Tedersoo et al. (2021), 875 Nature &amp; Science papers, nine disciplines: „upon request“ delivered 42.3%, no statement at all 38.3%. </a:t>
            </a:r>
            <a:endParaRPr b="0" i="0" sz="1400" u="none" cap="none" strike="noStrike">
              <a:solidFill>
                <a:srgbClr val="000000"/>
              </a:solidFill>
              <a:latin typeface="Arial"/>
              <a:ea typeface="Arial"/>
              <a:cs typeface="Arial"/>
              <a:sym typeface="Arial"/>
            </a:endParaRPr>
          </a:p>
        </p:txBody>
      </p:sp>
      <p:pic>
        <p:nvPicPr>
          <p:cNvPr descr="pasted-image.png" id="135" name="Google Shape;135;p17"/>
          <p:cNvPicPr preferRelativeResize="0"/>
          <p:nvPr/>
        </p:nvPicPr>
        <p:blipFill rotWithShape="1">
          <a:blip r:embed="rId3">
            <a:alphaModFix/>
          </a:blip>
          <a:srcRect b="0" l="0" r="0" t="43314"/>
          <a:stretch/>
        </p:blipFill>
        <p:spPr>
          <a:xfrm>
            <a:off x="507975" y="1200012"/>
            <a:ext cx="9642625" cy="4543574"/>
          </a:xfrm>
          <a:prstGeom prst="rect">
            <a:avLst/>
          </a:prstGeom>
          <a:noFill/>
          <a:ln>
            <a:noFill/>
          </a:ln>
        </p:spPr>
      </p:pic>
      <p:sp>
        <p:nvSpPr>
          <p:cNvPr id="136" name="Google Shape;136;p17"/>
          <p:cNvSpPr txBox="1"/>
          <p:nvPr/>
        </p:nvSpPr>
        <p:spPr>
          <a:xfrm>
            <a:off x="365760" y="9235440"/>
            <a:ext cx="1152144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Gabelica, Bojčić &amp; Puljak (2022), Journal of Clinical Epidemiology 150: 33–41; Tedersoo et al. (2021), Scientific Data 8: 192.</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8"/>
          <p:cNvSpPr txBox="1"/>
          <p:nvPr>
            <p:ph type="title"/>
          </p:nvPr>
        </p:nvSpPr>
        <p:spPr>
          <a:xfrm>
            <a:off x="394200" y="299825"/>
            <a:ext cx="9397200" cy="1162200"/>
          </a:xfrm>
          <a:prstGeom prst="rect">
            <a:avLst/>
          </a:prstGeom>
          <a:noFill/>
          <a:ln>
            <a:noFill/>
          </a:ln>
        </p:spPr>
        <p:txBody>
          <a:bodyPr anchorCtr="0" anchor="ctr" bIns="65000" lIns="65000" spcFirstLastPara="1" rIns="65000" wrap="square" tIns="65000">
            <a:noAutofit/>
          </a:bodyPr>
          <a:lstStyle/>
          <a:p>
            <a:pPr indent="0" lvl="0" marL="0" marR="0" rtl="0" algn="l">
              <a:lnSpc>
                <a:spcPct val="100000"/>
              </a:lnSpc>
              <a:spcBef>
                <a:spcPts val="0"/>
              </a:spcBef>
              <a:spcAft>
                <a:spcPts val="0"/>
              </a:spcAft>
              <a:buClr>
                <a:srgbClr val="000000"/>
              </a:buClr>
              <a:buSzPts val="3208"/>
              <a:buFont typeface="Arial"/>
              <a:buNone/>
            </a:pPr>
            <a:r>
              <a:rPr b="1" lang="en-US" sz="4660">
                <a:latin typeface="Arial"/>
                <a:ea typeface="Arial"/>
                <a:cs typeface="Arial"/>
                <a:sym typeface="Arial"/>
              </a:rPr>
              <a:t>Data decay in social learning research</a:t>
            </a:r>
            <a:endParaRPr sz="3910"/>
          </a:p>
        </p:txBody>
      </p:sp>
      <p:sp>
        <p:nvSpPr>
          <p:cNvPr id="142" name="Google Shape;142;p18"/>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pic>
        <p:nvPicPr>
          <p:cNvPr descr="pasted-image.png" id="143" name="Google Shape;143;p18"/>
          <p:cNvPicPr preferRelativeResize="0"/>
          <p:nvPr/>
        </p:nvPicPr>
        <p:blipFill rotWithShape="1">
          <a:blip r:embed="rId3">
            <a:alphaModFix/>
          </a:blip>
          <a:srcRect b="0" l="0" r="0" t="0"/>
          <a:stretch/>
        </p:blipFill>
        <p:spPr>
          <a:xfrm>
            <a:off x="2985207" y="1779862"/>
            <a:ext cx="6649243" cy="5381638"/>
          </a:xfrm>
          <a:prstGeom prst="rect">
            <a:avLst/>
          </a:prstGeom>
          <a:noFill/>
          <a:ln>
            <a:noFill/>
          </a:ln>
        </p:spPr>
      </p:pic>
      <p:sp>
        <p:nvSpPr>
          <p:cNvPr id="144" name="Google Shape;144;p18"/>
          <p:cNvSpPr txBox="1"/>
          <p:nvPr/>
        </p:nvSpPr>
        <p:spPr>
          <a:xfrm>
            <a:off x="96351" y="8975700"/>
            <a:ext cx="11809800" cy="777900"/>
          </a:xfrm>
          <a:prstGeom prst="rect">
            <a:avLst/>
          </a:prstGeom>
          <a:noFill/>
          <a:ln>
            <a:noFill/>
          </a:ln>
        </p:spPr>
        <p:txBody>
          <a:bodyPr anchorCtr="0" anchor="ctr" bIns="65000" lIns="65000" spcFirstLastPara="1" rIns="65000" wrap="square" tIns="65000">
            <a:spAutoFit/>
          </a:bodyPr>
          <a:lstStyle/>
          <a:p>
            <a:pPr indent="0" lvl="0" marL="0" marR="0" rtl="0" algn="l">
              <a:lnSpc>
                <a:spcPct val="100000"/>
              </a:lnSpc>
              <a:spcBef>
                <a:spcPts val="0"/>
              </a:spcBef>
              <a:spcAft>
                <a:spcPts val="0"/>
              </a:spcAft>
              <a:buClr>
                <a:srgbClr val="4B4A4B"/>
              </a:buClr>
              <a:buSzPts val="1400"/>
              <a:buFont typeface="Helvetica Neue"/>
              <a:buNone/>
            </a:pPr>
            <a:r>
              <a:rPr b="0" i="0" lang="en-US" sz="1400" u="none" cap="none" strike="noStrike">
                <a:solidFill>
                  <a:srgbClr val="4B4A4B"/>
                </a:solidFill>
                <a:latin typeface="Helvetica Neue"/>
                <a:ea typeface="Helvetica Neue"/>
                <a:cs typeface="Helvetica Neue"/>
                <a:sym typeface="Helvetica Neue"/>
              </a:rPr>
              <a:t>Minocher, R., Atmaca, S., Bavero, C., McElreath, R., &amp; Beheim, B. (2021). Estimating the reproducibility of social learning research published between 1955 and 2018. Royal Society Open Science, 8(9), 210450. https://doi.org/10.1098/rsos.210450 | Vines, T. H., et al. (2014). The availability of research data declines rapidly with article age. Current Biology, 24(1), 94-97.</a:t>
            </a:r>
            <a:endParaRPr b="0" i="0" sz="1400" u="none" cap="none" strike="noStrike">
              <a:solidFill>
                <a:srgbClr val="000000"/>
              </a:solidFill>
              <a:latin typeface="Arial"/>
              <a:ea typeface="Arial"/>
              <a:cs typeface="Arial"/>
              <a:sym typeface="Arial"/>
            </a:endParaRPr>
          </a:p>
        </p:txBody>
      </p:sp>
      <p:sp>
        <p:nvSpPr>
          <p:cNvPr id="145" name="Google Shape;145;p18"/>
          <p:cNvSpPr txBox="1"/>
          <p:nvPr/>
        </p:nvSpPr>
        <p:spPr>
          <a:xfrm>
            <a:off x="300812" y="7302559"/>
            <a:ext cx="12403200" cy="1532100"/>
          </a:xfrm>
          <a:prstGeom prst="rect">
            <a:avLst/>
          </a:prstGeom>
          <a:noFill/>
          <a:ln>
            <a:noFill/>
          </a:ln>
        </p:spPr>
        <p:txBody>
          <a:bodyPr anchorCtr="0" anchor="ctr" bIns="65000" lIns="65000" spcFirstLastPara="1" rIns="65000" wrap="square" tIns="65000">
            <a:spAutoFit/>
          </a:bodyPr>
          <a:lstStyle/>
          <a:p>
            <a:pPr indent="-292100" lvl="0" marL="292100" marR="0" rtl="0" algn="l">
              <a:lnSpc>
                <a:spcPct val="100000"/>
              </a:lnSpc>
              <a:spcBef>
                <a:spcPts val="0"/>
              </a:spcBef>
              <a:spcAft>
                <a:spcPts val="0"/>
              </a:spcAft>
              <a:buClr>
                <a:srgbClr val="232323"/>
              </a:buClr>
              <a:buSzPts val="2214"/>
              <a:buFont typeface="Gill Sans"/>
              <a:buChar char="•"/>
            </a:pPr>
            <a:r>
              <a:rPr b="0" i="0" lang="en-US" sz="2700" u="none" cap="none" strike="noStrike">
                <a:solidFill>
                  <a:srgbClr val="232323"/>
                </a:solidFill>
                <a:latin typeface="Gill Sans"/>
                <a:ea typeface="Gill Sans"/>
                <a:cs typeface="Gill Sans"/>
                <a:sym typeface="Gill Sans"/>
              </a:rPr>
              <a:t>„probability of finding material for any publication halves every 5.7 years“</a:t>
            </a:r>
            <a:endParaRPr b="0" i="0" sz="1400" u="none" cap="none" strike="noStrike">
              <a:solidFill>
                <a:srgbClr val="000000"/>
              </a:solidFill>
              <a:latin typeface="Arial"/>
              <a:ea typeface="Arial"/>
              <a:cs typeface="Arial"/>
              <a:sym typeface="Arial"/>
            </a:endParaRPr>
          </a:p>
          <a:p>
            <a:pPr indent="-292100" lvl="0" marL="292100" marR="0" rtl="0" algn="l">
              <a:lnSpc>
                <a:spcPct val="100000"/>
              </a:lnSpc>
              <a:spcBef>
                <a:spcPts val="1200"/>
              </a:spcBef>
              <a:spcAft>
                <a:spcPts val="0"/>
              </a:spcAft>
              <a:buClr>
                <a:srgbClr val="232323"/>
              </a:buClr>
              <a:buSzPts val="2214"/>
              <a:buFont typeface="Gill Sans"/>
              <a:buChar char="•"/>
            </a:pPr>
            <a:r>
              <a:rPr b="0" i="0" lang="en-US" sz="2700" u="none" cap="none" strike="noStrike">
                <a:solidFill>
                  <a:srgbClr val="232323"/>
                </a:solidFill>
                <a:latin typeface="Gill Sans"/>
                <a:ea typeface="Gill Sans"/>
                <a:cs typeface="Gill Sans"/>
                <a:sym typeface="Gill Sans"/>
              </a:rPr>
              <a:t>„probability of recovering data for studies &gt; 20 years ago is close to zero“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00"/>
                </a:solidFill>
                <a:latin typeface="Gill Sans"/>
                <a:ea typeface="Gill Sans"/>
                <a:cs typeface="Gill Sans"/>
                <a:sym typeface="Gill Sans"/>
              </a:rPr>
              <a:t>Across all fields: the odds a dataset still exists fall ~17% per year (Vines et al. 2014)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9"/>
          <p:cNvSpPr txBox="1"/>
          <p:nvPr>
            <p:ph type="title"/>
          </p:nvPr>
        </p:nvSpPr>
        <p:spPr>
          <a:xfrm>
            <a:off x="379306" y="147054"/>
            <a:ext cx="8246792" cy="1162212"/>
          </a:xfrm>
          <a:prstGeom prst="rect">
            <a:avLst/>
          </a:prstGeom>
          <a:noFill/>
          <a:ln>
            <a:noFill/>
          </a:ln>
        </p:spPr>
        <p:txBody>
          <a:bodyPr anchorCtr="0" anchor="ctr" bIns="65000" lIns="65000" spcFirstLastPara="1" rIns="65000" wrap="square" tIns="65000">
            <a:normAutofit/>
          </a:bodyPr>
          <a:lstStyle/>
          <a:p>
            <a:pPr indent="0" lvl="0" marL="0" rtl="0" algn="l">
              <a:lnSpc>
                <a:spcPct val="100000"/>
              </a:lnSpc>
              <a:spcBef>
                <a:spcPts val="0"/>
              </a:spcBef>
              <a:spcAft>
                <a:spcPts val="0"/>
              </a:spcAft>
              <a:buClr>
                <a:srgbClr val="000000"/>
              </a:buClr>
              <a:buSzPts val="5900"/>
              <a:buFont typeface="Arial"/>
              <a:buNone/>
            </a:pPr>
            <a:r>
              <a:rPr b="1" lang="en-US" sz="5900" cap="none">
                <a:solidFill>
                  <a:srgbClr val="000000"/>
                </a:solidFill>
                <a:latin typeface="Arial"/>
                <a:ea typeface="Arial"/>
                <a:cs typeface="Arial"/>
                <a:sym typeface="Arial"/>
              </a:rPr>
              <a:t>Why open data?</a:t>
            </a:r>
            <a:endParaRPr/>
          </a:p>
        </p:txBody>
      </p:sp>
      <p:sp>
        <p:nvSpPr>
          <p:cNvPr id="151" name="Google Shape;151;p19"/>
          <p:cNvSpPr txBox="1"/>
          <p:nvPr>
            <p:ph idx="1" type="body"/>
          </p:nvPr>
        </p:nvSpPr>
        <p:spPr>
          <a:xfrm>
            <a:off x="344169" y="1794030"/>
            <a:ext cx="12161592" cy="7203075"/>
          </a:xfrm>
          <a:prstGeom prst="rect">
            <a:avLst/>
          </a:prstGeom>
          <a:noFill/>
          <a:ln>
            <a:noFill/>
          </a:ln>
        </p:spPr>
        <p:txBody>
          <a:bodyPr anchorCtr="0" anchor="t" bIns="65000" lIns="65000" spcFirstLastPara="1" rIns="65000" wrap="square" tIns="65000">
            <a:normAutofit/>
          </a:bodyPr>
          <a:lstStyle/>
          <a:p>
            <a:pPr indent="0" lvl="0" marL="0" marR="0" rtl="0" algn="l">
              <a:lnSpc>
                <a:spcPct val="100000"/>
              </a:lnSpc>
              <a:spcBef>
                <a:spcPts val="0"/>
              </a:spcBef>
              <a:spcAft>
                <a:spcPts val="0"/>
              </a:spcAft>
              <a:buSzPts val="3600"/>
              <a:buNone/>
            </a:pPr>
            <a:r>
              <a:rPr b="0" i="1" lang="en-US" sz="3600" u="none" cap="none" strike="noStrike">
                <a:solidFill>
                  <a:srgbClr val="000000"/>
                </a:solidFill>
                <a:latin typeface="Arial"/>
                <a:ea typeface="Arial"/>
                <a:cs typeface="Arial"/>
                <a:sym typeface="Arial"/>
              </a:rPr>
              <a:t>5. More and more funders and journals demand it.</a:t>
            </a:r>
            <a:endParaRPr/>
          </a:p>
        </p:txBody>
      </p:sp>
      <p:sp>
        <p:nvSpPr>
          <p:cNvPr id="152" name="Google Shape;152;p19"/>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
        <p:nvSpPr>
          <p:cNvPr id="153" name="Google Shape;153;p19"/>
          <p:cNvSpPr txBox="1"/>
          <p:nvPr/>
        </p:nvSpPr>
        <p:spPr>
          <a:xfrm>
            <a:off x="9695902" y="3333475"/>
            <a:ext cx="2940000" cy="346800"/>
          </a:xfrm>
          <a:prstGeom prst="rect">
            <a:avLst/>
          </a:prstGeom>
          <a:noFill/>
          <a:ln>
            <a:noFill/>
          </a:ln>
        </p:spPr>
        <p:txBody>
          <a:bodyPr anchorCtr="0" anchor="t" bIns="65000" lIns="65000" spcFirstLastPara="1" rIns="65000" wrap="square" tIns="65000">
            <a:spAutoFit/>
          </a:bodyPr>
          <a:lstStyle/>
          <a:p>
            <a:pPr indent="0" lvl="0" marL="0" marR="0" rtl="0" algn="r">
              <a:lnSpc>
                <a:spcPct val="100000"/>
              </a:lnSpc>
              <a:spcBef>
                <a:spcPts val="0"/>
              </a:spcBef>
              <a:spcAft>
                <a:spcPts val="0"/>
              </a:spcAft>
              <a:buClr>
                <a:srgbClr val="535353"/>
              </a:buClr>
              <a:buSzPts val="1400"/>
              <a:buFont typeface="Helvetica Neue"/>
              <a:buNone/>
            </a:pPr>
            <a:r>
              <a:rPr b="0" i="0" lang="en-US" sz="1400" u="none" cap="none" strike="noStrike">
                <a:solidFill>
                  <a:srgbClr val="535353"/>
                </a:solidFill>
                <a:latin typeface="Helvetica Neue"/>
                <a:ea typeface="Helvetica Neue"/>
                <a:cs typeface="Helvetica Neue"/>
                <a:sym typeface="Helvetica Neue"/>
              </a:rPr>
              <a:t>https://www.topfactor.org</a:t>
            </a:r>
            <a:endParaRPr b="0" i="0" sz="1400" u="none" cap="none" strike="noStrike">
              <a:solidFill>
                <a:srgbClr val="000000"/>
              </a:solidFill>
              <a:latin typeface="Arial"/>
              <a:ea typeface="Arial"/>
              <a:cs typeface="Arial"/>
              <a:sym typeface="Arial"/>
            </a:endParaRPr>
          </a:p>
        </p:txBody>
      </p:sp>
      <p:pic>
        <p:nvPicPr>
          <p:cNvPr descr="top_logo.262aafd6.png" id="154" name="Google Shape;154;p19"/>
          <p:cNvPicPr preferRelativeResize="0"/>
          <p:nvPr/>
        </p:nvPicPr>
        <p:blipFill rotWithShape="1">
          <a:blip r:embed="rId3">
            <a:alphaModFix/>
          </a:blip>
          <a:srcRect b="0" l="0" r="0" t="0"/>
          <a:stretch/>
        </p:blipFill>
        <p:spPr>
          <a:xfrm>
            <a:off x="9146353" y="2724161"/>
            <a:ext cx="3513698" cy="609313"/>
          </a:xfrm>
          <a:prstGeom prst="rect">
            <a:avLst/>
          </a:prstGeom>
          <a:noFill/>
          <a:ln>
            <a:noFill/>
          </a:ln>
        </p:spPr>
      </p:pic>
      <p:pic>
        <p:nvPicPr>
          <p:cNvPr descr="pasted-image.png" id="155" name="Google Shape;155;p19"/>
          <p:cNvPicPr preferRelativeResize="0"/>
          <p:nvPr/>
        </p:nvPicPr>
        <p:blipFill rotWithShape="1">
          <a:blip r:embed="rId4">
            <a:alphaModFix/>
          </a:blip>
          <a:srcRect b="0" l="0" r="0" t="0"/>
          <a:stretch/>
        </p:blipFill>
        <p:spPr>
          <a:xfrm>
            <a:off x="152400" y="2711164"/>
            <a:ext cx="8407835" cy="6925163"/>
          </a:xfrm>
          <a:prstGeom prst="rect">
            <a:avLst/>
          </a:prstGeom>
          <a:noFill/>
          <a:ln>
            <a:noFill/>
          </a:ln>
          <a:effectLst>
            <a:outerShdw blurRad="114300" rotWithShape="0" dir="2220895" dist="88900">
              <a:srgbClr val="000000">
                <a:alpha val="28627"/>
              </a:srgbClr>
            </a:outerShdw>
          </a:effectLst>
        </p:spPr>
      </p:pic>
      <p:grpSp>
        <p:nvGrpSpPr>
          <p:cNvPr id="156" name="Google Shape;156;p19"/>
          <p:cNvGrpSpPr/>
          <p:nvPr/>
        </p:nvGrpSpPr>
        <p:grpSpPr>
          <a:xfrm>
            <a:off x="4851400" y="2743200"/>
            <a:ext cx="6976784" cy="6861093"/>
            <a:chOff x="0" y="0"/>
            <a:chExt cx="6976783" cy="6861092"/>
          </a:xfrm>
        </p:grpSpPr>
        <p:sp>
          <p:nvSpPr>
            <p:cNvPr id="157" name="Google Shape;157;p19"/>
            <p:cNvSpPr/>
            <p:nvPr/>
          </p:nvSpPr>
          <p:spPr>
            <a:xfrm>
              <a:off x="0" y="0"/>
              <a:ext cx="1177826" cy="6861092"/>
            </a:xfrm>
            <a:prstGeom prst="rect">
              <a:avLst/>
            </a:prstGeom>
            <a:noFill/>
            <a:ln cap="flat" cmpd="sng" w="38100">
              <a:solidFill>
                <a:srgbClr val="EA000B"/>
              </a:solidFill>
              <a:prstDash val="solid"/>
              <a:round/>
              <a:headEnd len="sm" w="sm" type="none"/>
              <a:tailEnd len="sm" w="sm" type="none"/>
            </a:ln>
          </p:spPr>
          <p:txBody>
            <a:bodyPr anchorCtr="0" anchor="ctr" bIns="65000" lIns="65000" spcFirstLastPara="1" rIns="65000" wrap="square" tIns="65000">
              <a:noAutofit/>
            </a:bodyPr>
            <a:lstStyle/>
            <a:p>
              <a:pPr indent="0" lvl="0" marL="0" marR="0" rtl="0" algn="l">
                <a:lnSpc>
                  <a:spcPct val="100000"/>
                </a:lnSpc>
                <a:spcBef>
                  <a:spcPts val="0"/>
                </a:spcBef>
                <a:spcAft>
                  <a:spcPts val="0"/>
                </a:spcAft>
                <a:buClr>
                  <a:srgbClr val="000000"/>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158" name="Google Shape;158;p19"/>
            <p:cNvSpPr/>
            <p:nvPr/>
          </p:nvSpPr>
          <p:spPr>
            <a:xfrm>
              <a:off x="948925" y="1727200"/>
              <a:ext cx="6027858" cy="1546614"/>
            </a:xfrm>
            <a:custGeom>
              <a:rect b="b" l="l" r="r" t="t"/>
              <a:pathLst>
                <a:path extrusionOk="0" h="21600" w="21600">
                  <a:moveTo>
                    <a:pt x="1966" y="0"/>
                  </a:moveTo>
                  <a:cubicBezTo>
                    <a:pt x="1749" y="0"/>
                    <a:pt x="1573" y="620"/>
                    <a:pt x="1573" y="1386"/>
                  </a:cubicBezTo>
                  <a:lnTo>
                    <a:pt x="1573" y="7865"/>
                  </a:lnTo>
                  <a:lnTo>
                    <a:pt x="0" y="10636"/>
                  </a:lnTo>
                  <a:lnTo>
                    <a:pt x="1573" y="13413"/>
                  </a:lnTo>
                  <a:lnTo>
                    <a:pt x="1573" y="20209"/>
                  </a:lnTo>
                  <a:cubicBezTo>
                    <a:pt x="1573" y="20975"/>
                    <a:pt x="1749" y="21600"/>
                    <a:pt x="1966" y="21600"/>
                  </a:cubicBezTo>
                  <a:lnTo>
                    <a:pt x="21207" y="21600"/>
                  </a:lnTo>
                  <a:cubicBezTo>
                    <a:pt x="21424" y="21600"/>
                    <a:pt x="21600" y="20975"/>
                    <a:pt x="21600" y="20209"/>
                  </a:cubicBezTo>
                  <a:lnTo>
                    <a:pt x="21600" y="1386"/>
                  </a:lnTo>
                  <a:cubicBezTo>
                    <a:pt x="21600" y="620"/>
                    <a:pt x="21424" y="0"/>
                    <a:pt x="21207" y="0"/>
                  </a:cubicBezTo>
                  <a:lnTo>
                    <a:pt x="1966" y="0"/>
                  </a:lnTo>
                  <a:close/>
                </a:path>
              </a:pathLst>
            </a:custGeom>
            <a:gradFill>
              <a:gsLst>
                <a:gs pos="0">
                  <a:srgbClr val="AEE2C8"/>
                </a:gs>
                <a:gs pos="100000">
                  <a:srgbClr val="D3E8BB"/>
                </a:gs>
              </a:gsLst>
              <a:lin ang="16200000" scaled="0"/>
            </a:gradFill>
            <a:ln cap="flat" cmpd="sng" w="25400">
              <a:solidFill>
                <a:srgbClr val="01843B"/>
              </a:solidFill>
              <a:prstDash val="solid"/>
              <a:round/>
              <a:headEnd len="sm" w="sm" type="none"/>
              <a:tailEnd len="sm" w="sm" type="none"/>
            </a:ln>
            <a:effectLst>
              <a:outerShdw blurRad="50800" rotWithShape="0" dir="5400000" dist="25400">
                <a:srgbClr val="000000">
                  <a:alpha val="34902"/>
                </a:srgbClr>
              </a:outerShdw>
            </a:effectLst>
          </p:spPr>
          <p:txBody>
            <a:bodyPr anchorCtr="0" anchor="ctr" bIns="127000" lIns="127000" spcFirstLastPara="1" rIns="127000" wrap="square" tIns="127000">
              <a:noAutofit/>
            </a:bodyPr>
            <a:lstStyle/>
            <a:p>
              <a:pPr indent="0" lvl="0" marL="45720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TOP level 3: Data must be posted to a trusted repository, and reported analyses will be reproduced independently prior to publication.</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0"/>
          <p:cNvSpPr txBox="1"/>
          <p:nvPr>
            <p:ph type="title"/>
          </p:nvPr>
        </p:nvSpPr>
        <p:spPr>
          <a:xfrm>
            <a:off x="379306" y="147054"/>
            <a:ext cx="8246700" cy="1162200"/>
          </a:xfrm>
          <a:prstGeom prst="rect">
            <a:avLst/>
          </a:prstGeom>
          <a:noFill/>
          <a:ln>
            <a:noFill/>
          </a:ln>
        </p:spPr>
        <p:txBody>
          <a:bodyPr anchorCtr="0" anchor="ctr" bIns="65000" lIns="65000" spcFirstLastPara="1" rIns="65000" wrap="square" tIns="65000">
            <a:normAutofit/>
          </a:bodyPr>
          <a:lstStyle/>
          <a:p>
            <a:pPr indent="0" lvl="0" marL="0" rtl="0" algn="l">
              <a:lnSpc>
                <a:spcPct val="100000"/>
              </a:lnSpc>
              <a:spcBef>
                <a:spcPts val="0"/>
              </a:spcBef>
              <a:spcAft>
                <a:spcPts val="0"/>
              </a:spcAft>
              <a:buClr>
                <a:srgbClr val="000000"/>
              </a:buClr>
              <a:buSzPts val="5900"/>
              <a:buFont typeface="Arial"/>
              <a:buNone/>
            </a:pPr>
            <a:r>
              <a:rPr b="1" lang="en-US" sz="5900" cap="none">
                <a:solidFill>
                  <a:srgbClr val="000000"/>
                </a:solidFill>
                <a:latin typeface="Arial"/>
                <a:ea typeface="Arial"/>
                <a:cs typeface="Arial"/>
                <a:sym typeface="Arial"/>
              </a:rPr>
              <a:t>Why open data?</a:t>
            </a:r>
            <a:endParaRPr/>
          </a:p>
        </p:txBody>
      </p:sp>
      <p:sp>
        <p:nvSpPr>
          <p:cNvPr id="164" name="Google Shape;164;p20"/>
          <p:cNvSpPr txBox="1"/>
          <p:nvPr>
            <p:ph idx="1" type="body"/>
          </p:nvPr>
        </p:nvSpPr>
        <p:spPr>
          <a:xfrm>
            <a:off x="344169" y="1794030"/>
            <a:ext cx="12161700" cy="7203000"/>
          </a:xfrm>
          <a:prstGeom prst="rect">
            <a:avLst/>
          </a:prstGeom>
          <a:noFill/>
          <a:ln>
            <a:noFill/>
          </a:ln>
        </p:spPr>
        <p:txBody>
          <a:bodyPr anchorCtr="0" anchor="t" bIns="65000" lIns="65000" spcFirstLastPara="1" rIns="65000" wrap="square" tIns="65000">
            <a:normAutofit/>
          </a:bodyPr>
          <a:lstStyle/>
          <a:p>
            <a:pPr indent="0" lvl="0" marL="0" marR="0" rtl="0" algn="l">
              <a:lnSpc>
                <a:spcPct val="100000"/>
              </a:lnSpc>
              <a:spcBef>
                <a:spcPts val="0"/>
              </a:spcBef>
              <a:spcAft>
                <a:spcPts val="0"/>
              </a:spcAft>
              <a:buSzPts val="3600"/>
              <a:buNone/>
            </a:pPr>
            <a:r>
              <a:rPr b="0" i="1" lang="en-US" sz="3600" u="none" cap="none" strike="noStrike">
                <a:solidFill>
                  <a:srgbClr val="000000"/>
                </a:solidFill>
                <a:latin typeface="Arial"/>
                <a:ea typeface="Arial"/>
                <a:cs typeface="Arial"/>
                <a:sym typeface="Arial"/>
              </a:rPr>
              <a:t>5. More and more funders</a:t>
            </a:r>
            <a:r>
              <a:rPr i="1" lang="en-US" sz="3600">
                <a:latin typeface="Arial"/>
                <a:ea typeface="Arial"/>
                <a:cs typeface="Arial"/>
                <a:sym typeface="Arial"/>
              </a:rPr>
              <a:t>, </a:t>
            </a:r>
            <a:r>
              <a:rPr b="0" i="1" lang="en-US" sz="3600" u="none" cap="none" strike="noStrike">
                <a:solidFill>
                  <a:srgbClr val="000000"/>
                </a:solidFill>
                <a:latin typeface="Arial"/>
                <a:ea typeface="Arial"/>
                <a:cs typeface="Arial"/>
                <a:sym typeface="Arial"/>
              </a:rPr>
              <a:t>journals and policies demand it.</a:t>
            </a:r>
            <a:endParaRPr b="0" i="1" sz="3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SzPts val="3600"/>
              <a:buNone/>
            </a:pPr>
            <a:r>
              <a:t/>
            </a:r>
            <a:endParaRPr i="1"/>
          </a:p>
          <a:p>
            <a:pPr indent="0" lvl="0" marL="0" rtl="0" algn="l">
              <a:lnSpc>
                <a:spcPct val="100000"/>
              </a:lnSpc>
              <a:spcBef>
                <a:spcPts val="0"/>
              </a:spcBef>
              <a:spcAft>
                <a:spcPts val="0"/>
              </a:spcAft>
              <a:buClr>
                <a:schemeClr val="dk1"/>
              </a:buClr>
              <a:buSzPts val="3600"/>
              <a:buFont typeface="Arial"/>
              <a:buNone/>
            </a:pPr>
            <a:r>
              <a:rPr lang="en-US" sz="2700">
                <a:solidFill>
                  <a:schemeClr val="dk1"/>
                </a:solidFill>
                <a:latin typeface="Gill Sans"/>
                <a:ea typeface="Gill Sans"/>
                <a:cs typeface="Gill Sans"/>
                <a:sym typeface="Gill Sans"/>
              </a:rPr>
              <a:t>DFG Code of Conduct (2019): data availability is part of good scientific practice, binding for German universities; DFG (2022): requires statement on research data handling and allows to request the associated costs</a:t>
            </a:r>
            <a:endParaRPr sz="1400">
              <a:solidFill>
                <a:schemeClr val="dk1"/>
              </a:solidFill>
            </a:endParaRPr>
          </a:p>
          <a:p>
            <a:pPr indent="0" lvl="0" marL="0" rtl="0" algn="l">
              <a:lnSpc>
                <a:spcPct val="100000"/>
              </a:lnSpc>
              <a:spcBef>
                <a:spcPts val="1400"/>
              </a:spcBef>
              <a:spcAft>
                <a:spcPts val="0"/>
              </a:spcAft>
              <a:buClr>
                <a:schemeClr val="dk1"/>
              </a:buClr>
              <a:buSzPts val="3600"/>
              <a:buFont typeface="Arial"/>
              <a:buNone/>
            </a:pPr>
            <a:r>
              <a:rPr lang="en-US" sz="2700">
                <a:solidFill>
                  <a:schemeClr val="dk1"/>
                </a:solidFill>
                <a:latin typeface="Gill Sans"/>
                <a:ea typeface="Gill Sans"/>
                <a:cs typeface="Gill Sans"/>
                <a:sym typeface="Gill Sans"/>
              </a:rPr>
              <a:t>Horizon Europe (2021): data management plan + trusted repository are mandatory, „as open as possible, as closed as necessary“</a:t>
            </a:r>
            <a:endParaRPr sz="1400">
              <a:solidFill>
                <a:schemeClr val="dk1"/>
              </a:solidFill>
            </a:endParaRPr>
          </a:p>
          <a:p>
            <a:pPr indent="0" lvl="0" marL="0" rtl="0" algn="l">
              <a:lnSpc>
                <a:spcPct val="100000"/>
              </a:lnSpc>
              <a:spcBef>
                <a:spcPts val="1400"/>
              </a:spcBef>
              <a:spcAft>
                <a:spcPts val="0"/>
              </a:spcAft>
              <a:buSzPts val="3600"/>
              <a:buNone/>
            </a:pPr>
            <a:r>
              <a:rPr lang="en-US" sz="2700">
                <a:solidFill>
                  <a:schemeClr val="dk1"/>
                </a:solidFill>
                <a:latin typeface="Gill Sans"/>
                <a:ea typeface="Gill Sans"/>
                <a:cs typeface="Gill Sans"/>
                <a:sym typeface="Gill Sans"/>
              </a:rPr>
              <a:t>NIH (2023): a data management &amp; sharing plan for every grant, at the world's largest public research funder</a:t>
            </a:r>
            <a:endParaRPr sz="1400">
              <a:solidFill>
                <a:schemeClr val="dk1"/>
              </a:solidFill>
            </a:endParaRPr>
          </a:p>
          <a:p>
            <a:pPr indent="0" lvl="0" marL="0" rtl="0" algn="l">
              <a:lnSpc>
                <a:spcPct val="100000"/>
              </a:lnSpc>
              <a:spcBef>
                <a:spcPts val="1400"/>
              </a:spcBef>
              <a:spcAft>
                <a:spcPts val="0"/>
              </a:spcAft>
              <a:buClr>
                <a:schemeClr val="dk1"/>
              </a:buClr>
              <a:buSzPts val="3600"/>
              <a:buFont typeface="Arial"/>
              <a:buNone/>
            </a:pPr>
            <a:r>
              <a:t/>
            </a:r>
            <a:endParaRPr sz="1400">
              <a:solidFill>
                <a:schemeClr val="dk1"/>
              </a:solidFill>
            </a:endParaRPr>
          </a:p>
          <a:p>
            <a:pPr indent="0" lvl="0" marL="0" rtl="0" algn="l">
              <a:lnSpc>
                <a:spcPct val="100000"/>
              </a:lnSpc>
              <a:spcBef>
                <a:spcPts val="1400"/>
              </a:spcBef>
              <a:spcAft>
                <a:spcPts val="0"/>
              </a:spcAft>
              <a:buClr>
                <a:schemeClr val="dk1"/>
              </a:buClr>
              <a:buSzPts val="3600"/>
              <a:buFont typeface="Arial"/>
              <a:buNone/>
            </a:pPr>
            <a:r>
              <a:rPr b="1" lang="en-US" sz="2700">
                <a:solidFill>
                  <a:schemeClr val="dk1"/>
                </a:solidFill>
                <a:latin typeface="Gill Sans"/>
                <a:ea typeface="Gill Sans"/>
                <a:cs typeface="Gill Sans"/>
                <a:sym typeface="Gill Sans"/>
              </a:rPr>
              <a:t>Not a values debate anymore. A funding requirement.</a:t>
            </a:r>
            <a:endParaRPr i="1"/>
          </a:p>
        </p:txBody>
      </p:sp>
      <p:sp>
        <p:nvSpPr>
          <p:cNvPr id="165" name="Google Shape;165;p20"/>
          <p:cNvSpPr txBox="1"/>
          <p:nvPr>
            <p:ph idx="12" type="sldNum"/>
          </p:nvPr>
        </p:nvSpPr>
        <p:spPr>
          <a:xfrm>
            <a:off x="12289959" y="9238826"/>
            <a:ext cx="345900" cy="377700"/>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
        <p:nvSpPr>
          <p:cNvPr id="166" name="Google Shape;166;p20"/>
          <p:cNvSpPr txBox="1"/>
          <p:nvPr/>
        </p:nvSpPr>
        <p:spPr>
          <a:xfrm>
            <a:off x="365760" y="9052560"/>
            <a:ext cx="12161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DFG (2019) Guidelines for Safeguarding Good Research Practice; Horizon Europe AGA; NIH Data Management &amp; Sharing Policy (2023).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1"/>
          <p:cNvSpPr txBox="1"/>
          <p:nvPr>
            <p:ph type="title"/>
          </p:nvPr>
        </p:nvSpPr>
        <p:spPr>
          <a:xfrm>
            <a:off x="2474806" y="4295694"/>
            <a:ext cx="8246792" cy="1162212"/>
          </a:xfrm>
          <a:prstGeom prst="rect">
            <a:avLst/>
          </a:prstGeom>
          <a:noFill/>
          <a:ln>
            <a:noFill/>
          </a:ln>
        </p:spPr>
        <p:txBody>
          <a:bodyPr anchorCtr="0" anchor="ctr" bIns="65000" lIns="65000" spcFirstLastPara="1" rIns="65000" wrap="square" tIns="65000">
            <a:normAutofit/>
          </a:bodyPr>
          <a:lstStyle/>
          <a:p>
            <a:pPr indent="0" lvl="0" marL="0" marR="0" rtl="0" algn="ctr">
              <a:lnSpc>
                <a:spcPct val="100000"/>
              </a:lnSpc>
              <a:spcBef>
                <a:spcPts val="0"/>
              </a:spcBef>
              <a:spcAft>
                <a:spcPts val="0"/>
              </a:spcAft>
              <a:buClr>
                <a:srgbClr val="000000"/>
              </a:buClr>
              <a:buSzPts val="5000"/>
              <a:buFont typeface="Calibri"/>
              <a:buNone/>
            </a:pPr>
            <a:r>
              <a:rPr lang="en-US" sz="6000"/>
              <a:t>What is open data?</a:t>
            </a:r>
            <a:endParaRPr/>
          </a:p>
        </p:txBody>
      </p:sp>
      <p:sp>
        <p:nvSpPr>
          <p:cNvPr id="172" name="Google Shape;172;p21"/>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2"/>
          <p:cNvSpPr txBox="1"/>
          <p:nvPr>
            <p:ph type="title"/>
          </p:nvPr>
        </p:nvSpPr>
        <p:spPr>
          <a:xfrm>
            <a:off x="379306" y="147054"/>
            <a:ext cx="8246792" cy="1162212"/>
          </a:xfrm>
          <a:prstGeom prst="rect">
            <a:avLst/>
          </a:prstGeom>
          <a:noFill/>
          <a:ln>
            <a:noFill/>
          </a:ln>
        </p:spPr>
        <p:txBody>
          <a:bodyPr anchorCtr="0" anchor="ctr" bIns="65000" lIns="65000" spcFirstLastPara="1" rIns="65000" wrap="square" tIns="65000">
            <a:normAutofit/>
          </a:bodyPr>
          <a:lstStyle/>
          <a:p>
            <a:pPr indent="0" lvl="0" marL="0" rtl="0" algn="l">
              <a:lnSpc>
                <a:spcPct val="100000"/>
              </a:lnSpc>
              <a:spcBef>
                <a:spcPts val="0"/>
              </a:spcBef>
              <a:spcAft>
                <a:spcPts val="0"/>
              </a:spcAft>
              <a:buClr>
                <a:srgbClr val="000000"/>
              </a:buClr>
              <a:buSzPts val="5900"/>
              <a:buFont typeface="Arial"/>
              <a:buNone/>
            </a:pPr>
            <a:r>
              <a:rPr b="1" lang="en-US" sz="5900" cap="none">
                <a:solidFill>
                  <a:srgbClr val="000000"/>
                </a:solidFill>
                <a:latin typeface="Arial"/>
                <a:ea typeface="Arial"/>
                <a:cs typeface="Arial"/>
                <a:sym typeface="Arial"/>
              </a:rPr>
              <a:t>What is Data?</a:t>
            </a:r>
            <a:endParaRPr/>
          </a:p>
        </p:txBody>
      </p:sp>
      <p:sp>
        <p:nvSpPr>
          <p:cNvPr id="178" name="Google Shape;178;p22"/>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
        <p:nvSpPr>
          <p:cNvPr id="179" name="Google Shape;179;p22"/>
          <p:cNvSpPr txBox="1"/>
          <p:nvPr/>
        </p:nvSpPr>
        <p:spPr>
          <a:xfrm>
            <a:off x="65023" y="9349975"/>
            <a:ext cx="6372353" cy="319408"/>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808080"/>
              </a:buClr>
              <a:buSzPts val="1400"/>
              <a:buFont typeface="Calibri"/>
              <a:buNone/>
            </a:pPr>
            <a:r>
              <a:rPr b="0" i="0" lang="en-US" sz="1400" u="none" cap="none" strike="noStrike">
                <a:solidFill>
                  <a:srgbClr val="808080"/>
                </a:solidFill>
                <a:latin typeface="Arial"/>
                <a:ea typeface="Arial"/>
                <a:cs typeface="Arial"/>
                <a:sym typeface="Arial"/>
              </a:rPr>
              <a:t>Icon from flaticon.com by freepic</a:t>
            </a:r>
            <a:endParaRPr b="0" i="0" sz="1400" u="none" cap="none" strike="noStrike">
              <a:solidFill>
                <a:srgbClr val="000000"/>
              </a:solidFill>
              <a:latin typeface="Arial"/>
              <a:ea typeface="Arial"/>
              <a:cs typeface="Arial"/>
              <a:sym typeface="Arial"/>
            </a:endParaRPr>
          </a:p>
        </p:txBody>
      </p:sp>
      <p:sp>
        <p:nvSpPr>
          <p:cNvPr id="180" name="Google Shape;180;p22"/>
          <p:cNvSpPr txBox="1"/>
          <p:nvPr/>
        </p:nvSpPr>
        <p:spPr>
          <a:xfrm>
            <a:off x="603787" y="2537318"/>
            <a:ext cx="10930382" cy="2219150"/>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000000"/>
              </a:buClr>
              <a:buSzPts val="3400"/>
              <a:buFont typeface="Calibri"/>
              <a:buNone/>
            </a:pPr>
            <a:r>
              <a:rPr b="0" i="0" lang="en-US" sz="3400" u="none" cap="none" strike="noStrike">
                <a:solidFill>
                  <a:srgbClr val="000000"/>
                </a:solidFill>
                <a:latin typeface="Gill Sans"/>
                <a:ea typeface="Gill Sans"/>
                <a:cs typeface="Gill Sans"/>
                <a:sym typeface="Gill Sans"/>
              </a:rPr>
              <a:t>“The recorded factual material commonly retained by and accepted in the scientific community as necessary to validate research findings.”</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3400"/>
              <a:buFont typeface="Calibri"/>
              <a:buNone/>
            </a:pPr>
            <a:r>
              <a:rPr b="0" i="0" lang="en-US" sz="3400" u="none" cap="none" strike="noStrike">
                <a:solidFill>
                  <a:srgbClr val="000000"/>
                </a:solidFill>
                <a:latin typeface="Gill Sans"/>
                <a:ea typeface="Gill Sans"/>
                <a:cs typeface="Gill Sans"/>
                <a:sym typeface="Gill Sans"/>
              </a:rPr>
              <a:t>(EPSRC, 2018)</a:t>
            </a:r>
            <a:endParaRPr b="0" i="0" sz="1400" u="none" cap="none" strike="noStrike">
              <a:solidFill>
                <a:srgbClr val="000000"/>
              </a:solidFill>
              <a:latin typeface="Arial"/>
              <a:ea typeface="Arial"/>
              <a:cs typeface="Arial"/>
              <a:sym typeface="Arial"/>
            </a:endParaRPr>
          </a:p>
        </p:txBody>
      </p:sp>
      <p:grpSp>
        <p:nvGrpSpPr>
          <p:cNvPr id="181" name="Google Shape;181;p22"/>
          <p:cNvGrpSpPr/>
          <p:nvPr/>
        </p:nvGrpSpPr>
        <p:grpSpPr>
          <a:xfrm>
            <a:off x="845185" y="5648536"/>
            <a:ext cx="11602884" cy="3077805"/>
            <a:chOff x="0" y="0"/>
            <a:chExt cx="11602882" cy="3077803"/>
          </a:xfrm>
        </p:grpSpPr>
        <p:pic>
          <p:nvPicPr>
            <p:cNvPr descr="Bild 4" id="182" name="Google Shape;182;p22"/>
            <p:cNvPicPr preferRelativeResize="0"/>
            <p:nvPr/>
          </p:nvPicPr>
          <p:blipFill rotWithShape="1">
            <a:blip r:embed="rId3">
              <a:alphaModFix/>
            </a:blip>
            <a:srcRect b="0" l="0" r="0" t="0"/>
            <a:stretch/>
          </p:blipFill>
          <p:spPr>
            <a:xfrm>
              <a:off x="7885676" y="0"/>
              <a:ext cx="3717206" cy="3077803"/>
            </a:xfrm>
            <a:prstGeom prst="rect">
              <a:avLst/>
            </a:prstGeom>
            <a:noFill/>
            <a:ln>
              <a:noFill/>
            </a:ln>
          </p:spPr>
        </p:pic>
        <p:sp>
          <p:nvSpPr>
            <p:cNvPr id="183" name="Google Shape;183;p22"/>
            <p:cNvSpPr/>
            <p:nvPr/>
          </p:nvSpPr>
          <p:spPr>
            <a:xfrm>
              <a:off x="0" y="614468"/>
              <a:ext cx="1740994" cy="921703"/>
            </a:xfrm>
            <a:prstGeom prst="rightArrow">
              <a:avLst>
                <a:gd fmla="val 50000" name="adj1"/>
                <a:gd fmla="val 50000" name="adj2"/>
              </a:avLst>
            </a:prstGeom>
            <a:gradFill>
              <a:gsLst>
                <a:gs pos="0">
                  <a:srgbClr val="00883D"/>
                </a:gs>
                <a:gs pos="100000">
                  <a:srgbClr val="A3E4AF"/>
                </a:gs>
              </a:gsLst>
              <a:lin ang="16200000" scaled="0"/>
            </a:gradFill>
            <a:ln cap="flat" cmpd="sng" w="12700">
              <a:solidFill>
                <a:srgbClr val="01843B"/>
              </a:solidFill>
              <a:prstDash val="solid"/>
              <a:round/>
              <a:headEnd len="sm" w="sm" type="none"/>
              <a:tailEnd len="sm" w="sm" type="none"/>
            </a:ln>
            <a:effectLst>
              <a:outerShdw blurRad="50800" rotWithShape="0" dir="5400000" dist="25400">
                <a:srgbClr val="000000">
                  <a:alpha val="34902"/>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FFFFFF"/>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184" name="Google Shape;184;p22"/>
            <p:cNvSpPr txBox="1"/>
            <p:nvPr/>
          </p:nvSpPr>
          <p:spPr>
            <a:xfrm>
              <a:off x="2010841" y="512057"/>
              <a:ext cx="7243500" cy="2224800"/>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000000"/>
                </a:buClr>
                <a:buSzPts val="3400"/>
                <a:buFont typeface="Calibri"/>
                <a:buNone/>
              </a:pPr>
              <a:r>
                <a:rPr b="1" lang="en-US" sz="3400">
                  <a:latin typeface="Gill Sans"/>
                  <a:ea typeface="Gill Sans"/>
                  <a:cs typeface="Gill Sans"/>
                  <a:sym typeface="Gill Sans"/>
                </a:rPr>
                <a:t>Anything and everything produced in the course of research.</a:t>
              </a:r>
              <a:endParaRPr b="1" sz="3400">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3400"/>
                <a:buFont typeface="Calibri"/>
                <a:buNone/>
              </a:pPr>
              <a:r>
                <a:rPr lang="en-US" sz="3400">
                  <a:latin typeface="Gill Sans"/>
                  <a:ea typeface="Gill Sans"/>
                  <a:cs typeface="Gill Sans"/>
                  <a:sym typeface="Gill Sans"/>
                </a:rPr>
                <a:t>			       </a:t>
              </a:r>
              <a:endParaRPr sz="3400">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3400"/>
                <a:buFont typeface="Calibri"/>
                <a:buNone/>
              </a:pPr>
              <a:r>
                <a:rPr lang="en-US" sz="3400">
                  <a:latin typeface="Gill Sans"/>
                  <a:ea typeface="Gill Sans"/>
                  <a:cs typeface="Gill Sans"/>
                  <a:sym typeface="Gill Sans"/>
                </a:rPr>
                <a:t>Lynch (2014) </a:t>
              </a:r>
              <a:r>
                <a:rPr b="0" i="0" lang="en-US" sz="34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txBox="1"/>
          <p:nvPr>
            <p:ph type="title"/>
          </p:nvPr>
        </p:nvSpPr>
        <p:spPr>
          <a:xfrm>
            <a:off x="379306" y="147054"/>
            <a:ext cx="8246792" cy="1162212"/>
          </a:xfrm>
          <a:prstGeom prst="rect">
            <a:avLst/>
          </a:prstGeom>
          <a:noFill/>
          <a:ln>
            <a:noFill/>
          </a:ln>
        </p:spPr>
        <p:txBody>
          <a:bodyPr anchorCtr="0" anchor="ctr" bIns="65000" lIns="65000" spcFirstLastPara="1" rIns="65000" wrap="square" tIns="65000">
            <a:normAutofit/>
          </a:bodyPr>
          <a:lstStyle/>
          <a:p>
            <a:pPr indent="0" lvl="0" marL="0" rtl="0" algn="l">
              <a:lnSpc>
                <a:spcPct val="100000"/>
              </a:lnSpc>
              <a:spcBef>
                <a:spcPts val="0"/>
              </a:spcBef>
              <a:spcAft>
                <a:spcPts val="0"/>
              </a:spcAft>
              <a:buClr>
                <a:srgbClr val="000000"/>
              </a:buClr>
              <a:buSzPts val="5900"/>
              <a:buFont typeface="Arial"/>
              <a:buNone/>
            </a:pPr>
            <a:r>
              <a:rPr b="1" lang="en-US" sz="5900" cap="none">
                <a:solidFill>
                  <a:srgbClr val="000000"/>
                </a:solidFill>
                <a:latin typeface="Arial"/>
                <a:ea typeface="Arial"/>
                <a:cs typeface="Arial"/>
                <a:sym typeface="Arial"/>
              </a:rPr>
              <a:t>What is Data?</a:t>
            </a:r>
            <a:endParaRPr/>
          </a:p>
        </p:txBody>
      </p:sp>
      <p:sp>
        <p:nvSpPr>
          <p:cNvPr id="190" name="Google Shape;190;p23"/>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
        <p:nvSpPr>
          <p:cNvPr id="191" name="Google Shape;191;p23"/>
          <p:cNvSpPr txBox="1"/>
          <p:nvPr/>
        </p:nvSpPr>
        <p:spPr>
          <a:xfrm>
            <a:off x="65023" y="9178077"/>
            <a:ext cx="12874753" cy="548008"/>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808080"/>
              </a:buClr>
              <a:buSzPts val="1400"/>
              <a:buFont typeface="Calibri"/>
              <a:buNone/>
            </a:pPr>
            <a:r>
              <a:rPr b="0" i="0" lang="en-US" sz="1400" u="none" cap="none" strike="noStrike">
                <a:solidFill>
                  <a:srgbClr val="808080"/>
                </a:solidFill>
                <a:latin typeface="Arial"/>
                <a:ea typeface="Arial"/>
                <a:cs typeface="Arial"/>
                <a:sym typeface="Arial"/>
              </a:rPr>
              <a:t>Pictures from en.wikipedia.org/w/index.php?curid=36808161;  pixabay.com; pxhere.com/en/photo/1192476; pxhere.com/en/photo/914805; pxhere.com/en/photo/595225; commons.wikimedia.org/wiki/File:Gdp_real_growth_rate_2007_CIA_Factbook.PNG</a:t>
            </a:r>
            <a:endParaRPr b="0" i="0" sz="1400" u="none" cap="none" strike="noStrike">
              <a:solidFill>
                <a:srgbClr val="000000"/>
              </a:solidFill>
              <a:latin typeface="Arial"/>
              <a:ea typeface="Arial"/>
              <a:cs typeface="Arial"/>
              <a:sym typeface="Arial"/>
            </a:endParaRPr>
          </a:p>
        </p:txBody>
      </p:sp>
      <p:pic>
        <p:nvPicPr>
          <p:cNvPr descr="Picture 2" id="192" name="Google Shape;192;p23"/>
          <p:cNvPicPr preferRelativeResize="0"/>
          <p:nvPr/>
        </p:nvPicPr>
        <p:blipFill rotWithShape="1">
          <a:blip r:embed="rId3">
            <a:alphaModFix/>
          </a:blip>
          <a:srcRect b="0" l="0" r="0" t="0"/>
          <a:stretch/>
        </p:blipFill>
        <p:spPr>
          <a:xfrm>
            <a:off x="564974" y="1865643"/>
            <a:ext cx="4293630" cy="2504618"/>
          </a:xfrm>
          <a:prstGeom prst="rect">
            <a:avLst/>
          </a:prstGeom>
          <a:noFill/>
          <a:ln>
            <a:noFill/>
          </a:ln>
        </p:spPr>
      </p:pic>
      <p:pic>
        <p:nvPicPr>
          <p:cNvPr descr="Picture 4" id="193" name="Google Shape;193;p23"/>
          <p:cNvPicPr preferRelativeResize="0"/>
          <p:nvPr/>
        </p:nvPicPr>
        <p:blipFill rotWithShape="1">
          <a:blip r:embed="rId4">
            <a:alphaModFix/>
          </a:blip>
          <a:srcRect b="0" l="0" r="0" t="0"/>
          <a:stretch/>
        </p:blipFill>
        <p:spPr>
          <a:xfrm>
            <a:off x="5363174" y="2091218"/>
            <a:ext cx="5042006" cy="2333899"/>
          </a:xfrm>
          <a:prstGeom prst="rect">
            <a:avLst/>
          </a:prstGeom>
          <a:noFill/>
          <a:ln>
            <a:noFill/>
          </a:ln>
        </p:spPr>
      </p:pic>
      <p:pic>
        <p:nvPicPr>
          <p:cNvPr descr="Picture 5" id="194" name="Google Shape;194;p23"/>
          <p:cNvPicPr preferRelativeResize="0"/>
          <p:nvPr/>
        </p:nvPicPr>
        <p:blipFill rotWithShape="1">
          <a:blip r:embed="rId5">
            <a:alphaModFix/>
          </a:blip>
          <a:srcRect b="0" l="17625" r="0" t="15741"/>
          <a:stretch/>
        </p:blipFill>
        <p:spPr>
          <a:xfrm>
            <a:off x="255305" y="5120875"/>
            <a:ext cx="4096456" cy="2793419"/>
          </a:xfrm>
          <a:prstGeom prst="rect">
            <a:avLst/>
          </a:prstGeom>
          <a:noFill/>
          <a:ln>
            <a:noFill/>
          </a:ln>
        </p:spPr>
      </p:pic>
      <p:pic>
        <p:nvPicPr>
          <p:cNvPr descr="Picture 7" id="195" name="Google Shape;195;p23"/>
          <p:cNvPicPr preferRelativeResize="0"/>
          <p:nvPr/>
        </p:nvPicPr>
        <p:blipFill rotWithShape="1">
          <a:blip r:embed="rId6">
            <a:alphaModFix/>
          </a:blip>
          <a:srcRect b="0" l="0" r="0" t="0"/>
          <a:stretch/>
        </p:blipFill>
        <p:spPr>
          <a:xfrm>
            <a:off x="4454172" y="5171475"/>
            <a:ext cx="4096456" cy="2730971"/>
          </a:xfrm>
          <a:prstGeom prst="rect">
            <a:avLst/>
          </a:prstGeom>
          <a:noFill/>
          <a:ln>
            <a:noFill/>
          </a:ln>
        </p:spPr>
      </p:pic>
      <p:pic>
        <p:nvPicPr>
          <p:cNvPr descr="Picture 11" id="196" name="Google Shape;196;p23"/>
          <p:cNvPicPr preferRelativeResize="0"/>
          <p:nvPr/>
        </p:nvPicPr>
        <p:blipFill rotWithShape="1">
          <a:blip r:embed="rId7">
            <a:alphaModFix/>
          </a:blip>
          <a:srcRect b="0" l="0" r="0" t="0"/>
          <a:stretch/>
        </p:blipFill>
        <p:spPr>
          <a:xfrm>
            <a:off x="8653039" y="5170262"/>
            <a:ext cx="4096456" cy="2730972"/>
          </a:xfrm>
          <a:prstGeom prst="rect">
            <a:avLst/>
          </a:prstGeom>
          <a:noFill/>
          <a:ln>
            <a:noFill/>
          </a:ln>
        </p:spPr>
      </p:pic>
      <p:pic>
        <p:nvPicPr>
          <p:cNvPr descr="Picture 13" id="197" name="Google Shape;197;p23"/>
          <p:cNvPicPr preferRelativeResize="0"/>
          <p:nvPr/>
        </p:nvPicPr>
        <p:blipFill rotWithShape="1">
          <a:blip r:embed="rId8">
            <a:alphaModFix/>
          </a:blip>
          <a:srcRect b="6445" l="30240" r="28180" t="945"/>
          <a:stretch/>
        </p:blipFill>
        <p:spPr>
          <a:xfrm>
            <a:off x="10478924" y="1619668"/>
            <a:ext cx="2207071" cy="3277166"/>
          </a:xfrm>
          <a:prstGeom prst="rect">
            <a:avLst/>
          </a:prstGeom>
          <a:noFill/>
          <a:ln>
            <a:noFill/>
          </a:ln>
        </p:spPr>
      </p:pic>
      <p:sp>
        <p:nvSpPr>
          <p:cNvPr id="198" name="Google Shape;198;p23"/>
          <p:cNvSpPr txBox="1"/>
          <p:nvPr/>
        </p:nvSpPr>
        <p:spPr>
          <a:xfrm>
            <a:off x="1505683" y="8290431"/>
            <a:ext cx="10435702" cy="511694"/>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Gill Sans"/>
                <a:ea typeface="Gill Sans"/>
                <a:cs typeface="Gill Sans"/>
                <a:sym typeface="Gill Sans"/>
              </a:rPr>
              <a:t>➙ we need field-specific definitions: What constitutes „research data“?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type="title"/>
          </p:nvPr>
        </p:nvSpPr>
        <p:spPr>
          <a:xfrm>
            <a:off x="379306" y="147054"/>
            <a:ext cx="8246792" cy="1162212"/>
          </a:xfrm>
          <a:prstGeom prst="rect">
            <a:avLst/>
          </a:prstGeom>
          <a:noFill/>
          <a:ln>
            <a:noFill/>
          </a:ln>
        </p:spPr>
        <p:txBody>
          <a:bodyPr anchorCtr="0" anchor="ctr" bIns="65000" lIns="65000" spcFirstLastPara="1" rIns="65000" wrap="square" tIns="65000">
            <a:normAutofit/>
          </a:bodyPr>
          <a:lstStyle/>
          <a:p>
            <a:pPr indent="0" lvl="0" marL="0" rtl="0" algn="l">
              <a:lnSpc>
                <a:spcPct val="100000"/>
              </a:lnSpc>
              <a:spcBef>
                <a:spcPts val="0"/>
              </a:spcBef>
              <a:spcAft>
                <a:spcPts val="0"/>
              </a:spcAft>
              <a:buClr>
                <a:srgbClr val="000000"/>
              </a:buClr>
              <a:buSzPts val="5900"/>
              <a:buFont typeface="Arial"/>
              <a:buNone/>
            </a:pPr>
            <a:r>
              <a:rPr b="1" lang="en-US" sz="5900" cap="none">
                <a:solidFill>
                  <a:srgbClr val="000000"/>
                </a:solidFill>
                <a:latin typeface="Arial"/>
                <a:ea typeface="Arial"/>
                <a:cs typeface="Arial"/>
                <a:sym typeface="Arial"/>
              </a:rPr>
              <a:t>Example: Psychology</a:t>
            </a:r>
            <a:endParaRPr/>
          </a:p>
        </p:txBody>
      </p:sp>
      <p:sp>
        <p:nvSpPr>
          <p:cNvPr id="204" name="Google Shape;204;p24"/>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pic>
        <p:nvPicPr>
          <p:cNvPr descr="Thus, primary data in psychology are unaltered (i.e., untransformed, not aggregated, etc.) quantitative or qualitative data available in digital form, e.g.:… Thus, primary data in psychology are unaltered (i.e., untransformed, not aggregated, etc.) quantitative or qualitative data available in digital form, e.g.: Each manipulated and measured variable of every experimental session of every study participant in an experiment; Each response of every person to each item in a survey;Original wording of inputs in free text fields; Digitized video recordings;  […].Primary data also include the data of cases that were excluded from the analyses (with the exception of those cases in which participants withdrew their consent during or after data collection). To summarize, we define primary data as the set of all data points collected during the course of a study or project, as initially digitized, but otherwise in a completely unaltered form. " id="205" name="Google Shape;205;p24"/>
          <p:cNvPicPr preferRelativeResize="0"/>
          <p:nvPr/>
        </p:nvPicPr>
        <p:blipFill rotWithShape="1">
          <a:blip r:embed="rId3">
            <a:alphaModFix/>
          </a:blip>
          <a:srcRect b="0" l="0" r="0" t="0"/>
          <a:stretch/>
        </p:blipFill>
        <p:spPr>
          <a:xfrm>
            <a:off x="412119" y="1977042"/>
            <a:ext cx="12180563" cy="6680201"/>
          </a:xfrm>
          <a:prstGeom prst="rect">
            <a:avLst/>
          </a:prstGeom>
          <a:noFill/>
          <a:ln>
            <a:noFill/>
          </a:ln>
          <a:effectLst>
            <a:outerShdw rotWithShape="0" dir="4430200" dist="101600">
              <a:srgbClr val="000000"/>
            </a:outerShdw>
          </a:effectLst>
        </p:spPr>
      </p:pic>
      <p:sp>
        <p:nvSpPr>
          <p:cNvPr id="206" name="Google Shape;206;p24"/>
          <p:cNvSpPr txBox="1"/>
          <p:nvPr/>
        </p:nvSpPr>
        <p:spPr>
          <a:xfrm>
            <a:off x="1031640" y="8761727"/>
            <a:ext cx="10602241" cy="431079"/>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000000"/>
              </a:buClr>
              <a:buSzPts val="2400"/>
              <a:buFont typeface="Calibri"/>
              <a:buNone/>
            </a:pPr>
            <a:r>
              <a:rPr b="0" i="0" lang="en-US" sz="1400" u="none" cap="none" strike="noStrike">
                <a:solidFill>
                  <a:srgbClr val="000000"/>
                </a:solidFill>
                <a:latin typeface="Arial"/>
                <a:ea typeface="Arial"/>
                <a:cs typeface="Arial"/>
                <a:sym typeface="Arial"/>
              </a:rPr>
              <a:t>Recommendations of the German Psychological Society, </a:t>
            </a:r>
            <a:r>
              <a:rPr b="0" i="0" lang="en-US" sz="1400" u="sng" cap="none" strike="noStrike">
                <a:solidFill>
                  <a:srgbClr val="1016F4"/>
                </a:solidFill>
                <a:latin typeface="Arial"/>
                <a:ea typeface="Arial"/>
                <a:cs typeface="Arial"/>
                <a:sym typeface="Arial"/>
                <a:hlinkClick r:id="rId4">
                  <a:extLst>
                    <a:ext uri="{A12FA001-AC4F-418D-AE19-62706E023703}">
                      <ahyp:hlinkClr val="tx"/>
                    </a:ext>
                  </a:extLst>
                </a:hlinkClick>
              </a:rPr>
              <a:t>https://psyarxiv.com/24ncs/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5"/>
          <p:cNvSpPr txBox="1"/>
          <p:nvPr>
            <p:ph type="title"/>
          </p:nvPr>
        </p:nvSpPr>
        <p:spPr>
          <a:xfrm>
            <a:off x="379300" y="147050"/>
            <a:ext cx="11387400" cy="1162200"/>
          </a:xfrm>
          <a:prstGeom prst="rect">
            <a:avLst/>
          </a:prstGeom>
          <a:noFill/>
          <a:ln>
            <a:noFill/>
          </a:ln>
        </p:spPr>
        <p:txBody>
          <a:bodyPr anchorCtr="0" anchor="ctr" bIns="65000" lIns="65000" spcFirstLastPara="1" rIns="65000" wrap="square" tIns="65000">
            <a:noAutofit/>
          </a:bodyPr>
          <a:lstStyle/>
          <a:p>
            <a:pPr indent="0" lvl="0" marL="0" rtl="0" algn="l">
              <a:lnSpc>
                <a:spcPct val="100000"/>
              </a:lnSpc>
              <a:spcBef>
                <a:spcPts val="0"/>
              </a:spcBef>
              <a:spcAft>
                <a:spcPts val="0"/>
              </a:spcAft>
              <a:buClr>
                <a:srgbClr val="000000"/>
              </a:buClr>
              <a:buSzPts val="5310"/>
              <a:buFont typeface="Arial"/>
              <a:buNone/>
            </a:pPr>
            <a:r>
              <a:rPr b="1" lang="en-US" sz="4660" cap="none">
                <a:solidFill>
                  <a:srgbClr val="000000"/>
                </a:solidFill>
                <a:latin typeface="Arial"/>
                <a:ea typeface="Arial"/>
                <a:cs typeface="Arial"/>
                <a:sym typeface="Arial"/>
              </a:rPr>
              <a:t>DFG S</a:t>
            </a:r>
            <a:r>
              <a:rPr b="1" lang="en-US" sz="4660">
                <a:latin typeface="Arial"/>
                <a:ea typeface="Arial"/>
                <a:cs typeface="Arial"/>
                <a:sym typeface="Arial"/>
              </a:rPr>
              <a:t>ubject Specific Recommendations</a:t>
            </a:r>
            <a:endParaRPr sz="3810"/>
          </a:p>
        </p:txBody>
      </p:sp>
      <p:sp>
        <p:nvSpPr>
          <p:cNvPr id="212" name="Google Shape;212;p25"/>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
        <p:nvSpPr>
          <p:cNvPr id="213" name="Google Shape;213;p25"/>
          <p:cNvSpPr txBox="1"/>
          <p:nvPr/>
        </p:nvSpPr>
        <p:spPr>
          <a:xfrm>
            <a:off x="10602087" y="9382900"/>
            <a:ext cx="2117822" cy="319408"/>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808080"/>
              </a:buClr>
              <a:buSzPts val="1400"/>
              <a:buFont typeface="Calibri"/>
              <a:buNone/>
            </a:pPr>
            <a:r>
              <a:rPr b="0" i="0" lang="en-US" sz="1400" u="none" cap="none" strike="noStrike">
                <a:solidFill>
                  <a:srgbClr val="808080"/>
                </a:solidFill>
                <a:latin typeface="Arial"/>
                <a:ea typeface="Arial"/>
                <a:cs typeface="Arial"/>
                <a:sym typeface="Arial"/>
              </a:rPr>
              <a:t>https://psyarxiv.com/vhx89</a:t>
            </a:r>
            <a:endParaRPr b="0" i="0" sz="1400" u="none" cap="none" strike="noStrike">
              <a:solidFill>
                <a:srgbClr val="000000"/>
              </a:solidFill>
              <a:latin typeface="Arial"/>
              <a:ea typeface="Arial"/>
              <a:cs typeface="Arial"/>
              <a:sym typeface="Arial"/>
            </a:endParaRPr>
          </a:p>
        </p:txBody>
      </p:sp>
      <p:sp>
        <p:nvSpPr>
          <p:cNvPr id="214" name="Google Shape;214;p25"/>
          <p:cNvSpPr txBox="1"/>
          <p:nvPr/>
        </p:nvSpPr>
        <p:spPr>
          <a:xfrm>
            <a:off x="409351" y="9264225"/>
            <a:ext cx="10192800" cy="346800"/>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1016F4"/>
              </a:buClr>
              <a:buSzPts val="1400"/>
              <a:buFont typeface="Helvetica Neue"/>
              <a:buNone/>
            </a:pPr>
            <a:r>
              <a:rPr b="0" i="0" lang="en-US" sz="1400" u="sng" cap="none" strike="noStrike">
                <a:solidFill>
                  <a:srgbClr val="1016F4"/>
                </a:solidFill>
                <a:latin typeface="Helvetica Neue"/>
                <a:ea typeface="Helvetica Neue"/>
                <a:cs typeface="Helvetica Neue"/>
                <a:sym typeface="Helvetica Neue"/>
                <a:hlinkClick r:id="rId3">
                  <a:extLst>
                    <a:ext uri="{A12FA001-AC4F-418D-AE19-62706E023703}">
                      <ahyp:hlinkClr val="tx"/>
                    </a:ext>
                  </a:extLst>
                </a:hlinkClick>
              </a:rPr>
              <a:t>https://www.dfg.de/foerderung/antrag_gutachter_gremien/antragstellende/nachnutzung_forschungsdaten/index.html</a:t>
            </a:r>
            <a:endParaRPr b="0" i="0" sz="1400" u="none" cap="none" strike="noStrike">
              <a:solidFill>
                <a:srgbClr val="000000"/>
              </a:solidFill>
              <a:latin typeface="Arial"/>
              <a:ea typeface="Arial"/>
              <a:cs typeface="Arial"/>
              <a:sym typeface="Arial"/>
            </a:endParaRPr>
          </a:p>
        </p:txBody>
      </p:sp>
      <p:pic>
        <p:nvPicPr>
          <p:cNvPr descr="pasted-image.png" id="215" name="Google Shape;215;p25"/>
          <p:cNvPicPr preferRelativeResize="0"/>
          <p:nvPr/>
        </p:nvPicPr>
        <p:blipFill rotWithShape="1">
          <a:blip r:embed="rId4">
            <a:alphaModFix/>
          </a:blip>
          <a:srcRect b="0" l="0" r="0" t="0"/>
          <a:stretch/>
        </p:blipFill>
        <p:spPr>
          <a:xfrm>
            <a:off x="1601075" y="1685965"/>
            <a:ext cx="8943842" cy="7201535"/>
          </a:xfrm>
          <a:prstGeom prst="rect">
            <a:avLst/>
          </a:prstGeom>
          <a:noFill/>
          <a:ln>
            <a:noFill/>
          </a:ln>
          <a:effectLst>
            <a:outerShdw blurRad="114300" rotWithShape="0" dir="2220895" dist="88900">
              <a:srgbClr val="000000">
                <a:alpha val="28627"/>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6"/>
          <p:cNvSpPr txBox="1"/>
          <p:nvPr>
            <p:ph type="title"/>
          </p:nvPr>
        </p:nvSpPr>
        <p:spPr>
          <a:xfrm>
            <a:off x="379299" y="147050"/>
            <a:ext cx="9586200" cy="1162200"/>
          </a:xfrm>
          <a:prstGeom prst="rect">
            <a:avLst/>
          </a:prstGeom>
          <a:noFill/>
          <a:ln>
            <a:noFill/>
          </a:ln>
        </p:spPr>
        <p:txBody>
          <a:bodyPr anchorCtr="0" anchor="ctr" bIns="65000" lIns="65000" spcFirstLastPara="1" rIns="65000" wrap="square" tIns="65000">
            <a:normAutofit/>
          </a:bodyPr>
          <a:lstStyle/>
          <a:p>
            <a:pPr indent="0" lvl="0" marL="0" marR="0" rtl="0" algn="l">
              <a:lnSpc>
                <a:spcPct val="100000"/>
              </a:lnSpc>
              <a:spcBef>
                <a:spcPts val="0"/>
              </a:spcBef>
              <a:spcAft>
                <a:spcPts val="0"/>
              </a:spcAft>
              <a:buClr>
                <a:srgbClr val="000000"/>
              </a:buClr>
              <a:buSzPts val="5664"/>
              <a:buFont typeface="Arial"/>
              <a:buNone/>
            </a:pPr>
            <a:r>
              <a:rPr b="1" lang="en-US" sz="5900">
                <a:latin typeface="Arial"/>
                <a:ea typeface="Arial"/>
                <a:cs typeface="Arial"/>
                <a:sym typeface="Arial"/>
              </a:rPr>
              <a:t>Not only open, but FAIR</a:t>
            </a:r>
            <a:endParaRPr/>
          </a:p>
        </p:txBody>
      </p:sp>
      <p:sp>
        <p:nvSpPr>
          <p:cNvPr id="221" name="Google Shape;221;p26"/>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
        <p:nvSpPr>
          <p:cNvPr id="222" name="Google Shape;222;p26"/>
          <p:cNvSpPr txBox="1"/>
          <p:nvPr/>
        </p:nvSpPr>
        <p:spPr>
          <a:xfrm>
            <a:off x="65023" y="9349975"/>
            <a:ext cx="6372353" cy="319408"/>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808080"/>
              </a:buClr>
              <a:buSzPts val="1400"/>
              <a:buFont typeface="Calibri"/>
              <a:buNone/>
            </a:pPr>
            <a:r>
              <a:rPr b="0" i="0" lang="en-US" sz="1400" u="none" cap="none" strike="noStrike">
                <a:solidFill>
                  <a:srgbClr val="808080"/>
                </a:solidFill>
                <a:latin typeface="Arial"/>
                <a:ea typeface="Arial"/>
                <a:cs typeface="Arial"/>
                <a:sym typeface="Arial"/>
              </a:rPr>
              <a:t>Icon from flaticon.com by freepic, mynamepong, monkik</a:t>
            </a:r>
            <a:endParaRPr b="0" i="0" sz="1400" u="none" cap="none" strike="noStrike">
              <a:solidFill>
                <a:srgbClr val="000000"/>
              </a:solidFill>
              <a:latin typeface="Arial"/>
              <a:ea typeface="Arial"/>
              <a:cs typeface="Arial"/>
              <a:sym typeface="Arial"/>
            </a:endParaRPr>
          </a:p>
        </p:txBody>
      </p:sp>
      <p:pic>
        <p:nvPicPr>
          <p:cNvPr descr="Picture 2" id="223" name="Google Shape;223;p26"/>
          <p:cNvPicPr preferRelativeResize="0"/>
          <p:nvPr/>
        </p:nvPicPr>
        <p:blipFill rotWithShape="1">
          <a:blip r:embed="rId3">
            <a:alphaModFix/>
          </a:blip>
          <a:srcRect b="0" l="0" r="0" t="0"/>
          <a:stretch/>
        </p:blipFill>
        <p:spPr>
          <a:xfrm>
            <a:off x="1036496" y="2899385"/>
            <a:ext cx="1732281" cy="1732280"/>
          </a:xfrm>
          <a:prstGeom prst="rect">
            <a:avLst/>
          </a:prstGeom>
          <a:noFill/>
          <a:ln>
            <a:noFill/>
          </a:ln>
        </p:spPr>
      </p:pic>
      <p:sp>
        <p:nvSpPr>
          <p:cNvPr id="224" name="Google Shape;224;p26"/>
          <p:cNvSpPr txBox="1"/>
          <p:nvPr/>
        </p:nvSpPr>
        <p:spPr>
          <a:xfrm>
            <a:off x="896698" y="5050024"/>
            <a:ext cx="2082177" cy="692520"/>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000000"/>
              </a:buClr>
              <a:buSzPts val="4400"/>
              <a:buFont typeface="Calibri"/>
              <a:buNone/>
            </a:pPr>
            <a:r>
              <a:rPr b="1" i="0" lang="en-US" sz="4400" u="none" cap="none" strike="noStrike">
                <a:solidFill>
                  <a:srgbClr val="000000"/>
                </a:solidFill>
                <a:latin typeface="Gill Sans"/>
                <a:ea typeface="Gill Sans"/>
                <a:cs typeface="Gill Sans"/>
                <a:sym typeface="Gill Sans"/>
              </a:rPr>
              <a:t>F</a:t>
            </a:r>
            <a:r>
              <a:rPr b="0" i="0" lang="en-US" sz="4400" u="none" cap="none" strike="noStrike">
                <a:solidFill>
                  <a:srgbClr val="000000"/>
                </a:solidFill>
                <a:latin typeface="Gill Sans"/>
                <a:ea typeface="Gill Sans"/>
                <a:cs typeface="Gill Sans"/>
                <a:sym typeface="Gill Sans"/>
              </a:rPr>
              <a:t>indable</a:t>
            </a:r>
            <a:endParaRPr b="0" i="0" sz="1400" u="none" cap="none" strike="noStrike">
              <a:solidFill>
                <a:srgbClr val="000000"/>
              </a:solidFill>
              <a:latin typeface="Arial"/>
              <a:ea typeface="Arial"/>
              <a:cs typeface="Arial"/>
              <a:sym typeface="Arial"/>
            </a:endParaRPr>
          </a:p>
        </p:txBody>
      </p:sp>
      <p:pic>
        <p:nvPicPr>
          <p:cNvPr descr="Picture 3" id="225" name="Google Shape;225;p26"/>
          <p:cNvPicPr preferRelativeResize="0"/>
          <p:nvPr/>
        </p:nvPicPr>
        <p:blipFill rotWithShape="1">
          <a:blip r:embed="rId4">
            <a:alphaModFix/>
          </a:blip>
          <a:srcRect b="0" l="0" r="0" t="0"/>
          <a:stretch/>
        </p:blipFill>
        <p:spPr>
          <a:xfrm>
            <a:off x="3904015" y="3001796"/>
            <a:ext cx="1638583" cy="1638583"/>
          </a:xfrm>
          <a:prstGeom prst="rect">
            <a:avLst/>
          </a:prstGeom>
          <a:noFill/>
          <a:ln>
            <a:noFill/>
          </a:ln>
        </p:spPr>
      </p:pic>
      <p:sp>
        <p:nvSpPr>
          <p:cNvPr id="226" name="Google Shape;226;p26"/>
          <p:cNvSpPr txBox="1"/>
          <p:nvPr/>
        </p:nvSpPr>
        <p:spPr>
          <a:xfrm>
            <a:off x="3501800" y="5050025"/>
            <a:ext cx="2706300" cy="808500"/>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000000"/>
              </a:buClr>
              <a:buSzPts val="4400"/>
              <a:buFont typeface="Calibri"/>
              <a:buNone/>
            </a:pPr>
            <a:r>
              <a:rPr b="1" i="0" lang="en-US" sz="4400" u="none" cap="none" strike="noStrike">
                <a:solidFill>
                  <a:srgbClr val="000000"/>
                </a:solidFill>
                <a:latin typeface="Gill Sans"/>
                <a:ea typeface="Gill Sans"/>
                <a:cs typeface="Gill Sans"/>
                <a:sym typeface="Gill Sans"/>
              </a:rPr>
              <a:t>A</a:t>
            </a:r>
            <a:r>
              <a:rPr b="0" i="0" lang="en-US" sz="4400" u="none" cap="none" strike="noStrike">
                <a:solidFill>
                  <a:srgbClr val="000000"/>
                </a:solidFill>
                <a:latin typeface="Gill Sans"/>
                <a:ea typeface="Gill Sans"/>
                <a:cs typeface="Gill Sans"/>
                <a:sym typeface="Gill Sans"/>
              </a:rPr>
              <a:t>ccessible</a:t>
            </a:r>
            <a:endParaRPr b="0" i="0" sz="1400" u="none" cap="none" strike="noStrike">
              <a:solidFill>
                <a:srgbClr val="000000"/>
              </a:solidFill>
              <a:latin typeface="Arial"/>
              <a:ea typeface="Arial"/>
              <a:cs typeface="Arial"/>
              <a:sym typeface="Arial"/>
            </a:endParaRPr>
          </a:p>
        </p:txBody>
      </p:sp>
      <p:pic>
        <p:nvPicPr>
          <p:cNvPr descr="Picture 4" id="227" name="Google Shape;227;p26"/>
          <p:cNvPicPr preferRelativeResize="0"/>
          <p:nvPr/>
        </p:nvPicPr>
        <p:blipFill rotWithShape="1">
          <a:blip r:embed="rId5">
            <a:alphaModFix/>
          </a:blip>
          <a:srcRect b="0" l="0" r="0" t="0"/>
          <a:stretch/>
        </p:blipFill>
        <p:spPr>
          <a:xfrm>
            <a:off x="6962668" y="2694562"/>
            <a:ext cx="2164328" cy="2164329"/>
          </a:xfrm>
          <a:prstGeom prst="rect">
            <a:avLst/>
          </a:prstGeom>
          <a:noFill/>
          <a:ln>
            <a:noFill/>
          </a:ln>
        </p:spPr>
      </p:pic>
      <p:sp>
        <p:nvSpPr>
          <p:cNvPr id="228" name="Google Shape;228;p26"/>
          <p:cNvSpPr txBox="1"/>
          <p:nvPr/>
        </p:nvSpPr>
        <p:spPr>
          <a:xfrm>
            <a:off x="6426899" y="5050025"/>
            <a:ext cx="3385800" cy="808500"/>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000000"/>
              </a:buClr>
              <a:buSzPts val="4400"/>
              <a:buFont typeface="Calibri"/>
              <a:buNone/>
            </a:pPr>
            <a:r>
              <a:rPr b="1" i="0" lang="en-US" sz="4400" u="none" cap="none" strike="noStrike">
                <a:solidFill>
                  <a:srgbClr val="000000"/>
                </a:solidFill>
                <a:latin typeface="Gill Sans"/>
                <a:ea typeface="Gill Sans"/>
                <a:cs typeface="Gill Sans"/>
                <a:sym typeface="Gill Sans"/>
              </a:rPr>
              <a:t>I</a:t>
            </a:r>
            <a:r>
              <a:rPr b="0" i="0" lang="en-US" sz="4400" u="none" cap="none" strike="noStrike">
                <a:solidFill>
                  <a:srgbClr val="000000"/>
                </a:solidFill>
                <a:latin typeface="Gill Sans"/>
                <a:ea typeface="Gill Sans"/>
                <a:cs typeface="Gill Sans"/>
                <a:sym typeface="Gill Sans"/>
              </a:rPr>
              <a:t>nteroperable</a:t>
            </a:r>
            <a:endParaRPr b="0" i="0" sz="1400" u="none" cap="none" strike="noStrike">
              <a:solidFill>
                <a:srgbClr val="000000"/>
              </a:solidFill>
              <a:latin typeface="Arial"/>
              <a:ea typeface="Arial"/>
              <a:cs typeface="Arial"/>
              <a:sym typeface="Arial"/>
            </a:endParaRPr>
          </a:p>
        </p:txBody>
      </p:sp>
      <p:pic>
        <p:nvPicPr>
          <p:cNvPr descr="Picture 5" id="229" name="Google Shape;229;p26"/>
          <p:cNvPicPr preferRelativeResize="0"/>
          <p:nvPr/>
        </p:nvPicPr>
        <p:blipFill rotWithShape="1">
          <a:blip r:embed="rId6">
            <a:alphaModFix/>
          </a:blip>
          <a:srcRect b="0" l="0" r="0" t="0"/>
          <a:stretch/>
        </p:blipFill>
        <p:spPr>
          <a:xfrm>
            <a:off x="10151109" y="2899385"/>
            <a:ext cx="1945817" cy="1945817"/>
          </a:xfrm>
          <a:prstGeom prst="rect">
            <a:avLst/>
          </a:prstGeom>
          <a:noFill/>
          <a:ln>
            <a:noFill/>
          </a:ln>
        </p:spPr>
      </p:pic>
      <p:sp>
        <p:nvSpPr>
          <p:cNvPr id="230" name="Google Shape;230;p26"/>
          <p:cNvSpPr txBox="1"/>
          <p:nvPr/>
        </p:nvSpPr>
        <p:spPr>
          <a:xfrm>
            <a:off x="9965345" y="5050024"/>
            <a:ext cx="2215057" cy="692520"/>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000000"/>
              </a:buClr>
              <a:buSzPts val="4400"/>
              <a:buFont typeface="Calibri"/>
              <a:buNone/>
            </a:pPr>
            <a:r>
              <a:rPr b="1" i="0" lang="en-US" sz="4400" u="none" cap="none" strike="noStrike">
                <a:solidFill>
                  <a:srgbClr val="000000"/>
                </a:solidFill>
                <a:latin typeface="Gill Sans"/>
                <a:ea typeface="Gill Sans"/>
                <a:cs typeface="Gill Sans"/>
                <a:sym typeface="Gill Sans"/>
              </a:rPr>
              <a:t>R</a:t>
            </a:r>
            <a:r>
              <a:rPr b="0" i="0" lang="en-US" sz="4400" u="none" cap="none" strike="noStrike">
                <a:solidFill>
                  <a:srgbClr val="000000"/>
                </a:solidFill>
                <a:latin typeface="Gill Sans"/>
                <a:ea typeface="Gill Sans"/>
                <a:cs typeface="Gill Sans"/>
                <a:sym typeface="Gill Sans"/>
              </a:rPr>
              <a:t>eusable</a:t>
            </a:r>
            <a:endParaRPr b="0" i="0" sz="1400" u="none" cap="none" strike="noStrike">
              <a:solidFill>
                <a:srgbClr val="000000"/>
              </a:solidFill>
              <a:latin typeface="Arial"/>
              <a:ea typeface="Arial"/>
              <a:cs typeface="Arial"/>
              <a:sym typeface="Arial"/>
            </a:endParaRPr>
          </a:p>
        </p:txBody>
      </p:sp>
      <p:sp>
        <p:nvSpPr>
          <p:cNvPr id="231" name="Google Shape;231;p26"/>
          <p:cNvSpPr txBox="1"/>
          <p:nvPr/>
        </p:nvSpPr>
        <p:spPr>
          <a:xfrm>
            <a:off x="584767" y="1685950"/>
            <a:ext cx="7509000" cy="654600"/>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000000"/>
              </a:buClr>
              <a:buSzPts val="3400"/>
              <a:buFont typeface="Calibri"/>
              <a:buNone/>
            </a:pPr>
            <a:r>
              <a:rPr b="1" i="0" lang="en-US" sz="3400" u="none" cap="none" strike="noStrike">
                <a:solidFill>
                  <a:srgbClr val="000000"/>
                </a:solidFill>
                <a:latin typeface="Gill Sans"/>
                <a:ea typeface="Gill Sans"/>
                <a:cs typeface="Gill Sans"/>
                <a:sym typeface="Gill Sans"/>
              </a:rPr>
              <a:t>The FAIR principles</a:t>
            </a:r>
            <a:endParaRPr b="0" i="0" sz="1400" u="none" cap="none" strike="noStrike">
              <a:solidFill>
                <a:srgbClr val="000000"/>
              </a:solidFill>
              <a:latin typeface="Arial"/>
              <a:ea typeface="Arial"/>
              <a:cs typeface="Arial"/>
              <a:sym typeface="Arial"/>
            </a:endParaRPr>
          </a:p>
        </p:txBody>
      </p:sp>
      <p:sp>
        <p:nvSpPr>
          <p:cNvPr id="232" name="Google Shape;232;p26"/>
          <p:cNvSpPr/>
          <p:nvPr/>
        </p:nvSpPr>
        <p:spPr>
          <a:xfrm rot="-5400000">
            <a:off x="6105860" y="492718"/>
            <a:ext cx="921703" cy="11674898"/>
          </a:xfrm>
          <a:custGeom>
            <a:rect b="b" l="l" r="r" t="t"/>
            <a:pathLst>
              <a:path extrusionOk="0" h="21600" w="21600">
                <a:moveTo>
                  <a:pt x="21600" y="21600"/>
                </a:moveTo>
                <a:cubicBezTo>
                  <a:pt x="15635" y="21600"/>
                  <a:pt x="10800" y="21359"/>
                  <a:pt x="10800" y="21062"/>
                </a:cubicBezTo>
                <a:lnTo>
                  <a:pt x="10800" y="11338"/>
                </a:lnTo>
                <a:cubicBezTo>
                  <a:pt x="10800" y="11041"/>
                  <a:pt x="5965" y="10800"/>
                  <a:pt x="0" y="10800"/>
                </a:cubicBezTo>
                <a:cubicBezTo>
                  <a:pt x="5965" y="10800"/>
                  <a:pt x="10800" y="10559"/>
                  <a:pt x="10800" y="10262"/>
                </a:cubicBezTo>
                <a:lnTo>
                  <a:pt x="10800" y="538"/>
                </a:lnTo>
                <a:cubicBezTo>
                  <a:pt x="10800" y="241"/>
                  <a:pt x="15635" y="0"/>
                  <a:pt x="21600" y="0"/>
                </a:cubicBezTo>
              </a:path>
            </a:pathLst>
          </a:custGeom>
          <a:noFill/>
          <a:ln cap="flat" cmpd="sng" w="25400">
            <a:solidFill>
              <a:schemeClr val="accent1"/>
            </a:solidFill>
            <a:prstDash val="solid"/>
            <a:round/>
            <a:headEnd len="sm" w="sm" type="none"/>
            <a:tailEnd len="sm" w="sm" type="none"/>
          </a:ln>
          <a:effectLst>
            <a:outerShdw blurRad="50800" rotWithShape="0" dir="5400000" dist="25400">
              <a:srgbClr val="000000">
                <a:alpha val="37647"/>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000000"/>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233" name="Google Shape;233;p26"/>
          <p:cNvSpPr txBox="1"/>
          <p:nvPr/>
        </p:nvSpPr>
        <p:spPr>
          <a:xfrm>
            <a:off x="3047336" y="6893428"/>
            <a:ext cx="6686127" cy="620438"/>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000000"/>
              </a:buClr>
              <a:buSzPts val="3800"/>
              <a:buFont typeface="Calibri"/>
              <a:buNone/>
            </a:pPr>
            <a:r>
              <a:rPr b="0" i="0" lang="en-US" sz="3800" u="none" cap="none" strike="noStrike">
                <a:solidFill>
                  <a:srgbClr val="000000"/>
                </a:solidFill>
                <a:latin typeface="Gill Sans"/>
                <a:ea typeface="Gill Sans"/>
                <a:cs typeface="Gill Sans"/>
                <a:sym typeface="Gill Sans"/>
              </a:rPr>
              <a:t>Good research data management</a:t>
            </a:r>
            <a:endParaRPr b="0" i="0" sz="1400" u="none" cap="none" strike="noStrike">
              <a:solidFill>
                <a:srgbClr val="000000"/>
              </a:solidFill>
              <a:latin typeface="Arial"/>
              <a:ea typeface="Arial"/>
              <a:cs typeface="Arial"/>
              <a:sym typeface="Arial"/>
            </a:endParaRPr>
          </a:p>
        </p:txBody>
      </p:sp>
      <p:sp>
        <p:nvSpPr>
          <p:cNvPr id="234" name="Google Shape;234;p26"/>
          <p:cNvSpPr txBox="1"/>
          <p:nvPr/>
        </p:nvSpPr>
        <p:spPr>
          <a:xfrm>
            <a:off x="2747827" y="7827830"/>
            <a:ext cx="7509000" cy="1116300"/>
          </a:xfrm>
          <a:prstGeom prst="rect">
            <a:avLst/>
          </a:prstGeom>
          <a:noFill/>
          <a:ln>
            <a:noFill/>
          </a:ln>
        </p:spPr>
        <p:txBody>
          <a:bodyPr anchorCtr="0" anchor="t" bIns="65000" lIns="65000" spcFirstLastPara="1" rIns="65000" wrap="square" tIns="65000">
            <a:spAutoFit/>
          </a:bodyPr>
          <a:lstStyle/>
          <a:p>
            <a:pPr indent="0" lvl="0" marL="0" marR="0" rtl="0" algn="ctr">
              <a:lnSpc>
                <a:spcPct val="100000"/>
              </a:lnSpc>
              <a:spcBef>
                <a:spcPts val="0"/>
              </a:spcBef>
              <a:spcAft>
                <a:spcPts val="0"/>
              </a:spcAft>
              <a:buClr>
                <a:srgbClr val="000000"/>
              </a:buClr>
              <a:buSzPts val="3200"/>
              <a:buFont typeface="Calibri"/>
              <a:buNone/>
            </a:pPr>
            <a:r>
              <a:rPr b="0" i="1" lang="en-US" sz="3200" u="none" cap="none" strike="noStrike">
                <a:solidFill>
                  <a:srgbClr val="000000"/>
                </a:solidFill>
                <a:latin typeface="Gill Sans"/>
                <a:ea typeface="Gill Sans"/>
                <a:cs typeface="Gill Sans"/>
                <a:sym typeface="Gill Sans"/>
              </a:rPr>
              <a:t>➙ attend workshop on</a:t>
            </a:r>
            <a:br>
              <a:rPr b="0" i="1" lang="en-US" sz="3200" u="none" cap="none" strike="noStrike">
                <a:solidFill>
                  <a:srgbClr val="000000"/>
                </a:solidFill>
                <a:latin typeface="Calibri"/>
                <a:ea typeface="Calibri"/>
                <a:cs typeface="Calibri"/>
                <a:sym typeface="Calibri"/>
              </a:rPr>
            </a:br>
            <a:r>
              <a:rPr b="0" i="1" lang="en-US" sz="3200" u="none" cap="none" strike="noStrike">
                <a:solidFill>
                  <a:srgbClr val="000000"/>
                </a:solidFill>
                <a:latin typeface="Gill Sans"/>
                <a:ea typeface="Gill Sans"/>
                <a:cs typeface="Gill Sans"/>
                <a:sym typeface="Gill Sans"/>
              </a:rPr>
              <a:t>„FAIR research data management“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7"/>
          <p:cNvSpPr txBox="1"/>
          <p:nvPr>
            <p:ph type="title"/>
          </p:nvPr>
        </p:nvSpPr>
        <p:spPr>
          <a:xfrm>
            <a:off x="365760" y="147054"/>
            <a:ext cx="5039162" cy="1162212"/>
          </a:xfrm>
          <a:prstGeom prst="rect">
            <a:avLst/>
          </a:prstGeom>
          <a:noFill/>
          <a:ln>
            <a:noFill/>
          </a:ln>
        </p:spPr>
        <p:txBody>
          <a:bodyPr anchorCtr="0" anchor="ctr" bIns="65000" lIns="65000" spcFirstLastPara="1" rIns="65000" wrap="square" tIns="65000">
            <a:normAutofit/>
          </a:bodyPr>
          <a:lstStyle/>
          <a:p>
            <a:pPr indent="0" lvl="0" marL="0" rtl="0" algn="l">
              <a:lnSpc>
                <a:spcPct val="100000"/>
              </a:lnSpc>
              <a:spcBef>
                <a:spcPts val="0"/>
              </a:spcBef>
              <a:spcAft>
                <a:spcPts val="0"/>
              </a:spcAft>
              <a:buClr>
                <a:srgbClr val="000000"/>
              </a:buClr>
              <a:buSzPts val="5900"/>
              <a:buFont typeface="Arial"/>
              <a:buNone/>
            </a:pPr>
            <a:r>
              <a:rPr b="1" lang="en-US" sz="5900" cap="none">
                <a:solidFill>
                  <a:srgbClr val="000000"/>
                </a:solidFill>
                <a:latin typeface="Arial"/>
                <a:ea typeface="Arial"/>
                <a:cs typeface="Arial"/>
                <a:sym typeface="Arial"/>
              </a:rPr>
              <a:t>FAIR enough</a:t>
            </a:r>
            <a:endParaRPr/>
          </a:p>
        </p:txBody>
      </p:sp>
      <p:sp>
        <p:nvSpPr>
          <p:cNvPr id="240" name="Google Shape;240;p27"/>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
        <p:nvSpPr>
          <p:cNvPr id="241" name="Google Shape;241;p27"/>
          <p:cNvSpPr txBox="1"/>
          <p:nvPr/>
        </p:nvSpPr>
        <p:spPr>
          <a:xfrm>
            <a:off x="65023" y="9489675"/>
            <a:ext cx="6372353" cy="264317"/>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808080"/>
              </a:buClr>
              <a:buSzPts val="1100"/>
              <a:buFont typeface="Calibri"/>
              <a:buNone/>
            </a:pPr>
            <a:r>
              <a:rPr b="0" i="0" lang="en-US" sz="1100" u="none" cap="none" strike="noStrike">
                <a:solidFill>
                  <a:srgbClr val="808080"/>
                </a:solidFill>
                <a:latin typeface="Arial"/>
                <a:ea typeface="Arial"/>
                <a:cs typeface="Arial"/>
                <a:sym typeface="Arial"/>
              </a:rPr>
              <a:t>Icon from flaticon.com by freepic, mynamepong, monkik</a:t>
            </a:r>
            <a:endParaRPr b="0" i="0" sz="1400" u="none" cap="none" strike="noStrike">
              <a:solidFill>
                <a:srgbClr val="000000"/>
              </a:solidFill>
              <a:latin typeface="Arial"/>
              <a:ea typeface="Arial"/>
              <a:cs typeface="Arial"/>
              <a:sym typeface="Arial"/>
            </a:endParaRPr>
          </a:p>
        </p:txBody>
      </p:sp>
      <p:pic>
        <p:nvPicPr>
          <p:cNvPr descr="Picture 2" id="242" name="Google Shape;242;p27"/>
          <p:cNvPicPr preferRelativeResize="0"/>
          <p:nvPr/>
        </p:nvPicPr>
        <p:blipFill rotWithShape="1">
          <a:blip r:embed="rId3">
            <a:alphaModFix/>
          </a:blip>
          <a:srcRect b="0" l="0" r="0" t="0"/>
          <a:stretch/>
        </p:blipFill>
        <p:spPr>
          <a:xfrm>
            <a:off x="420928" y="1701542"/>
            <a:ext cx="980224" cy="980224"/>
          </a:xfrm>
          <a:prstGeom prst="rect">
            <a:avLst/>
          </a:prstGeom>
          <a:noFill/>
          <a:ln>
            <a:noFill/>
          </a:ln>
        </p:spPr>
      </p:pic>
      <p:sp>
        <p:nvSpPr>
          <p:cNvPr id="243" name="Google Shape;243;p27"/>
          <p:cNvSpPr txBox="1"/>
          <p:nvPr/>
        </p:nvSpPr>
        <p:spPr>
          <a:xfrm>
            <a:off x="1551899" y="1806918"/>
            <a:ext cx="1756939" cy="580849"/>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000000"/>
              </a:buClr>
              <a:buSzPts val="3400"/>
              <a:buFont typeface="Calibri"/>
              <a:buNone/>
            </a:pPr>
            <a:r>
              <a:rPr b="1" i="0" lang="en-US" sz="3400" u="none" cap="none" strike="noStrike">
                <a:solidFill>
                  <a:srgbClr val="000000"/>
                </a:solidFill>
                <a:latin typeface="Gill Sans"/>
                <a:ea typeface="Gill Sans"/>
                <a:cs typeface="Gill Sans"/>
                <a:sym typeface="Gill Sans"/>
              </a:rPr>
              <a:t>F</a:t>
            </a:r>
            <a:r>
              <a:rPr b="0" i="0" lang="en-US" sz="3400" u="none" cap="none" strike="noStrike">
                <a:solidFill>
                  <a:srgbClr val="000000"/>
                </a:solidFill>
                <a:latin typeface="Gill Sans"/>
                <a:ea typeface="Gill Sans"/>
                <a:cs typeface="Gill Sans"/>
                <a:sym typeface="Gill Sans"/>
              </a:rPr>
              <a:t>indable:</a:t>
            </a:r>
            <a:endParaRPr b="0" i="0" sz="1400" u="none" cap="none" strike="noStrike">
              <a:solidFill>
                <a:srgbClr val="000000"/>
              </a:solidFill>
              <a:latin typeface="Arial"/>
              <a:ea typeface="Arial"/>
              <a:cs typeface="Arial"/>
              <a:sym typeface="Arial"/>
            </a:endParaRPr>
          </a:p>
        </p:txBody>
      </p:sp>
      <p:sp>
        <p:nvSpPr>
          <p:cNvPr id="244" name="Google Shape;244;p27"/>
          <p:cNvSpPr txBox="1"/>
          <p:nvPr/>
        </p:nvSpPr>
        <p:spPr>
          <a:xfrm>
            <a:off x="1263200" y="3256200"/>
            <a:ext cx="2377200" cy="654600"/>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000000"/>
              </a:buClr>
              <a:buSzPts val="3400"/>
              <a:buFont typeface="Calibri"/>
              <a:buNone/>
            </a:pPr>
            <a:r>
              <a:rPr b="1" i="0" lang="en-US" sz="3400" u="none" cap="none" strike="noStrike">
                <a:solidFill>
                  <a:srgbClr val="000000"/>
                </a:solidFill>
                <a:latin typeface="Gill Sans"/>
                <a:ea typeface="Gill Sans"/>
                <a:cs typeface="Gill Sans"/>
                <a:sym typeface="Gill Sans"/>
              </a:rPr>
              <a:t>A</a:t>
            </a:r>
            <a:r>
              <a:rPr b="0" i="0" lang="en-US" sz="3400" u="none" cap="none" strike="noStrike">
                <a:solidFill>
                  <a:srgbClr val="000000"/>
                </a:solidFill>
                <a:latin typeface="Gill Sans"/>
                <a:ea typeface="Gill Sans"/>
                <a:cs typeface="Gill Sans"/>
                <a:sym typeface="Gill Sans"/>
              </a:rPr>
              <a:t>ccessible:</a:t>
            </a:r>
            <a:endParaRPr b="0" i="0" sz="1400" u="none" cap="none" strike="noStrike">
              <a:solidFill>
                <a:srgbClr val="000000"/>
              </a:solidFill>
              <a:latin typeface="Arial"/>
              <a:ea typeface="Arial"/>
              <a:cs typeface="Arial"/>
              <a:sym typeface="Arial"/>
            </a:endParaRPr>
          </a:p>
        </p:txBody>
      </p:sp>
      <p:pic>
        <p:nvPicPr>
          <p:cNvPr descr="Picture 3" id="245" name="Google Shape;245;p27"/>
          <p:cNvPicPr preferRelativeResize="0"/>
          <p:nvPr/>
        </p:nvPicPr>
        <p:blipFill rotWithShape="1">
          <a:blip r:embed="rId4">
            <a:alphaModFix/>
          </a:blip>
          <a:srcRect b="0" l="0" r="0" t="0"/>
          <a:stretch/>
        </p:blipFill>
        <p:spPr>
          <a:xfrm>
            <a:off x="360093" y="2994592"/>
            <a:ext cx="945167" cy="945167"/>
          </a:xfrm>
          <a:prstGeom prst="rect">
            <a:avLst/>
          </a:prstGeom>
          <a:noFill/>
          <a:ln>
            <a:noFill/>
          </a:ln>
        </p:spPr>
      </p:pic>
      <p:sp>
        <p:nvSpPr>
          <p:cNvPr id="246" name="Google Shape;246;p27"/>
          <p:cNvSpPr txBox="1"/>
          <p:nvPr/>
        </p:nvSpPr>
        <p:spPr>
          <a:xfrm>
            <a:off x="1554629" y="4313325"/>
            <a:ext cx="1817028" cy="1126950"/>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000000"/>
              </a:buClr>
              <a:buSzPts val="3400"/>
              <a:buFont typeface="Calibri"/>
              <a:buNone/>
            </a:pPr>
            <a:r>
              <a:rPr b="1" i="0" lang="en-US" sz="3400" u="none" cap="none" strike="noStrike">
                <a:solidFill>
                  <a:srgbClr val="000000"/>
                </a:solidFill>
                <a:latin typeface="Gill Sans"/>
                <a:ea typeface="Gill Sans"/>
                <a:cs typeface="Gill Sans"/>
                <a:sym typeface="Gill Sans"/>
              </a:rPr>
              <a:t>I</a:t>
            </a:r>
            <a:r>
              <a:rPr b="0" i="0" lang="en-US" sz="3400" u="none" cap="none" strike="noStrike">
                <a:solidFill>
                  <a:srgbClr val="000000"/>
                </a:solidFill>
                <a:latin typeface="Gill Sans"/>
                <a:ea typeface="Gill Sans"/>
                <a:cs typeface="Gill Sans"/>
                <a:sym typeface="Gill Sans"/>
              </a:rPr>
              <a:t>nter-</a:t>
            </a:r>
            <a:br>
              <a:rPr b="0" i="0" lang="en-US" sz="3400" u="none" cap="none" strike="noStrike">
                <a:solidFill>
                  <a:srgbClr val="000000"/>
                </a:solidFill>
                <a:latin typeface="Calibri"/>
                <a:ea typeface="Calibri"/>
                <a:cs typeface="Calibri"/>
                <a:sym typeface="Calibri"/>
              </a:rPr>
            </a:br>
            <a:r>
              <a:rPr b="0" i="0" lang="en-US" sz="3400" u="none" cap="none" strike="noStrike">
                <a:solidFill>
                  <a:srgbClr val="000000"/>
                </a:solidFill>
                <a:latin typeface="Gill Sans"/>
                <a:ea typeface="Gill Sans"/>
                <a:cs typeface="Gill Sans"/>
                <a:sym typeface="Gill Sans"/>
              </a:rPr>
              <a:t>operable:</a:t>
            </a:r>
            <a:endParaRPr b="0" i="0" sz="1400" u="none" cap="none" strike="noStrike">
              <a:solidFill>
                <a:srgbClr val="000000"/>
              </a:solidFill>
              <a:latin typeface="Arial"/>
              <a:ea typeface="Arial"/>
              <a:cs typeface="Arial"/>
              <a:sym typeface="Arial"/>
            </a:endParaRPr>
          </a:p>
        </p:txBody>
      </p:sp>
      <p:pic>
        <p:nvPicPr>
          <p:cNvPr descr="Picture 4" id="247" name="Google Shape;247;p27"/>
          <p:cNvPicPr preferRelativeResize="0"/>
          <p:nvPr/>
        </p:nvPicPr>
        <p:blipFill rotWithShape="1">
          <a:blip r:embed="rId5">
            <a:alphaModFix/>
          </a:blip>
          <a:srcRect b="0" l="0" r="0" t="0"/>
          <a:stretch/>
        </p:blipFill>
        <p:spPr>
          <a:xfrm>
            <a:off x="208461" y="4252586"/>
            <a:ext cx="1248427" cy="1248428"/>
          </a:xfrm>
          <a:prstGeom prst="rect">
            <a:avLst/>
          </a:prstGeom>
          <a:noFill/>
          <a:ln>
            <a:noFill/>
          </a:ln>
        </p:spPr>
      </p:pic>
      <p:pic>
        <p:nvPicPr>
          <p:cNvPr descr="Picture 5" id="248" name="Google Shape;248;p27"/>
          <p:cNvPicPr preferRelativeResize="0"/>
          <p:nvPr/>
        </p:nvPicPr>
        <p:blipFill rotWithShape="1">
          <a:blip r:embed="rId6">
            <a:alphaModFix/>
          </a:blip>
          <a:srcRect b="0" l="0" r="0" t="0"/>
          <a:stretch/>
        </p:blipFill>
        <p:spPr>
          <a:xfrm>
            <a:off x="274017" y="6936915"/>
            <a:ext cx="1117316" cy="1117316"/>
          </a:xfrm>
          <a:prstGeom prst="rect">
            <a:avLst/>
          </a:prstGeom>
          <a:noFill/>
          <a:ln>
            <a:noFill/>
          </a:ln>
        </p:spPr>
      </p:pic>
      <p:sp>
        <p:nvSpPr>
          <p:cNvPr id="249" name="Google Shape;249;p27"/>
          <p:cNvSpPr txBox="1"/>
          <p:nvPr/>
        </p:nvSpPr>
        <p:spPr>
          <a:xfrm>
            <a:off x="1533334" y="7205148"/>
            <a:ext cx="1859618" cy="580849"/>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000000"/>
              </a:buClr>
              <a:buSzPts val="3400"/>
              <a:buFont typeface="Calibri"/>
              <a:buNone/>
            </a:pPr>
            <a:r>
              <a:rPr b="1" i="0" lang="en-US" sz="3400" u="none" cap="none" strike="noStrike">
                <a:solidFill>
                  <a:srgbClr val="000000"/>
                </a:solidFill>
                <a:latin typeface="Gill Sans"/>
                <a:ea typeface="Gill Sans"/>
                <a:cs typeface="Gill Sans"/>
                <a:sym typeface="Gill Sans"/>
              </a:rPr>
              <a:t>R</a:t>
            </a:r>
            <a:r>
              <a:rPr b="0" i="0" lang="en-US" sz="3400" u="none" cap="none" strike="noStrike">
                <a:solidFill>
                  <a:srgbClr val="000000"/>
                </a:solidFill>
                <a:latin typeface="Gill Sans"/>
                <a:ea typeface="Gill Sans"/>
                <a:cs typeface="Gill Sans"/>
                <a:sym typeface="Gill Sans"/>
              </a:rPr>
              <a:t>eusable:</a:t>
            </a:r>
            <a:endParaRPr b="0" i="0" sz="1400" u="none" cap="none" strike="noStrike">
              <a:solidFill>
                <a:srgbClr val="000000"/>
              </a:solidFill>
              <a:latin typeface="Arial"/>
              <a:ea typeface="Arial"/>
              <a:cs typeface="Arial"/>
              <a:sym typeface="Arial"/>
            </a:endParaRPr>
          </a:p>
        </p:txBody>
      </p:sp>
      <p:sp>
        <p:nvSpPr>
          <p:cNvPr id="250" name="Google Shape;250;p27"/>
          <p:cNvSpPr txBox="1"/>
          <p:nvPr/>
        </p:nvSpPr>
        <p:spPr>
          <a:xfrm>
            <a:off x="3535743" y="1701550"/>
            <a:ext cx="9296700" cy="1602300"/>
          </a:xfrm>
          <a:prstGeom prst="rect">
            <a:avLst/>
          </a:prstGeom>
          <a:noFill/>
          <a:ln>
            <a:noFill/>
          </a:ln>
        </p:spPr>
        <p:txBody>
          <a:bodyPr anchorCtr="0" anchor="t" bIns="65000" lIns="65000" spcFirstLastPara="1" rIns="65000" wrap="square" tIns="65000">
            <a:noAutofit/>
          </a:bodyPr>
          <a:lstStyle/>
          <a:p>
            <a:pPr indent="-304800" lvl="0" marL="304800" marR="0" rtl="0" algn="l">
              <a:lnSpc>
                <a:spcPct val="100000"/>
              </a:lnSpc>
              <a:spcBef>
                <a:spcPts val="0"/>
              </a:spcBef>
              <a:spcAft>
                <a:spcPts val="0"/>
              </a:spcAft>
              <a:buClr>
                <a:srgbClr val="000000"/>
              </a:buClr>
              <a:buSzPts val="2400"/>
              <a:buFont typeface="Calibri"/>
              <a:buChar char="✓"/>
            </a:pPr>
            <a:r>
              <a:rPr b="0" i="0" lang="en-US" sz="2400" u="none" cap="none" strike="noStrike">
                <a:solidFill>
                  <a:srgbClr val="000000"/>
                </a:solidFill>
                <a:latin typeface="Gill Sans"/>
                <a:ea typeface="Gill Sans"/>
                <a:cs typeface="Gill Sans"/>
                <a:sym typeface="Gill Sans"/>
              </a:rPr>
              <a:t>(1) Put your data in a professional repository that provides a globally unique, citable and persistent identifier (e.g., DOI, PURL, ARK) and requires essential metadata such as a standardized codebook (e.g., </a:t>
            </a:r>
            <a:r>
              <a:rPr b="0" i="0" lang="en-US" sz="2400" u="sng" cap="none" strike="noStrike">
                <a:solidFill>
                  <a:srgbClr val="1016F4"/>
                </a:solidFill>
                <a:latin typeface="Gill Sans"/>
                <a:ea typeface="Gill Sans"/>
                <a:cs typeface="Gill Sans"/>
                <a:sym typeface="Gill Sans"/>
                <a:hlinkClick r:id="rId7">
                  <a:extLst>
                    <a:ext uri="{A12FA001-AC4F-418D-AE19-62706E023703}">
                      <ahyp:hlinkClr val="tx"/>
                    </a:ext>
                  </a:extLst>
                </a:hlinkClick>
              </a:rPr>
              <a:t>PsychArchives</a:t>
            </a:r>
            <a:r>
              <a:rPr b="0" i="0" lang="en-US" sz="2400" u="none" cap="none" strike="noStrike">
                <a:solidFill>
                  <a:srgbClr val="000000"/>
                </a:solidFill>
                <a:latin typeface="Gill Sans"/>
                <a:ea typeface="Gill Sans"/>
                <a:cs typeface="Gill Sans"/>
                <a:sym typeface="Gill Sans"/>
              </a:rPr>
              <a:t>, NFDI, see also </a:t>
            </a:r>
            <a:r>
              <a:rPr b="0" i="0" lang="en-US" sz="2400" u="sng" cap="none" strike="noStrike">
                <a:solidFill>
                  <a:srgbClr val="1016F4"/>
                </a:solidFill>
                <a:latin typeface="Gill Sans"/>
                <a:ea typeface="Gill Sans"/>
                <a:cs typeface="Gill Sans"/>
                <a:sym typeface="Gill Sans"/>
                <a:hlinkClick r:id="rId8">
                  <a:extLst>
                    <a:ext uri="{A12FA001-AC4F-418D-AE19-62706E023703}">
                      <ahyp:hlinkClr val="tx"/>
                    </a:ext>
                  </a:extLst>
                </a:hlinkClick>
              </a:rPr>
              <a:t>https://www.re3data.org/</a:t>
            </a:r>
            <a:r>
              <a:rPr b="0" i="0" lang="en-US" sz="2400" u="none" cap="none" strike="noStrike">
                <a:solidFill>
                  <a:srgbClr val="000000"/>
                </a:solidFill>
                <a:latin typeface="Gill Sans"/>
                <a:ea typeface="Gill Sans"/>
                <a:cs typeface="Gill Sans"/>
                <a:sym typeface="Gill Sans"/>
              </a:rPr>
              <a:t>)</a:t>
            </a:r>
            <a:endParaRPr b="0" i="0" sz="1400" u="none" cap="none" strike="noStrike">
              <a:solidFill>
                <a:srgbClr val="000000"/>
              </a:solidFill>
              <a:latin typeface="Arial"/>
              <a:ea typeface="Arial"/>
              <a:cs typeface="Arial"/>
              <a:sym typeface="Arial"/>
            </a:endParaRPr>
          </a:p>
        </p:txBody>
      </p:sp>
      <p:sp>
        <p:nvSpPr>
          <p:cNvPr id="251" name="Google Shape;251;p27"/>
          <p:cNvSpPr txBox="1"/>
          <p:nvPr/>
        </p:nvSpPr>
        <p:spPr>
          <a:xfrm>
            <a:off x="3535743" y="3301088"/>
            <a:ext cx="9062100" cy="431100"/>
          </a:xfrm>
          <a:prstGeom prst="rect">
            <a:avLst/>
          </a:prstGeom>
          <a:noFill/>
          <a:ln>
            <a:noFill/>
          </a:ln>
        </p:spPr>
        <p:txBody>
          <a:bodyPr anchorCtr="0" anchor="t" bIns="65000" lIns="65000" spcFirstLastPara="1" rIns="65000" wrap="square" tIns="65000">
            <a:noAutofit/>
          </a:bodyPr>
          <a:lstStyle/>
          <a:p>
            <a:pPr indent="-304800" lvl="0" marL="304800" marR="0" rtl="0" algn="l">
              <a:lnSpc>
                <a:spcPct val="100000"/>
              </a:lnSpc>
              <a:spcBef>
                <a:spcPts val="0"/>
              </a:spcBef>
              <a:spcAft>
                <a:spcPts val="0"/>
              </a:spcAft>
              <a:buClr>
                <a:srgbClr val="8C8F8C"/>
              </a:buClr>
              <a:buSzPts val="2400"/>
              <a:buFont typeface="Calibri"/>
              <a:buChar char="✓"/>
            </a:pPr>
            <a:r>
              <a:rPr b="0" i="0" lang="en-US" sz="2400" u="none" cap="none" strike="noStrike">
                <a:solidFill>
                  <a:srgbClr val="8C8F8C"/>
                </a:solidFill>
                <a:latin typeface="Gill Sans"/>
                <a:ea typeface="Gill Sans"/>
                <a:cs typeface="Gill Sans"/>
                <a:sym typeface="Gill Sans"/>
              </a:rPr>
              <a:t>This is automatically achieved with (1)</a:t>
            </a:r>
            <a:endParaRPr b="0" i="0" sz="1400" u="none" cap="none" strike="noStrike">
              <a:solidFill>
                <a:srgbClr val="000000"/>
              </a:solidFill>
              <a:latin typeface="Arial"/>
              <a:ea typeface="Arial"/>
              <a:cs typeface="Arial"/>
              <a:sym typeface="Arial"/>
            </a:endParaRPr>
          </a:p>
        </p:txBody>
      </p:sp>
      <p:sp>
        <p:nvSpPr>
          <p:cNvPr id="252" name="Google Shape;252;p27"/>
          <p:cNvSpPr txBox="1"/>
          <p:nvPr/>
        </p:nvSpPr>
        <p:spPr>
          <a:xfrm>
            <a:off x="3535743" y="4301679"/>
            <a:ext cx="9062100" cy="1127100"/>
          </a:xfrm>
          <a:prstGeom prst="rect">
            <a:avLst/>
          </a:prstGeom>
          <a:noFill/>
          <a:ln>
            <a:noFill/>
          </a:ln>
        </p:spPr>
        <p:txBody>
          <a:bodyPr anchorCtr="0" anchor="t" bIns="65000" lIns="65000" spcFirstLastPara="1" rIns="65000" wrap="square" tIns="65000">
            <a:noAutofit/>
          </a:bodyPr>
          <a:lstStyle/>
          <a:p>
            <a:pPr indent="-304800" lvl="0" marL="304800" marR="0" rtl="0" algn="l">
              <a:lnSpc>
                <a:spcPct val="100000"/>
              </a:lnSpc>
              <a:spcBef>
                <a:spcPts val="0"/>
              </a:spcBef>
              <a:spcAft>
                <a:spcPts val="0"/>
              </a:spcAft>
              <a:buClr>
                <a:srgbClr val="8C8F8C"/>
              </a:buClr>
              <a:buSzPts val="2400"/>
              <a:buFont typeface="Calibri"/>
              <a:buChar char="✓"/>
            </a:pPr>
            <a:r>
              <a:rPr b="0" i="0" lang="en-US" sz="2400" u="none" cap="none" strike="noStrike">
                <a:solidFill>
                  <a:srgbClr val="8C8F8C"/>
                </a:solidFill>
                <a:latin typeface="Gill Sans"/>
                <a:ea typeface="Gill Sans"/>
                <a:cs typeface="Gill Sans"/>
                <a:sym typeface="Gill Sans"/>
              </a:rPr>
              <a:t>Most interoperability is automatically achieved with (1)</a:t>
            </a:r>
            <a:endParaRPr b="0" i="0" sz="1400" u="none" cap="none" strike="noStrike">
              <a:solidFill>
                <a:srgbClr val="000000"/>
              </a:solidFill>
              <a:latin typeface="Arial"/>
              <a:ea typeface="Arial"/>
              <a:cs typeface="Arial"/>
              <a:sym typeface="Arial"/>
            </a:endParaRPr>
          </a:p>
          <a:p>
            <a:pPr indent="-304800" lvl="0" marL="304800" marR="0" rtl="0" algn="l">
              <a:lnSpc>
                <a:spcPct val="100000"/>
              </a:lnSpc>
              <a:spcBef>
                <a:spcPts val="0"/>
              </a:spcBef>
              <a:spcAft>
                <a:spcPts val="0"/>
              </a:spcAft>
              <a:buClr>
                <a:srgbClr val="000000"/>
              </a:buClr>
              <a:buSzPts val="2400"/>
              <a:buFont typeface="Calibri"/>
              <a:buChar char="✓"/>
            </a:pPr>
            <a:r>
              <a:rPr b="0" i="0" lang="en-US" sz="2400" u="none" cap="none" strike="noStrike">
                <a:solidFill>
                  <a:srgbClr val="000000"/>
                </a:solidFill>
                <a:latin typeface="Gill Sans"/>
                <a:ea typeface="Gill Sans"/>
                <a:cs typeface="Gill Sans"/>
                <a:sym typeface="Gill Sans"/>
              </a:rPr>
              <a:t>(2) Link to other related data sets (optionally, if applicable). This is a feature of the repository.</a:t>
            </a:r>
            <a:endParaRPr b="0" i="0" sz="1400" u="none" cap="none" strike="noStrike">
              <a:solidFill>
                <a:srgbClr val="000000"/>
              </a:solidFill>
              <a:latin typeface="Arial"/>
              <a:ea typeface="Arial"/>
              <a:cs typeface="Arial"/>
              <a:sym typeface="Arial"/>
            </a:endParaRPr>
          </a:p>
        </p:txBody>
      </p:sp>
      <p:sp>
        <p:nvSpPr>
          <p:cNvPr id="253" name="Google Shape;253;p27"/>
          <p:cNvSpPr txBox="1"/>
          <p:nvPr/>
        </p:nvSpPr>
        <p:spPr>
          <a:xfrm>
            <a:off x="3534950" y="5735628"/>
            <a:ext cx="9469800" cy="3852000"/>
          </a:xfrm>
          <a:prstGeom prst="rect">
            <a:avLst/>
          </a:prstGeom>
          <a:noFill/>
          <a:ln>
            <a:noFill/>
          </a:ln>
        </p:spPr>
        <p:txBody>
          <a:bodyPr anchorCtr="0" anchor="t" bIns="65000" lIns="65000" spcFirstLastPara="1" rIns="65000" wrap="square" tIns="65000">
            <a:noAutofit/>
          </a:bodyPr>
          <a:lstStyle/>
          <a:p>
            <a:pPr indent="-304800" lvl="0" marL="304800" marR="0" rtl="0" algn="l">
              <a:lnSpc>
                <a:spcPct val="100000"/>
              </a:lnSpc>
              <a:spcBef>
                <a:spcPts val="0"/>
              </a:spcBef>
              <a:spcAft>
                <a:spcPts val="0"/>
              </a:spcAft>
              <a:buClr>
                <a:srgbClr val="000000"/>
              </a:buClr>
              <a:buSzPts val="2400"/>
              <a:buFont typeface="Calibri"/>
              <a:buChar char="✓"/>
            </a:pPr>
            <a:r>
              <a:rPr b="0" i="0" lang="en-US" sz="2400" u="none" cap="none" strike="noStrike">
                <a:solidFill>
                  <a:srgbClr val="000000"/>
                </a:solidFill>
                <a:latin typeface="Gill Sans"/>
                <a:ea typeface="Gill Sans"/>
                <a:cs typeface="Gill Sans"/>
                <a:sym typeface="Gill Sans"/>
              </a:rPr>
              <a:t>(3) Explicitly assign a license, as open as possible (e.g. CC0; see </a:t>
            </a:r>
            <a:r>
              <a:rPr b="0" i="0" lang="en-US" sz="2400" u="sng" cap="none" strike="noStrike">
                <a:solidFill>
                  <a:srgbClr val="1016F4"/>
                </a:solidFill>
                <a:latin typeface="Gill Sans"/>
                <a:ea typeface="Gill Sans"/>
                <a:cs typeface="Gill Sans"/>
                <a:sym typeface="Gill Sans"/>
                <a:hlinkClick r:id="rId9">
                  <a:extLst>
                    <a:ext uri="{A12FA001-AC4F-418D-AE19-62706E023703}">
                      <ahyp:hlinkClr val="tx"/>
                    </a:ext>
                  </a:extLst>
                </a:hlinkClick>
              </a:rPr>
              <a:t>OSC tutorial on licenses</a:t>
            </a:r>
            <a:r>
              <a:rPr b="0" i="0" lang="en-US" sz="2400" u="none" cap="none" strike="noStrike">
                <a:solidFill>
                  <a:srgbClr val="000000"/>
                </a:solidFill>
                <a:latin typeface="Gill Sans"/>
                <a:ea typeface="Gill Sans"/>
                <a:cs typeface="Gill Sans"/>
                <a:sym typeface="Gill Sans"/>
              </a:rPr>
              <a:t>)</a:t>
            </a:r>
            <a:endParaRPr b="0" i="0" sz="1400" u="none" cap="none" strike="noStrike">
              <a:solidFill>
                <a:srgbClr val="000000"/>
              </a:solidFill>
              <a:latin typeface="Arial"/>
              <a:ea typeface="Arial"/>
              <a:cs typeface="Arial"/>
              <a:sym typeface="Arial"/>
            </a:endParaRPr>
          </a:p>
          <a:p>
            <a:pPr indent="-304800" lvl="0" marL="304800" marR="0" rtl="0" algn="l">
              <a:lnSpc>
                <a:spcPct val="100000"/>
              </a:lnSpc>
              <a:spcBef>
                <a:spcPts val="0"/>
              </a:spcBef>
              <a:spcAft>
                <a:spcPts val="0"/>
              </a:spcAft>
              <a:buClr>
                <a:srgbClr val="000000"/>
              </a:buClr>
              <a:buSzPts val="2400"/>
              <a:buFont typeface="Calibri"/>
              <a:buChar char="✓"/>
            </a:pPr>
            <a:r>
              <a:rPr b="0" i="0" lang="en-US" sz="2400" u="none" cap="none" strike="noStrike">
                <a:solidFill>
                  <a:srgbClr val="000000"/>
                </a:solidFill>
                <a:latin typeface="Gill Sans"/>
                <a:ea typeface="Gill Sans"/>
                <a:cs typeface="Gill Sans"/>
                <a:sym typeface="Gill Sans"/>
              </a:rPr>
              <a:t>(4) Describe (in the metadata) people, entities, and processes involved in the creation, management and longer-term curation of the data set: (a) Data collection date; (b) Contributors involved in data creation and their roles (</a:t>
            </a:r>
            <a:r>
              <a:rPr b="0" i="0" lang="en-US" sz="2400" u="sng" cap="none" strike="noStrike">
                <a:solidFill>
                  <a:srgbClr val="1016F4"/>
                </a:solidFill>
                <a:latin typeface="Gill Sans"/>
                <a:ea typeface="Gill Sans"/>
                <a:cs typeface="Gill Sans"/>
                <a:sym typeface="Gill Sans"/>
                <a:hlinkClick r:id="rId10">
                  <a:extLst>
                    <a:ext uri="{A12FA001-AC4F-418D-AE19-62706E023703}">
                      <ahyp:hlinkClr val="tx"/>
                    </a:ext>
                  </a:extLst>
                </a:hlinkClick>
              </a:rPr>
              <a:t>DataCRediT</a:t>
            </a:r>
            <a:r>
              <a:rPr b="0" i="0" lang="en-US" sz="2400" u="none" cap="none" strike="noStrike">
                <a:solidFill>
                  <a:srgbClr val="000000"/>
                </a:solidFill>
                <a:latin typeface="Gill Sans"/>
                <a:ea typeface="Gill Sans"/>
                <a:cs typeface="Gill Sans"/>
                <a:sym typeface="Gill Sans"/>
              </a:rPr>
              <a:t>); (c) Data versioning information (if applicable)</a:t>
            </a:r>
            <a:endParaRPr b="0" i="0" sz="1400" u="none" cap="none" strike="noStrike">
              <a:solidFill>
                <a:srgbClr val="000000"/>
              </a:solidFill>
              <a:latin typeface="Arial"/>
              <a:ea typeface="Arial"/>
              <a:cs typeface="Arial"/>
              <a:sym typeface="Arial"/>
            </a:endParaRPr>
          </a:p>
          <a:p>
            <a:pPr indent="-304800" lvl="0" marL="304800" marR="0" rtl="0" algn="l">
              <a:lnSpc>
                <a:spcPct val="100000"/>
              </a:lnSpc>
              <a:spcBef>
                <a:spcPts val="0"/>
              </a:spcBef>
              <a:spcAft>
                <a:spcPts val="0"/>
              </a:spcAft>
              <a:buClr>
                <a:srgbClr val="000000"/>
              </a:buClr>
              <a:buSzPts val="2400"/>
              <a:buFont typeface="Calibri"/>
              <a:buChar char="✓"/>
            </a:pPr>
            <a:r>
              <a:rPr b="0" i="0" lang="en-US" sz="2400" u="none" cap="none" strike="noStrike">
                <a:solidFill>
                  <a:srgbClr val="000000"/>
                </a:solidFill>
                <a:latin typeface="Gill Sans"/>
                <a:ea typeface="Gill Sans"/>
                <a:cs typeface="Gill Sans"/>
                <a:sym typeface="Gill Sans"/>
              </a:rPr>
              <a:t>(5) Write a structured codebook (following the standards of your field)</a:t>
            </a:r>
            <a:endParaRPr b="0" i="0" sz="1400" u="none" cap="none" strike="noStrike">
              <a:solidFill>
                <a:srgbClr val="000000"/>
              </a:solidFill>
              <a:latin typeface="Arial"/>
              <a:ea typeface="Arial"/>
              <a:cs typeface="Arial"/>
              <a:sym typeface="Arial"/>
            </a:endParaRPr>
          </a:p>
          <a:p>
            <a:pPr indent="-304800" lvl="0" marL="304800" marR="0" rtl="0" algn="l">
              <a:lnSpc>
                <a:spcPct val="100000"/>
              </a:lnSpc>
              <a:spcBef>
                <a:spcPts val="0"/>
              </a:spcBef>
              <a:spcAft>
                <a:spcPts val="0"/>
              </a:spcAft>
              <a:buClr>
                <a:srgbClr val="000000"/>
              </a:buClr>
              <a:buSzPts val="2400"/>
              <a:buFont typeface="Calibri"/>
              <a:buChar char="✓"/>
            </a:pPr>
            <a:r>
              <a:rPr b="0" i="0" lang="en-US" sz="2400" u="none" cap="none" strike="noStrike">
                <a:solidFill>
                  <a:srgbClr val="000000"/>
                </a:solidFill>
                <a:latin typeface="Gill Sans"/>
                <a:ea typeface="Gill Sans"/>
                <a:cs typeface="Gill Sans"/>
                <a:sym typeface="Gill Sans"/>
              </a:rPr>
              <a:t>(6) Use a structured, open, non-proprietary format for the data (e.g., .csv, .tab, .json, .xlsx; </a:t>
            </a:r>
            <a:r>
              <a:rPr b="1" i="0" lang="en-US" sz="2400" u="none" cap="none" strike="noStrike">
                <a:solidFill>
                  <a:srgbClr val="000000"/>
                </a:solidFill>
                <a:latin typeface="Gill Sans"/>
                <a:ea typeface="Gill Sans"/>
                <a:cs typeface="Gill Sans"/>
                <a:sym typeface="Gill Sans"/>
              </a:rPr>
              <a:t>not</a:t>
            </a:r>
            <a:r>
              <a:rPr b="0" i="0" lang="en-US" sz="2400" u="none" cap="none" strike="noStrike">
                <a:solidFill>
                  <a:srgbClr val="000000"/>
                </a:solidFill>
                <a:latin typeface="Gill Sans"/>
                <a:ea typeface="Gill Sans"/>
                <a:cs typeface="Gill Sans"/>
                <a:sym typeface="Gill Sans"/>
              </a:rPr>
              <a:t> .sav or .pdf)</a:t>
            </a:r>
            <a:endParaRPr b="0" i="0" sz="1400" u="none" cap="none" strike="noStrike">
              <a:solidFill>
                <a:srgbClr val="000000"/>
              </a:solidFill>
              <a:latin typeface="Arial"/>
              <a:ea typeface="Arial"/>
              <a:cs typeface="Arial"/>
              <a:sym typeface="Arial"/>
            </a:endParaRPr>
          </a:p>
        </p:txBody>
      </p:sp>
      <p:sp>
        <p:nvSpPr>
          <p:cNvPr id="254" name="Google Shape;254;p27"/>
          <p:cNvSpPr txBox="1"/>
          <p:nvPr/>
        </p:nvSpPr>
        <p:spPr>
          <a:xfrm>
            <a:off x="5243733" y="256811"/>
            <a:ext cx="5039100" cy="1162200"/>
          </a:xfrm>
          <a:prstGeom prst="rect">
            <a:avLst/>
          </a:prstGeom>
          <a:noFill/>
          <a:ln>
            <a:noFill/>
          </a:ln>
        </p:spPr>
        <p:txBody>
          <a:bodyPr anchorCtr="0" anchor="ctr" bIns="65000" lIns="65000" spcFirstLastPara="1" rIns="65000" wrap="square" tIns="65000">
            <a:norm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aka. FAIR for dummies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8"/>
          <p:cNvSpPr txBox="1"/>
          <p:nvPr>
            <p:ph type="title"/>
          </p:nvPr>
        </p:nvSpPr>
        <p:spPr>
          <a:xfrm>
            <a:off x="2336225" y="3134675"/>
            <a:ext cx="7934400" cy="3251100"/>
          </a:xfrm>
          <a:prstGeom prst="rect">
            <a:avLst/>
          </a:prstGeom>
          <a:noFill/>
          <a:ln>
            <a:noFill/>
          </a:ln>
        </p:spPr>
        <p:txBody>
          <a:bodyPr anchorCtr="0" anchor="ctr" bIns="65000" lIns="65000" spcFirstLastPara="1" rIns="65000" wrap="square" tIns="65000">
            <a:noAutofit/>
          </a:bodyPr>
          <a:lstStyle/>
          <a:p>
            <a:pPr indent="0" lvl="0" marL="0" rtl="0" algn="ctr">
              <a:lnSpc>
                <a:spcPct val="100000"/>
              </a:lnSpc>
              <a:spcBef>
                <a:spcPts val="0"/>
              </a:spcBef>
              <a:spcAft>
                <a:spcPts val="0"/>
              </a:spcAft>
              <a:buClr>
                <a:srgbClr val="000000"/>
              </a:buClr>
              <a:buSzPts val="4032"/>
              <a:buFont typeface="Arial"/>
              <a:buNone/>
            </a:pPr>
            <a:r>
              <a:rPr lang="en-US" sz="6000"/>
              <a:t>Balancing values: </a:t>
            </a:r>
            <a:br>
              <a:rPr lang="en-US" sz="6000"/>
            </a:br>
            <a:r>
              <a:rPr lang="en-US" sz="6000"/>
              <a:t>Three fields of tension with data</a:t>
            </a:r>
            <a:endParaRPr sz="6000"/>
          </a:p>
        </p:txBody>
      </p:sp>
      <p:sp>
        <p:nvSpPr>
          <p:cNvPr id="260" name="Google Shape;260;p28"/>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9"/>
          <p:cNvSpPr txBox="1"/>
          <p:nvPr>
            <p:ph type="title"/>
          </p:nvPr>
        </p:nvSpPr>
        <p:spPr>
          <a:xfrm>
            <a:off x="379306" y="147054"/>
            <a:ext cx="8246792" cy="1162212"/>
          </a:xfrm>
          <a:prstGeom prst="rect">
            <a:avLst/>
          </a:prstGeom>
          <a:noFill/>
          <a:ln>
            <a:noFill/>
          </a:ln>
        </p:spPr>
        <p:txBody>
          <a:bodyPr anchorCtr="0" anchor="ctr" bIns="65000" lIns="65000" spcFirstLastPara="1" rIns="65000" wrap="square" tIns="65000">
            <a:normAutofit/>
          </a:bodyPr>
          <a:lstStyle/>
          <a:p>
            <a:pPr indent="0" lvl="0" marL="0" rtl="0" algn="l">
              <a:lnSpc>
                <a:spcPct val="100000"/>
              </a:lnSpc>
              <a:spcBef>
                <a:spcPts val="0"/>
              </a:spcBef>
              <a:spcAft>
                <a:spcPts val="0"/>
              </a:spcAft>
              <a:buClr>
                <a:srgbClr val="000000"/>
              </a:buClr>
              <a:buSzPts val="5900"/>
              <a:buFont typeface="Arial"/>
              <a:buNone/>
            </a:pPr>
            <a:r>
              <a:rPr b="1" lang="en-US" sz="5900" cap="none">
                <a:solidFill>
                  <a:srgbClr val="000000"/>
                </a:solidFill>
                <a:latin typeface="Arial"/>
                <a:ea typeface="Arial"/>
                <a:cs typeface="Arial"/>
                <a:sym typeface="Arial"/>
              </a:rPr>
              <a:t>Balancing values I</a:t>
            </a:r>
            <a:endParaRPr/>
          </a:p>
        </p:txBody>
      </p:sp>
      <p:sp>
        <p:nvSpPr>
          <p:cNvPr id="266" name="Google Shape;266;p29"/>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grpSp>
        <p:nvGrpSpPr>
          <p:cNvPr id="267" name="Google Shape;267;p29"/>
          <p:cNvGrpSpPr/>
          <p:nvPr/>
        </p:nvGrpSpPr>
        <p:grpSpPr>
          <a:xfrm>
            <a:off x="455930" y="2071942"/>
            <a:ext cx="12010137" cy="1834706"/>
            <a:chOff x="0" y="0"/>
            <a:chExt cx="12010136" cy="1834704"/>
          </a:xfrm>
        </p:grpSpPr>
        <p:sp>
          <p:nvSpPr>
            <p:cNvPr id="268" name="Google Shape;268;p29"/>
            <p:cNvSpPr/>
            <p:nvPr/>
          </p:nvSpPr>
          <p:spPr>
            <a:xfrm>
              <a:off x="0" y="0"/>
              <a:ext cx="4871145" cy="1834704"/>
            </a:xfrm>
            <a:prstGeom prst="rect">
              <a:avLst/>
            </a:prstGeom>
            <a:gradFill>
              <a:gsLst>
                <a:gs pos="0">
                  <a:srgbClr val="202DA2"/>
                </a:gs>
                <a:gs pos="100000">
                  <a:srgbClr val="425FF8"/>
                </a:gs>
              </a:gsLst>
              <a:lin ang="5400000" scaled="0"/>
            </a:gradFill>
            <a:ln>
              <a:noFill/>
            </a:ln>
            <a:effectLst>
              <a:outerShdw blurRad="63500" rotWithShape="0" dir="2880000" dist="63500">
                <a:srgbClr val="000000">
                  <a:alpha val="59608"/>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FFFFFF"/>
                </a:buClr>
                <a:buSzPts val="3000"/>
                <a:buFont typeface="Arial"/>
                <a:buNone/>
              </a:pPr>
              <a:r>
                <a:rPr b="0" i="0" lang="en-US" sz="3000" u="none" cap="none" strike="noStrike">
                  <a:solidFill>
                    <a:srgbClr val="FFFFFF"/>
                  </a:solidFill>
                  <a:latin typeface="Arial"/>
                  <a:ea typeface="Arial"/>
                  <a:cs typeface="Arial"/>
                  <a:sym typeface="Arial"/>
                </a:rPr>
                <a:t>Open Data, public interest/entitlement to publicly funded data</a:t>
              </a:r>
              <a:endParaRPr b="0" i="0" sz="1400" u="none" cap="none" strike="noStrike">
                <a:solidFill>
                  <a:srgbClr val="000000"/>
                </a:solidFill>
                <a:latin typeface="Arial"/>
                <a:ea typeface="Arial"/>
                <a:cs typeface="Arial"/>
                <a:sym typeface="Arial"/>
              </a:endParaRPr>
            </a:p>
          </p:txBody>
        </p:sp>
        <p:sp>
          <p:nvSpPr>
            <p:cNvPr id="269" name="Google Shape;269;p29"/>
            <p:cNvSpPr/>
            <p:nvPr/>
          </p:nvSpPr>
          <p:spPr>
            <a:xfrm>
              <a:off x="5306567" y="599851"/>
              <a:ext cx="1397001" cy="635001"/>
            </a:xfrm>
            <a:prstGeom prst="leftRightArrow">
              <a:avLst>
                <a:gd fmla="val 32000" name="adj1"/>
                <a:gd fmla="val 88000" name="adj2"/>
              </a:avLst>
            </a:prstGeom>
            <a:gradFill>
              <a:gsLst>
                <a:gs pos="0">
                  <a:srgbClr val="002DFF"/>
                </a:gs>
                <a:gs pos="100000">
                  <a:srgbClr val="70BF41"/>
                </a:gs>
              </a:gsLst>
              <a:lin ang="0" scaled="0"/>
            </a:gradFill>
            <a:ln>
              <a:noFill/>
            </a:ln>
            <a:effectLst>
              <a:outerShdw blurRad="63500" rotWithShape="0" dir="2880000" dist="63500">
                <a:srgbClr val="000000">
                  <a:alpha val="59608"/>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FFFFFF"/>
                </a:buClr>
                <a:buSzPts val="3200"/>
                <a:buFont typeface="Arial"/>
                <a:buNone/>
              </a:pPr>
              <a:r>
                <a:t/>
              </a:r>
              <a:endParaRPr b="0" i="0" sz="3200" u="none" cap="none" strike="noStrike">
                <a:solidFill>
                  <a:srgbClr val="FFFFFF"/>
                </a:solidFill>
                <a:latin typeface="Arial"/>
                <a:ea typeface="Arial"/>
                <a:cs typeface="Arial"/>
                <a:sym typeface="Arial"/>
              </a:endParaRPr>
            </a:p>
          </p:txBody>
        </p:sp>
        <p:sp>
          <p:nvSpPr>
            <p:cNvPr id="270" name="Google Shape;270;p29"/>
            <p:cNvSpPr/>
            <p:nvPr/>
          </p:nvSpPr>
          <p:spPr>
            <a:xfrm>
              <a:off x="7138990" y="0"/>
              <a:ext cx="4871146" cy="1834704"/>
            </a:xfrm>
            <a:prstGeom prst="rect">
              <a:avLst/>
            </a:prstGeom>
            <a:gradFill>
              <a:gsLst>
                <a:gs pos="0">
                  <a:srgbClr val="0A3C00"/>
                </a:gs>
                <a:gs pos="100000">
                  <a:srgbClr val="52C600"/>
                </a:gs>
              </a:gsLst>
              <a:lin ang="5400000" scaled="0"/>
            </a:gradFill>
            <a:ln>
              <a:noFill/>
            </a:ln>
            <a:effectLst>
              <a:outerShdw blurRad="63500" rotWithShape="0" dir="2880000" dist="63500">
                <a:srgbClr val="000000">
                  <a:alpha val="59608"/>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FFFFFF"/>
                </a:buClr>
                <a:buSzPts val="3000"/>
                <a:buFont typeface="Arial"/>
                <a:buNone/>
              </a:pPr>
              <a:r>
                <a:rPr b="0" i="0" lang="en-US" sz="3000" u="none" cap="none" strike="noStrike">
                  <a:solidFill>
                    <a:srgbClr val="FFFFFF"/>
                  </a:solidFill>
                  <a:latin typeface="Arial"/>
                  <a:ea typeface="Arial"/>
                  <a:cs typeface="Arial"/>
                  <a:sym typeface="Arial"/>
                </a:rPr>
                <a:t>Privacy rights of research subjects</a:t>
              </a:r>
              <a:endParaRPr b="0" i="0" sz="1400" u="none" cap="none" strike="noStrike">
                <a:solidFill>
                  <a:srgbClr val="000000"/>
                </a:solidFill>
                <a:latin typeface="Arial"/>
                <a:ea typeface="Arial"/>
                <a:cs typeface="Arial"/>
                <a:sym typeface="Arial"/>
              </a:endParaRPr>
            </a:p>
          </p:txBody>
        </p:sp>
      </p:grpSp>
      <p:sp>
        <p:nvSpPr>
          <p:cNvPr id="271" name="Google Shape;271;p29"/>
          <p:cNvSpPr txBox="1"/>
          <p:nvPr/>
        </p:nvSpPr>
        <p:spPr>
          <a:xfrm>
            <a:off x="638825" y="4345125"/>
            <a:ext cx="12087600" cy="5077500"/>
          </a:xfrm>
          <a:prstGeom prst="rect">
            <a:avLst/>
          </a:prstGeom>
          <a:noFill/>
          <a:ln>
            <a:noFill/>
          </a:ln>
        </p:spPr>
        <p:txBody>
          <a:bodyPr anchorCtr="0" anchor="t" bIns="65000" lIns="65000" spcFirstLastPara="1" rIns="65000" wrap="square" tIns="65000">
            <a:spAutoFit/>
          </a:bodyPr>
          <a:lstStyle/>
          <a:p>
            <a:pPr indent="-261257" lvl="0" marL="261257" marR="0" rtl="0" algn="l">
              <a:lnSpc>
                <a:spcPct val="100000"/>
              </a:lnSpc>
              <a:spcBef>
                <a:spcPts val="0"/>
              </a:spcBef>
              <a:spcAft>
                <a:spcPts val="0"/>
              </a:spcAft>
              <a:buClr>
                <a:srgbClr val="000000"/>
              </a:buClr>
              <a:buSzPts val="2624"/>
              <a:buFont typeface="Gill Sans"/>
              <a:buChar char="•"/>
            </a:pPr>
            <a:r>
              <a:rPr b="0" i="0" lang="en-US" sz="3200" u="none" cap="none" strike="noStrike">
                <a:solidFill>
                  <a:srgbClr val="000000"/>
                </a:solidFill>
                <a:latin typeface="Gill Sans"/>
                <a:ea typeface="Gill Sans"/>
                <a:cs typeface="Gill Sans"/>
                <a:sym typeface="Gill Sans"/>
              </a:rPr>
              <a:t>Privacy rights &gt; openness; but GDPR also mentions a „legitimate interest“ of research</a:t>
            </a:r>
            <a:endParaRPr b="0" i="0" sz="1400" u="none" cap="none" strike="noStrike">
              <a:solidFill>
                <a:srgbClr val="000000"/>
              </a:solidFill>
              <a:latin typeface="Arial"/>
              <a:ea typeface="Arial"/>
              <a:cs typeface="Arial"/>
              <a:sym typeface="Arial"/>
            </a:endParaRPr>
          </a:p>
          <a:p>
            <a:pPr indent="-261257" lvl="0" marL="261257" marR="0" rtl="0" algn="l">
              <a:lnSpc>
                <a:spcPct val="100000"/>
              </a:lnSpc>
              <a:spcBef>
                <a:spcPts val="800"/>
              </a:spcBef>
              <a:spcAft>
                <a:spcPts val="0"/>
              </a:spcAft>
              <a:buClr>
                <a:srgbClr val="000000"/>
              </a:buClr>
              <a:buSzPts val="2624"/>
              <a:buFont typeface="Gill Sans"/>
              <a:buChar char="•"/>
            </a:pPr>
            <a:r>
              <a:rPr b="0" i="0" lang="en-US" sz="3200" u="none" cap="none" strike="noStrike">
                <a:solidFill>
                  <a:srgbClr val="000000"/>
                </a:solidFill>
                <a:latin typeface="Gill Sans"/>
                <a:ea typeface="Gill Sans"/>
                <a:cs typeface="Gill Sans"/>
                <a:sym typeface="Gill Sans"/>
              </a:rPr>
              <a:t>Ask participants for a broad consent of open reuse</a:t>
            </a:r>
            <a:endParaRPr b="0" i="0" sz="1400" u="none" cap="none" strike="noStrike">
              <a:solidFill>
                <a:srgbClr val="000000"/>
              </a:solidFill>
              <a:latin typeface="Arial"/>
              <a:ea typeface="Arial"/>
              <a:cs typeface="Arial"/>
              <a:sym typeface="Arial"/>
            </a:endParaRPr>
          </a:p>
          <a:p>
            <a:pPr indent="-261257" lvl="0" marL="261257" marR="0" rtl="0" algn="l">
              <a:lnSpc>
                <a:spcPct val="100000"/>
              </a:lnSpc>
              <a:spcBef>
                <a:spcPts val="800"/>
              </a:spcBef>
              <a:spcAft>
                <a:spcPts val="0"/>
              </a:spcAft>
              <a:buClr>
                <a:srgbClr val="000000"/>
              </a:buClr>
              <a:buSzPts val="2624"/>
              <a:buFont typeface="Gill Sans"/>
              <a:buChar char="•"/>
            </a:pPr>
            <a:r>
              <a:rPr b="0" i="0" lang="en-US" sz="3200" u="none" cap="none" strike="noStrike">
                <a:solidFill>
                  <a:srgbClr val="000000"/>
                </a:solidFill>
                <a:latin typeface="Gill Sans"/>
                <a:ea typeface="Gill Sans"/>
                <a:cs typeface="Gill Sans"/>
                <a:sym typeface="Gill Sans"/>
              </a:rPr>
              <a:t>Use tiered access levels (e.g., „scientific use files“)</a:t>
            </a:r>
            <a:endParaRPr b="0" i="0" sz="1400" u="none" cap="none" strike="noStrike">
              <a:solidFill>
                <a:srgbClr val="000000"/>
              </a:solidFill>
              <a:latin typeface="Arial"/>
              <a:ea typeface="Arial"/>
              <a:cs typeface="Arial"/>
              <a:sym typeface="Arial"/>
            </a:endParaRPr>
          </a:p>
          <a:p>
            <a:pPr indent="-261257" lvl="0" marL="261257" marR="0" rtl="0" algn="l">
              <a:lnSpc>
                <a:spcPct val="100000"/>
              </a:lnSpc>
              <a:spcBef>
                <a:spcPts val="800"/>
              </a:spcBef>
              <a:spcAft>
                <a:spcPts val="0"/>
              </a:spcAft>
              <a:buClr>
                <a:srgbClr val="000000"/>
              </a:buClr>
              <a:buSzPts val="2624"/>
              <a:buFont typeface="Gill Sans"/>
              <a:buChar char="•"/>
            </a:pPr>
            <a:r>
              <a:rPr b="0" i="0" lang="en-US" sz="3200" u="none" cap="none" strike="noStrike">
                <a:solidFill>
                  <a:srgbClr val="000000"/>
                </a:solidFill>
                <a:latin typeface="Gill Sans"/>
                <a:ea typeface="Gill Sans"/>
                <a:cs typeface="Gill Sans"/>
                <a:sym typeface="Gill Sans"/>
              </a:rPr>
              <a:t>Publish aggregated data (e.g., ratings of videos) without the primary data (videos)</a:t>
            </a:r>
            <a:endParaRPr b="0" i="0" sz="1400" u="none" cap="none" strike="noStrike">
              <a:solidFill>
                <a:srgbClr val="000000"/>
              </a:solidFill>
              <a:latin typeface="Arial"/>
              <a:ea typeface="Arial"/>
              <a:cs typeface="Arial"/>
              <a:sym typeface="Arial"/>
            </a:endParaRPr>
          </a:p>
          <a:p>
            <a:pPr indent="-261257" lvl="0" marL="261257" marR="0" rtl="0" algn="l">
              <a:lnSpc>
                <a:spcPct val="100000"/>
              </a:lnSpc>
              <a:spcBef>
                <a:spcPts val="800"/>
              </a:spcBef>
              <a:spcAft>
                <a:spcPts val="0"/>
              </a:spcAft>
              <a:buClr>
                <a:srgbClr val="000000"/>
              </a:buClr>
              <a:buSzPts val="2624"/>
              <a:buFont typeface="Gill Sans"/>
              <a:buChar char="•"/>
            </a:pPr>
            <a:r>
              <a:rPr b="0" i="0" lang="en-US" sz="3200" u="none" cap="none" strike="noStrike">
                <a:solidFill>
                  <a:srgbClr val="000000"/>
                </a:solidFill>
                <a:latin typeface="Gill Sans"/>
                <a:ea typeface="Gill Sans"/>
                <a:cs typeface="Gill Sans"/>
                <a:sym typeface="Gill Sans"/>
              </a:rPr>
              <a:t>Sharing something &gt; sharing nothing</a:t>
            </a:r>
            <a:endParaRPr b="0" i="0" sz="1400" u="none" cap="none" strike="noStrike">
              <a:solidFill>
                <a:srgbClr val="000000"/>
              </a:solidFill>
              <a:latin typeface="Arial"/>
              <a:ea typeface="Arial"/>
              <a:cs typeface="Arial"/>
              <a:sym typeface="Arial"/>
            </a:endParaRPr>
          </a:p>
          <a:p>
            <a:pPr indent="-261257" lvl="0" marL="261257" marR="0" rtl="0" algn="l">
              <a:lnSpc>
                <a:spcPct val="100000"/>
              </a:lnSpc>
              <a:spcBef>
                <a:spcPts val="800"/>
              </a:spcBef>
              <a:spcAft>
                <a:spcPts val="0"/>
              </a:spcAft>
              <a:buClr>
                <a:srgbClr val="000000"/>
              </a:buClr>
              <a:buSzPts val="2624"/>
              <a:buFont typeface="Gill Sans"/>
              <a:buChar char="•"/>
            </a:pPr>
            <a:r>
              <a:rPr b="0" i="0" lang="en-US" sz="3200" u="none" cap="none" strike="noStrike">
                <a:solidFill>
                  <a:srgbClr val="000000"/>
                </a:solidFill>
                <a:latin typeface="Gill Sans"/>
                <a:ea typeface="Gill Sans"/>
                <a:cs typeface="Gill Sans"/>
                <a:sym typeface="Gill Sans"/>
              </a:rPr>
              <a:t>It’s not either „open“ or „closed“ - it’s a continuum:</a:t>
            </a:r>
            <a:br>
              <a:rPr b="0" i="0" lang="en-US" sz="3200" u="none" cap="none" strike="noStrike">
                <a:solidFill>
                  <a:srgbClr val="000000"/>
                </a:solidFill>
                <a:latin typeface="Gill Sans"/>
                <a:ea typeface="Gill Sans"/>
                <a:cs typeface="Gill Sans"/>
                <a:sym typeface="Gill Sans"/>
              </a:rPr>
            </a:br>
            <a:r>
              <a:rPr b="0" i="0" lang="en-US" sz="3200" u="none" cap="none" strike="noStrike">
                <a:solidFill>
                  <a:srgbClr val="000000"/>
                </a:solidFill>
                <a:latin typeface="Gill Sans"/>
                <a:ea typeface="Gill Sans"/>
                <a:cs typeface="Gill Sans"/>
                <a:sym typeface="Gill Sans"/>
              </a:rPr>
              <a:t>As open as possible, as restricted as necessary</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0"/>
          <p:cNvSpPr txBox="1"/>
          <p:nvPr>
            <p:ph type="title"/>
          </p:nvPr>
        </p:nvSpPr>
        <p:spPr>
          <a:xfrm>
            <a:off x="379306" y="147054"/>
            <a:ext cx="8246792" cy="1162212"/>
          </a:xfrm>
          <a:prstGeom prst="rect">
            <a:avLst/>
          </a:prstGeom>
          <a:noFill/>
          <a:ln>
            <a:noFill/>
          </a:ln>
        </p:spPr>
        <p:txBody>
          <a:bodyPr anchorCtr="0" anchor="ctr" bIns="65000" lIns="65000" spcFirstLastPara="1" rIns="65000" wrap="square" tIns="65000">
            <a:normAutofit/>
          </a:bodyPr>
          <a:lstStyle/>
          <a:p>
            <a:pPr indent="0" lvl="0" marL="0" rtl="0" algn="l">
              <a:lnSpc>
                <a:spcPct val="100000"/>
              </a:lnSpc>
              <a:spcBef>
                <a:spcPts val="0"/>
              </a:spcBef>
              <a:spcAft>
                <a:spcPts val="0"/>
              </a:spcAft>
              <a:buClr>
                <a:srgbClr val="000000"/>
              </a:buClr>
              <a:buSzPts val="5900"/>
              <a:buFont typeface="Arial"/>
              <a:buNone/>
            </a:pPr>
            <a:r>
              <a:rPr b="1" lang="en-US" sz="5900" cap="none">
                <a:solidFill>
                  <a:srgbClr val="000000"/>
                </a:solidFill>
                <a:latin typeface="Arial"/>
                <a:ea typeface="Arial"/>
                <a:cs typeface="Arial"/>
                <a:sym typeface="Arial"/>
              </a:rPr>
              <a:t>Balancing values II</a:t>
            </a:r>
            <a:endParaRPr/>
          </a:p>
        </p:txBody>
      </p:sp>
      <p:sp>
        <p:nvSpPr>
          <p:cNvPr id="277" name="Google Shape;277;p30"/>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grpSp>
        <p:nvGrpSpPr>
          <p:cNvPr id="278" name="Google Shape;278;p30"/>
          <p:cNvGrpSpPr/>
          <p:nvPr/>
        </p:nvGrpSpPr>
        <p:grpSpPr>
          <a:xfrm>
            <a:off x="455930" y="2855525"/>
            <a:ext cx="12010137" cy="1834705"/>
            <a:chOff x="0" y="0"/>
            <a:chExt cx="12010136" cy="1834704"/>
          </a:xfrm>
        </p:grpSpPr>
        <p:sp>
          <p:nvSpPr>
            <p:cNvPr id="279" name="Google Shape;279;p30"/>
            <p:cNvSpPr/>
            <p:nvPr/>
          </p:nvSpPr>
          <p:spPr>
            <a:xfrm>
              <a:off x="0" y="0"/>
              <a:ext cx="4871145" cy="1834704"/>
            </a:xfrm>
            <a:prstGeom prst="rect">
              <a:avLst/>
            </a:prstGeom>
            <a:gradFill>
              <a:gsLst>
                <a:gs pos="0">
                  <a:srgbClr val="202DA2"/>
                </a:gs>
                <a:gs pos="100000">
                  <a:srgbClr val="425FF8"/>
                </a:gs>
              </a:gsLst>
              <a:lin ang="5400000" scaled="0"/>
            </a:gradFill>
            <a:ln>
              <a:noFill/>
            </a:ln>
            <a:effectLst>
              <a:outerShdw blurRad="63500" rotWithShape="0" dir="2880000" dist="63500">
                <a:srgbClr val="000000">
                  <a:alpha val="59608"/>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FFFFFF"/>
                </a:buClr>
                <a:buSzPts val="3000"/>
                <a:buFont typeface="Arial"/>
                <a:buNone/>
              </a:pPr>
              <a:r>
                <a:rPr b="0" i="0" lang="en-US" sz="3000" u="none" cap="none" strike="noStrike">
                  <a:solidFill>
                    <a:srgbClr val="FFFFFF"/>
                  </a:solidFill>
                  <a:latin typeface="Arial"/>
                  <a:ea typeface="Arial"/>
                  <a:cs typeface="Arial"/>
                  <a:sym typeface="Arial"/>
                </a:rPr>
                <a:t>Right of first usage,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3000"/>
                <a:buFont typeface="Arial"/>
                <a:buNone/>
              </a:pPr>
              <a:r>
                <a:rPr b="0" i="0" lang="en-US" sz="3000" u="none" cap="none" strike="noStrike">
                  <a:solidFill>
                    <a:srgbClr val="FFFFFF"/>
                  </a:solidFill>
                  <a:latin typeface="Arial"/>
                  <a:ea typeface="Arial"/>
                  <a:cs typeface="Arial"/>
                  <a:sym typeface="Arial"/>
                </a:rPr>
                <a:t>incentives to collect data in the first place</a:t>
              </a:r>
              <a:endParaRPr b="0" i="0" sz="1400" u="none" cap="none" strike="noStrike">
                <a:solidFill>
                  <a:srgbClr val="000000"/>
                </a:solidFill>
                <a:latin typeface="Arial"/>
                <a:ea typeface="Arial"/>
                <a:cs typeface="Arial"/>
                <a:sym typeface="Arial"/>
              </a:endParaRPr>
            </a:p>
          </p:txBody>
        </p:sp>
        <p:sp>
          <p:nvSpPr>
            <p:cNvPr id="280" name="Google Shape;280;p30"/>
            <p:cNvSpPr/>
            <p:nvPr/>
          </p:nvSpPr>
          <p:spPr>
            <a:xfrm>
              <a:off x="5306567" y="599851"/>
              <a:ext cx="1397001" cy="635001"/>
            </a:xfrm>
            <a:prstGeom prst="leftRightArrow">
              <a:avLst>
                <a:gd fmla="val 32000" name="adj1"/>
                <a:gd fmla="val 88000" name="adj2"/>
              </a:avLst>
            </a:prstGeom>
            <a:gradFill>
              <a:gsLst>
                <a:gs pos="0">
                  <a:srgbClr val="002DFF"/>
                </a:gs>
                <a:gs pos="100000">
                  <a:srgbClr val="70BF41"/>
                </a:gs>
              </a:gsLst>
              <a:lin ang="0" scaled="0"/>
            </a:gradFill>
            <a:ln>
              <a:noFill/>
            </a:ln>
            <a:effectLst>
              <a:outerShdw blurRad="63500" rotWithShape="0" dir="2880000" dist="63500">
                <a:srgbClr val="000000">
                  <a:alpha val="59608"/>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FFFFFF"/>
                </a:buClr>
                <a:buSzPts val="3200"/>
                <a:buFont typeface="Arial"/>
                <a:buNone/>
              </a:pPr>
              <a:r>
                <a:t/>
              </a:r>
              <a:endParaRPr b="0" i="0" sz="3200" u="none" cap="none" strike="noStrike">
                <a:solidFill>
                  <a:srgbClr val="FFFFFF"/>
                </a:solidFill>
                <a:latin typeface="Arial"/>
                <a:ea typeface="Arial"/>
                <a:cs typeface="Arial"/>
                <a:sym typeface="Arial"/>
              </a:endParaRPr>
            </a:p>
          </p:txBody>
        </p:sp>
        <p:sp>
          <p:nvSpPr>
            <p:cNvPr id="281" name="Google Shape;281;p30"/>
            <p:cNvSpPr/>
            <p:nvPr/>
          </p:nvSpPr>
          <p:spPr>
            <a:xfrm>
              <a:off x="7138990" y="0"/>
              <a:ext cx="4871146" cy="1834704"/>
            </a:xfrm>
            <a:prstGeom prst="rect">
              <a:avLst/>
            </a:prstGeom>
            <a:gradFill>
              <a:gsLst>
                <a:gs pos="0">
                  <a:srgbClr val="0A3C00"/>
                </a:gs>
                <a:gs pos="100000">
                  <a:srgbClr val="52C600"/>
                </a:gs>
              </a:gsLst>
              <a:lin ang="5400000" scaled="0"/>
            </a:gradFill>
            <a:ln>
              <a:noFill/>
            </a:ln>
            <a:effectLst>
              <a:outerShdw blurRad="63500" rotWithShape="0" dir="2880000" dist="63500">
                <a:srgbClr val="000000">
                  <a:alpha val="59608"/>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FFFFFF"/>
                </a:buClr>
                <a:buSzPts val="3000"/>
                <a:buFont typeface="Arial"/>
                <a:buNone/>
              </a:pPr>
              <a:r>
                <a:rPr b="0" i="0" lang="en-US" sz="3000" u="none" cap="none" strike="noStrike">
                  <a:solidFill>
                    <a:srgbClr val="FFFFFF"/>
                  </a:solidFill>
                  <a:latin typeface="Arial"/>
                  <a:ea typeface="Arial"/>
                  <a:cs typeface="Arial"/>
                  <a:sym typeface="Arial"/>
                </a:rPr>
                <a:t>Optimal and efficient gain of knowledge by data reuse</a:t>
              </a:r>
              <a:endParaRPr b="0" i="0" sz="1400" u="none" cap="none" strike="noStrike">
                <a:solidFill>
                  <a:srgbClr val="000000"/>
                </a:solidFill>
                <a:latin typeface="Arial"/>
                <a:ea typeface="Arial"/>
                <a:cs typeface="Arial"/>
                <a:sym typeface="Arial"/>
              </a:endParaRPr>
            </a:p>
          </p:txBody>
        </p:sp>
      </p:grpSp>
      <p:sp>
        <p:nvSpPr>
          <p:cNvPr id="282" name="Google Shape;282;p30"/>
          <p:cNvSpPr txBox="1"/>
          <p:nvPr/>
        </p:nvSpPr>
        <p:spPr>
          <a:xfrm>
            <a:off x="476789" y="5521769"/>
            <a:ext cx="11727168" cy="2670049"/>
          </a:xfrm>
          <a:prstGeom prst="rect">
            <a:avLst/>
          </a:prstGeom>
          <a:noFill/>
          <a:ln>
            <a:noFill/>
          </a:ln>
        </p:spPr>
        <p:txBody>
          <a:bodyPr anchorCtr="0" anchor="t" bIns="65000" lIns="65000" spcFirstLastPara="1" rIns="65000" wrap="square" tIns="65000">
            <a:spAutoFit/>
          </a:bodyPr>
          <a:lstStyle/>
          <a:p>
            <a:pPr indent="-261257" lvl="0" marL="261257" marR="0" rtl="0" algn="l">
              <a:lnSpc>
                <a:spcPct val="100000"/>
              </a:lnSpc>
              <a:spcBef>
                <a:spcPts val="0"/>
              </a:spcBef>
              <a:spcAft>
                <a:spcPts val="0"/>
              </a:spcAft>
              <a:buClr>
                <a:srgbClr val="000000"/>
              </a:buClr>
              <a:buSzPts val="3116"/>
              <a:buFont typeface="Gill Sans"/>
              <a:buChar char="•"/>
            </a:pPr>
            <a:r>
              <a:rPr b="0" i="0" lang="en-US" sz="3800" u="none" cap="none" strike="noStrike">
                <a:solidFill>
                  <a:srgbClr val="000000"/>
                </a:solidFill>
                <a:latin typeface="Gill Sans"/>
                <a:ea typeface="Gill Sans"/>
                <a:cs typeface="Gill Sans"/>
                <a:sym typeface="Gill Sans"/>
              </a:rPr>
              <a:t>Incentivize data sharing</a:t>
            </a:r>
            <a:endParaRPr b="0" i="0" sz="1400" u="none" cap="none" strike="noStrike">
              <a:solidFill>
                <a:srgbClr val="000000"/>
              </a:solidFill>
              <a:latin typeface="Arial"/>
              <a:ea typeface="Arial"/>
              <a:cs typeface="Arial"/>
              <a:sym typeface="Arial"/>
            </a:endParaRPr>
          </a:p>
          <a:p>
            <a:pPr indent="-261257" lvl="0" marL="261257" marR="0" rtl="0" algn="l">
              <a:lnSpc>
                <a:spcPct val="100000"/>
              </a:lnSpc>
              <a:spcBef>
                <a:spcPts val="1400"/>
              </a:spcBef>
              <a:spcAft>
                <a:spcPts val="0"/>
              </a:spcAft>
              <a:buClr>
                <a:srgbClr val="000000"/>
              </a:buClr>
              <a:buSzPts val="3116"/>
              <a:buFont typeface="Gill Sans"/>
              <a:buChar char="•"/>
            </a:pPr>
            <a:r>
              <a:rPr b="0" i="0" lang="en-US" sz="3800" u="none" cap="none" strike="noStrike">
                <a:solidFill>
                  <a:srgbClr val="000000"/>
                </a:solidFill>
                <a:latin typeface="Gill Sans"/>
                <a:ea typeface="Gill Sans"/>
                <a:cs typeface="Gill Sans"/>
                <a:sym typeface="Gill Sans"/>
              </a:rPr>
              <a:t>Right of first usage, possibility of embargo</a:t>
            </a:r>
            <a:endParaRPr b="0" i="0" sz="1400" u="none" cap="none" strike="noStrike">
              <a:solidFill>
                <a:srgbClr val="000000"/>
              </a:solidFill>
              <a:latin typeface="Arial"/>
              <a:ea typeface="Arial"/>
              <a:cs typeface="Arial"/>
              <a:sym typeface="Arial"/>
            </a:endParaRPr>
          </a:p>
          <a:p>
            <a:pPr indent="-261257" lvl="0" marL="261257" marR="0" rtl="0" algn="l">
              <a:lnSpc>
                <a:spcPct val="100000"/>
              </a:lnSpc>
              <a:spcBef>
                <a:spcPts val="1400"/>
              </a:spcBef>
              <a:spcAft>
                <a:spcPts val="0"/>
              </a:spcAft>
              <a:buClr>
                <a:srgbClr val="000000"/>
              </a:buClr>
              <a:buSzPts val="3116"/>
              <a:buFont typeface="Gill Sans"/>
              <a:buChar char="•"/>
            </a:pPr>
            <a:r>
              <a:rPr b="0" i="0" lang="en-US" sz="3800" u="none" cap="none" strike="noStrike">
                <a:solidFill>
                  <a:srgbClr val="000000"/>
                </a:solidFill>
                <a:latin typeface="Gill Sans"/>
                <a:ea typeface="Gill Sans"/>
                <a:cs typeface="Gill Sans"/>
                <a:sym typeface="Gill Sans"/>
              </a:rPr>
              <a:t>At the end of the day (resp., the embargo), all data are as open as possible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1"/>
          <p:cNvSpPr txBox="1"/>
          <p:nvPr>
            <p:ph idx="12" type="sldNum"/>
          </p:nvPr>
        </p:nvSpPr>
        <p:spPr>
          <a:xfrm>
            <a:off x="12466066" y="9249664"/>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pic>
        <p:nvPicPr>
          <p:cNvPr descr="best_fight_scenes_header_image.jpg" id="288" name="Google Shape;288;p31"/>
          <p:cNvPicPr preferRelativeResize="0"/>
          <p:nvPr/>
        </p:nvPicPr>
        <p:blipFill rotWithShape="1">
          <a:blip r:embed="rId3">
            <a:alphaModFix/>
          </a:blip>
          <a:srcRect b="0" l="0" r="0" t="0"/>
          <a:stretch/>
        </p:blipFill>
        <p:spPr>
          <a:xfrm>
            <a:off x="-28650" y="2470836"/>
            <a:ext cx="13062099" cy="7346442"/>
          </a:xfrm>
          <a:prstGeom prst="rect">
            <a:avLst/>
          </a:prstGeom>
          <a:noFill/>
          <a:ln>
            <a:noFill/>
          </a:ln>
        </p:spPr>
      </p:pic>
      <p:sp>
        <p:nvSpPr>
          <p:cNvPr id="289" name="Google Shape;289;p31"/>
          <p:cNvSpPr/>
          <p:nvPr/>
        </p:nvSpPr>
        <p:spPr>
          <a:xfrm>
            <a:off x="144359" y="999398"/>
            <a:ext cx="6026548" cy="2570958"/>
          </a:xfrm>
          <a:custGeom>
            <a:rect b="b" l="l" r="r" t="t"/>
            <a:pathLst>
              <a:path extrusionOk="0" h="21600" w="21600">
                <a:moveTo>
                  <a:pt x="407" y="0"/>
                </a:moveTo>
                <a:cubicBezTo>
                  <a:pt x="182" y="0"/>
                  <a:pt x="0" y="427"/>
                  <a:pt x="0" y="954"/>
                </a:cubicBezTo>
                <a:lnTo>
                  <a:pt x="0" y="15161"/>
                </a:lnTo>
                <a:cubicBezTo>
                  <a:pt x="0" y="15688"/>
                  <a:pt x="182" y="16115"/>
                  <a:pt x="407" y="16115"/>
                </a:cubicBezTo>
                <a:lnTo>
                  <a:pt x="13883" y="16115"/>
                </a:lnTo>
                <a:lnTo>
                  <a:pt x="14695" y="21600"/>
                </a:lnTo>
                <a:lnTo>
                  <a:pt x="15509" y="16115"/>
                </a:lnTo>
                <a:lnTo>
                  <a:pt x="21193" y="16115"/>
                </a:lnTo>
                <a:cubicBezTo>
                  <a:pt x="21418" y="16115"/>
                  <a:pt x="21600" y="15688"/>
                  <a:pt x="21600" y="15161"/>
                </a:cubicBezTo>
                <a:lnTo>
                  <a:pt x="21600" y="954"/>
                </a:lnTo>
                <a:cubicBezTo>
                  <a:pt x="21600" y="427"/>
                  <a:pt x="21418" y="0"/>
                  <a:pt x="21193" y="0"/>
                </a:cubicBezTo>
                <a:lnTo>
                  <a:pt x="407" y="0"/>
                </a:lnTo>
                <a:close/>
              </a:path>
            </a:pathLst>
          </a:custGeom>
          <a:gradFill>
            <a:gsLst>
              <a:gs pos="0">
                <a:srgbClr val="FFFFFF"/>
              </a:gs>
              <a:gs pos="100000">
                <a:srgbClr val="C4C4C4"/>
              </a:gs>
            </a:gsLst>
            <a:lin ang="5400000" scaled="0"/>
          </a:gradFill>
          <a:ln cap="flat" cmpd="sng" w="12700">
            <a:solidFill>
              <a:srgbClr val="858585"/>
            </a:solidFill>
            <a:prstDash val="solid"/>
            <a:miter lim="0"/>
            <a:headEnd len="sm" w="sm" type="none"/>
            <a:tailEnd len="sm" w="sm" type="none"/>
          </a:ln>
          <a:effectLst>
            <a:outerShdw blurRad="101600" rotWithShape="0" dir="2880000" dist="127000">
              <a:srgbClr val="000000">
                <a:alpha val="59608"/>
              </a:srgbClr>
            </a:outerShdw>
          </a:effectLst>
        </p:spPr>
        <p:txBody>
          <a:bodyPr anchorCtr="0" anchor="ctr" bIns="886950" lIns="65000" spcFirstLastPara="1" rIns="65000" wrap="square" tIns="650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I spent three years in the lab collecting my data! No research parasite will profit from my data!</a:t>
            </a:r>
            <a:endParaRPr b="0" i="0" sz="1400" u="none" cap="none" strike="noStrike">
              <a:solidFill>
                <a:srgbClr val="000000"/>
              </a:solidFill>
              <a:latin typeface="Arial"/>
              <a:ea typeface="Arial"/>
              <a:cs typeface="Arial"/>
              <a:sym typeface="Arial"/>
            </a:endParaRPr>
          </a:p>
        </p:txBody>
      </p:sp>
      <p:sp>
        <p:nvSpPr>
          <p:cNvPr id="290" name="Google Shape;290;p31"/>
          <p:cNvSpPr/>
          <p:nvPr/>
        </p:nvSpPr>
        <p:spPr>
          <a:xfrm>
            <a:off x="7411450" y="423801"/>
            <a:ext cx="5302638" cy="3697758"/>
          </a:xfrm>
          <a:custGeom>
            <a:rect b="b" l="l" r="r" t="t"/>
            <a:pathLst>
              <a:path extrusionOk="0" h="21600" w="21600">
                <a:moveTo>
                  <a:pt x="462" y="0"/>
                </a:moveTo>
                <a:cubicBezTo>
                  <a:pt x="207" y="0"/>
                  <a:pt x="0" y="330"/>
                  <a:pt x="0" y="737"/>
                </a:cubicBezTo>
                <a:lnTo>
                  <a:pt x="0" y="15895"/>
                </a:lnTo>
                <a:cubicBezTo>
                  <a:pt x="0" y="16302"/>
                  <a:pt x="207" y="16632"/>
                  <a:pt x="462" y="16632"/>
                </a:cubicBezTo>
                <a:lnTo>
                  <a:pt x="3002" y="16632"/>
                </a:lnTo>
                <a:lnTo>
                  <a:pt x="3927" y="21600"/>
                </a:lnTo>
                <a:lnTo>
                  <a:pt x="4852" y="16632"/>
                </a:lnTo>
                <a:lnTo>
                  <a:pt x="21138" y="16632"/>
                </a:lnTo>
                <a:cubicBezTo>
                  <a:pt x="21393" y="16632"/>
                  <a:pt x="21600" y="16302"/>
                  <a:pt x="21600" y="15895"/>
                </a:cubicBezTo>
                <a:lnTo>
                  <a:pt x="21600" y="737"/>
                </a:lnTo>
                <a:cubicBezTo>
                  <a:pt x="21600" y="330"/>
                  <a:pt x="21393" y="0"/>
                  <a:pt x="21138" y="0"/>
                </a:cubicBezTo>
                <a:lnTo>
                  <a:pt x="462" y="0"/>
                </a:lnTo>
                <a:close/>
              </a:path>
            </a:pathLst>
          </a:custGeom>
          <a:gradFill>
            <a:gsLst>
              <a:gs pos="0">
                <a:srgbClr val="FFFFFF"/>
              </a:gs>
              <a:gs pos="100000">
                <a:srgbClr val="C4C4C4"/>
              </a:gs>
            </a:gsLst>
            <a:lin ang="5400000" scaled="0"/>
          </a:gradFill>
          <a:ln cap="flat" cmpd="sng" w="12700">
            <a:solidFill>
              <a:srgbClr val="858585"/>
            </a:solidFill>
            <a:prstDash val="solid"/>
            <a:miter lim="0"/>
            <a:headEnd len="sm" w="sm" type="none"/>
            <a:tailEnd len="sm" w="sm" type="none"/>
          </a:ln>
          <a:effectLst>
            <a:outerShdw blurRad="101600" rotWithShape="0" dir="2880000" dist="127000">
              <a:srgbClr val="000000">
                <a:alpha val="59610"/>
              </a:srgbClr>
            </a:outerShdw>
          </a:effectLst>
        </p:spPr>
        <p:txBody>
          <a:bodyPr anchorCtr="0" anchor="ctr" bIns="1005825" lIns="65000" spcFirstLastPara="1" rIns="65000" wrap="square" tIns="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I do important and good research by reanalyzing existing data sets, such as SOEP or GESIS panels. Don’t devalue my research!</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2"/>
          <p:cNvSpPr txBox="1"/>
          <p:nvPr>
            <p:ph idx="12" type="sldNum"/>
          </p:nvPr>
        </p:nvSpPr>
        <p:spPr>
          <a:xfrm>
            <a:off x="12466066" y="9249664"/>
            <a:ext cx="345900" cy="377700"/>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pic>
        <p:nvPicPr>
          <p:cNvPr descr="best_fight_scenes_header_image.jpg" id="296" name="Google Shape;296;p32"/>
          <p:cNvPicPr preferRelativeResize="0"/>
          <p:nvPr/>
        </p:nvPicPr>
        <p:blipFill rotWithShape="1">
          <a:blip r:embed="rId3">
            <a:alphaModFix/>
          </a:blip>
          <a:srcRect b="0" l="0" r="0" t="0"/>
          <a:stretch/>
        </p:blipFill>
        <p:spPr>
          <a:xfrm>
            <a:off x="-28650" y="2470836"/>
            <a:ext cx="13062099" cy="7346442"/>
          </a:xfrm>
          <a:prstGeom prst="rect">
            <a:avLst/>
          </a:prstGeom>
          <a:noFill/>
          <a:ln>
            <a:noFill/>
          </a:ln>
        </p:spPr>
      </p:pic>
      <p:sp>
        <p:nvSpPr>
          <p:cNvPr id="297" name="Google Shape;297;p32"/>
          <p:cNvSpPr/>
          <p:nvPr/>
        </p:nvSpPr>
        <p:spPr>
          <a:xfrm>
            <a:off x="144359" y="999398"/>
            <a:ext cx="6026562" cy="2570940"/>
          </a:xfrm>
          <a:custGeom>
            <a:rect b="b" l="l" r="r" t="t"/>
            <a:pathLst>
              <a:path extrusionOk="0" h="21600" w="21600">
                <a:moveTo>
                  <a:pt x="407" y="0"/>
                </a:moveTo>
                <a:cubicBezTo>
                  <a:pt x="182" y="0"/>
                  <a:pt x="0" y="427"/>
                  <a:pt x="0" y="954"/>
                </a:cubicBezTo>
                <a:lnTo>
                  <a:pt x="0" y="15161"/>
                </a:lnTo>
                <a:cubicBezTo>
                  <a:pt x="0" y="15688"/>
                  <a:pt x="182" y="16115"/>
                  <a:pt x="407" y="16115"/>
                </a:cubicBezTo>
                <a:lnTo>
                  <a:pt x="13883" y="16115"/>
                </a:lnTo>
                <a:lnTo>
                  <a:pt x="14695" y="21600"/>
                </a:lnTo>
                <a:lnTo>
                  <a:pt x="15509" y="16115"/>
                </a:lnTo>
                <a:lnTo>
                  <a:pt x="21193" y="16115"/>
                </a:lnTo>
                <a:cubicBezTo>
                  <a:pt x="21418" y="16115"/>
                  <a:pt x="21600" y="15688"/>
                  <a:pt x="21600" y="15161"/>
                </a:cubicBezTo>
                <a:lnTo>
                  <a:pt x="21600" y="954"/>
                </a:lnTo>
                <a:cubicBezTo>
                  <a:pt x="21600" y="427"/>
                  <a:pt x="21418" y="0"/>
                  <a:pt x="21193" y="0"/>
                </a:cubicBezTo>
                <a:lnTo>
                  <a:pt x="407" y="0"/>
                </a:lnTo>
                <a:close/>
              </a:path>
            </a:pathLst>
          </a:custGeom>
          <a:gradFill>
            <a:gsLst>
              <a:gs pos="0">
                <a:srgbClr val="FFFFFF"/>
              </a:gs>
              <a:gs pos="100000">
                <a:srgbClr val="C4C4C4"/>
              </a:gs>
            </a:gsLst>
            <a:lin ang="5400012" scaled="0"/>
          </a:gradFill>
          <a:ln cap="flat" cmpd="sng" w="12700">
            <a:solidFill>
              <a:srgbClr val="858585"/>
            </a:solidFill>
            <a:prstDash val="solid"/>
            <a:miter lim="0"/>
            <a:headEnd len="sm" w="sm" type="none"/>
            <a:tailEnd len="sm" w="sm" type="none"/>
          </a:ln>
          <a:effectLst>
            <a:outerShdw blurRad="101600" rotWithShape="0" dir="2880000" dist="127000">
              <a:srgbClr val="000000">
                <a:alpha val="59610"/>
              </a:srgbClr>
            </a:outerShdw>
          </a:effectLst>
        </p:spPr>
        <p:txBody>
          <a:bodyPr anchorCtr="0" anchor="ctr" bIns="886950" lIns="65000" spcFirstLastPara="1" rIns="65000" wrap="square" tIns="650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I spent three years in the lab collecting my data! No research parasite will profit from my data!</a:t>
            </a:r>
            <a:endParaRPr b="0" i="0" sz="1400" u="none" cap="none" strike="noStrike">
              <a:solidFill>
                <a:srgbClr val="000000"/>
              </a:solidFill>
              <a:latin typeface="Arial"/>
              <a:ea typeface="Arial"/>
              <a:cs typeface="Arial"/>
              <a:sym typeface="Arial"/>
            </a:endParaRPr>
          </a:p>
        </p:txBody>
      </p:sp>
      <p:sp>
        <p:nvSpPr>
          <p:cNvPr id="298" name="Google Shape;298;p32"/>
          <p:cNvSpPr/>
          <p:nvPr/>
        </p:nvSpPr>
        <p:spPr>
          <a:xfrm>
            <a:off x="7411450" y="423801"/>
            <a:ext cx="5302638" cy="3697758"/>
          </a:xfrm>
          <a:custGeom>
            <a:rect b="b" l="l" r="r" t="t"/>
            <a:pathLst>
              <a:path extrusionOk="0" h="21600" w="21600">
                <a:moveTo>
                  <a:pt x="462" y="0"/>
                </a:moveTo>
                <a:cubicBezTo>
                  <a:pt x="207" y="0"/>
                  <a:pt x="0" y="330"/>
                  <a:pt x="0" y="737"/>
                </a:cubicBezTo>
                <a:lnTo>
                  <a:pt x="0" y="15895"/>
                </a:lnTo>
                <a:cubicBezTo>
                  <a:pt x="0" y="16302"/>
                  <a:pt x="207" y="16632"/>
                  <a:pt x="462" y="16632"/>
                </a:cubicBezTo>
                <a:lnTo>
                  <a:pt x="3002" y="16632"/>
                </a:lnTo>
                <a:lnTo>
                  <a:pt x="3927" y="21600"/>
                </a:lnTo>
                <a:lnTo>
                  <a:pt x="4852" y="16632"/>
                </a:lnTo>
                <a:lnTo>
                  <a:pt x="21138" y="16632"/>
                </a:lnTo>
                <a:cubicBezTo>
                  <a:pt x="21393" y="16632"/>
                  <a:pt x="21600" y="16302"/>
                  <a:pt x="21600" y="15895"/>
                </a:cubicBezTo>
                <a:lnTo>
                  <a:pt x="21600" y="737"/>
                </a:lnTo>
                <a:cubicBezTo>
                  <a:pt x="21600" y="330"/>
                  <a:pt x="21393" y="0"/>
                  <a:pt x="21138" y="0"/>
                </a:cubicBezTo>
                <a:lnTo>
                  <a:pt x="462" y="0"/>
                </a:lnTo>
                <a:close/>
              </a:path>
            </a:pathLst>
          </a:custGeom>
          <a:gradFill>
            <a:gsLst>
              <a:gs pos="0">
                <a:srgbClr val="FFFFFF"/>
              </a:gs>
              <a:gs pos="100000">
                <a:srgbClr val="C4C4C4"/>
              </a:gs>
            </a:gsLst>
            <a:lin ang="5400012" scaled="0"/>
          </a:gradFill>
          <a:ln cap="flat" cmpd="sng" w="12700">
            <a:solidFill>
              <a:srgbClr val="858585"/>
            </a:solidFill>
            <a:prstDash val="solid"/>
            <a:miter lim="0"/>
            <a:headEnd len="sm" w="sm" type="none"/>
            <a:tailEnd len="sm" w="sm" type="none"/>
          </a:ln>
          <a:effectLst>
            <a:outerShdw blurRad="101600" rotWithShape="0" dir="2880000" dist="127000">
              <a:srgbClr val="000000">
                <a:alpha val="59610"/>
              </a:srgbClr>
            </a:outerShdw>
          </a:effectLst>
        </p:spPr>
        <p:txBody>
          <a:bodyPr anchorCtr="0" anchor="ctr" bIns="1005825" lIns="65000" spcFirstLastPara="1" rIns="65000" wrap="square" tIns="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I do important and good research by reanalyzing existing data sets, such as SOEP or GESIS panels. Don’t devalue my research!</a:t>
            </a:r>
            <a:endParaRPr b="0" i="0" sz="1400" u="none" cap="none" strike="noStrike">
              <a:solidFill>
                <a:srgbClr val="000000"/>
              </a:solidFill>
              <a:latin typeface="Arial"/>
              <a:ea typeface="Arial"/>
              <a:cs typeface="Arial"/>
              <a:sym typeface="Arial"/>
            </a:endParaRPr>
          </a:p>
        </p:txBody>
      </p:sp>
      <p:sp>
        <p:nvSpPr>
          <p:cNvPr id="299" name="Google Shape;299;p32"/>
          <p:cNvSpPr/>
          <p:nvPr/>
        </p:nvSpPr>
        <p:spPr>
          <a:xfrm>
            <a:off x="222473" y="5668364"/>
            <a:ext cx="12559800" cy="3914100"/>
          </a:xfrm>
          <a:prstGeom prst="rect">
            <a:avLst/>
          </a:prstGeom>
          <a:gradFill>
            <a:gsLst>
              <a:gs pos="0">
                <a:srgbClr val="202DA2"/>
              </a:gs>
              <a:gs pos="100000">
                <a:srgbClr val="425FF8"/>
              </a:gs>
            </a:gsLst>
            <a:lin ang="5400012" scaled="0"/>
          </a:gradFill>
          <a:ln>
            <a:noFill/>
          </a:ln>
          <a:effectLst>
            <a:outerShdw blurRad="63500" rotWithShape="0" dir="2880000" dist="63500">
              <a:srgbClr val="000000">
                <a:alpha val="59610"/>
              </a:srgbClr>
            </a:outerShdw>
          </a:effectLst>
        </p:spPr>
        <p:txBody>
          <a:bodyPr anchorCtr="0" anchor="ctr" bIns="65000" lIns="65000" spcFirstLastPara="1" rIns="65000" wrap="square" tIns="65000">
            <a:noAutofit/>
          </a:bodyPr>
          <a:lstStyle/>
          <a:p>
            <a:pPr indent="0" lvl="0" marL="0" marR="0" rtl="0" algn="l">
              <a:lnSpc>
                <a:spcPct val="100000"/>
              </a:lnSpc>
              <a:spcBef>
                <a:spcPts val="0"/>
              </a:spcBef>
              <a:spcAft>
                <a:spcPts val="0"/>
              </a:spcAft>
              <a:buClr>
                <a:srgbClr val="FFFFFF"/>
              </a:buClr>
              <a:buSzPts val="3100"/>
              <a:buFont typeface="Arial"/>
              <a:buNone/>
            </a:pPr>
            <a:r>
              <a:rPr b="0" i="0" lang="en-US" sz="3100" u="sng" cap="none" strike="noStrike">
                <a:solidFill>
                  <a:srgbClr val="FFFFFF"/>
                </a:solidFill>
                <a:latin typeface="Arial"/>
                <a:ea typeface="Arial"/>
                <a:cs typeface="Arial"/>
                <a:sym typeface="Arial"/>
              </a:rPr>
              <a:t>A proposed answer:</a:t>
            </a:r>
            <a:endParaRPr b="0" i="0" sz="1400" u="none" cap="none" strike="noStrike">
              <a:solidFill>
                <a:srgbClr val="000000"/>
              </a:solidFill>
              <a:latin typeface="Arial"/>
              <a:ea typeface="Arial"/>
              <a:cs typeface="Arial"/>
              <a:sym typeface="Arial"/>
            </a:endParaRPr>
          </a:p>
          <a:p>
            <a:pPr indent="-209005" lvl="0" marL="209005" marR="0" rtl="0" algn="l">
              <a:lnSpc>
                <a:spcPct val="100000"/>
              </a:lnSpc>
              <a:spcBef>
                <a:spcPts val="0"/>
              </a:spcBef>
              <a:spcAft>
                <a:spcPts val="0"/>
              </a:spcAft>
              <a:buClr>
                <a:srgbClr val="FFFFFF"/>
              </a:buClr>
              <a:buSzPts val="2542"/>
              <a:buFont typeface="Arial"/>
              <a:buChar char="•"/>
            </a:pPr>
            <a:r>
              <a:rPr b="0" i="0" lang="en-US" sz="3100" u="none" cap="none" strike="noStrike">
                <a:solidFill>
                  <a:srgbClr val="FFFFFF"/>
                </a:solidFill>
                <a:latin typeface="Arial"/>
                <a:ea typeface="Arial"/>
                <a:cs typeface="Arial"/>
                <a:sym typeface="Arial"/>
              </a:rPr>
              <a:t>Collecting primary data is a sine qua non for empirical research, so this should be valued.</a:t>
            </a:r>
            <a:endParaRPr b="0" i="0" sz="1400" u="none" cap="none" strike="noStrike">
              <a:solidFill>
                <a:srgbClr val="000000"/>
              </a:solidFill>
              <a:latin typeface="Arial"/>
              <a:ea typeface="Arial"/>
              <a:cs typeface="Arial"/>
              <a:sym typeface="Arial"/>
            </a:endParaRPr>
          </a:p>
          <a:p>
            <a:pPr indent="-209005" lvl="0" marL="209005" marR="0" rtl="0" algn="l">
              <a:lnSpc>
                <a:spcPct val="100000"/>
              </a:lnSpc>
              <a:spcBef>
                <a:spcPts val="0"/>
              </a:spcBef>
              <a:spcAft>
                <a:spcPts val="0"/>
              </a:spcAft>
              <a:buClr>
                <a:srgbClr val="FFFFFF"/>
              </a:buClr>
              <a:buSzPts val="2542"/>
              <a:buFont typeface="Arial"/>
              <a:buChar char="•"/>
            </a:pPr>
            <a:r>
              <a:rPr b="0" i="0" lang="en-US" sz="3100" u="none" cap="none" strike="noStrike">
                <a:solidFill>
                  <a:srgbClr val="FFFFFF"/>
                </a:solidFill>
                <a:latin typeface="Arial"/>
                <a:ea typeface="Arial"/>
                <a:cs typeface="Arial"/>
                <a:sym typeface="Arial"/>
              </a:rPr>
              <a:t>But: No type of research is inherently „better“, there is a place for researchers purely focusing on re-analysis.</a:t>
            </a:r>
            <a:endParaRPr b="0" i="0" sz="1400" u="none" cap="none" strike="noStrike">
              <a:solidFill>
                <a:srgbClr val="000000"/>
              </a:solidFill>
              <a:latin typeface="Arial"/>
              <a:ea typeface="Arial"/>
              <a:cs typeface="Arial"/>
              <a:sym typeface="Arial"/>
            </a:endParaRPr>
          </a:p>
          <a:p>
            <a:pPr indent="-209005" lvl="0" marL="209005" marR="0" rtl="0" algn="l">
              <a:lnSpc>
                <a:spcPct val="100000"/>
              </a:lnSpc>
              <a:spcBef>
                <a:spcPts val="0"/>
              </a:spcBef>
              <a:spcAft>
                <a:spcPts val="0"/>
              </a:spcAft>
              <a:buClr>
                <a:srgbClr val="FFFFFF"/>
              </a:buClr>
              <a:buSzPts val="2542"/>
              <a:buFont typeface="Arial"/>
              <a:buChar char="•"/>
            </a:pPr>
            <a:r>
              <a:rPr b="0" i="0" lang="en-US" sz="3100" u="none" cap="none" strike="noStrike">
                <a:solidFill>
                  <a:srgbClr val="FFFFFF"/>
                </a:solidFill>
                <a:latin typeface="Arial"/>
                <a:ea typeface="Arial"/>
                <a:cs typeface="Arial"/>
                <a:sym typeface="Arial"/>
              </a:rPr>
              <a:t>Job committees should define what kind of research expertise they are looking for - some might prefer persons with data collection experience, some might look for data re-analysts.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descr="gregor-clegane-245424.jpeg" id="304" name="Google Shape;304;p33"/>
          <p:cNvPicPr preferRelativeResize="0"/>
          <p:nvPr/>
        </p:nvPicPr>
        <p:blipFill rotWithShape="1">
          <a:blip r:embed="rId3">
            <a:alphaModFix/>
          </a:blip>
          <a:srcRect b="0" l="0" r="0" t="0"/>
          <a:stretch/>
        </p:blipFill>
        <p:spPr>
          <a:xfrm>
            <a:off x="474727" y="590432"/>
            <a:ext cx="11417587" cy="8572736"/>
          </a:xfrm>
          <a:prstGeom prst="rect">
            <a:avLst/>
          </a:prstGeom>
          <a:noFill/>
          <a:ln>
            <a:noFill/>
          </a:ln>
        </p:spPr>
      </p:pic>
      <p:sp>
        <p:nvSpPr>
          <p:cNvPr id="305" name="Google Shape;305;p33"/>
          <p:cNvSpPr/>
          <p:nvPr/>
        </p:nvSpPr>
        <p:spPr>
          <a:xfrm>
            <a:off x="284135" y="2238161"/>
            <a:ext cx="5102226" cy="3298826"/>
          </a:xfrm>
          <a:custGeom>
            <a:rect b="b" l="l" r="r" t="t"/>
            <a:pathLst>
              <a:path extrusionOk="0" h="21600" w="21600">
                <a:moveTo>
                  <a:pt x="19112" y="0"/>
                </a:moveTo>
                <a:lnTo>
                  <a:pt x="18214" y="3308"/>
                </a:lnTo>
                <a:lnTo>
                  <a:pt x="449" y="3308"/>
                </a:lnTo>
                <a:cubicBezTo>
                  <a:pt x="201" y="3308"/>
                  <a:pt x="0" y="3618"/>
                  <a:pt x="0" y="4002"/>
                </a:cubicBezTo>
                <a:lnTo>
                  <a:pt x="0" y="20906"/>
                </a:lnTo>
                <a:cubicBezTo>
                  <a:pt x="0" y="21290"/>
                  <a:pt x="201" y="21600"/>
                  <a:pt x="449" y="21600"/>
                </a:cubicBezTo>
                <a:lnTo>
                  <a:pt x="21151" y="21600"/>
                </a:lnTo>
                <a:cubicBezTo>
                  <a:pt x="21399" y="21600"/>
                  <a:pt x="21600" y="21290"/>
                  <a:pt x="21600" y="20906"/>
                </a:cubicBezTo>
                <a:lnTo>
                  <a:pt x="21600" y="4002"/>
                </a:lnTo>
                <a:cubicBezTo>
                  <a:pt x="21600" y="3618"/>
                  <a:pt x="21399" y="3308"/>
                  <a:pt x="21151" y="3308"/>
                </a:cubicBezTo>
                <a:lnTo>
                  <a:pt x="20009" y="3308"/>
                </a:lnTo>
                <a:lnTo>
                  <a:pt x="19112" y="0"/>
                </a:lnTo>
                <a:close/>
              </a:path>
            </a:pathLst>
          </a:custGeom>
          <a:gradFill>
            <a:gsLst>
              <a:gs pos="0">
                <a:srgbClr val="FFFFFF"/>
              </a:gs>
              <a:gs pos="100000">
                <a:srgbClr val="C4C4C4"/>
              </a:gs>
            </a:gsLst>
            <a:lin ang="5400000" scaled="0"/>
          </a:gradFill>
          <a:ln cap="flat" cmpd="sng" w="12700">
            <a:solidFill>
              <a:srgbClr val="858585"/>
            </a:solidFill>
            <a:prstDash val="solid"/>
            <a:miter lim="0"/>
            <a:headEnd len="sm" w="sm" type="none"/>
            <a:tailEnd len="sm" w="sm" type="none"/>
          </a:ln>
          <a:effectLst>
            <a:outerShdw blurRad="101600" rotWithShape="0" dir="2880000" dist="127000">
              <a:srgbClr val="000000">
                <a:alpha val="59608"/>
              </a:srgbClr>
            </a:outerShdw>
          </a:effectLst>
        </p:spPr>
        <p:txBody>
          <a:bodyPr anchorCtr="0" anchor="ctr" bIns="0" lIns="65000" spcFirstLastPara="1" rIns="65000" wrap="square" tIns="521200">
            <a:noAutofit/>
          </a:bodyPr>
          <a:lstStyle/>
          <a:p>
            <a:pPr indent="0" lvl="0" marL="0" marR="0" rtl="0" algn="ctr">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You want to reuse my Data?? </a:t>
            </a:r>
            <a:br>
              <a:rPr b="0" i="0" lang="en-US" sz="2600" u="none" cap="none" strike="noStrike">
                <a:solidFill>
                  <a:srgbClr val="000000"/>
                </a:solidFill>
                <a:latin typeface="Arial"/>
                <a:ea typeface="Arial"/>
                <a:cs typeface="Arial"/>
                <a:sym typeface="Arial"/>
              </a:rPr>
            </a:br>
            <a:r>
              <a:rPr b="0" i="0" lang="en-US" sz="2600" u="none" cap="none" strike="noStrike">
                <a:solidFill>
                  <a:srgbClr val="000000"/>
                </a:solidFill>
                <a:latin typeface="Arial"/>
                <a:ea typeface="Arial"/>
                <a:cs typeface="Arial"/>
                <a:sym typeface="Arial"/>
              </a:rPr>
              <a:t>OK - but I get a co-authorship in every paper that you publish for the rest of your life.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HARRR - my h-index is the largest of all!!!</a:t>
            </a:r>
            <a:endParaRPr b="0" i="0" sz="1400" u="none" cap="none" strike="noStrike">
              <a:solidFill>
                <a:srgbClr val="000000"/>
              </a:solidFill>
              <a:latin typeface="Arial"/>
              <a:ea typeface="Arial"/>
              <a:cs typeface="Arial"/>
              <a:sym typeface="Arial"/>
            </a:endParaRPr>
          </a:p>
        </p:txBody>
      </p:sp>
      <p:sp>
        <p:nvSpPr>
          <p:cNvPr id="306" name="Google Shape;306;p33"/>
          <p:cNvSpPr/>
          <p:nvPr/>
        </p:nvSpPr>
        <p:spPr>
          <a:xfrm>
            <a:off x="5955361" y="198878"/>
            <a:ext cx="6888564" cy="2611440"/>
          </a:xfrm>
          <a:custGeom>
            <a:rect b="b" l="l" r="r" t="t"/>
            <a:pathLst>
              <a:path extrusionOk="0" h="21600" w="21600">
                <a:moveTo>
                  <a:pt x="340" y="0"/>
                </a:moveTo>
                <a:cubicBezTo>
                  <a:pt x="152" y="0"/>
                  <a:pt x="0" y="402"/>
                  <a:pt x="0" y="896"/>
                </a:cubicBezTo>
                <a:lnTo>
                  <a:pt x="0" y="14762"/>
                </a:lnTo>
                <a:cubicBezTo>
                  <a:pt x="0" y="15257"/>
                  <a:pt x="152" y="15658"/>
                  <a:pt x="340" y="15658"/>
                </a:cubicBezTo>
                <a:lnTo>
                  <a:pt x="10923" y="15658"/>
                </a:lnTo>
                <a:lnTo>
                  <a:pt x="11602" y="21600"/>
                </a:lnTo>
                <a:lnTo>
                  <a:pt x="12282" y="15658"/>
                </a:lnTo>
                <a:lnTo>
                  <a:pt x="21260" y="15658"/>
                </a:lnTo>
                <a:cubicBezTo>
                  <a:pt x="21448" y="15658"/>
                  <a:pt x="21600" y="15257"/>
                  <a:pt x="21600" y="14762"/>
                </a:cubicBezTo>
                <a:lnTo>
                  <a:pt x="21600" y="896"/>
                </a:lnTo>
                <a:cubicBezTo>
                  <a:pt x="21600" y="402"/>
                  <a:pt x="21448" y="0"/>
                  <a:pt x="21260" y="0"/>
                </a:cubicBezTo>
                <a:lnTo>
                  <a:pt x="340" y="0"/>
                </a:lnTo>
                <a:close/>
              </a:path>
            </a:pathLst>
          </a:custGeom>
          <a:gradFill>
            <a:gsLst>
              <a:gs pos="0">
                <a:srgbClr val="FFFFFF"/>
              </a:gs>
              <a:gs pos="100000">
                <a:srgbClr val="C4C4C4"/>
              </a:gs>
            </a:gsLst>
            <a:lin ang="5400000" scaled="0"/>
          </a:gradFill>
          <a:ln cap="flat" cmpd="sng" w="12700">
            <a:solidFill>
              <a:srgbClr val="858585"/>
            </a:solidFill>
            <a:prstDash val="solid"/>
            <a:miter lim="0"/>
            <a:headEnd len="sm" w="sm" type="none"/>
            <a:tailEnd len="sm" w="sm" type="none"/>
          </a:ln>
          <a:effectLst>
            <a:outerShdw blurRad="101600" rotWithShape="0" dir="2880000" dist="127000">
              <a:srgbClr val="000000">
                <a:alpha val="59608"/>
              </a:srgbClr>
            </a:outerShdw>
          </a:effectLst>
        </p:spPr>
        <p:txBody>
          <a:bodyPr anchorCtr="0" anchor="ctr" bIns="822950" lIns="65000" spcFirstLastPara="1" rIns="65000" wrap="square" tIns="65000">
            <a:noAutofit/>
          </a:bodyPr>
          <a:lstStyle/>
          <a:p>
            <a:pPr indent="0" lvl="0" marL="0" marR="0" rtl="0" algn="ctr">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I just compute some effect sizes from your data to plan my study – a co-authorship is ridiculous! And by the way: the data do not belong to you, but to the public!</a:t>
            </a:r>
            <a:endParaRPr b="0" i="0" sz="1400" u="none" cap="none" strike="noStrike">
              <a:solidFill>
                <a:srgbClr val="000000"/>
              </a:solidFill>
              <a:latin typeface="Arial"/>
              <a:ea typeface="Arial"/>
              <a:cs typeface="Arial"/>
              <a:sym typeface="Arial"/>
            </a:endParaRPr>
          </a:p>
        </p:txBody>
      </p:sp>
      <p:sp>
        <p:nvSpPr>
          <p:cNvPr id="307" name="Google Shape;307;p33"/>
          <p:cNvSpPr txBox="1"/>
          <p:nvPr>
            <p:ph idx="12" type="sldNum"/>
          </p:nvPr>
        </p:nvSpPr>
        <p:spPr>
          <a:xfrm>
            <a:off x="12466066" y="9249664"/>
            <a:ext cx="345900" cy="377700"/>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descr="gregor-clegane-245424.jpeg" id="312" name="Google Shape;312;p34"/>
          <p:cNvPicPr preferRelativeResize="0"/>
          <p:nvPr/>
        </p:nvPicPr>
        <p:blipFill rotWithShape="1">
          <a:blip r:embed="rId3">
            <a:alphaModFix/>
          </a:blip>
          <a:srcRect b="0" l="0" r="0" t="0"/>
          <a:stretch/>
        </p:blipFill>
        <p:spPr>
          <a:xfrm>
            <a:off x="474727" y="590432"/>
            <a:ext cx="11417587" cy="8572736"/>
          </a:xfrm>
          <a:prstGeom prst="rect">
            <a:avLst/>
          </a:prstGeom>
          <a:noFill/>
          <a:ln>
            <a:noFill/>
          </a:ln>
        </p:spPr>
      </p:pic>
      <p:sp>
        <p:nvSpPr>
          <p:cNvPr id="313" name="Google Shape;313;p34"/>
          <p:cNvSpPr/>
          <p:nvPr/>
        </p:nvSpPr>
        <p:spPr>
          <a:xfrm>
            <a:off x="284135" y="2238161"/>
            <a:ext cx="5102244" cy="3298806"/>
          </a:xfrm>
          <a:custGeom>
            <a:rect b="b" l="l" r="r" t="t"/>
            <a:pathLst>
              <a:path extrusionOk="0" h="21600" w="21600">
                <a:moveTo>
                  <a:pt x="19112" y="0"/>
                </a:moveTo>
                <a:lnTo>
                  <a:pt x="18214" y="3308"/>
                </a:lnTo>
                <a:lnTo>
                  <a:pt x="449" y="3308"/>
                </a:lnTo>
                <a:cubicBezTo>
                  <a:pt x="201" y="3308"/>
                  <a:pt x="0" y="3618"/>
                  <a:pt x="0" y="4002"/>
                </a:cubicBezTo>
                <a:lnTo>
                  <a:pt x="0" y="20906"/>
                </a:lnTo>
                <a:cubicBezTo>
                  <a:pt x="0" y="21290"/>
                  <a:pt x="201" y="21600"/>
                  <a:pt x="449" y="21600"/>
                </a:cubicBezTo>
                <a:lnTo>
                  <a:pt x="21151" y="21600"/>
                </a:lnTo>
                <a:cubicBezTo>
                  <a:pt x="21399" y="21600"/>
                  <a:pt x="21600" y="21290"/>
                  <a:pt x="21600" y="20906"/>
                </a:cubicBezTo>
                <a:lnTo>
                  <a:pt x="21600" y="4002"/>
                </a:lnTo>
                <a:cubicBezTo>
                  <a:pt x="21600" y="3618"/>
                  <a:pt x="21399" y="3308"/>
                  <a:pt x="21151" y="3308"/>
                </a:cubicBezTo>
                <a:lnTo>
                  <a:pt x="20009" y="3308"/>
                </a:lnTo>
                <a:lnTo>
                  <a:pt x="19112" y="0"/>
                </a:lnTo>
                <a:close/>
              </a:path>
            </a:pathLst>
          </a:custGeom>
          <a:gradFill>
            <a:gsLst>
              <a:gs pos="0">
                <a:srgbClr val="FFFFFF"/>
              </a:gs>
              <a:gs pos="100000">
                <a:srgbClr val="C4C4C4"/>
              </a:gs>
            </a:gsLst>
            <a:lin ang="5400012" scaled="0"/>
          </a:gradFill>
          <a:ln cap="flat" cmpd="sng" w="12700">
            <a:solidFill>
              <a:srgbClr val="858585"/>
            </a:solidFill>
            <a:prstDash val="solid"/>
            <a:miter lim="0"/>
            <a:headEnd len="sm" w="sm" type="none"/>
            <a:tailEnd len="sm" w="sm" type="none"/>
          </a:ln>
          <a:effectLst>
            <a:outerShdw blurRad="101600" rotWithShape="0" dir="2880000" dist="127000">
              <a:srgbClr val="000000">
                <a:alpha val="59610"/>
              </a:srgbClr>
            </a:outerShdw>
          </a:effectLst>
        </p:spPr>
        <p:txBody>
          <a:bodyPr anchorCtr="0" anchor="ctr" bIns="0" lIns="65000" spcFirstLastPara="1" rIns="65000" wrap="square" tIns="521200">
            <a:noAutofit/>
          </a:bodyPr>
          <a:lstStyle/>
          <a:p>
            <a:pPr indent="0" lvl="0" marL="0" marR="0" rtl="0" algn="ctr">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You want to reuse my Data?? </a:t>
            </a:r>
            <a:br>
              <a:rPr b="0" i="0" lang="en-US" sz="2600" u="none" cap="none" strike="noStrike">
                <a:solidFill>
                  <a:srgbClr val="000000"/>
                </a:solidFill>
                <a:latin typeface="Arial"/>
                <a:ea typeface="Arial"/>
                <a:cs typeface="Arial"/>
                <a:sym typeface="Arial"/>
              </a:rPr>
            </a:br>
            <a:r>
              <a:rPr b="0" i="0" lang="en-US" sz="2600" u="none" cap="none" strike="noStrike">
                <a:solidFill>
                  <a:srgbClr val="000000"/>
                </a:solidFill>
                <a:latin typeface="Arial"/>
                <a:ea typeface="Arial"/>
                <a:cs typeface="Arial"/>
                <a:sym typeface="Arial"/>
              </a:rPr>
              <a:t>OK - but I get a co-authorship in every paper that you publish for the rest of your life.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HARRR - my h-index is the largest of all!!!</a:t>
            </a:r>
            <a:endParaRPr b="0" i="0" sz="1400" u="none" cap="none" strike="noStrike">
              <a:solidFill>
                <a:srgbClr val="000000"/>
              </a:solidFill>
              <a:latin typeface="Arial"/>
              <a:ea typeface="Arial"/>
              <a:cs typeface="Arial"/>
              <a:sym typeface="Arial"/>
            </a:endParaRPr>
          </a:p>
        </p:txBody>
      </p:sp>
      <p:sp>
        <p:nvSpPr>
          <p:cNvPr id="314" name="Google Shape;314;p34"/>
          <p:cNvSpPr/>
          <p:nvPr/>
        </p:nvSpPr>
        <p:spPr>
          <a:xfrm>
            <a:off x="5955361" y="198878"/>
            <a:ext cx="6888564" cy="2611440"/>
          </a:xfrm>
          <a:custGeom>
            <a:rect b="b" l="l" r="r" t="t"/>
            <a:pathLst>
              <a:path extrusionOk="0" h="21600" w="21600">
                <a:moveTo>
                  <a:pt x="340" y="0"/>
                </a:moveTo>
                <a:cubicBezTo>
                  <a:pt x="152" y="0"/>
                  <a:pt x="0" y="402"/>
                  <a:pt x="0" y="896"/>
                </a:cubicBezTo>
                <a:lnTo>
                  <a:pt x="0" y="14762"/>
                </a:lnTo>
                <a:cubicBezTo>
                  <a:pt x="0" y="15257"/>
                  <a:pt x="152" y="15658"/>
                  <a:pt x="340" y="15658"/>
                </a:cubicBezTo>
                <a:lnTo>
                  <a:pt x="10923" y="15658"/>
                </a:lnTo>
                <a:lnTo>
                  <a:pt x="11602" y="21600"/>
                </a:lnTo>
                <a:lnTo>
                  <a:pt x="12282" y="15658"/>
                </a:lnTo>
                <a:lnTo>
                  <a:pt x="21260" y="15658"/>
                </a:lnTo>
                <a:cubicBezTo>
                  <a:pt x="21448" y="15658"/>
                  <a:pt x="21600" y="15257"/>
                  <a:pt x="21600" y="14762"/>
                </a:cubicBezTo>
                <a:lnTo>
                  <a:pt x="21600" y="896"/>
                </a:lnTo>
                <a:cubicBezTo>
                  <a:pt x="21600" y="402"/>
                  <a:pt x="21448" y="0"/>
                  <a:pt x="21260" y="0"/>
                </a:cubicBezTo>
                <a:lnTo>
                  <a:pt x="340" y="0"/>
                </a:lnTo>
                <a:close/>
              </a:path>
            </a:pathLst>
          </a:custGeom>
          <a:gradFill>
            <a:gsLst>
              <a:gs pos="0">
                <a:srgbClr val="FFFFFF"/>
              </a:gs>
              <a:gs pos="100000">
                <a:srgbClr val="C4C4C4"/>
              </a:gs>
            </a:gsLst>
            <a:lin ang="5400012" scaled="0"/>
          </a:gradFill>
          <a:ln cap="flat" cmpd="sng" w="12700">
            <a:solidFill>
              <a:srgbClr val="858585"/>
            </a:solidFill>
            <a:prstDash val="solid"/>
            <a:miter lim="0"/>
            <a:headEnd len="sm" w="sm" type="none"/>
            <a:tailEnd len="sm" w="sm" type="none"/>
          </a:ln>
          <a:effectLst>
            <a:outerShdw blurRad="101600" rotWithShape="0" dir="2880000" dist="127000">
              <a:srgbClr val="000000">
                <a:alpha val="59610"/>
              </a:srgbClr>
            </a:outerShdw>
          </a:effectLst>
        </p:spPr>
        <p:txBody>
          <a:bodyPr anchorCtr="0" anchor="ctr" bIns="822950" lIns="65000" spcFirstLastPara="1" rIns="65000" wrap="square" tIns="65000">
            <a:noAutofit/>
          </a:bodyPr>
          <a:lstStyle/>
          <a:p>
            <a:pPr indent="0" lvl="0" marL="0" marR="0" rtl="0" algn="ctr">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I just compute some effect sizes from your data to plan my study – a co-authorship is ridiculous! And by the way: the data do not belong to you, but to the public!</a:t>
            </a:r>
            <a:endParaRPr b="0" i="0" sz="1400" u="none" cap="none" strike="noStrike">
              <a:solidFill>
                <a:srgbClr val="000000"/>
              </a:solidFill>
              <a:latin typeface="Arial"/>
              <a:ea typeface="Arial"/>
              <a:cs typeface="Arial"/>
              <a:sym typeface="Arial"/>
            </a:endParaRPr>
          </a:p>
        </p:txBody>
      </p:sp>
      <p:sp>
        <p:nvSpPr>
          <p:cNvPr id="315" name="Google Shape;315;p34"/>
          <p:cNvSpPr/>
          <p:nvPr/>
        </p:nvSpPr>
        <p:spPr>
          <a:xfrm>
            <a:off x="284123" y="5802515"/>
            <a:ext cx="12559800" cy="3805800"/>
          </a:xfrm>
          <a:prstGeom prst="rect">
            <a:avLst/>
          </a:prstGeom>
          <a:gradFill>
            <a:gsLst>
              <a:gs pos="0">
                <a:srgbClr val="202DA2"/>
              </a:gs>
              <a:gs pos="100000">
                <a:srgbClr val="425FF8"/>
              </a:gs>
            </a:gsLst>
            <a:lin ang="5400012" scaled="0"/>
          </a:gradFill>
          <a:ln>
            <a:noFill/>
          </a:ln>
          <a:effectLst>
            <a:outerShdw blurRad="63500" rotWithShape="0" dir="2880000" dist="63500">
              <a:srgbClr val="000000">
                <a:alpha val="59610"/>
              </a:srgbClr>
            </a:outerShdw>
          </a:effectLst>
        </p:spPr>
        <p:txBody>
          <a:bodyPr anchorCtr="0" anchor="ctr" bIns="139700" lIns="139700" spcFirstLastPara="1" rIns="139700" wrap="square" tIns="139700">
            <a:noAutofit/>
          </a:bodyPr>
          <a:lstStyle/>
          <a:p>
            <a:pPr indent="0" lvl="0" marL="0" marR="0" rtl="0" algn="l">
              <a:lnSpc>
                <a:spcPct val="100000"/>
              </a:lnSpc>
              <a:spcBef>
                <a:spcPts val="0"/>
              </a:spcBef>
              <a:spcAft>
                <a:spcPts val="0"/>
              </a:spcAft>
              <a:buClr>
                <a:srgbClr val="FFFFFF"/>
              </a:buClr>
              <a:buSzPts val="3100"/>
              <a:buFont typeface="Arial"/>
              <a:buNone/>
            </a:pPr>
            <a:r>
              <a:rPr b="0" i="0" lang="en-US" sz="3100" u="sng" cap="none" strike="noStrike">
                <a:solidFill>
                  <a:srgbClr val="FFFFFF"/>
                </a:solidFill>
                <a:latin typeface="Arial"/>
                <a:ea typeface="Arial"/>
                <a:cs typeface="Arial"/>
                <a:sym typeface="Arial"/>
              </a:rPr>
              <a:t>A proposed answer:</a:t>
            </a:r>
            <a:endParaRPr b="0" i="0" sz="1400" u="none" cap="none" strike="noStrike">
              <a:solidFill>
                <a:srgbClr val="000000"/>
              </a:solidFill>
              <a:latin typeface="Arial"/>
              <a:ea typeface="Arial"/>
              <a:cs typeface="Arial"/>
              <a:sym typeface="Arial"/>
            </a:endParaRPr>
          </a:p>
          <a:p>
            <a:pPr indent="-209005" lvl="0" marL="209005" marR="0" rtl="0" algn="l">
              <a:lnSpc>
                <a:spcPct val="100000"/>
              </a:lnSpc>
              <a:spcBef>
                <a:spcPts val="0"/>
              </a:spcBef>
              <a:spcAft>
                <a:spcPts val="0"/>
              </a:spcAft>
              <a:buClr>
                <a:srgbClr val="FFFFFF"/>
              </a:buClr>
              <a:buSzPts val="2542"/>
              <a:buFont typeface="Arial"/>
              <a:buChar char="•"/>
            </a:pPr>
            <a:r>
              <a:rPr b="0" i="0" lang="en-US" sz="3100" u="none" cap="none" strike="noStrike">
                <a:solidFill>
                  <a:srgbClr val="FFFFFF"/>
                </a:solidFill>
                <a:latin typeface="Arial"/>
                <a:ea typeface="Arial"/>
                <a:cs typeface="Arial"/>
                <a:sym typeface="Arial"/>
              </a:rPr>
              <a:t>Co-authorship can already difficult in single-lab papers - cannot be solved in an abstract way, rather single case decisions</a:t>
            </a:r>
            <a:endParaRPr b="0" i="0" sz="1400" u="none" cap="none" strike="noStrike">
              <a:solidFill>
                <a:srgbClr val="000000"/>
              </a:solidFill>
              <a:latin typeface="Arial"/>
              <a:ea typeface="Arial"/>
              <a:cs typeface="Arial"/>
              <a:sym typeface="Arial"/>
            </a:endParaRPr>
          </a:p>
          <a:p>
            <a:pPr indent="-209005" lvl="0" marL="209005" marR="0" rtl="0" algn="l">
              <a:lnSpc>
                <a:spcPct val="100000"/>
              </a:lnSpc>
              <a:spcBef>
                <a:spcPts val="0"/>
              </a:spcBef>
              <a:spcAft>
                <a:spcPts val="0"/>
              </a:spcAft>
              <a:buClr>
                <a:srgbClr val="FFFFFF"/>
              </a:buClr>
              <a:buSzPts val="2542"/>
              <a:buFont typeface="Arial"/>
              <a:buChar char="•"/>
            </a:pPr>
            <a:r>
              <a:rPr b="0" i="0" lang="en-US" sz="3100" u="none" cap="none" strike="noStrike">
                <a:solidFill>
                  <a:srgbClr val="FFFFFF"/>
                </a:solidFill>
                <a:latin typeface="Arial"/>
                <a:ea typeface="Arial"/>
                <a:cs typeface="Arial"/>
                <a:sym typeface="Arial"/>
              </a:rPr>
              <a:t>„Simple reuse“ does not imply co-authorship, but there are cases where an offering is warranted</a:t>
            </a:r>
            <a:endParaRPr b="0" i="0" sz="1400" u="none" cap="none" strike="noStrike">
              <a:solidFill>
                <a:srgbClr val="000000"/>
              </a:solidFill>
              <a:latin typeface="Arial"/>
              <a:ea typeface="Arial"/>
              <a:cs typeface="Arial"/>
              <a:sym typeface="Arial"/>
            </a:endParaRPr>
          </a:p>
          <a:p>
            <a:pPr indent="-209005" lvl="0" marL="209005" marR="0" rtl="0" algn="l">
              <a:lnSpc>
                <a:spcPct val="100000"/>
              </a:lnSpc>
              <a:spcBef>
                <a:spcPts val="0"/>
              </a:spcBef>
              <a:spcAft>
                <a:spcPts val="0"/>
              </a:spcAft>
              <a:buClr>
                <a:srgbClr val="FFFFFF"/>
              </a:buClr>
              <a:buSzPts val="2542"/>
              <a:buFont typeface="Arial"/>
              <a:buChar char="•"/>
            </a:pPr>
            <a:r>
              <a:rPr b="0" i="0" lang="en-US" sz="3100" u="none" cap="none" strike="noStrike">
                <a:solidFill>
                  <a:srgbClr val="FFFFFF"/>
                </a:solidFill>
                <a:latin typeface="Arial"/>
                <a:ea typeface="Arial"/>
                <a:cs typeface="Arial"/>
                <a:sym typeface="Arial"/>
              </a:rPr>
              <a:t>Co-authorship requires something more than only providing already existing data</a:t>
            </a:r>
            <a:endParaRPr b="0" i="0" sz="1400" u="none" cap="none" strike="noStrike">
              <a:solidFill>
                <a:srgbClr val="000000"/>
              </a:solidFill>
              <a:latin typeface="Arial"/>
              <a:ea typeface="Arial"/>
              <a:cs typeface="Arial"/>
              <a:sym typeface="Arial"/>
            </a:endParaRPr>
          </a:p>
          <a:p>
            <a:pPr indent="-209005" lvl="0" marL="209005" marR="0" rtl="0" algn="l">
              <a:lnSpc>
                <a:spcPct val="100000"/>
              </a:lnSpc>
              <a:spcBef>
                <a:spcPts val="0"/>
              </a:spcBef>
              <a:spcAft>
                <a:spcPts val="0"/>
              </a:spcAft>
              <a:buClr>
                <a:srgbClr val="FFFFFF"/>
              </a:buClr>
              <a:buSzPts val="2542"/>
              <a:buFont typeface="Arial"/>
              <a:buChar char="•"/>
            </a:pPr>
            <a:r>
              <a:rPr b="0" i="0" lang="en-US" sz="3100" u="none" cap="none" strike="noStrike">
                <a:solidFill>
                  <a:srgbClr val="FFFFFF"/>
                </a:solidFill>
                <a:latin typeface="Arial"/>
                <a:ea typeface="Arial"/>
                <a:cs typeface="Arial"/>
                <a:sym typeface="Arial"/>
              </a:rPr>
              <a:t>Move from „authorship“ to „contributorship“ (CRediT)</a:t>
            </a:r>
            <a:endParaRPr b="0" i="0" sz="1400" u="none" cap="none" strike="noStrike">
              <a:solidFill>
                <a:srgbClr val="000000"/>
              </a:solidFill>
              <a:latin typeface="Arial"/>
              <a:ea typeface="Arial"/>
              <a:cs typeface="Arial"/>
              <a:sym typeface="Arial"/>
            </a:endParaRPr>
          </a:p>
        </p:txBody>
      </p:sp>
      <p:sp>
        <p:nvSpPr>
          <p:cNvPr id="316" name="Google Shape;316;p34"/>
          <p:cNvSpPr txBox="1"/>
          <p:nvPr>
            <p:ph idx="12" type="sldNum"/>
          </p:nvPr>
        </p:nvSpPr>
        <p:spPr>
          <a:xfrm>
            <a:off x="12466066" y="9249664"/>
            <a:ext cx="345900" cy="377700"/>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5"/>
          <p:cNvSpPr txBox="1"/>
          <p:nvPr>
            <p:ph type="title"/>
          </p:nvPr>
        </p:nvSpPr>
        <p:spPr>
          <a:xfrm>
            <a:off x="379306" y="147054"/>
            <a:ext cx="8246792" cy="1162212"/>
          </a:xfrm>
          <a:prstGeom prst="rect">
            <a:avLst/>
          </a:prstGeom>
          <a:noFill/>
          <a:ln>
            <a:noFill/>
          </a:ln>
        </p:spPr>
        <p:txBody>
          <a:bodyPr anchorCtr="0" anchor="ctr" bIns="65000" lIns="65000" spcFirstLastPara="1" rIns="65000" wrap="square" tIns="65000">
            <a:normAutofit/>
          </a:bodyPr>
          <a:lstStyle/>
          <a:p>
            <a:pPr indent="0" lvl="0" marL="0" rtl="0" algn="l">
              <a:lnSpc>
                <a:spcPct val="100000"/>
              </a:lnSpc>
              <a:spcBef>
                <a:spcPts val="0"/>
              </a:spcBef>
              <a:spcAft>
                <a:spcPts val="0"/>
              </a:spcAft>
              <a:buClr>
                <a:srgbClr val="000000"/>
              </a:buClr>
              <a:buSzPts val="5900"/>
              <a:buFont typeface="Arial"/>
              <a:buNone/>
            </a:pPr>
            <a:r>
              <a:rPr b="1" lang="en-US" sz="5900" cap="none">
                <a:solidFill>
                  <a:srgbClr val="000000"/>
                </a:solidFill>
                <a:latin typeface="Arial"/>
                <a:ea typeface="Arial"/>
                <a:cs typeface="Arial"/>
                <a:sym typeface="Arial"/>
              </a:rPr>
              <a:t>Balancing values III</a:t>
            </a:r>
            <a:endParaRPr/>
          </a:p>
        </p:txBody>
      </p:sp>
      <p:sp>
        <p:nvSpPr>
          <p:cNvPr id="322" name="Google Shape;322;p35"/>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
        <p:nvSpPr>
          <p:cNvPr id="323" name="Google Shape;323;p35"/>
          <p:cNvSpPr txBox="1"/>
          <p:nvPr/>
        </p:nvSpPr>
        <p:spPr>
          <a:xfrm>
            <a:off x="476789" y="5415559"/>
            <a:ext cx="11727168" cy="3635249"/>
          </a:xfrm>
          <a:prstGeom prst="rect">
            <a:avLst/>
          </a:prstGeom>
          <a:noFill/>
          <a:ln>
            <a:noFill/>
          </a:ln>
        </p:spPr>
        <p:txBody>
          <a:bodyPr anchorCtr="0" anchor="t" bIns="65000" lIns="65000" spcFirstLastPara="1" rIns="65000" wrap="square" tIns="65000">
            <a:spAutoFit/>
          </a:bodyPr>
          <a:lstStyle/>
          <a:p>
            <a:pPr indent="-261257" lvl="0" marL="261257" marR="0" rtl="0" algn="l">
              <a:lnSpc>
                <a:spcPct val="100000"/>
              </a:lnSpc>
              <a:spcBef>
                <a:spcPts val="0"/>
              </a:spcBef>
              <a:spcAft>
                <a:spcPts val="0"/>
              </a:spcAft>
              <a:buClr>
                <a:srgbClr val="000000"/>
              </a:buClr>
              <a:buSzPts val="3280"/>
              <a:buFont typeface="Gill Sans"/>
              <a:buChar char="•"/>
            </a:pPr>
            <a:r>
              <a:rPr b="0" i="0" lang="en-US" sz="4000" u="none" cap="none" strike="noStrike">
                <a:solidFill>
                  <a:srgbClr val="000000"/>
                </a:solidFill>
                <a:latin typeface="Gill Sans"/>
                <a:ea typeface="Gill Sans"/>
                <a:cs typeface="Gill Sans"/>
                <a:sym typeface="Gill Sans"/>
              </a:rPr>
              <a:t>Primary focus: openness and transparency. Correcting errors is painful, but a necessary condition for doing science</a:t>
            </a:r>
            <a:endParaRPr b="0" i="0" sz="1400" u="none" cap="none" strike="noStrike">
              <a:solidFill>
                <a:srgbClr val="000000"/>
              </a:solidFill>
              <a:latin typeface="Arial"/>
              <a:ea typeface="Arial"/>
              <a:cs typeface="Arial"/>
              <a:sym typeface="Arial"/>
            </a:endParaRPr>
          </a:p>
          <a:p>
            <a:pPr indent="-261257" lvl="0" marL="261257" marR="0" rtl="0" algn="l">
              <a:lnSpc>
                <a:spcPct val="100000"/>
              </a:lnSpc>
              <a:spcBef>
                <a:spcPts val="0"/>
              </a:spcBef>
              <a:spcAft>
                <a:spcPts val="0"/>
              </a:spcAft>
              <a:buClr>
                <a:srgbClr val="000000"/>
              </a:buClr>
              <a:buSzPts val="3280"/>
              <a:buFont typeface="Gill Sans"/>
              <a:buChar char="•"/>
            </a:pPr>
            <a:r>
              <a:rPr b="0" i="0" lang="en-US" sz="4000" u="none" cap="none" strike="noStrike">
                <a:solidFill>
                  <a:srgbClr val="000000"/>
                </a:solidFill>
                <a:latin typeface="Gill Sans"/>
                <a:ea typeface="Gill Sans"/>
                <a:cs typeface="Gill Sans"/>
                <a:sym typeface="Gill Sans"/>
              </a:rPr>
              <a:t>Data providers should be informed if their data are going to be reused or reanalyzed ➙ allows to prepare a reaction</a:t>
            </a:r>
            <a:endParaRPr b="0" i="0" sz="1400" u="none" cap="none" strike="noStrike">
              <a:solidFill>
                <a:srgbClr val="000000"/>
              </a:solidFill>
              <a:latin typeface="Arial"/>
              <a:ea typeface="Arial"/>
              <a:cs typeface="Arial"/>
              <a:sym typeface="Arial"/>
            </a:endParaRPr>
          </a:p>
        </p:txBody>
      </p:sp>
      <p:grpSp>
        <p:nvGrpSpPr>
          <p:cNvPr id="324" name="Google Shape;324;p35"/>
          <p:cNvGrpSpPr/>
          <p:nvPr/>
        </p:nvGrpSpPr>
        <p:grpSpPr>
          <a:xfrm>
            <a:off x="335305" y="2037155"/>
            <a:ext cx="12010137" cy="1834705"/>
            <a:chOff x="0" y="0"/>
            <a:chExt cx="12010136" cy="1834704"/>
          </a:xfrm>
        </p:grpSpPr>
        <p:sp>
          <p:nvSpPr>
            <p:cNvPr id="325" name="Google Shape;325;p35"/>
            <p:cNvSpPr/>
            <p:nvPr/>
          </p:nvSpPr>
          <p:spPr>
            <a:xfrm>
              <a:off x="0" y="0"/>
              <a:ext cx="4871145" cy="1834704"/>
            </a:xfrm>
            <a:prstGeom prst="rect">
              <a:avLst/>
            </a:prstGeom>
            <a:gradFill>
              <a:gsLst>
                <a:gs pos="0">
                  <a:srgbClr val="202DA2"/>
                </a:gs>
                <a:gs pos="100000">
                  <a:srgbClr val="425FF8"/>
                </a:gs>
              </a:gsLst>
              <a:lin ang="5400000" scaled="0"/>
            </a:gradFill>
            <a:ln>
              <a:noFill/>
            </a:ln>
            <a:effectLst>
              <a:outerShdw blurRad="63500" rotWithShape="0" dir="2880000" dist="63500">
                <a:srgbClr val="000000">
                  <a:alpha val="59608"/>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FFFFFF"/>
                </a:buClr>
                <a:buSzPts val="3000"/>
                <a:buFont typeface="Arial"/>
                <a:buNone/>
              </a:pPr>
              <a:r>
                <a:rPr b="0" i="0" lang="en-US" sz="3000" u="none" cap="none" strike="noStrike">
                  <a:solidFill>
                    <a:srgbClr val="FFFFFF"/>
                  </a:solidFill>
                  <a:latin typeface="Arial"/>
                  <a:ea typeface="Arial"/>
                  <a:cs typeface="Arial"/>
                  <a:sym typeface="Arial"/>
                </a:rPr>
                <a:t>Reproducibility and verifiability of published analyses</a:t>
              </a:r>
              <a:endParaRPr b="0" i="0" sz="1400" u="none" cap="none" strike="noStrike">
                <a:solidFill>
                  <a:srgbClr val="000000"/>
                </a:solidFill>
                <a:latin typeface="Arial"/>
                <a:ea typeface="Arial"/>
                <a:cs typeface="Arial"/>
                <a:sym typeface="Arial"/>
              </a:endParaRPr>
            </a:p>
          </p:txBody>
        </p:sp>
        <p:sp>
          <p:nvSpPr>
            <p:cNvPr id="326" name="Google Shape;326;p35"/>
            <p:cNvSpPr/>
            <p:nvPr/>
          </p:nvSpPr>
          <p:spPr>
            <a:xfrm>
              <a:off x="5306567" y="599851"/>
              <a:ext cx="1397001" cy="635001"/>
            </a:xfrm>
            <a:prstGeom prst="leftRightArrow">
              <a:avLst>
                <a:gd fmla="val 32000" name="adj1"/>
                <a:gd fmla="val 88000" name="adj2"/>
              </a:avLst>
            </a:prstGeom>
            <a:gradFill>
              <a:gsLst>
                <a:gs pos="0">
                  <a:srgbClr val="002DFF"/>
                </a:gs>
                <a:gs pos="100000">
                  <a:srgbClr val="70BF41"/>
                </a:gs>
              </a:gsLst>
              <a:lin ang="0" scaled="0"/>
            </a:gradFill>
            <a:ln>
              <a:noFill/>
            </a:ln>
            <a:effectLst>
              <a:outerShdw blurRad="63500" rotWithShape="0" dir="2880000" dist="63500">
                <a:srgbClr val="000000">
                  <a:alpha val="59608"/>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FFFFFF"/>
                </a:buClr>
                <a:buSzPts val="3200"/>
                <a:buFont typeface="Arial"/>
                <a:buNone/>
              </a:pPr>
              <a:r>
                <a:t/>
              </a:r>
              <a:endParaRPr b="0" i="0" sz="3200" u="none" cap="none" strike="noStrike">
                <a:solidFill>
                  <a:srgbClr val="FFFFFF"/>
                </a:solidFill>
                <a:latin typeface="Arial"/>
                <a:ea typeface="Arial"/>
                <a:cs typeface="Arial"/>
                <a:sym typeface="Arial"/>
              </a:endParaRPr>
            </a:p>
          </p:txBody>
        </p:sp>
        <p:sp>
          <p:nvSpPr>
            <p:cNvPr id="327" name="Google Shape;327;p35"/>
            <p:cNvSpPr/>
            <p:nvPr/>
          </p:nvSpPr>
          <p:spPr>
            <a:xfrm>
              <a:off x="7138990" y="0"/>
              <a:ext cx="4871146" cy="1834704"/>
            </a:xfrm>
            <a:prstGeom prst="rect">
              <a:avLst/>
            </a:prstGeom>
            <a:gradFill>
              <a:gsLst>
                <a:gs pos="0">
                  <a:srgbClr val="0A3C00"/>
                </a:gs>
                <a:gs pos="100000">
                  <a:srgbClr val="52C600"/>
                </a:gs>
              </a:gsLst>
              <a:lin ang="5400000" scaled="0"/>
            </a:gradFill>
            <a:ln>
              <a:noFill/>
            </a:ln>
            <a:effectLst>
              <a:outerShdw blurRad="63500" rotWithShape="0" dir="2880000" dist="63500">
                <a:srgbClr val="000000">
                  <a:alpha val="59608"/>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FFFFFF"/>
                </a:buClr>
                <a:buSzPts val="3000"/>
                <a:buFont typeface="Arial"/>
                <a:buNone/>
              </a:pPr>
              <a:r>
                <a:rPr b="0" i="0" lang="en-US" sz="3000" u="none" cap="none" strike="noStrike">
                  <a:solidFill>
                    <a:srgbClr val="FFFFFF"/>
                  </a:solidFill>
                  <a:latin typeface="Arial"/>
                  <a:ea typeface="Arial"/>
                  <a:cs typeface="Arial"/>
                  <a:sym typeface="Arial"/>
                </a:rPr>
                <a:t>Protect original authors against inadequate burden and potential attacks</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6"/>
          <p:cNvSpPr txBox="1"/>
          <p:nvPr>
            <p:ph type="title"/>
          </p:nvPr>
        </p:nvSpPr>
        <p:spPr>
          <a:xfrm>
            <a:off x="379306" y="147054"/>
            <a:ext cx="8246792" cy="1162212"/>
          </a:xfrm>
          <a:prstGeom prst="rect">
            <a:avLst/>
          </a:prstGeom>
          <a:noFill/>
          <a:ln>
            <a:noFill/>
          </a:ln>
        </p:spPr>
        <p:txBody>
          <a:bodyPr anchorCtr="0" anchor="ctr" bIns="65000" lIns="65000" spcFirstLastPara="1" rIns="65000" wrap="square" tIns="65000">
            <a:normAutofit/>
          </a:bodyPr>
          <a:lstStyle/>
          <a:p>
            <a:pPr indent="0" lvl="0" marL="0" rtl="0" algn="l">
              <a:lnSpc>
                <a:spcPct val="100000"/>
              </a:lnSpc>
              <a:spcBef>
                <a:spcPts val="0"/>
              </a:spcBef>
              <a:spcAft>
                <a:spcPts val="0"/>
              </a:spcAft>
              <a:buClr>
                <a:srgbClr val="000000"/>
              </a:buClr>
              <a:buSzPts val="5900"/>
              <a:buFont typeface="Arial"/>
              <a:buNone/>
            </a:pPr>
            <a:r>
              <a:rPr b="1" lang="en-US" sz="5900" cap="none">
                <a:solidFill>
                  <a:srgbClr val="000000"/>
                </a:solidFill>
                <a:latin typeface="Arial"/>
                <a:ea typeface="Arial"/>
                <a:cs typeface="Arial"/>
                <a:sym typeface="Arial"/>
              </a:rPr>
              <a:t>Balancing values III</a:t>
            </a:r>
            <a:endParaRPr/>
          </a:p>
        </p:txBody>
      </p:sp>
      <p:sp>
        <p:nvSpPr>
          <p:cNvPr id="333" name="Google Shape;333;p36"/>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
        <p:nvSpPr>
          <p:cNvPr id="334" name="Google Shape;334;p36"/>
          <p:cNvSpPr txBox="1"/>
          <p:nvPr/>
        </p:nvSpPr>
        <p:spPr>
          <a:xfrm>
            <a:off x="494276" y="4026925"/>
            <a:ext cx="12286200" cy="5211900"/>
          </a:xfrm>
          <a:prstGeom prst="rect">
            <a:avLst/>
          </a:prstGeom>
          <a:noFill/>
          <a:ln>
            <a:noFill/>
          </a:ln>
        </p:spPr>
        <p:txBody>
          <a:bodyPr anchorCtr="0" anchor="t" bIns="65000" lIns="65000" spcFirstLastPara="1" rIns="65000" wrap="square" tIns="65000">
            <a:spAutoFit/>
          </a:bodyPr>
          <a:lstStyle/>
          <a:p>
            <a:pPr indent="-261257" lvl="0" marL="261257" marR="0" rtl="0" algn="l">
              <a:lnSpc>
                <a:spcPct val="110000"/>
              </a:lnSpc>
              <a:spcBef>
                <a:spcPts val="0"/>
              </a:spcBef>
              <a:spcAft>
                <a:spcPts val="0"/>
              </a:spcAft>
              <a:buClr>
                <a:srgbClr val="000000"/>
              </a:buClr>
              <a:buSzPts val="2706"/>
              <a:buFont typeface="Gill Sans"/>
              <a:buChar char="•"/>
            </a:pPr>
            <a:r>
              <a:rPr b="0" i="0" lang="en-US" sz="3300" u="none" cap="none" strike="noStrike">
                <a:solidFill>
                  <a:srgbClr val="000000"/>
                </a:solidFill>
                <a:latin typeface="Gill Sans"/>
                <a:ea typeface="Gill Sans"/>
                <a:cs typeface="Gill Sans"/>
                <a:sym typeface="Gill Sans"/>
              </a:rPr>
              <a:t>Problematic asymmetry:</a:t>
            </a:r>
            <a:endParaRPr b="0" i="0" sz="1400" u="none" cap="none" strike="noStrike">
              <a:solidFill>
                <a:srgbClr val="000000"/>
              </a:solidFill>
              <a:latin typeface="Arial"/>
              <a:ea typeface="Arial"/>
              <a:cs typeface="Arial"/>
              <a:sym typeface="Arial"/>
            </a:endParaRPr>
          </a:p>
          <a:p>
            <a:pPr indent="-338666" lvl="1" marL="656166" marR="0" rtl="0" algn="l">
              <a:lnSpc>
                <a:spcPct val="110000"/>
              </a:lnSpc>
              <a:spcBef>
                <a:spcPts val="200"/>
              </a:spcBef>
              <a:spcAft>
                <a:spcPts val="0"/>
              </a:spcAft>
              <a:buClr>
                <a:srgbClr val="000000"/>
              </a:buClr>
              <a:buSzPts val="2706"/>
              <a:buFont typeface="Gill Sans"/>
              <a:buChar char="•"/>
            </a:pPr>
            <a:r>
              <a:rPr b="0" i="0" lang="en-US" sz="3300" u="none" cap="none" strike="noStrike">
                <a:solidFill>
                  <a:srgbClr val="000000"/>
                </a:solidFill>
                <a:latin typeface="Gill Sans"/>
                <a:ea typeface="Gill Sans"/>
                <a:cs typeface="Gill Sans"/>
                <a:sym typeface="Gill Sans"/>
              </a:rPr>
              <a:t>Data provided ➙ often errors get detected</a:t>
            </a:r>
            <a:endParaRPr b="0" i="0" sz="1400" u="none" cap="none" strike="noStrike">
              <a:solidFill>
                <a:srgbClr val="000000"/>
              </a:solidFill>
              <a:latin typeface="Arial"/>
              <a:ea typeface="Arial"/>
              <a:cs typeface="Arial"/>
              <a:sym typeface="Arial"/>
            </a:endParaRPr>
          </a:p>
          <a:p>
            <a:pPr indent="-338666" lvl="1" marL="656166" marR="0" rtl="0" algn="l">
              <a:lnSpc>
                <a:spcPct val="110000"/>
              </a:lnSpc>
              <a:spcBef>
                <a:spcPts val="200"/>
              </a:spcBef>
              <a:spcAft>
                <a:spcPts val="0"/>
              </a:spcAft>
              <a:buClr>
                <a:srgbClr val="000000"/>
              </a:buClr>
              <a:buSzPts val="2706"/>
              <a:buFont typeface="Gill Sans"/>
              <a:buChar char="•"/>
            </a:pPr>
            <a:r>
              <a:rPr b="0" i="0" lang="en-US" sz="3300" u="none" cap="none" strike="noStrike">
                <a:solidFill>
                  <a:srgbClr val="000000"/>
                </a:solidFill>
                <a:latin typeface="Gill Sans"/>
                <a:ea typeface="Gill Sans"/>
                <a:cs typeface="Gill Sans"/>
                <a:sym typeface="Gill Sans"/>
              </a:rPr>
              <a:t>No data provided ➙ no errors are detected (because not possible). Default assumption: „Everything is OK. Perfect paper, because no errors are spotted!“</a:t>
            </a:r>
            <a:endParaRPr b="0" i="0" sz="1400" u="none" cap="none" strike="noStrike">
              <a:solidFill>
                <a:srgbClr val="000000"/>
              </a:solidFill>
              <a:latin typeface="Arial"/>
              <a:ea typeface="Arial"/>
              <a:cs typeface="Arial"/>
              <a:sym typeface="Arial"/>
            </a:endParaRPr>
          </a:p>
          <a:p>
            <a:pPr indent="-261257" lvl="0" marL="261257" marR="0" rtl="0" algn="l">
              <a:lnSpc>
                <a:spcPct val="110000"/>
              </a:lnSpc>
              <a:spcBef>
                <a:spcPts val="200"/>
              </a:spcBef>
              <a:spcAft>
                <a:spcPts val="0"/>
              </a:spcAft>
              <a:buClr>
                <a:srgbClr val="000000"/>
              </a:buClr>
              <a:buSzPts val="2706"/>
              <a:buFont typeface="Gill Sans"/>
              <a:buChar char="•"/>
            </a:pPr>
            <a:r>
              <a:rPr b="0" i="0" lang="en-US" sz="3300" u="none" cap="none" strike="noStrike">
                <a:solidFill>
                  <a:srgbClr val="000000"/>
                </a:solidFill>
                <a:latin typeface="Gill Sans"/>
                <a:ea typeface="Gill Sans"/>
                <a:cs typeface="Gill Sans"/>
                <a:sym typeface="Gill Sans"/>
              </a:rPr>
              <a:t>Making oneself vulnerable is good for science, and should also be good for reputation!</a:t>
            </a:r>
            <a:endParaRPr b="0" i="0" sz="1400" u="none" cap="none" strike="noStrike">
              <a:solidFill>
                <a:srgbClr val="000000"/>
              </a:solidFill>
              <a:latin typeface="Arial"/>
              <a:ea typeface="Arial"/>
              <a:cs typeface="Arial"/>
              <a:sym typeface="Arial"/>
            </a:endParaRPr>
          </a:p>
          <a:p>
            <a:pPr indent="-261257" lvl="0" marL="261257" marR="0" rtl="0" algn="l">
              <a:lnSpc>
                <a:spcPct val="110000"/>
              </a:lnSpc>
              <a:spcBef>
                <a:spcPts val="200"/>
              </a:spcBef>
              <a:spcAft>
                <a:spcPts val="0"/>
              </a:spcAft>
              <a:buClr>
                <a:srgbClr val="000000"/>
              </a:buClr>
              <a:buSzPts val="2706"/>
              <a:buFont typeface="Gill Sans"/>
              <a:buChar char="•"/>
            </a:pPr>
            <a:r>
              <a:rPr b="0" i="0" lang="en-US" sz="3300" u="none" cap="none" strike="noStrike">
                <a:solidFill>
                  <a:srgbClr val="000000"/>
                </a:solidFill>
                <a:latin typeface="Gill Sans"/>
                <a:ea typeface="Gill Sans"/>
                <a:cs typeface="Gill Sans"/>
                <a:sym typeface="Gill Sans"/>
              </a:rPr>
              <a:t>Change default assumption? </a:t>
            </a:r>
            <a:br>
              <a:rPr b="0" i="0" lang="en-US" sz="3300" u="none" cap="none" strike="noStrike">
                <a:solidFill>
                  <a:srgbClr val="000000"/>
                </a:solidFill>
                <a:latin typeface="Gill Sans"/>
                <a:ea typeface="Gill Sans"/>
                <a:cs typeface="Gill Sans"/>
                <a:sym typeface="Gill Sans"/>
              </a:rPr>
            </a:br>
            <a:r>
              <a:rPr b="0" i="0" lang="en-US" sz="3300" u="none" cap="none" strike="noStrike">
                <a:solidFill>
                  <a:srgbClr val="000000"/>
                </a:solidFill>
                <a:latin typeface="Gill Sans"/>
                <a:ea typeface="Gill Sans"/>
                <a:cs typeface="Gill Sans"/>
                <a:sym typeface="Gill Sans"/>
              </a:rPr>
              <a:t>„No data ➙ Probably erroneous analysis.“</a:t>
            </a:r>
            <a:endParaRPr b="0" i="0" sz="1400" u="none" cap="none" strike="noStrike">
              <a:solidFill>
                <a:srgbClr val="000000"/>
              </a:solidFill>
              <a:latin typeface="Arial"/>
              <a:ea typeface="Arial"/>
              <a:cs typeface="Arial"/>
              <a:sym typeface="Arial"/>
            </a:endParaRPr>
          </a:p>
        </p:txBody>
      </p:sp>
      <p:grpSp>
        <p:nvGrpSpPr>
          <p:cNvPr id="335" name="Google Shape;335;p36"/>
          <p:cNvGrpSpPr/>
          <p:nvPr/>
        </p:nvGrpSpPr>
        <p:grpSpPr>
          <a:xfrm>
            <a:off x="335305" y="2037155"/>
            <a:ext cx="12010137" cy="1834705"/>
            <a:chOff x="0" y="0"/>
            <a:chExt cx="12010136" cy="1834704"/>
          </a:xfrm>
        </p:grpSpPr>
        <p:sp>
          <p:nvSpPr>
            <p:cNvPr id="336" name="Google Shape;336;p36"/>
            <p:cNvSpPr/>
            <p:nvPr/>
          </p:nvSpPr>
          <p:spPr>
            <a:xfrm>
              <a:off x="0" y="0"/>
              <a:ext cx="4871145" cy="1834704"/>
            </a:xfrm>
            <a:prstGeom prst="rect">
              <a:avLst/>
            </a:prstGeom>
            <a:gradFill>
              <a:gsLst>
                <a:gs pos="0">
                  <a:srgbClr val="202DA2"/>
                </a:gs>
                <a:gs pos="100000">
                  <a:srgbClr val="425FF8"/>
                </a:gs>
              </a:gsLst>
              <a:lin ang="5400000" scaled="0"/>
            </a:gradFill>
            <a:ln>
              <a:noFill/>
            </a:ln>
            <a:effectLst>
              <a:outerShdw blurRad="63500" rotWithShape="0" dir="2880000" dist="63500">
                <a:srgbClr val="000000">
                  <a:alpha val="59608"/>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FFFFFF"/>
                </a:buClr>
                <a:buSzPts val="3000"/>
                <a:buFont typeface="Arial"/>
                <a:buNone/>
              </a:pPr>
              <a:r>
                <a:rPr b="0" i="0" lang="en-US" sz="3000" u="none" cap="none" strike="noStrike">
                  <a:solidFill>
                    <a:srgbClr val="FFFFFF"/>
                  </a:solidFill>
                  <a:latin typeface="Arial"/>
                  <a:ea typeface="Arial"/>
                  <a:cs typeface="Arial"/>
                  <a:sym typeface="Arial"/>
                </a:rPr>
                <a:t>Reproducibility and verifiability of published analyses</a:t>
              </a:r>
              <a:endParaRPr b="0" i="0" sz="1400" u="none" cap="none" strike="noStrike">
                <a:solidFill>
                  <a:srgbClr val="000000"/>
                </a:solidFill>
                <a:latin typeface="Arial"/>
                <a:ea typeface="Arial"/>
                <a:cs typeface="Arial"/>
                <a:sym typeface="Arial"/>
              </a:endParaRPr>
            </a:p>
          </p:txBody>
        </p:sp>
        <p:sp>
          <p:nvSpPr>
            <p:cNvPr id="337" name="Google Shape;337;p36"/>
            <p:cNvSpPr/>
            <p:nvPr/>
          </p:nvSpPr>
          <p:spPr>
            <a:xfrm>
              <a:off x="5306567" y="599851"/>
              <a:ext cx="1397001" cy="635001"/>
            </a:xfrm>
            <a:prstGeom prst="leftRightArrow">
              <a:avLst>
                <a:gd fmla="val 32000" name="adj1"/>
                <a:gd fmla="val 88000" name="adj2"/>
              </a:avLst>
            </a:prstGeom>
            <a:gradFill>
              <a:gsLst>
                <a:gs pos="0">
                  <a:srgbClr val="002DFF"/>
                </a:gs>
                <a:gs pos="100000">
                  <a:srgbClr val="70BF41"/>
                </a:gs>
              </a:gsLst>
              <a:lin ang="0" scaled="0"/>
            </a:gradFill>
            <a:ln>
              <a:noFill/>
            </a:ln>
            <a:effectLst>
              <a:outerShdw blurRad="63500" rotWithShape="0" dir="2880000" dist="63500">
                <a:srgbClr val="000000">
                  <a:alpha val="59608"/>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FFFFFF"/>
                </a:buClr>
                <a:buSzPts val="3200"/>
                <a:buFont typeface="Arial"/>
                <a:buNone/>
              </a:pPr>
              <a:r>
                <a:t/>
              </a:r>
              <a:endParaRPr b="0" i="0" sz="3200" u="none" cap="none" strike="noStrike">
                <a:solidFill>
                  <a:srgbClr val="FFFFFF"/>
                </a:solidFill>
                <a:latin typeface="Arial"/>
                <a:ea typeface="Arial"/>
                <a:cs typeface="Arial"/>
                <a:sym typeface="Arial"/>
              </a:endParaRPr>
            </a:p>
          </p:txBody>
        </p:sp>
        <p:sp>
          <p:nvSpPr>
            <p:cNvPr id="338" name="Google Shape;338;p36"/>
            <p:cNvSpPr/>
            <p:nvPr/>
          </p:nvSpPr>
          <p:spPr>
            <a:xfrm>
              <a:off x="7138990" y="0"/>
              <a:ext cx="4871146" cy="1834704"/>
            </a:xfrm>
            <a:prstGeom prst="rect">
              <a:avLst/>
            </a:prstGeom>
            <a:gradFill>
              <a:gsLst>
                <a:gs pos="0">
                  <a:srgbClr val="0A3C00"/>
                </a:gs>
                <a:gs pos="100000">
                  <a:srgbClr val="52C600"/>
                </a:gs>
              </a:gsLst>
              <a:lin ang="5400000" scaled="0"/>
            </a:gradFill>
            <a:ln>
              <a:noFill/>
            </a:ln>
            <a:effectLst>
              <a:outerShdw blurRad="63500" rotWithShape="0" dir="2880000" dist="63500">
                <a:srgbClr val="000000">
                  <a:alpha val="59608"/>
                </a:srgbClr>
              </a:outerShdw>
            </a:effectLst>
          </p:spPr>
          <p:txBody>
            <a:bodyPr anchorCtr="0" anchor="ctr" bIns="65000" lIns="65000" spcFirstLastPara="1" rIns="65000" wrap="square" tIns="65000">
              <a:noAutofit/>
            </a:bodyPr>
            <a:lstStyle/>
            <a:p>
              <a:pPr indent="0" lvl="0" marL="0" marR="0" rtl="0" algn="ctr">
                <a:lnSpc>
                  <a:spcPct val="100000"/>
                </a:lnSpc>
                <a:spcBef>
                  <a:spcPts val="0"/>
                </a:spcBef>
                <a:spcAft>
                  <a:spcPts val="0"/>
                </a:spcAft>
                <a:buClr>
                  <a:srgbClr val="FFFFFF"/>
                </a:buClr>
                <a:buSzPts val="3000"/>
                <a:buFont typeface="Arial"/>
                <a:buNone/>
              </a:pPr>
              <a:r>
                <a:rPr b="0" i="0" lang="en-US" sz="3000" u="none" cap="none" strike="noStrike">
                  <a:solidFill>
                    <a:srgbClr val="FFFFFF"/>
                  </a:solidFill>
                  <a:latin typeface="Arial"/>
                  <a:ea typeface="Arial"/>
                  <a:cs typeface="Arial"/>
                  <a:sym typeface="Arial"/>
                </a:rPr>
                <a:t>Protect original authors against inadequate burden and potential attacks</a:t>
              </a:r>
              <a:endParaRPr b="0" i="0" sz="1400" u="none" cap="none" strike="noStrike">
                <a:solidFill>
                  <a:srgbClr val="000000"/>
                </a:solidFill>
                <a:latin typeface="Arial"/>
                <a:ea typeface="Arial"/>
                <a:cs typeface="Arial"/>
                <a:sym typeface="Arial"/>
              </a:endParaRPr>
            </a:p>
          </p:txBody>
        </p:sp>
      </p:grpSp>
      <p:sp>
        <p:nvSpPr>
          <p:cNvPr id="339" name="Google Shape;339;p36"/>
          <p:cNvSpPr txBox="1"/>
          <p:nvPr/>
        </p:nvSpPr>
        <p:spPr>
          <a:xfrm>
            <a:off x="365760" y="9189720"/>
            <a:ext cx="1152144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Nuijten et al. (2016), Behavior Research Methods 48: ~50% of psychology articles contain at least one inconsistently reported statistic.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7"/>
          <p:cNvSpPr txBox="1"/>
          <p:nvPr>
            <p:ph type="title"/>
          </p:nvPr>
        </p:nvSpPr>
        <p:spPr>
          <a:xfrm>
            <a:off x="379306" y="147054"/>
            <a:ext cx="9246292" cy="1334599"/>
          </a:xfrm>
          <a:prstGeom prst="rect">
            <a:avLst/>
          </a:prstGeom>
          <a:noFill/>
          <a:ln>
            <a:noFill/>
          </a:ln>
        </p:spPr>
        <p:txBody>
          <a:bodyPr anchorCtr="0" anchor="ctr" bIns="65000" lIns="65000" spcFirstLastPara="1" rIns="65000" wrap="square" tIns="65000">
            <a:normAutofit/>
          </a:bodyPr>
          <a:lstStyle/>
          <a:p>
            <a:pPr indent="0" lvl="0" marL="0" marR="0" rtl="0" algn="l">
              <a:lnSpc>
                <a:spcPct val="100000"/>
              </a:lnSpc>
              <a:spcBef>
                <a:spcPts val="0"/>
              </a:spcBef>
              <a:spcAft>
                <a:spcPts val="0"/>
              </a:spcAft>
              <a:buClr>
                <a:srgbClr val="000000"/>
              </a:buClr>
              <a:buSzPts val="4661"/>
              <a:buFont typeface="Arial"/>
              <a:buNone/>
            </a:pPr>
            <a:r>
              <a:rPr b="1" lang="en-US" sz="4660">
                <a:latin typeface="Arial"/>
                <a:ea typeface="Arial"/>
                <a:cs typeface="Arial"/>
                <a:sym typeface="Arial"/>
              </a:rPr>
              <a:t>Incentivizing Open Data Sharing</a:t>
            </a:r>
            <a:endParaRPr/>
          </a:p>
        </p:txBody>
      </p:sp>
      <p:sp>
        <p:nvSpPr>
          <p:cNvPr id="345" name="Google Shape;345;p37"/>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
        <p:nvSpPr>
          <p:cNvPr id="346" name="Google Shape;346;p37"/>
          <p:cNvSpPr txBox="1"/>
          <p:nvPr/>
        </p:nvSpPr>
        <p:spPr>
          <a:xfrm>
            <a:off x="187175" y="9145550"/>
            <a:ext cx="11806200" cy="562200"/>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1016F4"/>
              </a:buClr>
              <a:buSzPts val="1500"/>
              <a:buFont typeface="Calibri"/>
              <a:buNone/>
            </a:pPr>
            <a:r>
              <a:rPr lang="en-US" u="sng">
                <a:solidFill>
                  <a:schemeClr val="hlink"/>
                </a:solidFill>
                <a:hlinkClick r:id="rId3"/>
              </a:rPr>
              <a:t>https://doi.org/10.6084/m9.figshare.30823079</a:t>
            </a:r>
            <a:r>
              <a:rPr lang="en-US"/>
              <a:t>; </a:t>
            </a:r>
            <a:r>
              <a:rPr b="0" i="0" lang="en-US" sz="1400" u="sng" cap="none" strike="noStrike">
                <a:solidFill>
                  <a:srgbClr val="1016F4"/>
                </a:solidFill>
                <a:latin typeface="Arial"/>
                <a:ea typeface="Arial"/>
                <a:cs typeface="Arial"/>
                <a:sym typeface="Arial"/>
                <a:hlinkClick r:id="rId4">
                  <a:extLst>
                    <a:ext uri="{A12FA001-AC4F-418D-AE19-62706E023703}">
                      <ahyp:hlinkClr val="tx"/>
                    </a:ext>
                  </a:extLst>
                </a:hlinkClick>
              </a:rPr>
              <a:t>https://coara.eu/agreement/the-commitments/</a:t>
            </a:r>
            <a:r>
              <a:rPr b="0" i="0" lang="en-US" sz="1400" u="none" cap="none" strike="noStrike">
                <a:solidFill>
                  <a:srgbClr val="000000"/>
                </a:solidFill>
                <a:latin typeface="Arial"/>
                <a:ea typeface="Arial"/>
                <a:cs typeface="Arial"/>
                <a:sym typeface="Arial"/>
              </a:rPr>
              <a:t>; DFG Information für die Wissenschaft Nr. 61 (2022): </a:t>
            </a:r>
            <a:r>
              <a:rPr b="0" i="0" lang="en-US" sz="1400" u="sng" cap="none" strike="noStrike">
                <a:solidFill>
                  <a:srgbClr val="1016F4"/>
                </a:solidFill>
                <a:latin typeface="Arial"/>
                <a:ea typeface="Arial"/>
                <a:cs typeface="Arial"/>
                <a:sym typeface="Arial"/>
                <a:hlinkClick r:id="rId5">
                  <a:extLst>
                    <a:ext uri="{A12FA001-AC4F-418D-AE19-62706E023703}">
                      <ahyp:hlinkClr val="tx"/>
                    </a:ext>
                  </a:extLst>
                </a:hlinkClick>
              </a:rPr>
              <a:t>Maßnahmenpaket zum Wandel der wissenschaftlichen Bewertungskultur</a:t>
            </a:r>
            <a:endParaRPr b="0" i="0" sz="1400" u="none" cap="none" strike="noStrike">
              <a:solidFill>
                <a:srgbClr val="000000"/>
              </a:solidFill>
              <a:latin typeface="Arial"/>
              <a:ea typeface="Arial"/>
              <a:cs typeface="Arial"/>
              <a:sym typeface="Arial"/>
            </a:endParaRPr>
          </a:p>
        </p:txBody>
      </p:sp>
      <p:grpSp>
        <p:nvGrpSpPr>
          <p:cNvPr id="347" name="Google Shape;347;p37"/>
          <p:cNvGrpSpPr/>
          <p:nvPr/>
        </p:nvGrpSpPr>
        <p:grpSpPr>
          <a:xfrm>
            <a:off x="6935688" y="4139088"/>
            <a:ext cx="4927851" cy="4873773"/>
            <a:chOff x="0" y="0"/>
            <a:chExt cx="4927851" cy="4873773"/>
          </a:xfrm>
        </p:grpSpPr>
        <p:sp>
          <p:nvSpPr>
            <p:cNvPr id="348" name="Google Shape;348;p37"/>
            <p:cNvSpPr txBox="1"/>
            <p:nvPr/>
          </p:nvSpPr>
          <p:spPr>
            <a:xfrm>
              <a:off x="81651" y="704973"/>
              <a:ext cx="4846200" cy="4168800"/>
            </a:xfrm>
            <a:prstGeom prst="rect">
              <a:avLst/>
            </a:prstGeom>
            <a:solidFill>
              <a:srgbClr val="4472C4"/>
            </a:solidFill>
            <a:ln cap="flat" cmpd="sng" w="12700">
              <a:solidFill>
                <a:srgbClr val="FFFFFF"/>
              </a:solidFill>
              <a:prstDash val="solid"/>
              <a:miter lim="0"/>
              <a:headEnd len="sm" w="sm" type="none"/>
              <a:tailEnd len="sm" w="sm" type="none"/>
            </a:ln>
          </p:spPr>
          <p:txBody>
            <a:bodyPr anchorCtr="0" anchor="t" bIns="127000" lIns="127000" spcFirstLastPara="1" rIns="127000" wrap="square" tIns="127000">
              <a:spAutoFit/>
            </a:bodyPr>
            <a:lstStyle/>
            <a:p>
              <a:pPr indent="0" lvl="0" marL="0" marR="0" rtl="0" algn="l">
                <a:lnSpc>
                  <a:spcPct val="100000"/>
                </a:lnSpc>
                <a:spcBef>
                  <a:spcPts val="0"/>
                </a:spcBef>
                <a:spcAft>
                  <a:spcPts val="0"/>
                </a:spcAft>
                <a:buClr>
                  <a:srgbClr val="FFFFFF"/>
                </a:buClr>
                <a:buSzPts val="2400"/>
                <a:buFont typeface="Calibri"/>
                <a:buNone/>
              </a:pPr>
              <a:r>
                <a:rPr b="0" i="0" lang="en-US" sz="2400" u="none" cap="none" strike="noStrike">
                  <a:solidFill>
                    <a:srgbClr val="FFFFFF"/>
                  </a:solidFill>
                  <a:latin typeface="Calibri"/>
                  <a:ea typeface="Calibri"/>
                  <a:cs typeface="Calibri"/>
                  <a:sym typeface="Calibri"/>
                </a:rPr>
                <a:t>„Performance assessment based on content-related qualitative criteria also explicitly includes ensuring that the </a:t>
              </a:r>
              <a:r>
                <a:rPr b="1" i="0" lang="en-US" sz="2400" u="none" cap="none" strike="noStrike">
                  <a:solidFill>
                    <a:srgbClr val="FFFFFF"/>
                  </a:solidFill>
                  <a:latin typeface="Calibri"/>
                  <a:ea typeface="Calibri"/>
                  <a:cs typeface="Calibri"/>
                  <a:sym typeface="Calibri"/>
                </a:rPr>
                <a:t>entire spectrum</a:t>
              </a:r>
              <a:r>
                <a:rPr b="0" i="0" lang="en-US" sz="2400" u="none" cap="none" strike="noStrike">
                  <a:solidFill>
                    <a:srgbClr val="FFFFFF"/>
                  </a:solidFill>
                  <a:latin typeface="Calibri"/>
                  <a:ea typeface="Calibri"/>
                  <a:cs typeface="Calibri"/>
                  <a:sym typeface="Calibri"/>
                </a:rPr>
                <a:t> of academic publication types are equally displayed and acknowledged in funding proposals and CVs“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700"/>
                </a:spcBef>
                <a:spcAft>
                  <a:spcPts val="0"/>
                </a:spcAft>
                <a:buClr>
                  <a:srgbClr val="FFFFFF"/>
                </a:buClr>
                <a:buSzPts val="2400"/>
                <a:buFont typeface="Calibri"/>
                <a:buNone/>
              </a:pPr>
              <a:r>
                <a:rPr b="0" i="0" lang="en-US" sz="2400" u="none" cap="none" strike="noStrike">
                  <a:solidFill>
                    <a:srgbClr val="FFFFFF"/>
                  </a:solidFill>
                  <a:latin typeface="Calibri"/>
                  <a:ea typeface="Calibri"/>
                  <a:cs typeface="Calibri"/>
                  <a:sym typeface="Calibri"/>
                </a:rPr>
                <a:t>„including articles on preprint servers, </a:t>
              </a:r>
              <a:r>
                <a:rPr b="1" i="0" lang="en-US" sz="2400" u="none" cap="none" strike="noStrike">
                  <a:solidFill>
                    <a:srgbClr val="FFFFFF"/>
                  </a:solidFill>
                  <a:latin typeface="Calibri"/>
                  <a:ea typeface="Calibri"/>
                  <a:cs typeface="Calibri"/>
                  <a:sym typeface="Calibri"/>
                </a:rPr>
                <a:t>data sets</a:t>
              </a:r>
              <a:r>
                <a:rPr b="0" i="0" lang="en-US" sz="2400" u="none" cap="none" strike="noStrike">
                  <a:solidFill>
                    <a:srgbClr val="FFFFFF"/>
                  </a:solidFill>
                  <a:latin typeface="Calibri"/>
                  <a:ea typeface="Calibri"/>
                  <a:cs typeface="Calibri"/>
                  <a:sym typeface="Calibri"/>
                </a:rPr>
                <a:t> or software packages, for example“</a:t>
              </a:r>
              <a:endParaRPr b="0" i="0" sz="1400" u="none" cap="none" strike="noStrike">
                <a:solidFill>
                  <a:srgbClr val="000000"/>
                </a:solidFill>
                <a:latin typeface="Arial"/>
                <a:ea typeface="Arial"/>
                <a:cs typeface="Arial"/>
                <a:sym typeface="Arial"/>
              </a:endParaRPr>
            </a:p>
          </p:txBody>
        </p:sp>
        <p:pic>
          <p:nvPicPr>
            <p:cNvPr descr="Grafik 11" id="349" name="Google Shape;349;p37"/>
            <p:cNvPicPr preferRelativeResize="0"/>
            <p:nvPr/>
          </p:nvPicPr>
          <p:blipFill rotWithShape="1">
            <a:blip r:embed="rId6">
              <a:alphaModFix/>
            </a:blip>
            <a:srcRect b="0" l="0" r="0" t="0"/>
            <a:stretch/>
          </p:blipFill>
          <p:spPr>
            <a:xfrm>
              <a:off x="0" y="0"/>
              <a:ext cx="3357565" cy="689420"/>
            </a:xfrm>
            <a:prstGeom prst="rect">
              <a:avLst/>
            </a:prstGeom>
            <a:noFill/>
            <a:ln>
              <a:noFill/>
            </a:ln>
          </p:spPr>
        </p:pic>
      </p:grpSp>
      <p:pic>
        <p:nvPicPr>
          <p:cNvPr descr="Grafik 13" id="350" name="Google Shape;350;p37"/>
          <p:cNvPicPr preferRelativeResize="0"/>
          <p:nvPr/>
        </p:nvPicPr>
        <p:blipFill rotWithShape="1">
          <a:blip r:embed="rId7">
            <a:alphaModFix/>
          </a:blip>
          <a:srcRect b="0" l="0" r="0" t="0"/>
          <a:stretch/>
        </p:blipFill>
        <p:spPr>
          <a:xfrm>
            <a:off x="599384" y="3806179"/>
            <a:ext cx="2317385" cy="836453"/>
          </a:xfrm>
          <a:prstGeom prst="rect">
            <a:avLst/>
          </a:prstGeom>
          <a:noFill/>
          <a:ln>
            <a:noFill/>
          </a:ln>
        </p:spPr>
      </p:pic>
      <p:sp>
        <p:nvSpPr>
          <p:cNvPr id="351" name="Google Shape;351;p37"/>
          <p:cNvSpPr txBox="1"/>
          <p:nvPr/>
        </p:nvSpPr>
        <p:spPr>
          <a:xfrm>
            <a:off x="599375" y="4562875"/>
            <a:ext cx="5007600" cy="4544100"/>
          </a:xfrm>
          <a:prstGeom prst="rect">
            <a:avLst/>
          </a:prstGeom>
          <a:solidFill>
            <a:srgbClr val="4472C4"/>
          </a:solidFill>
          <a:ln cap="flat" cmpd="sng" w="12700">
            <a:solidFill>
              <a:srgbClr val="FFFFFF"/>
            </a:solidFill>
            <a:prstDash val="solid"/>
            <a:miter lim="0"/>
            <a:headEnd len="sm" w="sm" type="none"/>
            <a:tailEnd len="sm" w="sm" type="none"/>
          </a:ln>
        </p:spPr>
        <p:txBody>
          <a:bodyPr anchorCtr="0" anchor="t" bIns="127000" lIns="127000" spcFirstLastPara="1" rIns="127000" wrap="square" tIns="127000">
            <a:noAutofit/>
          </a:bodyPr>
          <a:lstStyle/>
          <a:p>
            <a:pPr indent="0" lvl="0" marL="0" marR="0" rtl="0" algn="l">
              <a:lnSpc>
                <a:spcPct val="100000"/>
              </a:lnSpc>
              <a:spcBef>
                <a:spcPts val="0"/>
              </a:spcBef>
              <a:spcAft>
                <a:spcPts val="0"/>
              </a:spcAft>
              <a:buClr>
                <a:srgbClr val="FFFFFF"/>
              </a:buClr>
              <a:buSzPts val="2400"/>
              <a:buFont typeface="Calibri"/>
              <a:buNone/>
            </a:pPr>
            <a:r>
              <a:rPr b="0" i="0" lang="en-US" sz="2400" u="none" cap="none" strike="noStrike">
                <a:solidFill>
                  <a:srgbClr val="FFFFFF"/>
                </a:solidFill>
                <a:latin typeface="Calibri"/>
                <a:ea typeface="Calibri"/>
                <a:cs typeface="Calibri"/>
                <a:sym typeface="Calibri"/>
              </a:rPr>
              <a:t>„6. Review and develop research assessment criteria, tools and processes:</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2400"/>
              <a:buFont typeface="Calibri"/>
              <a:buNone/>
            </a:pPr>
            <a:r>
              <a:t/>
            </a:r>
            <a:endParaRPr b="0" i="0" sz="2400" u="none" cap="none" strike="noStrike">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2400"/>
              <a:buFont typeface="Calibri"/>
              <a:buNone/>
            </a:pPr>
            <a:r>
              <a:rPr b="0" i="0" lang="en-US" sz="2400" u="none" cap="none" strike="noStrike">
                <a:solidFill>
                  <a:srgbClr val="FFFFFF"/>
                </a:solidFill>
                <a:latin typeface="Calibri"/>
                <a:ea typeface="Calibri"/>
                <a:cs typeface="Calibri"/>
                <a:sym typeface="Calibri"/>
              </a:rPr>
              <a:t>[…] The changes should increase the ability to assess quality by enabling recognition of all contributions to quality research by research units and institutions. Such recognition includes that of </a:t>
            </a:r>
            <a:r>
              <a:rPr b="1" i="0" lang="en-US" sz="2400" u="none" cap="none" strike="noStrike">
                <a:solidFill>
                  <a:srgbClr val="FFFFFF"/>
                </a:solidFill>
                <a:latin typeface="Calibri"/>
                <a:ea typeface="Calibri"/>
                <a:cs typeface="Calibri"/>
                <a:sym typeface="Calibri"/>
              </a:rPr>
              <a:t>early sharing of data</a:t>
            </a:r>
            <a:r>
              <a:rPr b="0" i="0" lang="en-US" sz="2400" u="none" cap="none" strike="noStrike">
                <a:solidFill>
                  <a:srgbClr val="FFFFFF"/>
                </a:solidFill>
                <a:latin typeface="Calibri"/>
                <a:ea typeface="Calibri"/>
                <a:cs typeface="Calibri"/>
                <a:sym typeface="Calibri"/>
              </a:rPr>
              <a:t> and results, open collaboration, teamwork […]“</a:t>
            </a:r>
            <a:endParaRPr b="0" i="0" sz="2400" u="none" cap="none" strike="noStrike">
              <a:solidFill>
                <a:srgbClr val="000000"/>
              </a:solidFill>
              <a:latin typeface="Arial"/>
              <a:ea typeface="Arial"/>
              <a:cs typeface="Arial"/>
              <a:sym typeface="Arial"/>
            </a:endParaRPr>
          </a:p>
        </p:txBody>
      </p:sp>
      <p:sp>
        <p:nvSpPr>
          <p:cNvPr id="352" name="Google Shape;352;p37"/>
          <p:cNvSpPr txBox="1"/>
          <p:nvPr/>
        </p:nvSpPr>
        <p:spPr>
          <a:xfrm>
            <a:off x="522350" y="1481650"/>
            <a:ext cx="11960100" cy="220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700">
                <a:solidFill>
                  <a:schemeClr val="dk1"/>
                </a:solidFill>
                <a:latin typeface="Gill Sans"/>
                <a:ea typeface="Gill Sans"/>
                <a:cs typeface="Gill Sans"/>
                <a:sym typeface="Gill Sans"/>
              </a:rPr>
              <a:t>State of Open Data 2025 (4,700+ researchers, 151 countries): </a:t>
            </a:r>
            <a:r>
              <a:rPr b="1" lang="en-US" sz="2700">
                <a:solidFill>
                  <a:schemeClr val="dk1"/>
                </a:solidFill>
                <a:latin typeface="Gill Sans"/>
                <a:ea typeface="Gill Sans"/>
                <a:cs typeface="Gill Sans"/>
                <a:sym typeface="Gill Sans"/>
              </a:rPr>
              <a:t>81% support open data as common scholarly practice</a:t>
            </a:r>
            <a:endParaRPr>
              <a:solidFill>
                <a:schemeClr val="dk1"/>
              </a:solidFill>
            </a:endParaRPr>
          </a:p>
          <a:p>
            <a:pPr indent="0" lvl="0" marL="0" rtl="0" algn="l">
              <a:spcBef>
                <a:spcPts val="1400"/>
              </a:spcBef>
              <a:spcAft>
                <a:spcPts val="0"/>
              </a:spcAft>
              <a:buNone/>
            </a:pPr>
            <a:r>
              <a:rPr lang="en-US" sz="2700">
                <a:solidFill>
                  <a:schemeClr val="dk1"/>
                </a:solidFill>
                <a:latin typeface="Gill Sans"/>
                <a:ea typeface="Gill Sans"/>
                <a:cs typeface="Gill Sans"/>
                <a:sym typeface="Gill Sans"/>
              </a:rPr>
              <a:t>Familiarity with FAIR principles: 15% (2018) → 41% (2025)</a:t>
            </a:r>
            <a:endParaRPr>
              <a:solidFill>
                <a:schemeClr val="dk1"/>
              </a:solidFill>
            </a:endParaRPr>
          </a:p>
          <a:p>
            <a:pPr indent="0" lvl="0" marL="0" rtl="0" algn="l">
              <a:spcBef>
                <a:spcPts val="1400"/>
              </a:spcBef>
              <a:spcAft>
                <a:spcPts val="0"/>
              </a:spcAft>
              <a:buNone/>
            </a:pPr>
            <a:r>
              <a:rPr b="1" lang="en-US" sz="2700">
                <a:solidFill>
                  <a:schemeClr val="dk1"/>
                </a:solidFill>
                <a:latin typeface="Gill Sans"/>
                <a:ea typeface="Gill Sans"/>
                <a:cs typeface="Gill Sans"/>
                <a:sym typeface="Gill Sans"/>
              </a:rPr>
              <a:t>But 69% say researchers get too little credit for sharing data (2020: 78%)</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8"/>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
        <p:nvSpPr>
          <p:cNvPr id="358" name="Google Shape;358;p38"/>
          <p:cNvSpPr txBox="1"/>
          <p:nvPr>
            <p:ph type="title"/>
          </p:nvPr>
        </p:nvSpPr>
        <p:spPr>
          <a:xfrm>
            <a:off x="365760" y="182880"/>
            <a:ext cx="9246292" cy="1334598"/>
          </a:xfrm>
          <a:prstGeom prst="rect">
            <a:avLst/>
          </a:prstGeom>
          <a:noFill/>
          <a:ln>
            <a:noFill/>
          </a:ln>
        </p:spPr>
        <p:txBody>
          <a:bodyPr anchorCtr="0" anchor="ctr" bIns="65000" lIns="65000" spcFirstLastPara="1" rIns="65000" wrap="square" tIns="65000">
            <a:normAutofit/>
          </a:bodyPr>
          <a:lstStyle/>
          <a:p>
            <a:pPr indent="0" lvl="0" marL="0" marR="0" rtl="0" algn="l">
              <a:lnSpc>
                <a:spcPct val="100000"/>
              </a:lnSpc>
              <a:spcBef>
                <a:spcPts val="0"/>
              </a:spcBef>
              <a:spcAft>
                <a:spcPts val="0"/>
              </a:spcAft>
              <a:buClr>
                <a:srgbClr val="000000"/>
              </a:buClr>
              <a:buSzPts val="4661"/>
              <a:buFont typeface="Arial"/>
              <a:buNone/>
            </a:pPr>
            <a:r>
              <a:rPr b="1" lang="en-US" sz="4660">
                <a:latin typeface="Arial"/>
                <a:ea typeface="Arial"/>
                <a:cs typeface="Arial"/>
                <a:sym typeface="Arial"/>
              </a:rPr>
              <a:t>Incentivizing Open Data Sharing</a:t>
            </a:r>
            <a:endParaRPr/>
          </a:p>
        </p:txBody>
      </p:sp>
      <p:sp>
        <p:nvSpPr>
          <p:cNvPr id="359" name="Google Shape;359;p38"/>
          <p:cNvSpPr txBox="1"/>
          <p:nvPr/>
        </p:nvSpPr>
        <p:spPr>
          <a:xfrm>
            <a:off x="165406" y="9202611"/>
            <a:ext cx="3323652" cy="431079"/>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1016F4"/>
              </a:buClr>
              <a:buSzPts val="2400"/>
              <a:buFont typeface="Calibri"/>
              <a:buNone/>
            </a:pPr>
            <a:r>
              <a:rPr b="0" i="0" lang="en-US" sz="1400" u="sng" cap="none" strike="noStrike">
                <a:solidFill>
                  <a:srgbClr val="1016F4"/>
                </a:solidFill>
                <a:latin typeface="Helvetica Neue"/>
                <a:ea typeface="Helvetica Neue"/>
                <a:cs typeface="Helvetica Neue"/>
                <a:sym typeface="Helvetica Neue"/>
                <a:hlinkClick r:id="rId3">
                  <a:extLst>
                    <a:ext uri="{A12FA001-AC4F-418D-AE19-62706E023703}">
                      <ahyp:hlinkClr val="tx"/>
                    </a:ext>
                  </a:extLst>
                </a:hlinkClick>
              </a:rPr>
              <a:t>https://www.resque.info/</a:t>
            </a:r>
            <a:endParaRPr b="0" i="0" sz="1400" u="none" cap="none" strike="noStrike">
              <a:solidFill>
                <a:srgbClr val="000000"/>
              </a:solidFill>
              <a:latin typeface="Arial"/>
              <a:ea typeface="Arial"/>
              <a:cs typeface="Arial"/>
              <a:sym typeface="Arial"/>
            </a:endParaRPr>
          </a:p>
        </p:txBody>
      </p:sp>
      <p:pic>
        <p:nvPicPr>
          <p:cNvPr descr="eingesetzter-Film.png" id="360" name="Google Shape;360;p38"/>
          <p:cNvPicPr preferRelativeResize="0"/>
          <p:nvPr/>
        </p:nvPicPr>
        <p:blipFill rotWithShape="1">
          <a:blip r:embed="rId4">
            <a:alphaModFix/>
          </a:blip>
          <a:srcRect b="0" l="0" r="0" t="0"/>
          <a:stretch/>
        </p:blipFill>
        <p:spPr>
          <a:xfrm>
            <a:off x="5470455" y="2831431"/>
            <a:ext cx="7302650" cy="6007018"/>
          </a:xfrm>
          <a:prstGeom prst="rect">
            <a:avLst/>
          </a:prstGeom>
          <a:noFill/>
          <a:ln>
            <a:noFill/>
          </a:ln>
          <a:effectLst>
            <a:outerShdw blurRad="114300" rotWithShape="0" dir="2220895" dist="88900">
              <a:srgbClr val="000000">
                <a:alpha val="28627"/>
              </a:srgbClr>
            </a:outerShdw>
          </a:effectLst>
        </p:spPr>
      </p:pic>
      <p:sp>
        <p:nvSpPr>
          <p:cNvPr id="361" name="Google Shape;361;p38"/>
          <p:cNvSpPr txBox="1"/>
          <p:nvPr/>
        </p:nvSpPr>
        <p:spPr>
          <a:xfrm>
            <a:off x="365744" y="1132670"/>
            <a:ext cx="11031900" cy="1334700"/>
          </a:xfrm>
          <a:prstGeom prst="rect">
            <a:avLst/>
          </a:prstGeom>
          <a:noFill/>
          <a:ln>
            <a:noFill/>
          </a:ln>
        </p:spPr>
        <p:txBody>
          <a:bodyPr anchorCtr="0" anchor="ctr" bIns="65000" lIns="65000" spcFirstLastPara="1" rIns="65000" wrap="square" tIns="65000">
            <a:norm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RESQUE (Research Quality Evaluation Framework)</a:t>
            </a:r>
            <a:endParaRPr b="0" i="0" sz="1400" u="none" cap="none" strike="noStrike">
              <a:solidFill>
                <a:srgbClr val="000000"/>
              </a:solidFill>
              <a:latin typeface="Arial"/>
              <a:ea typeface="Arial"/>
              <a:cs typeface="Arial"/>
              <a:sym typeface="Arial"/>
            </a:endParaRPr>
          </a:p>
        </p:txBody>
      </p:sp>
      <p:sp>
        <p:nvSpPr>
          <p:cNvPr id="362" name="Google Shape;362;p38"/>
          <p:cNvSpPr txBox="1"/>
          <p:nvPr/>
        </p:nvSpPr>
        <p:spPr>
          <a:xfrm>
            <a:off x="356415" y="3767901"/>
            <a:ext cx="4264690" cy="4134078"/>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000000"/>
              </a:buClr>
              <a:buSzPts val="2400"/>
              <a:buFont typeface="Times New Roman"/>
              <a:buNone/>
            </a:pPr>
            <a:r>
              <a:rPr b="1" i="0" lang="en-US" sz="2400" u="none" cap="none" strike="noStrike">
                <a:solidFill>
                  <a:srgbClr val="000000"/>
                </a:solidFill>
                <a:latin typeface="Gill Sans"/>
                <a:ea typeface="Gill Sans"/>
                <a:cs typeface="Gill Sans"/>
                <a:sym typeface="Gill Sans"/>
              </a:rPr>
              <a:t>Principle 1: Academic contributions are multifaceted. Regarding research contributions, do not only value (a) journal articles, but also (b) </a:t>
            </a:r>
            <a:r>
              <a:rPr b="1" i="0" lang="en-US" sz="2400" u="none" cap="none" strike="noStrike">
                <a:solidFill>
                  <a:srgbClr val="3AB00C"/>
                </a:solidFill>
                <a:latin typeface="Gill Sans"/>
                <a:ea typeface="Gill Sans"/>
                <a:cs typeface="Gill Sans"/>
                <a:sym typeface="Gill Sans"/>
              </a:rPr>
              <a:t>data sets</a:t>
            </a:r>
            <a:r>
              <a:rPr b="1" i="0" lang="en-US" sz="2400" u="none" cap="none" strike="noStrike">
                <a:solidFill>
                  <a:srgbClr val="000000"/>
                </a:solidFill>
                <a:latin typeface="Gill Sans"/>
                <a:ea typeface="Gill Sans"/>
                <a:cs typeface="Gill Sans"/>
                <a:sym typeface="Gill Sans"/>
              </a:rPr>
              <a:t> and (c) research software development.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Times New Roman"/>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Times New Roman"/>
              <a:buNone/>
            </a:pPr>
            <a:r>
              <a:rPr b="0" i="1" lang="en-US" sz="1700" u="none" cap="none" strike="noStrike">
                <a:solidFill>
                  <a:srgbClr val="000000"/>
                </a:solidFill>
                <a:latin typeface="Gill Sans"/>
                <a:ea typeface="Gill Sans"/>
                <a:cs typeface="Gill Sans"/>
                <a:sym typeface="Gill Sans"/>
              </a:rPr>
              <a:t>Schönbrodt et al. (2024), </a:t>
            </a:r>
            <a:r>
              <a:rPr b="0" i="1" lang="en-US" sz="1700" u="sng" cap="none" strike="noStrike">
                <a:solidFill>
                  <a:srgbClr val="1016F4"/>
                </a:solidFill>
                <a:latin typeface="Gill Sans"/>
                <a:ea typeface="Gill Sans"/>
                <a:cs typeface="Gill Sans"/>
                <a:sym typeface="Gill Sans"/>
                <a:hlinkClick r:id="rId5">
                  <a:extLst>
                    <a:ext uri="{A12FA001-AC4F-418D-AE19-62706E023703}">
                      <ahyp:hlinkClr val="tx"/>
                    </a:ext>
                  </a:extLst>
                </a:hlinkClick>
              </a:rPr>
              <a:t>Responsible Research Assessment I: Implementing DORA and CoARA for hiring and promotion in psychology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Times New Roman"/>
              <a:buNone/>
            </a:pPr>
            <a:r>
              <a:rPr b="0" i="1" lang="en-US" sz="1700" u="none" cap="none" strike="noStrike">
                <a:solidFill>
                  <a:srgbClr val="000000"/>
                </a:solidFill>
                <a:latin typeface="Gill Sans"/>
                <a:ea typeface="Gill Sans"/>
                <a:cs typeface="Gill Sans"/>
                <a:sym typeface="Gill Sans"/>
              </a:rPr>
              <a:t>(Working commissioned by the German Psychological Society)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descr="eingesetzter-Film.png" id="367" name="Google Shape;367;p39"/>
          <p:cNvPicPr preferRelativeResize="0"/>
          <p:nvPr/>
        </p:nvPicPr>
        <p:blipFill rotWithShape="1">
          <a:blip r:embed="rId3">
            <a:alphaModFix/>
          </a:blip>
          <a:srcRect b="0" l="0" r="0" t="0"/>
          <a:stretch/>
        </p:blipFill>
        <p:spPr>
          <a:xfrm>
            <a:off x="2683983" y="4259530"/>
            <a:ext cx="7349964" cy="5152443"/>
          </a:xfrm>
          <a:prstGeom prst="rect">
            <a:avLst/>
          </a:prstGeom>
          <a:noFill/>
          <a:ln>
            <a:noFill/>
          </a:ln>
        </p:spPr>
      </p:pic>
      <p:sp>
        <p:nvSpPr>
          <p:cNvPr id="368" name="Google Shape;368;p39"/>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
        <p:nvSpPr>
          <p:cNvPr id="369" name="Google Shape;369;p39"/>
          <p:cNvSpPr txBox="1"/>
          <p:nvPr/>
        </p:nvSpPr>
        <p:spPr>
          <a:xfrm>
            <a:off x="-6" y="9228760"/>
            <a:ext cx="5678700" cy="439200"/>
          </a:xfrm>
          <a:prstGeom prst="rect">
            <a:avLst/>
          </a:prstGeom>
          <a:noFill/>
          <a:ln>
            <a:noFill/>
          </a:ln>
        </p:spPr>
        <p:txBody>
          <a:bodyPr anchorCtr="0" anchor="t" bIns="65000" lIns="65000" spcFirstLastPara="1" rIns="65000" wrap="square" tIns="65000">
            <a:spAutoFit/>
          </a:bodyPr>
          <a:lstStyle/>
          <a:p>
            <a:pPr indent="0" lvl="0" marL="0" marR="0" rtl="0" algn="l">
              <a:lnSpc>
                <a:spcPct val="100000"/>
              </a:lnSpc>
              <a:spcBef>
                <a:spcPts val="0"/>
              </a:spcBef>
              <a:spcAft>
                <a:spcPts val="0"/>
              </a:spcAft>
              <a:buClr>
                <a:srgbClr val="1016F4"/>
              </a:buClr>
              <a:buSzPts val="2000"/>
              <a:buFont typeface="Calibri"/>
              <a:buNone/>
            </a:pPr>
            <a:r>
              <a:rPr b="0" i="0" lang="en-US" sz="1400" u="sng" cap="none" strike="noStrike">
                <a:solidFill>
                  <a:srgbClr val="1016F4"/>
                </a:solidFill>
                <a:latin typeface="Helvetica Neue"/>
                <a:ea typeface="Helvetica Neue"/>
                <a:cs typeface="Helvetica Neue"/>
                <a:sym typeface="Helvetica Neue"/>
                <a:hlinkClick r:id="rId4">
                  <a:extLst>
                    <a:ext uri="{A12FA001-AC4F-418D-AE19-62706E023703}">
                      <ahyp:hlinkClr val="tx"/>
                    </a:ext>
                  </a:extLst>
                </a:hlinkClick>
              </a:rPr>
              <a:t>https://www.resque.info/includes/demo_profile.html</a:t>
            </a:r>
            <a:endParaRPr b="0" i="0" sz="1400" u="none" cap="none" strike="noStrike">
              <a:solidFill>
                <a:srgbClr val="000000"/>
              </a:solidFill>
              <a:latin typeface="Arial"/>
              <a:ea typeface="Arial"/>
              <a:cs typeface="Arial"/>
              <a:sym typeface="Arial"/>
            </a:endParaRPr>
          </a:p>
        </p:txBody>
      </p:sp>
      <p:sp>
        <p:nvSpPr>
          <p:cNvPr id="370" name="Google Shape;370;p39"/>
          <p:cNvSpPr txBox="1"/>
          <p:nvPr>
            <p:ph type="title"/>
          </p:nvPr>
        </p:nvSpPr>
        <p:spPr>
          <a:xfrm>
            <a:off x="365760" y="182880"/>
            <a:ext cx="9246292" cy="1334598"/>
          </a:xfrm>
          <a:prstGeom prst="rect">
            <a:avLst/>
          </a:prstGeom>
          <a:noFill/>
          <a:ln>
            <a:noFill/>
          </a:ln>
        </p:spPr>
        <p:txBody>
          <a:bodyPr anchorCtr="0" anchor="ctr" bIns="65000" lIns="65000" spcFirstLastPara="1" rIns="65000" wrap="square" tIns="65000">
            <a:normAutofit/>
          </a:bodyPr>
          <a:lstStyle/>
          <a:p>
            <a:pPr indent="0" lvl="0" marL="0" marR="0" rtl="0" algn="l">
              <a:lnSpc>
                <a:spcPct val="100000"/>
              </a:lnSpc>
              <a:spcBef>
                <a:spcPts val="0"/>
              </a:spcBef>
              <a:spcAft>
                <a:spcPts val="0"/>
              </a:spcAft>
              <a:buClr>
                <a:srgbClr val="000000"/>
              </a:buClr>
              <a:buSzPts val="4661"/>
              <a:buFont typeface="Arial"/>
              <a:buNone/>
            </a:pPr>
            <a:r>
              <a:rPr b="1" lang="en-US" sz="4660">
                <a:latin typeface="Arial"/>
                <a:ea typeface="Arial"/>
                <a:cs typeface="Arial"/>
                <a:sym typeface="Arial"/>
              </a:rPr>
              <a:t>Incentivizing Open Data Sharing</a:t>
            </a:r>
            <a:endParaRPr/>
          </a:p>
        </p:txBody>
      </p:sp>
      <p:sp>
        <p:nvSpPr>
          <p:cNvPr id="371" name="Google Shape;371;p39"/>
          <p:cNvSpPr txBox="1"/>
          <p:nvPr/>
        </p:nvSpPr>
        <p:spPr>
          <a:xfrm>
            <a:off x="272907" y="1114740"/>
            <a:ext cx="11031778" cy="1334599"/>
          </a:xfrm>
          <a:prstGeom prst="rect">
            <a:avLst/>
          </a:prstGeom>
          <a:noFill/>
          <a:ln>
            <a:noFill/>
          </a:ln>
        </p:spPr>
        <p:txBody>
          <a:bodyPr anchorCtr="0" anchor="ctr" bIns="65000" lIns="65000" spcFirstLastPara="1" rIns="65000" wrap="square" tIns="65000">
            <a:norm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RESQUE Profile for job candidates:</a:t>
            </a:r>
            <a:endParaRPr b="0" i="0" sz="1400" u="none" cap="none" strike="noStrike">
              <a:solidFill>
                <a:srgbClr val="000000"/>
              </a:solidFill>
              <a:latin typeface="Arial"/>
              <a:ea typeface="Arial"/>
              <a:cs typeface="Arial"/>
              <a:sym typeface="Arial"/>
            </a:endParaRPr>
          </a:p>
        </p:txBody>
      </p:sp>
      <p:pic>
        <p:nvPicPr>
          <p:cNvPr descr="eingesetzter-Film.png" id="372" name="Google Shape;372;p39"/>
          <p:cNvPicPr preferRelativeResize="0"/>
          <p:nvPr/>
        </p:nvPicPr>
        <p:blipFill rotWithShape="1">
          <a:blip r:embed="rId5">
            <a:alphaModFix/>
          </a:blip>
          <a:srcRect b="0" l="0" r="0" t="0"/>
          <a:stretch/>
        </p:blipFill>
        <p:spPr>
          <a:xfrm>
            <a:off x="868082" y="2246643"/>
            <a:ext cx="10673698" cy="220316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0"/>
          <p:cNvSpPr txBox="1"/>
          <p:nvPr>
            <p:ph type="title"/>
          </p:nvPr>
        </p:nvSpPr>
        <p:spPr>
          <a:xfrm>
            <a:off x="379306" y="147054"/>
            <a:ext cx="8246700" cy="1162200"/>
          </a:xfrm>
          <a:prstGeom prst="rect">
            <a:avLst/>
          </a:prstGeom>
          <a:noFill/>
          <a:ln>
            <a:noFill/>
          </a:ln>
        </p:spPr>
        <p:txBody>
          <a:bodyPr anchorCtr="0" anchor="ctr" bIns="65000" lIns="65000" spcFirstLastPara="1" rIns="65000" wrap="square" tIns="65000">
            <a:normAutofit/>
          </a:bodyPr>
          <a:lstStyle/>
          <a:p>
            <a:pPr indent="0" lvl="0" marL="0" rtl="0" algn="l">
              <a:lnSpc>
                <a:spcPct val="100000"/>
              </a:lnSpc>
              <a:spcBef>
                <a:spcPts val="0"/>
              </a:spcBef>
              <a:spcAft>
                <a:spcPts val="0"/>
              </a:spcAft>
              <a:buClr>
                <a:srgbClr val="000000"/>
              </a:buClr>
              <a:buSzPts val="5900"/>
              <a:buFont typeface="Arial"/>
              <a:buNone/>
            </a:pPr>
            <a:r>
              <a:rPr b="1" lang="en-US" sz="5900">
                <a:latin typeface="Arial"/>
                <a:ea typeface="Arial"/>
                <a:cs typeface="Arial"/>
                <a:sym typeface="Arial"/>
              </a:rPr>
              <a:t>Independent Reuse</a:t>
            </a:r>
            <a:endParaRPr/>
          </a:p>
        </p:txBody>
      </p:sp>
      <p:sp>
        <p:nvSpPr>
          <p:cNvPr id="378" name="Google Shape;378;p40"/>
          <p:cNvSpPr txBox="1"/>
          <p:nvPr>
            <p:ph idx="12" type="sldNum"/>
          </p:nvPr>
        </p:nvSpPr>
        <p:spPr>
          <a:xfrm>
            <a:off x="12321660" y="9238826"/>
            <a:ext cx="282600" cy="377700"/>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pic>
        <p:nvPicPr>
          <p:cNvPr id="379" name="Google Shape;379;p40"/>
          <p:cNvPicPr preferRelativeResize="0"/>
          <p:nvPr/>
        </p:nvPicPr>
        <p:blipFill rotWithShape="1">
          <a:blip r:embed="rId3">
            <a:alphaModFix/>
          </a:blip>
          <a:srcRect b="0" l="0" r="0" t="0"/>
          <a:stretch/>
        </p:blipFill>
        <p:spPr>
          <a:xfrm>
            <a:off x="7049400" y="4418550"/>
            <a:ext cx="5554841" cy="3130350"/>
          </a:xfrm>
          <a:prstGeom prst="rect">
            <a:avLst/>
          </a:prstGeom>
          <a:noFill/>
          <a:ln>
            <a:noFill/>
          </a:ln>
        </p:spPr>
      </p:pic>
      <p:pic>
        <p:nvPicPr>
          <p:cNvPr id="380" name="Google Shape;380;p40"/>
          <p:cNvPicPr preferRelativeResize="0"/>
          <p:nvPr/>
        </p:nvPicPr>
        <p:blipFill rotWithShape="1">
          <a:blip r:embed="rId4">
            <a:alphaModFix/>
          </a:blip>
          <a:srcRect b="0" l="0" r="0" t="0"/>
          <a:stretch/>
        </p:blipFill>
        <p:spPr>
          <a:xfrm>
            <a:off x="6225650" y="2071325"/>
            <a:ext cx="6628000" cy="2071250"/>
          </a:xfrm>
          <a:prstGeom prst="rect">
            <a:avLst/>
          </a:prstGeom>
          <a:noFill/>
          <a:ln>
            <a:noFill/>
          </a:ln>
        </p:spPr>
      </p:pic>
      <p:pic>
        <p:nvPicPr>
          <p:cNvPr id="381" name="Google Shape;381;p40"/>
          <p:cNvPicPr preferRelativeResize="0"/>
          <p:nvPr/>
        </p:nvPicPr>
        <p:blipFill rotWithShape="1">
          <a:blip r:embed="rId5">
            <a:alphaModFix/>
          </a:blip>
          <a:srcRect b="92649" l="52824" r="0" t="601"/>
          <a:stretch/>
        </p:blipFill>
        <p:spPr>
          <a:xfrm>
            <a:off x="10586150" y="2071325"/>
            <a:ext cx="2018100" cy="346798"/>
          </a:xfrm>
          <a:prstGeom prst="rect">
            <a:avLst/>
          </a:prstGeom>
          <a:noFill/>
          <a:ln>
            <a:noFill/>
          </a:ln>
        </p:spPr>
      </p:pic>
      <p:pic>
        <p:nvPicPr>
          <p:cNvPr id="382" name="Google Shape;382;p40"/>
          <p:cNvPicPr preferRelativeResize="0"/>
          <p:nvPr/>
        </p:nvPicPr>
        <p:blipFill rotWithShape="1">
          <a:blip r:embed="rId6">
            <a:alphaModFix/>
          </a:blip>
          <a:srcRect b="0" l="0" r="0" t="0"/>
          <a:stretch/>
        </p:blipFill>
        <p:spPr>
          <a:xfrm>
            <a:off x="382601" y="1702430"/>
            <a:ext cx="5554850" cy="1865569"/>
          </a:xfrm>
          <a:prstGeom prst="rect">
            <a:avLst/>
          </a:prstGeom>
          <a:noFill/>
          <a:ln>
            <a:noFill/>
          </a:ln>
        </p:spPr>
      </p:pic>
      <p:pic>
        <p:nvPicPr>
          <p:cNvPr id="383" name="Google Shape;383;p40"/>
          <p:cNvPicPr preferRelativeResize="0"/>
          <p:nvPr/>
        </p:nvPicPr>
        <p:blipFill rotWithShape="1">
          <a:blip r:embed="rId7">
            <a:alphaModFix/>
          </a:blip>
          <a:srcRect b="0" l="0" r="0" t="0"/>
          <a:stretch/>
        </p:blipFill>
        <p:spPr>
          <a:xfrm>
            <a:off x="379300" y="3686600"/>
            <a:ext cx="5172075" cy="4229100"/>
          </a:xfrm>
          <a:prstGeom prst="rect">
            <a:avLst/>
          </a:prstGeom>
          <a:noFill/>
          <a:ln>
            <a:noFill/>
          </a:ln>
        </p:spPr>
      </p:pic>
      <p:sp>
        <p:nvSpPr>
          <p:cNvPr id="384" name="Google Shape;384;p40"/>
          <p:cNvSpPr txBox="1"/>
          <p:nvPr/>
        </p:nvSpPr>
        <p:spPr>
          <a:xfrm>
            <a:off x="389425" y="8034300"/>
            <a:ext cx="110451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lang="en-US" sz="2700">
                <a:latin typeface="Gill Sans"/>
                <a:ea typeface="Gill Sans"/>
                <a:cs typeface="Gill Sans"/>
                <a:sym typeface="Gill Sans"/>
              </a:rPr>
              <a:t>“Protein Data Bank archive helps…knowledge, benefiting basic and applied research and education.”</a:t>
            </a:r>
            <a:endParaRPr b="0" i="0" sz="1400" u="none" cap="none" strike="noStrike">
              <a:solidFill>
                <a:srgbClr val="000000"/>
              </a:solidFill>
              <a:latin typeface="Arial"/>
              <a:ea typeface="Arial"/>
              <a:cs typeface="Arial"/>
              <a:sym typeface="Arial"/>
            </a:endParaRPr>
          </a:p>
        </p:txBody>
      </p:sp>
      <p:sp>
        <p:nvSpPr>
          <p:cNvPr id="385" name="Google Shape;385;p40"/>
          <p:cNvSpPr txBox="1"/>
          <p:nvPr/>
        </p:nvSpPr>
        <p:spPr>
          <a:xfrm>
            <a:off x="389400" y="8958950"/>
            <a:ext cx="108381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Burley S </a:t>
            </a:r>
            <a:r>
              <a:rPr b="1" i="0" lang="en-US" sz="1100" u="none" cap="none" strike="noStrike">
                <a:solidFill>
                  <a:schemeClr val="dk1"/>
                </a:solidFill>
                <a:latin typeface="Arial"/>
                <a:ea typeface="Arial"/>
                <a:cs typeface="Arial"/>
                <a:sym typeface="Arial"/>
              </a:rPr>
              <a:t>Impact of structural biologists and the Protein Data Bank on small-molecule drug discovery and development </a:t>
            </a:r>
            <a:r>
              <a:rPr b="0" i="0" lang="en-US" sz="1100" u="none" cap="none" strike="noStrike">
                <a:solidFill>
                  <a:schemeClr val="dk1"/>
                </a:solidFill>
                <a:latin typeface="Arial"/>
                <a:ea typeface="Arial"/>
                <a:cs typeface="Arial"/>
                <a:sym typeface="Arial"/>
              </a:rPr>
              <a:t>Journal of Biological Chemistry, 2021; 296</a:t>
            </a:r>
            <a:endParaRPr b="0" i="0" sz="1100" u="none" cap="none" strike="noStrike">
              <a:solidFill>
                <a:schemeClr val="dk1"/>
              </a:solidFill>
              <a:latin typeface="Arial"/>
              <a:ea typeface="Arial"/>
              <a:cs typeface="Arial"/>
              <a:sym typeface="Arial"/>
            </a:endParaRPr>
          </a:p>
        </p:txBody>
      </p:sp>
      <p:sp>
        <p:nvSpPr>
          <p:cNvPr id="386" name="Google Shape;386;p40"/>
          <p:cNvSpPr txBox="1"/>
          <p:nvPr/>
        </p:nvSpPr>
        <p:spPr>
          <a:xfrm>
            <a:off x="382600" y="9166075"/>
            <a:ext cx="118017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Bešević, J., Said, S., Nagy, R., Jamshidi, Y., Whelan, C. D., Carson, L., Rutter, M. K., Lewandowski, A. J., Effingham, M., Collins, R., Lacey, B., &amp; Allen, N. E. (2026). </a:t>
            </a:r>
            <a:r>
              <a:rPr b="0" i="1" lang="en-US" sz="1100" u="none" cap="none" strike="noStrike">
                <a:solidFill>
                  <a:schemeClr val="dk1"/>
                </a:solidFill>
                <a:latin typeface="Arial"/>
                <a:ea typeface="Arial"/>
                <a:cs typeface="Arial"/>
                <a:sym typeface="Arial"/>
              </a:rPr>
              <a:t>UK Biobank: Transforming drug discovery and precision medicine</a:t>
            </a:r>
            <a:r>
              <a:rPr b="0" i="0" lang="en-US" sz="1100" u="none" cap="none" strike="noStrike">
                <a:solidFill>
                  <a:schemeClr val="dk1"/>
                </a:solidFill>
                <a:latin typeface="Arial"/>
                <a:ea typeface="Arial"/>
                <a:cs typeface="Arial"/>
                <a:sym typeface="Arial"/>
              </a:rPr>
              <a:t>. </a:t>
            </a:r>
            <a:r>
              <a:rPr b="0" i="1" lang="en-US" sz="1100" u="none" cap="none" strike="noStrike">
                <a:solidFill>
                  <a:schemeClr val="dk1"/>
                </a:solidFill>
                <a:latin typeface="Arial"/>
                <a:ea typeface="Arial"/>
                <a:cs typeface="Arial"/>
                <a:sym typeface="Arial"/>
              </a:rPr>
              <a:t>British Journal of Pharmacology</a:t>
            </a:r>
            <a:r>
              <a:rPr b="0" i="0" lang="en-US" sz="1100" u="none" cap="none" strike="noStrike">
                <a:solidFill>
                  <a:schemeClr val="dk1"/>
                </a:solidFill>
                <a:latin typeface="Arial"/>
                <a:ea typeface="Arial"/>
                <a:cs typeface="Arial"/>
                <a:sym typeface="Arial"/>
              </a:rPr>
              <a:t>, 183(2), 234–248.</a:t>
            </a:r>
            <a:r>
              <a:rPr b="0" i="0" lang="en-US" sz="1100" u="none" cap="none" strike="noStrike">
                <a:solidFill>
                  <a:schemeClr val="dk1"/>
                </a:solidFill>
                <a:uFill>
                  <a:noFill/>
                </a:uFill>
                <a:latin typeface="Arial"/>
                <a:ea typeface="Arial"/>
                <a:cs typeface="Arial"/>
                <a:sym typeface="Arial"/>
                <a:hlinkClick r:id="rId8">
                  <a:extLst>
                    <a:ext uri="{A12FA001-AC4F-418D-AE19-62706E023703}">
                      <ahyp:hlinkClr val="tx"/>
                    </a:ext>
                  </a:extLst>
                </a:hlinkClick>
              </a:rPr>
              <a:t> </a:t>
            </a:r>
            <a:r>
              <a:rPr b="0" i="0" lang="en-US" sz="1100" u="sng" cap="none" strike="noStrike">
                <a:solidFill>
                  <a:schemeClr val="hlink"/>
                </a:solidFill>
                <a:latin typeface="Arial"/>
                <a:ea typeface="Arial"/>
                <a:cs typeface="Arial"/>
                <a:sym typeface="Arial"/>
                <a:hlinkClick r:id="rId9"/>
              </a:rPr>
              <a:t>https://doi.org/10.1111/bph.70254</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1"/>
          <p:cNvSpPr txBox="1"/>
          <p:nvPr>
            <p:ph type="title"/>
          </p:nvPr>
        </p:nvSpPr>
        <p:spPr>
          <a:xfrm>
            <a:off x="2474806" y="4295694"/>
            <a:ext cx="8246792" cy="1162212"/>
          </a:xfrm>
          <a:prstGeom prst="rect">
            <a:avLst/>
          </a:prstGeom>
          <a:noFill/>
          <a:ln>
            <a:noFill/>
          </a:ln>
        </p:spPr>
        <p:txBody>
          <a:bodyPr anchorCtr="0" anchor="ctr" bIns="65000" lIns="65000" spcFirstLastPara="1" rIns="65000" wrap="square" tIns="65000">
            <a:normAutofit fontScale="90000"/>
          </a:bodyPr>
          <a:lstStyle/>
          <a:p>
            <a:pPr indent="0" lvl="0" marL="0" marR="0" rtl="0" algn="ctr">
              <a:lnSpc>
                <a:spcPct val="100000"/>
              </a:lnSpc>
              <a:spcBef>
                <a:spcPts val="0"/>
              </a:spcBef>
              <a:spcAft>
                <a:spcPts val="0"/>
              </a:spcAft>
              <a:buClr>
                <a:srgbClr val="000000"/>
              </a:buClr>
              <a:buSzPct val="77467"/>
              <a:buFont typeface="Arial"/>
              <a:buNone/>
            </a:pPr>
            <a:r>
              <a:rPr lang="en-US" sz="6000"/>
              <a:t>Thank you for your attention.</a:t>
            </a:r>
            <a:endParaRPr/>
          </a:p>
        </p:txBody>
      </p:sp>
      <p:sp>
        <p:nvSpPr>
          <p:cNvPr id="392" name="Google Shape;392;p41"/>
          <p:cNvSpPr txBox="1"/>
          <p:nvPr>
            <p:ph idx="12" type="sldNum"/>
          </p:nvPr>
        </p:nvSpPr>
        <p:spPr>
          <a:xfrm>
            <a:off x="12289959" y="9238826"/>
            <a:ext cx="345949" cy="358649"/>
          </a:xfrm>
          <a:prstGeom prst="rect">
            <a:avLst/>
          </a:prstGeom>
          <a:noFill/>
          <a:ln>
            <a:noFill/>
          </a:ln>
        </p:spPr>
        <p:txBody>
          <a:bodyPr anchorCtr="0" anchor="t" bIns="65000" lIns="65000" spcFirstLastPara="1" rIns="65000" wrap="square" tIns="65000">
            <a:spAutoFit/>
          </a:bodyPr>
          <a:lstStyle/>
          <a:p>
            <a:pPr indent="0" lvl="0" marL="0" rtl="0" algn="ctr">
              <a:lnSpc>
                <a:spcPct val="100000"/>
              </a:lnSpc>
              <a:spcBef>
                <a:spcPts val="0"/>
              </a:spcBef>
              <a:spcAft>
                <a:spcPts val="0"/>
              </a:spcAft>
              <a:buClr>
                <a:srgbClr val="535353"/>
              </a:buClr>
              <a:buSzPts val="1600"/>
              <a:buFont typeface="Gill Sans"/>
              <a:buNone/>
            </a:pPr>
            <a:fld id="{00000000-1234-1234-1234-123412341234}" type="slidenum">
              <a:rPr lang="en-US" sz="1600"/>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6" name="Shape 396"/>
        <p:cNvGrpSpPr/>
        <p:nvPr/>
      </p:nvGrpSpPr>
      <p:grpSpPr>
        <a:xfrm>
          <a:off x="0" y="0"/>
          <a:ext cx="0" cy="0"/>
          <a:chOff x="0" y="0"/>
          <a:chExt cx="0" cy="0"/>
        </a:xfrm>
      </p:grpSpPr>
      <p:sp>
        <p:nvSpPr>
          <p:cNvPr id="397" name="Google Shape;397;p42"/>
          <p:cNvSpPr txBox="1"/>
          <p:nvPr/>
        </p:nvSpPr>
        <p:spPr>
          <a:xfrm>
            <a:off x="365747" y="182875"/>
            <a:ext cx="15875700" cy="1000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900"/>
              <a:buFont typeface="Arial"/>
              <a:buNone/>
            </a:pPr>
            <a:r>
              <a:rPr b="1" i="0" lang="en-US" sz="5900" u="none" cap="none" strike="noStrike">
                <a:solidFill>
                  <a:srgbClr val="000000"/>
                </a:solidFill>
                <a:latin typeface="Arial"/>
                <a:ea typeface="Arial"/>
                <a:cs typeface="Arial"/>
                <a:sym typeface="Arial"/>
              </a:rPr>
              <a:t>Sharing pays: the citation advantage</a:t>
            </a:r>
            <a:endParaRPr b="0" i="0" sz="1400" u="none" cap="none" strike="noStrike">
              <a:solidFill>
                <a:srgbClr val="000000"/>
              </a:solidFill>
              <a:latin typeface="Arial"/>
              <a:ea typeface="Arial"/>
              <a:cs typeface="Arial"/>
              <a:sym typeface="Arial"/>
            </a:endParaRPr>
          </a:p>
        </p:txBody>
      </p:sp>
      <p:sp>
        <p:nvSpPr>
          <p:cNvPr id="398" name="Google Shape;398;p42"/>
          <p:cNvSpPr txBox="1"/>
          <p:nvPr/>
        </p:nvSpPr>
        <p:spPr>
          <a:xfrm>
            <a:off x="365760" y="1828800"/>
            <a:ext cx="12161520" cy="685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Colavizza et al. (2020): 531,889 articles. Papers linking to data in a repository received up to 25% more citations.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Colavizza et al. (2024): conservative causal estimate +4.3%. Direction consistently positive.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3000"/>
              <a:buFont typeface="Arial"/>
              <a:buNone/>
            </a:pPr>
            <a:r>
              <a:rPr b="1" i="0" lang="en-US" sz="3000" u="none" cap="none" strike="noStrike">
                <a:solidFill>
                  <a:srgbClr val="000000"/>
                </a:solidFill>
                <a:latin typeface="Arial"/>
                <a:ea typeface="Arial"/>
                <a:cs typeface="Arial"/>
                <a:sym typeface="Arial"/>
              </a:rPr>
              <a:t>No study finds a citation penalty for sharing.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And sharing is becoming normal: PLOS articles with data in a repository rose 23% → 28% (2018–2023).</a:t>
            </a:r>
            <a:endParaRPr b="0" i="0" sz="1400" u="none" cap="none" strike="noStrike">
              <a:solidFill>
                <a:srgbClr val="000000"/>
              </a:solidFill>
              <a:latin typeface="Arial"/>
              <a:ea typeface="Arial"/>
              <a:cs typeface="Arial"/>
              <a:sym typeface="Arial"/>
            </a:endParaRPr>
          </a:p>
        </p:txBody>
      </p:sp>
      <p:sp>
        <p:nvSpPr>
          <p:cNvPr id="399" name="Google Shape;399;p42"/>
          <p:cNvSpPr txBox="1"/>
          <p:nvPr/>
        </p:nvSpPr>
        <p:spPr>
          <a:xfrm>
            <a:off x="365760" y="9006840"/>
            <a:ext cx="11521440" cy="6400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1" lang="en-US" sz="1300" u="none" cap="none" strike="noStrike">
                <a:solidFill>
                  <a:srgbClr val="000000"/>
                </a:solidFill>
                <a:latin typeface="Arial"/>
                <a:ea typeface="Arial"/>
                <a:cs typeface="Arial"/>
                <a:sym typeface="Arial"/>
              </a:rPr>
              <a:t>Colavizza et al. (2020), PLOS ONE 15(4): e0230416; Colavizza et al. (2024), PLOS ONE 19(10): e0311493; PLOS Open Science Indicators, figshare.com/articles/dataset/21687686.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Benutzerdefiniertes Design">
  <a:themeElements>
    <a:clrScheme name="Benutzerdefiniertes Design">
      <a:dk1>
        <a:srgbClr val="000000"/>
      </a:dk1>
      <a:lt1>
        <a:srgbClr val="FFFFFF"/>
      </a:lt1>
      <a:dk2>
        <a:srgbClr val="A7A7A7"/>
      </a:dk2>
      <a:lt2>
        <a:srgbClr val="535353"/>
      </a:lt2>
      <a:accent1>
        <a:srgbClr val="04843D"/>
      </a:accent1>
      <a:accent2>
        <a:srgbClr val="81B761"/>
      </a:accent2>
      <a:accent3>
        <a:srgbClr val="F3B242"/>
      </a:accent3>
      <a:accent4>
        <a:srgbClr val="777877"/>
      </a:accent4>
      <a:accent5>
        <a:srgbClr val="B1B3B1"/>
      </a:accent5>
      <a:accent6>
        <a:srgbClr val="BAD6AD"/>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nutzerdefiniertes Design">
  <a:themeElements>
    <a:clrScheme name="Benutzerdefiniertes Design">
      <a:dk1>
        <a:srgbClr val="000000"/>
      </a:dk1>
      <a:lt1>
        <a:srgbClr val="FFFFFF"/>
      </a:lt1>
      <a:dk2>
        <a:srgbClr val="A7A7A7"/>
      </a:dk2>
      <a:lt2>
        <a:srgbClr val="535353"/>
      </a:lt2>
      <a:accent1>
        <a:srgbClr val="04843D"/>
      </a:accent1>
      <a:accent2>
        <a:srgbClr val="81B761"/>
      </a:accent2>
      <a:accent3>
        <a:srgbClr val="F3B242"/>
      </a:accent3>
      <a:accent4>
        <a:srgbClr val="777877"/>
      </a:accent4>
      <a:accent5>
        <a:srgbClr val="B1B3B1"/>
      </a:accent5>
      <a:accent6>
        <a:srgbClr val="BAD6AD"/>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